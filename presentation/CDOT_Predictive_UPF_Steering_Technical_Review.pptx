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jpeg" ContentType="image/jpeg"/>
  <Override PartName="/ppt/media/image2.jpeg" ContentType="image/jpeg"/>
  <Override PartName="/ppt/presProps.xml" ContentType="application/vnd.openxmlformats-officedocument.presentationml.presProps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_rels/slide24.xml.rels" ContentType="application/vnd.openxmlformats-package.relationships+xml"/>
  <Override PartName="/ppt/slides/_rels/slide15.xml.rels" ContentType="application/vnd.openxmlformats-package.relationships+xml"/>
  <Override PartName="/ppt/slides/_rels/slide31.xml.rels" ContentType="application/vnd.openxmlformats-package.relationships+xml"/>
  <Override PartName="/ppt/slides/_rels/slide16.xml.rels" ContentType="application/vnd.openxmlformats-package.relationships+xml"/>
  <Override PartName="/ppt/slides/_rels/slide32.xml.rels" ContentType="application/vnd.openxmlformats-package.relationships+xml"/>
  <Override PartName="/ppt/slides/_rels/slide25.xml.rels" ContentType="application/vnd.openxmlformats-package.relationships+xml"/>
  <Override PartName="/ppt/slides/_rels/slide10.xml.rels" ContentType="application/vnd.openxmlformats-package.relationships+xml"/>
  <Override PartName="/ppt/slides/_rels/slide21.xml.rels" ContentType="application/vnd.openxmlformats-package.relationships+xml"/>
  <Override PartName="/ppt/slides/_rels/slide8.xml.rels" ContentType="application/vnd.openxmlformats-package.relationships+xml"/>
  <Override PartName="/ppt/slides/_rels/slide27.xml.rels" ContentType="application/vnd.openxmlformats-package.relationships+xml"/>
  <Override PartName="/ppt/slides/_rels/slide2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7.xml.rels" ContentType="application/vnd.openxmlformats-package.relationships+xml"/>
  <Override PartName="/ppt/slides/_rels/slide20.xml.rels" ContentType="application/vnd.openxmlformats-package.relationships+xml"/>
  <Override PartName="/ppt/slides/_rels/slide1.xml.rels" ContentType="application/vnd.openxmlformats-package.relationships+xml"/>
  <Override PartName="/ppt/slides/_rels/slide11.xml.rels" ContentType="application/vnd.openxmlformats-package.relationships+xml"/>
  <Override PartName="/ppt/slides/_rels/slide26.xml.rels" ContentType="application/vnd.openxmlformats-package.relationships+xml"/>
  <Override PartName="/ppt/slides/_rels/slide17.xml.rels" ContentType="application/vnd.openxmlformats-package.relationships+xml"/>
  <Override PartName="/ppt/slides/_rels/slide12.xml.rels" ContentType="application/vnd.openxmlformats-package.relationships+xml"/>
  <Override PartName="/ppt/slides/_rels/slide18.xml.rels" ContentType="application/vnd.openxmlformats-package.relationships+xml"/>
  <Override PartName="/ppt/slides/_rels/slide13.xml.rels" ContentType="application/vnd.openxmlformats-package.relationships+xml"/>
  <Override PartName="/ppt/slides/_rels/slide19.xml.rels" ContentType="application/vnd.openxmlformats-package.relationships+xml"/>
  <Override PartName="/ppt/slides/_rels/slide3.xml.rels" ContentType="application/vnd.openxmlformats-package.relationships+xml"/>
  <Override PartName="/ppt/slides/_rels/slide9.xml.rels" ContentType="application/vnd.openxmlformats-package.relationships+xml"/>
  <Override PartName="/ppt/slides/_rels/slide28.xml.rels" ContentType="application/vnd.openxmlformats-package.relationships+xml"/>
  <Override PartName="/ppt/slides/_rels/slide22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14.xml.rels" ContentType="application/vnd.openxmlformats-package.relationships+xml"/>
  <Override PartName="/ppt/slides/_rels/slide23.xml.rels" ContentType="application/vnd.openxmlformats-package.relationships+xml"/>
  <Override PartName="/ppt/slides/slide30.xml" ContentType="application/vnd.openxmlformats-officedocument.presentationml.slide+xml"/>
  <Override PartName="/ppt/slides/slide5.xml" ContentType="application/vnd.openxmlformats-officedocument.presentationml.slide+xml"/>
  <Override PartName="/ppt/slides/slide31.xml" ContentType="application/vnd.openxmlformats-officedocument.presentationml.slide+xml"/>
  <Override PartName="/ppt/slides/slide6.xml" ContentType="application/vnd.openxmlformats-officedocument.presentationml.slide+xml"/>
  <Override PartName="/ppt/slides/slide32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5C19699-F22A-44D4-8334-171980AB6F8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8728D54-F9F6-4828-8714-766473218E2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805EFC6-9D54-4DC4-831E-5F21DE75C7C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56ACEBA-0AC8-43A4-9855-22B05D0290C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97B7E7E-5518-4106-8299-1BD260E6EE0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2EF0869-9A40-4C04-A208-26DC940563B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E9C5229-FE3F-4B97-B8AA-111DD16BADD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4E87D01-7C10-443B-AA06-DA37C671F5A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B2EB2C6-0E4D-4633-ABAC-516A55F17A5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AE8803B-47ED-4F0B-BE18-57D7A570BF7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D7D0646-7BBD-4943-B3E7-0DA3658A561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E42C6CF-0CBE-4F5B-A1E1-70348501AB1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6958E400-BB7E-4254-8F94-2C336765FF7E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10222e"/>
          </a:solidFill>
          <a:ln w="0">
            <a:noFill/>
          </a:ln>
        </p:spPr>
      </p:sp>
      <p:sp>
        <p:nvSpPr>
          <p:cNvPr id="44" name=""/>
          <p:cNvSpPr txBox="1"/>
          <p:nvPr/>
        </p:nvSpPr>
        <p:spPr>
          <a:xfrm>
            <a:off x="360000" y="324000"/>
            <a:ext cx="2664000" cy="25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00" spc="395" strike="noStrike">
                <a:solidFill>
                  <a:srgbClr val="77c6d4"/>
                </a:solidFill>
                <a:latin typeface="Courier New"/>
              </a:rPr>
              <a:t>C-DOT · PREDICTIVE USER PLANE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360000" y="1404000"/>
            <a:ext cx="8784000" cy="11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900" spc="-1" strike="noStrike">
                <a:solidFill>
                  <a:srgbClr val="ffffff"/>
                </a:solidFill>
                <a:latin typeface="Arial"/>
              </a:rPr>
              <a:t>Predictive UPF Steering</a:t>
            </a:r>
            <a:endParaRPr b="0" lang="en-US" sz="2900" spc="-1" strike="noStrike">
              <a:latin typeface="Arial"/>
            </a:endParaRPr>
          </a:p>
          <a:p>
            <a:r>
              <a:rPr b="1" lang="en-US" sz="2900" spc="-1" strike="noStrike">
                <a:solidFill>
                  <a:srgbClr val="ffffff"/>
                </a:solidFill>
                <a:latin typeface="Arial"/>
              </a:rPr>
              <a:t>Simulation, Forecasting, Optimization &amp; Demo</a:t>
            </a:r>
            <a:endParaRPr b="0" lang="en-US" sz="2900" spc="-1" strike="noStrike">
              <a:latin typeface="Arial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360000" y="2808000"/>
            <a:ext cx="8280000" cy="43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50" spc="-1" strike="noStrike">
                <a:solidFill>
                  <a:srgbClr val="c4d3d9"/>
                </a:solidFill>
                <a:latin typeface="Arial"/>
              </a:rPr>
              <a:t>Implementation review and evidence-backed technical presentation</a:t>
            </a:r>
            <a:endParaRPr b="0" lang="en-US" sz="1450" spc="-1" strike="noStrike">
              <a:latin typeface="Arial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360000" y="3420000"/>
            <a:ext cx="5040000" cy="28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50" spc="-1" strike="noStrike">
                <a:solidFill>
                  <a:srgbClr val="9fb4be"/>
                </a:solidFill>
                <a:latin typeface="Arial"/>
              </a:rPr>
              <a:t>Prepared for academic review and the C-DOT team · 09 August 2026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432000" y="4500000"/>
            <a:ext cx="1872000" cy="972000"/>
          </a:xfrm>
          <a:prstGeom prst="roundRect">
            <a:avLst/>
          </a:prstGeom>
          <a:solidFill>
            <a:srgbClr val="193541"/>
          </a:solidFill>
          <a:ln w="6480">
            <a:solidFill>
              <a:srgbClr val="385662"/>
            </a:solidFill>
            <a:round/>
          </a:ln>
        </p:spPr>
      </p:sp>
      <p:sp>
        <p:nvSpPr>
          <p:cNvPr id="49" name=""/>
          <p:cNvSpPr/>
          <p:nvPr/>
        </p:nvSpPr>
        <p:spPr>
          <a:xfrm>
            <a:off x="432000" y="4500000"/>
            <a:ext cx="64800" cy="972000"/>
          </a:xfrm>
          <a:prstGeom prst="rect">
            <a:avLst/>
          </a:prstGeom>
          <a:solidFill>
            <a:srgbClr val="77c6d4"/>
          </a:solidFill>
          <a:ln w="0">
            <a:noFill/>
          </a:ln>
        </p:spPr>
      </p:sp>
      <p:sp>
        <p:nvSpPr>
          <p:cNvPr id="50" name=""/>
          <p:cNvSpPr txBox="1"/>
          <p:nvPr/>
        </p:nvSpPr>
        <p:spPr>
          <a:xfrm>
            <a:off x="612000" y="4680000"/>
            <a:ext cx="1512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9cb3bd"/>
                </a:solidFill>
                <a:latin typeface="Courier New"/>
              </a:rPr>
              <a:t>01</a:t>
            </a:r>
            <a:endParaRPr b="0" lang="en-US" sz="750" spc="-1" strike="noStrike">
              <a:latin typeface="Arial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612000" y="4896000"/>
            <a:ext cx="1512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20" spc="-1" strike="noStrike">
                <a:solidFill>
                  <a:srgbClr val="ffffff"/>
                </a:solidFill>
                <a:latin typeface="Arial"/>
              </a:rPr>
              <a:t>SIMULATE</a:t>
            </a:r>
            <a:endParaRPr b="0" lang="en-US" sz="1120" spc="-1" strike="noStrike">
              <a:latin typeface="Arial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612000" y="5148000"/>
            <a:ext cx="1512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20" spc="-1" strike="noStrike">
                <a:solidFill>
                  <a:srgbClr val="b8cbd2"/>
                </a:solidFill>
                <a:latin typeface="Arial"/>
              </a:rPr>
              <a:t>30 s causal cohorts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53" name=""/>
          <p:cNvSpPr/>
          <p:nvPr/>
        </p:nvSpPr>
        <p:spPr>
          <a:xfrm>
            <a:off x="2304000" y="4986000"/>
            <a:ext cx="309600" cy="0"/>
          </a:xfrm>
          <a:prstGeom prst="line">
            <a:avLst/>
          </a:prstGeom>
          <a:ln w="4680">
            <a:solidFill>
              <a:srgbClr val="4d6a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4" name=""/>
          <p:cNvSpPr txBox="1"/>
          <p:nvPr/>
        </p:nvSpPr>
        <p:spPr>
          <a:xfrm>
            <a:off x="2556000" y="4857840"/>
            <a:ext cx="144000" cy="2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US" sz="1800" spc="-1" strike="noStrike">
                <a:solidFill>
                  <a:srgbClr val="4d6a75"/>
                </a:solidFill>
                <a:latin typeface="Arial"/>
              </a:rPr>
              <a:t>›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>
            <a:off x="2700000" y="4500000"/>
            <a:ext cx="1872000" cy="972000"/>
          </a:xfrm>
          <a:prstGeom prst="roundRect">
            <a:avLst/>
          </a:prstGeom>
          <a:solidFill>
            <a:srgbClr val="193541"/>
          </a:solidFill>
          <a:ln w="6480">
            <a:solidFill>
              <a:srgbClr val="385662"/>
            </a:solidFill>
            <a:round/>
          </a:ln>
        </p:spPr>
      </p:sp>
      <p:sp>
        <p:nvSpPr>
          <p:cNvPr id="56" name=""/>
          <p:cNvSpPr/>
          <p:nvPr/>
        </p:nvSpPr>
        <p:spPr>
          <a:xfrm>
            <a:off x="2700000" y="4500000"/>
            <a:ext cx="64800" cy="972000"/>
          </a:xfrm>
          <a:prstGeom prst="rect">
            <a:avLst/>
          </a:prstGeom>
          <a:solidFill>
            <a:srgbClr val="2f91a6"/>
          </a:solidFill>
          <a:ln w="0">
            <a:noFill/>
          </a:ln>
        </p:spPr>
      </p:sp>
      <p:sp>
        <p:nvSpPr>
          <p:cNvPr id="57" name=""/>
          <p:cNvSpPr txBox="1"/>
          <p:nvPr/>
        </p:nvSpPr>
        <p:spPr>
          <a:xfrm>
            <a:off x="2880000" y="4680000"/>
            <a:ext cx="1512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9cb3bd"/>
                </a:solidFill>
                <a:latin typeface="Courier New"/>
              </a:rPr>
              <a:t>02</a:t>
            </a:r>
            <a:endParaRPr b="0" lang="en-US" sz="750" spc="-1" strike="noStrike">
              <a:latin typeface="Arial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2880000" y="4896000"/>
            <a:ext cx="1512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20" spc="-1" strike="noStrike">
                <a:solidFill>
                  <a:srgbClr val="ffffff"/>
                </a:solidFill>
                <a:latin typeface="Arial"/>
              </a:rPr>
              <a:t>FORECAST</a:t>
            </a:r>
            <a:endParaRPr b="0" lang="en-US" sz="1120" spc="-1" strike="noStrike">
              <a:latin typeface="Arial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2880000" y="5148000"/>
            <a:ext cx="1512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20" spc="-1" strike="noStrike">
                <a:solidFill>
                  <a:srgbClr val="b8cbd2"/>
                </a:solidFill>
                <a:latin typeface="Arial"/>
              </a:rPr>
              <a:t>10–80 min demand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4572000" y="4986000"/>
            <a:ext cx="309600" cy="0"/>
          </a:xfrm>
          <a:prstGeom prst="line">
            <a:avLst/>
          </a:prstGeom>
          <a:ln w="4680">
            <a:solidFill>
              <a:srgbClr val="4d6a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1" name=""/>
          <p:cNvSpPr txBox="1"/>
          <p:nvPr/>
        </p:nvSpPr>
        <p:spPr>
          <a:xfrm>
            <a:off x="4824000" y="4857840"/>
            <a:ext cx="144000" cy="2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US" sz="1800" spc="-1" strike="noStrike">
                <a:solidFill>
                  <a:srgbClr val="4d6a75"/>
                </a:solidFill>
                <a:latin typeface="Arial"/>
              </a:rPr>
              <a:t>›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4968000" y="4500000"/>
            <a:ext cx="1872000" cy="972000"/>
          </a:xfrm>
          <a:prstGeom prst="roundRect">
            <a:avLst/>
          </a:prstGeom>
          <a:solidFill>
            <a:srgbClr val="193541"/>
          </a:solidFill>
          <a:ln w="6480">
            <a:solidFill>
              <a:srgbClr val="385662"/>
            </a:solidFill>
            <a:round/>
          </a:ln>
        </p:spPr>
      </p:sp>
      <p:sp>
        <p:nvSpPr>
          <p:cNvPr id="63" name=""/>
          <p:cNvSpPr/>
          <p:nvPr/>
        </p:nvSpPr>
        <p:spPr>
          <a:xfrm>
            <a:off x="4968000" y="4500000"/>
            <a:ext cx="64800" cy="972000"/>
          </a:xfrm>
          <a:prstGeom prst="rect">
            <a:avLst/>
          </a:prstGeom>
          <a:solidFill>
            <a:srgbClr val="6750a4"/>
          </a:solidFill>
          <a:ln w="0">
            <a:noFill/>
          </a:ln>
        </p:spPr>
      </p:sp>
      <p:sp>
        <p:nvSpPr>
          <p:cNvPr id="64" name=""/>
          <p:cNvSpPr txBox="1"/>
          <p:nvPr/>
        </p:nvSpPr>
        <p:spPr>
          <a:xfrm>
            <a:off x="5148000" y="4680000"/>
            <a:ext cx="1512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9cb3bd"/>
                </a:solidFill>
                <a:latin typeface="Courier New"/>
              </a:rPr>
              <a:t>03</a:t>
            </a:r>
            <a:endParaRPr b="0" lang="en-US" sz="750" spc="-1" strike="noStrike">
              <a:latin typeface="Arial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5148000" y="4896000"/>
            <a:ext cx="1512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20" spc="-1" strike="noStrike">
                <a:solidFill>
                  <a:srgbClr val="ffffff"/>
                </a:solidFill>
                <a:latin typeface="Arial"/>
              </a:rPr>
              <a:t>OPTIMIZE</a:t>
            </a:r>
            <a:endParaRPr b="0" lang="en-US" sz="1120" spc="-1" strike="noStrike">
              <a:latin typeface="Arial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5148000" y="5148000"/>
            <a:ext cx="1512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20" spc="-1" strike="noStrike">
                <a:solidFill>
                  <a:srgbClr val="b8cbd2"/>
                </a:solidFill>
                <a:latin typeface="Arial"/>
              </a:rPr>
              <a:t>2 h cohort MPC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6840000" y="4986000"/>
            <a:ext cx="309600" cy="0"/>
          </a:xfrm>
          <a:prstGeom prst="line">
            <a:avLst/>
          </a:prstGeom>
          <a:ln w="4680">
            <a:solidFill>
              <a:srgbClr val="4d6a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8" name=""/>
          <p:cNvSpPr txBox="1"/>
          <p:nvPr/>
        </p:nvSpPr>
        <p:spPr>
          <a:xfrm>
            <a:off x="7092000" y="4857840"/>
            <a:ext cx="144000" cy="2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US" sz="1800" spc="-1" strike="noStrike">
                <a:solidFill>
                  <a:srgbClr val="4d6a75"/>
                </a:solidFill>
                <a:latin typeface="Arial"/>
              </a:rPr>
              <a:t>›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7236000" y="4500000"/>
            <a:ext cx="1872000" cy="972000"/>
          </a:xfrm>
          <a:prstGeom prst="roundRect">
            <a:avLst/>
          </a:prstGeom>
          <a:solidFill>
            <a:srgbClr val="193541"/>
          </a:solidFill>
          <a:ln w="6480">
            <a:solidFill>
              <a:srgbClr val="385662"/>
            </a:solidFill>
            <a:round/>
          </a:ln>
        </p:spPr>
      </p:sp>
      <p:sp>
        <p:nvSpPr>
          <p:cNvPr id="70" name=""/>
          <p:cNvSpPr/>
          <p:nvPr/>
        </p:nvSpPr>
        <p:spPr>
          <a:xfrm>
            <a:off x="7236000" y="4500000"/>
            <a:ext cx="64800" cy="972000"/>
          </a:xfrm>
          <a:prstGeom prst="rect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71" name=""/>
          <p:cNvSpPr txBox="1"/>
          <p:nvPr/>
        </p:nvSpPr>
        <p:spPr>
          <a:xfrm>
            <a:off x="7416000" y="4680000"/>
            <a:ext cx="1512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9cb3bd"/>
                </a:solidFill>
                <a:latin typeface="Courier New"/>
              </a:rPr>
              <a:t>04</a:t>
            </a:r>
            <a:endParaRPr b="0" lang="en-US" sz="750" spc="-1" strike="noStrike">
              <a:latin typeface="Arial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7416000" y="4896000"/>
            <a:ext cx="1512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20" spc="-1" strike="noStrike">
                <a:solidFill>
                  <a:srgbClr val="ffffff"/>
                </a:solidFill>
                <a:latin typeface="Arial"/>
              </a:rPr>
              <a:t>STEER</a:t>
            </a:r>
            <a:endParaRPr b="0" lang="en-US" sz="1120" spc="-1" strike="noStrike">
              <a:latin typeface="Arial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7416000" y="5148000"/>
            <a:ext cx="1512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20" spc="-1" strike="noStrike">
                <a:solidFill>
                  <a:srgbClr val="b8cbd2"/>
                </a:solidFill>
                <a:latin typeface="Arial"/>
              </a:rPr>
              <a:t>new sessions only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9108000" y="4986000"/>
            <a:ext cx="309600" cy="0"/>
          </a:xfrm>
          <a:prstGeom prst="line">
            <a:avLst/>
          </a:prstGeom>
          <a:ln w="4680">
            <a:solidFill>
              <a:srgbClr val="4d6a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5" name=""/>
          <p:cNvSpPr txBox="1"/>
          <p:nvPr/>
        </p:nvSpPr>
        <p:spPr>
          <a:xfrm>
            <a:off x="9360000" y="4857840"/>
            <a:ext cx="144000" cy="2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US" sz="1800" spc="-1" strike="noStrike">
                <a:solidFill>
                  <a:srgbClr val="4d6a75"/>
                </a:solidFill>
                <a:latin typeface="Arial"/>
              </a:rPr>
              <a:t>›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9504000" y="4500000"/>
            <a:ext cx="1872000" cy="972000"/>
          </a:xfrm>
          <a:prstGeom prst="roundRect">
            <a:avLst/>
          </a:prstGeom>
          <a:solidFill>
            <a:srgbClr val="193541"/>
          </a:solidFill>
          <a:ln w="6480">
            <a:solidFill>
              <a:srgbClr val="385662"/>
            </a:solidFill>
            <a:round/>
          </a:ln>
        </p:spPr>
      </p:sp>
      <p:sp>
        <p:nvSpPr>
          <p:cNvPr id="77" name=""/>
          <p:cNvSpPr/>
          <p:nvPr/>
        </p:nvSpPr>
        <p:spPr>
          <a:xfrm>
            <a:off x="9504000" y="4500000"/>
            <a:ext cx="64800" cy="972000"/>
          </a:xfrm>
          <a:prstGeom prst="rect">
            <a:avLst/>
          </a:prstGeom>
          <a:solidFill>
            <a:srgbClr val="c77b0b"/>
          </a:solidFill>
          <a:ln w="0">
            <a:noFill/>
          </a:ln>
        </p:spPr>
      </p:sp>
      <p:sp>
        <p:nvSpPr>
          <p:cNvPr id="78" name=""/>
          <p:cNvSpPr txBox="1"/>
          <p:nvPr/>
        </p:nvSpPr>
        <p:spPr>
          <a:xfrm>
            <a:off x="9684000" y="4680000"/>
            <a:ext cx="1512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9cb3bd"/>
                </a:solidFill>
                <a:latin typeface="Courier New"/>
              </a:rPr>
              <a:t>05</a:t>
            </a:r>
            <a:endParaRPr b="0" lang="en-US" sz="750" spc="-1" strike="noStrike">
              <a:latin typeface="Arial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9684000" y="4896000"/>
            <a:ext cx="1512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20" spc="-1" strike="noStrike">
                <a:solidFill>
                  <a:srgbClr val="ffffff"/>
                </a:solidFill>
                <a:latin typeface="Arial"/>
              </a:rPr>
              <a:t>DEMONSTRATE</a:t>
            </a:r>
            <a:endParaRPr b="0" lang="en-US" sz="1120" spc="-1" strike="noStrike">
              <a:latin typeface="Arial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9684000" y="5148000"/>
            <a:ext cx="1512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20" spc="-1" strike="noStrike">
                <a:solidFill>
                  <a:srgbClr val="b8cbd2"/>
                </a:solidFill>
                <a:latin typeface="Arial"/>
              </a:rPr>
              <a:t>live operator view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360000" y="6120000"/>
            <a:ext cx="9000000" cy="2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50" spc="-1" strike="noStrike">
                <a:solidFill>
                  <a:srgbClr val="f0c36d"/>
                </a:solidFill>
                <a:latin typeface="Arial"/>
              </a:rPr>
              <a:t>All performance evidence in this deck is synthetic and artifact-backed.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324000" y="6616800"/>
            <a:ext cx="11088000" cy="0"/>
          </a:xfrm>
          <a:prstGeom prst="line">
            <a:avLst/>
          </a:prstGeom>
          <a:ln w="1080">
            <a:solidFill>
              <a:srgbClr val="3951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3" name=""/>
          <p:cNvSpPr txBox="1"/>
          <p:nvPr/>
        </p:nvSpPr>
        <p:spPr>
          <a:xfrm>
            <a:off x="324000" y="6660000"/>
            <a:ext cx="10368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80" spc="-1" strike="noStrike">
                <a:solidFill>
                  <a:srgbClr val="9fb4be"/>
                </a:solidFill>
                <a:latin typeface="Courier New"/>
              </a:rPr>
              <a:t>Repository review · implementation + docs + frozen experiment artifacts</a:t>
            </a:r>
            <a:endParaRPr b="0" lang="en-US" sz="680" spc="-1" strike="noStrike">
              <a:latin typeface="Arial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11052000" y="6660000"/>
            <a:ext cx="684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buNone/>
            </a:pPr>
            <a:r>
              <a:rPr b="1" lang="en-US" sz="750" spc="-1" strike="noStrike">
                <a:solidFill>
                  <a:srgbClr val="9fb4be"/>
                </a:solidFill>
                <a:latin typeface="Courier New"/>
              </a:rPr>
              <a:t>01</a:t>
            </a:r>
            <a:endParaRPr b="0" lang="en-US" sz="7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3f7f8"/>
          </a:solidFill>
          <a:ln w="0">
            <a:noFill/>
          </a:ln>
        </p:spPr>
      </p:sp>
      <p:sp>
        <p:nvSpPr>
          <p:cNvPr id="86" name=""/>
          <p:cNvSpPr txBox="1"/>
          <p:nvPr/>
        </p:nvSpPr>
        <p:spPr>
          <a:xfrm>
            <a:off x="324000" y="158400"/>
            <a:ext cx="3096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00" spc="508" strike="noStrike">
                <a:solidFill>
                  <a:srgbClr val="007c99"/>
                </a:solidFill>
                <a:latin typeface="Courier New"/>
              </a:rPr>
              <a:t>EXECUTIVE SUMMARY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324000" y="378000"/>
            <a:ext cx="10584000" cy="57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50" spc="-1" strike="noStrike">
                <a:solidFill>
                  <a:srgbClr val="172731"/>
                </a:solidFill>
                <a:latin typeface="Arial"/>
              </a:rPr>
              <a:t>The system works end to end—and the evidence boundary is explicit</a:t>
            </a:r>
            <a:endParaRPr b="0" lang="en-US" sz="2150" spc="-1" strike="noStrike">
              <a:latin typeface="Arial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324000" y="1015200"/>
            <a:ext cx="1051200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526875"/>
                </a:solidFill>
                <a:latin typeface="Arial"/>
              </a:rPr>
              <a:t>A complete synthetic loop is implemented; the controller is a working demo candidate, not a production release.</a:t>
            </a:r>
            <a:endParaRPr b="0" lang="en-US" sz="960" spc="-1" strike="noStrike"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>
            <a:off x="10800000" y="180000"/>
            <a:ext cx="936000" cy="19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90" name=""/>
          <p:cNvSpPr txBox="1"/>
          <p:nvPr/>
        </p:nvSpPr>
        <p:spPr>
          <a:xfrm>
            <a:off x="10818000" y="219600"/>
            <a:ext cx="900000" cy="10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710" spc="-1" strike="noStrike">
                <a:solidFill>
                  <a:srgbClr val="c77b0b"/>
                </a:solidFill>
                <a:latin typeface="Courier New"/>
              </a:rPr>
              <a:t>SYNTHETIC DATA</a:t>
            </a:r>
            <a:endParaRPr b="0" lang="en-US" sz="710" spc="-1" strike="noStrike"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>
            <a:off x="324000" y="1404000"/>
            <a:ext cx="2628000" cy="100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92" name=""/>
          <p:cNvSpPr/>
          <p:nvPr/>
        </p:nvSpPr>
        <p:spPr>
          <a:xfrm>
            <a:off x="324000" y="1404000"/>
            <a:ext cx="64800" cy="1008000"/>
          </a:xfrm>
          <a:prstGeom prst="rect">
            <a:avLst/>
          </a:prstGeom>
          <a:solidFill>
            <a:srgbClr val="007c99"/>
          </a:solidFill>
          <a:ln w="0">
            <a:noFill/>
          </a:ln>
        </p:spPr>
      </p:sp>
      <p:sp>
        <p:nvSpPr>
          <p:cNvPr id="93" name=""/>
          <p:cNvSpPr txBox="1"/>
          <p:nvPr/>
        </p:nvSpPr>
        <p:spPr>
          <a:xfrm>
            <a:off x="504000" y="1548000"/>
            <a:ext cx="2304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20" spc="-1" strike="noStrike">
                <a:solidFill>
                  <a:srgbClr val="718592"/>
                </a:solidFill>
                <a:latin typeface="Courier New"/>
              </a:rPr>
              <a:t>TRAINING CORPUS</a:t>
            </a:r>
            <a:endParaRPr b="0" lang="en-US" sz="720" spc="-1" strike="noStrike">
              <a:latin typeface="Arial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504000" y="1728000"/>
            <a:ext cx="2304000" cy="34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400" spc="-1" strike="noStrike">
                <a:solidFill>
                  <a:srgbClr val="007c99"/>
                </a:solidFill>
                <a:latin typeface="Arial"/>
              </a:rPr>
              <a:t>1.55M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504000" y="2124000"/>
            <a:ext cx="2304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20" spc="-1" strike="noStrike">
                <a:solidFill>
                  <a:srgbClr val="526875"/>
                </a:solidFill>
                <a:latin typeface="Arial"/>
              </a:rPr>
              <a:t>group × 10-minute observations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96" name=""/>
          <p:cNvSpPr/>
          <p:nvPr/>
        </p:nvSpPr>
        <p:spPr>
          <a:xfrm>
            <a:off x="3168000" y="1404000"/>
            <a:ext cx="2628000" cy="100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97" name=""/>
          <p:cNvSpPr/>
          <p:nvPr/>
        </p:nvSpPr>
        <p:spPr>
          <a:xfrm>
            <a:off x="3168000" y="1404000"/>
            <a:ext cx="64800" cy="1008000"/>
          </a:xfrm>
          <a:prstGeom prst="rect">
            <a:avLst/>
          </a:prstGeom>
          <a:solidFill>
            <a:srgbClr val="6750a4"/>
          </a:solidFill>
          <a:ln w="0">
            <a:noFill/>
          </a:ln>
        </p:spPr>
      </p:sp>
      <p:sp>
        <p:nvSpPr>
          <p:cNvPr id="98" name=""/>
          <p:cNvSpPr txBox="1"/>
          <p:nvPr/>
        </p:nvSpPr>
        <p:spPr>
          <a:xfrm>
            <a:off x="3348000" y="1548000"/>
            <a:ext cx="2304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20" spc="-1" strike="noStrike">
                <a:solidFill>
                  <a:srgbClr val="718592"/>
                </a:solidFill>
                <a:latin typeface="Courier New"/>
              </a:rPr>
              <a:t>FORECAST WAPE</a:t>
            </a:r>
            <a:endParaRPr b="0" lang="en-US" sz="720" spc="-1" strike="noStrike">
              <a:latin typeface="Arial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3348000" y="1728000"/>
            <a:ext cx="2304000" cy="34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400" spc="-1" strike="noStrike">
                <a:solidFill>
                  <a:srgbClr val="6750a4"/>
                </a:solidFill>
                <a:latin typeface="Arial"/>
              </a:rPr>
              <a:t>7.63%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3348000" y="2124000"/>
            <a:ext cx="2304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20" spc="-1" strike="noStrike">
                <a:solidFill>
                  <a:srgbClr val="526875"/>
                </a:solidFill>
                <a:latin typeface="Arial"/>
              </a:rPr>
              <a:t>macro held-out, 10–80 min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101" name=""/>
          <p:cNvSpPr/>
          <p:nvPr/>
        </p:nvSpPr>
        <p:spPr>
          <a:xfrm>
            <a:off x="6012000" y="1404000"/>
            <a:ext cx="2628000" cy="100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102" name=""/>
          <p:cNvSpPr/>
          <p:nvPr/>
        </p:nvSpPr>
        <p:spPr>
          <a:xfrm>
            <a:off x="6012000" y="1404000"/>
            <a:ext cx="64800" cy="1008000"/>
          </a:xfrm>
          <a:prstGeom prst="rect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103" name=""/>
          <p:cNvSpPr txBox="1"/>
          <p:nvPr/>
        </p:nvSpPr>
        <p:spPr>
          <a:xfrm>
            <a:off x="6192000" y="1548000"/>
            <a:ext cx="2304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20" spc="-1" strike="noStrike">
                <a:solidFill>
                  <a:srgbClr val="718592"/>
                </a:solidFill>
                <a:latin typeface="Courier New"/>
              </a:rPr>
              <a:t>MEAN-PAIR UL GAIN</a:t>
            </a:r>
            <a:endParaRPr b="0" lang="en-US" sz="720" spc="-1" strike="noStrike">
              <a:latin typeface="Arial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6192000" y="1728000"/>
            <a:ext cx="2304000" cy="34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400" spc="-1" strike="noStrike">
                <a:solidFill>
                  <a:srgbClr val="16805f"/>
                </a:solidFill>
                <a:latin typeface="Arial"/>
              </a:rPr>
              <a:t>10.52%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6192000" y="2124000"/>
            <a:ext cx="2304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20" spc="-1" strike="noStrike">
                <a:solidFill>
                  <a:srgbClr val="526875"/>
                </a:solidFill>
                <a:latin typeface="Arial"/>
              </a:rPr>
              <a:t>30 matched static/MPC pairs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106" name=""/>
          <p:cNvSpPr/>
          <p:nvPr/>
        </p:nvSpPr>
        <p:spPr>
          <a:xfrm>
            <a:off x="8856000" y="1404000"/>
            <a:ext cx="2880000" cy="100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107" name=""/>
          <p:cNvSpPr/>
          <p:nvPr/>
        </p:nvSpPr>
        <p:spPr>
          <a:xfrm>
            <a:off x="8856000" y="1404000"/>
            <a:ext cx="64800" cy="1008000"/>
          </a:xfrm>
          <a:prstGeom prst="rect">
            <a:avLst/>
          </a:prstGeom>
          <a:solidFill>
            <a:srgbClr val="c77b0b"/>
          </a:solidFill>
          <a:ln w="0">
            <a:noFill/>
          </a:ln>
        </p:spPr>
      </p:sp>
      <p:sp>
        <p:nvSpPr>
          <p:cNvPr id="108" name=""/>
          <p:cNvSpPr txBox="1"/>
          <p:nvPr/>
        </p:nvSpPr>
        <p:spPr>
          <a:xfrm>
            <a:off x="9036000" y="1548000"/>
            <a:ext cx="2556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20" spc="-1" strike="noStrike">
                <a:solidFill>
                  <a:srgbClr val="718592"/>
                </a:solidFill>
                <a:latin typeface="Courier New"/>
              </a:rPr>
              <a:t>SEVERITY-WEIGHTED GAIN</a:t>
            </a:r>
            <a:endParaRPr b="0" lang="en-US" sz="720" spc="-1" strike="noStrike">
              <a:latin typeface="Arial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9036000" y="1728000"/>
            <a:ext cx="2556000" cy="34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400" spc="-1" strike="noStrike">
                <a:solidFill>
                  <a:srgbClr val="c77b0b"/>
                </a:solidFill>
                <a:latin typeface="Arial"/>
              </a:rPr>
              <a:t>2.84%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9036000" y="2124000"/>
            <a:ext cx="2556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20" spc="-1" strike="noStrike">
                <a:solidFill>
                  <a:srgbClr val="526875"/>
                </a:solidFill>
                <a:latin typeface="Arial"/>
              </a:rPr>
              <a:t>tail risk still material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324000" y="2736000"/>
            <a:ext cx="7272000" cy="3240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112" name=""/>
          <p:cNvSpPr/>
          <p:nvPr/>
        </p:nvSpPr>
        <p:spPr>
          <a:xfrm>
            <a:off x="324000" y="2736000"/>
            <a:ext cx="64800" cy="3240000"/>
          </a:xfrm>
          <a:prstGeom prst="rect">
            <a:avLst/>
          </a:prstGeom>
          <a:solidFill>
            <a:srgbClr val="007c99"/>
          </a:solidFill>
          <a:ln w="0">
            <a:noFill/>
          </a:ln>
        </p:spPr>
      </p:sp>
      <p:sp>
        <p:nvSpPr>
          <p:cNvPr id="113" name=""/>
          <p:cNvSpPr txBox="1"/>
          <p:nvPr/>
        </p:nvSpPr>
        <p:spPr>
          <a:xfrm>
            <a:off x="576000" y="2952000"/>
            <a:ext cx="666000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500" spc="-1" strike="noStrike">
                <a:solidFill>
                  <a:srgbClr val="172731"/>
                </a:solidFill>
                <a:latin typeface="Arial"/>
              </a:rPr>
              <a:t>What is implemented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14" name=""/>
          <p:cNvSpPr/>
          <p:nvPr/>
        </p:nvSpPr>
        <p:spPr>
          <a:xfrm>
            <a:off x="576000" y="3448800"/>
            <a:ext cx="79200" cy="79200"/>
          </a:xfrm>
          <a:prstGeom prst="ellipse">
            <a:avLst/>
          </a:prstGeom>
          <a:solidFill>
            <a:srgbClr val="007c99"/>
          </a:solidFill>
          <a:ln w="0">
            <a:noFill/>
          </a:ln>
        </p:spPr>
      </p:sp>
      <p:sp>
        <p:nvSpPr>
          <p:cNvPr id="115" name=""/>
          <p:cNvSpPr txBox="1"/>
          <p:nvPr/>
        </p:nvSpPr>
        <p:spPr>
          <a:xfrm>
            <a:off x="756000" y="3384000"/>
            <a:ext cx="6480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70" spc="-1" strike="noStrike">
                <a:solidFill>
                  <a:srgbClr val="172731"/>
                </a:solidFill>
                <a:latin typeface="Arial"/>
              </a:rPr>
              <a:t>Deterministic synthetic data factory</a:t>
            </a:r>
            <a:endParaRPr b="0" lang="en-US" sz="1070" spc="-1" strike="noStrike">
              <a:latin typeface="Arial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756000" y="3564000"/>
            <a:ext cx="6480000" cy="5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50" spc="-1" strike="noStrike">
                <a:solidFill>
                  <a:srgbClr val="526875"/>
                </a:solidFill>
                <a:latin typeface="Arial"/>
              </a:rPr>
              <a:t>30-second cohort simulation, 8 zones, 12 services, 24 UPFs, seeded surges and faults.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576000" y="4075200"/>
            <a:ext cx="79200" cy="79200"/>
          </a:xfrm>
          <a:prstGeom prst="ellipse">
            <a:avLst/>
          </a:prstGeom>
          <a:solidFill>
            <a:srgbClr val="007c99"/>
          </a:solidFill>
          <a:ln w="0">
            <a:noFill/>
          </a:ln>
        </p:spPr>
      </p:sp>
      <p:sp>
        <p:nvSpPr>
          <p:cNvPr id="118" name=""/>
          <p:cNvSpPr txBox="1"/>
          <p:nvPr/>
        </p:nvSpPr>
        <p:spPr>
          <a:xfrm>
            <a:off x="756000" y="4010400"/>
            <a:ext cx="6480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70" spc="-1" strike="noStrike">
                <a:solidFill>
                  <a:srgbClr val="172731"/>
                </a:solidFill>
                <a:latin typeface="Arial"/>
              </a:rPr>
              <a:t>Trained probabilistic forecast bundle</a:t>
            </a:r>
            <a:endParaRPr b="0" lang="en-US" sz="1070" spc="-1" strike="noStrike">
              <a:latin typeface="Arial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756000" y="4190400"/>
            <a:ext cx="6480000" cy="5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50" spc="-1" strike="noStrike">
                <a:solidFill>
                  <a:srgbClr val="526875"/>
                </a:solidFill>
                <a:latin typeface="Arial"/>
              </a:rPr>
              <a:t>2,304 direct calendar-ridge models with p50/p90/p95 conformal envelopes.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120" name=""/>
          <p:cNvSpPr/>
          <p:nvPr/>
        </p:nvSpPr>
        <p:spPr>
          <a:xfrm>
            <a:off x="576000" y="4701600"/>
            <a:ext cx="79200" cy="79200"/>
          </a:xfrm>
          <a:prstGeom prst="ellipse">
            <a:avLst/>
          </a:prstGeom>
          <a:solidFill>
            <a:srgbClr val="007c99"/>
          </a:solidFill>
          <a:ln w="0">
            <a:noFill/>
          </a:ln>
        </p:spPr>
      </p:sp>
      <p:sp>
        <p:nvSpPr>
          <p:cNvPr id="121" name=""/>
          <p:cNvSpPr txBox="1"/>
          <p:nvPr/>
        </p:nvSpPr>
        <p:spPr>
          <a:xfrm>
            <a:off x="756000" y="4636800"/>
            <a:ext cx="6480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70" spc="-1" strike="noStrike">
                <a:solidFill>
                  <a:srgbClr val="172731"/>
                </a:solidFill>
                <a:latin typeface="Arial"/>
              </a:rPr>
              <a:t>Causal cohort-state MPC</a:t>
            </a:r>
            <a:endParaRPr b="0" lang="en-US" sz="1070" spc="-1" strike="noStrike">
              <a:latin typeface="Arial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756000" y="4816800"/>
            <a:ext cx="6480000" cy="5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50" spc="-1" strike="noStrike">
                <a:solidFill>
                  <a:srgbClr val="526875"/>
                </a:solidFill>
                <a:latin typeface="Arial"/>
              </a:rPr>
              <a:t>Twelve 10-minute windows, persistent-session state, static anchoring, same-state certificate and fallback.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123" name=""/>
          <p:cNvSpPr/>
          <p:nvPr/>
        </p:nvSpPr>
        <p:spPr>
          <a:xfrm>
            <a:off x="576000" y="5328000"/>
            <a:ext cx="79200" cy="79200"/>
          </a:xfrm>
          <a:prstGeom prst="ellipse">
            <a:avLst/>
          </a:prstGeom>
          <a:solidFill>
            <a:srgbClr val="007c99"/>
          </a:solidFill>
          <a:ln w="0">
            <a:noFill/>
          </a:ln>
        </p:spPr>
      </p:sp>
      <p:sp>
        <p:nvSpPr>
          <p:cNvPr id="124" name=""/>
          <p:cNvSpPr txBox="1"/>
          <p:nvPr/>
        </p:nvSpPr>
        <p:spPr>
          <a:xfrm>
            <a:off x="756000" y="5263200"/>
            <a:ext cx="6480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70" spc="-1" strike="noStrike">
                <a:solidFill>
                  <a:srgbClr val="172731"/>
                </a:solidFill>
                <a:latin typeface="Arial"/>
              </a:rPr>
              <a:t>Working dashboard demo</a:t>
            </a:r>
            <a:endParaRPr b="0" lang="en-US" sz="1070" spc="-1" strike="noStrike">
              <a:latin typeface="Arial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756000" y="5443200"/>
            <a:ext cx="6480000" cy="5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50" spc="-1" strike="noStrike">
                <a:solidFill>
                  <a:srgbClr val="526875"/>
                </a:solidFill>
                <a:latin typeface="Arial"/>
              </a:rPr>
              <a:t>FastAPI + React, REST/WebSocket snapshots, class telemetry, per-UPF routing proof and frozen evidence.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126" name=""/>
          <p:cNvSpPr/>
          <p:nvPr/>
        </p:nvSpPr>
        <p:spPr>
          <a:xfrm>
            <a:off x="7884000" y="2736000"/>
            <a:ext cx="3852000" cy="3240000"/>
          </a:xfrm>
          <a:prstGeom prst="roundRect">
            <a:avLst/>
          </a:prstGeom>
          <a:solidFill>
            <a:srgbClr val="faf0de"/>
          </a:solidFill>
          <a:ln w="6480">
            <a:solidFill>
              <a:srgbClr val="e8c994"/>
            </a:solidFill>
            <a:round/>
          </a:ln>
        </p:spPr>
      </p:sp>
      <p:sp>
        <p:nvSpPr>
          <p:cNvPr id="127" name=""/>
          <p:cNvSpPr/>
          <p:nvPr/>
        </p:nvSpPr>
        <p:spPr>
          <a:xfrm>
            <a:off x="7884000" y="2736000"/>
            <a:ext cx="64800" cy="3240000"/>
          </a:xfrm>
          <a:prstGeom prst="rect">
            <a:avLst/>
          </a:prstGeom>
          <a:solidFill>
            <a:srgbClr val="c77b0b"/>
          </a:solidFill>
          <a:ln w="0">
            <a:noFill/>
          </a:ln>
        </p:spPr>
      </p:sp>
      <p:sp>
        <p:nvSpPr>
          <p:cNvPr id="128" name=""/>
          <p:cNvSpPr txBox="1"/>
          <p:nvPr/>
        </p:nvSpPr>
        <p:spPr>
          <a:xfrm>
            <a:off x="8136000" y="2952000"/>
            <a:ext cx="327600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500" spc="-1" strike="noStrike">
                <a:solidFill>
                  <a:srgbClr val="172731"/>
                </a:solidFill>
                <a:latin typeface="Arial"/>
              </a:rPr>
              <a:t>Decision boundary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29" name=""/>
          <p:cNvSpPr txBox="1"/>
          <p:nvPr/>
        </p:nvSpPr>
        <p:spPr>
          <a:xfrm>
            <a:off x="8136000" y="3456000"/>
            <a:ext cx="3240000" cy="68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220" spc="-1" strike="noStrike">
                <a:solidFill>
                  <a:srgbClr val="172731"/>
                </a:solidFill>
                <a:latin typeface="Arial"/>
              </a:rPr>
              <a:t>The accepted claim is reduced modeled overload exposure for future sessions—not guaranteed overload prevention.</a:t>
            </a:r>
            <a:endParaRPr b="0" lang="en-US" sz="1220" spc="-1" strike="noStrike"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8136000" y="4420800"/>
            <a:ext cx="79200" cy="79200"/>
          </a:xfrm>
          <a:prstGeom prst="ellipse">
            <a:avLst/>
          </a:prstGeom>
          <a:solidFill>
            <a:srgbClr val="c77b0b"/>
          </a:solidFill>
          <a:ln w="0">
            <a:noFill/>
          </a:ln>
        </p:spPr>
      </p:sp>
      <p:sp>
        <p:nvSpPr>
          <p:cNvPr id="131" name=""/>
          <p:cNvSpPr txBox="1"/>
          <p:nvPr/>
        </p:nvSpPr>
        <p:spPr>
          <a:xfrm>
            <a:off x="8316000" y="4338000"/>
            <a:ext cx="3060000" cy="34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50" spc="-1" strike="noStrike">
                <a:solidFill>
                  <a:srgbClr val="172731"/>
                </a:solidFill>
                <a:latin typeface="Arial"/>
              </a:rPr>
              <a:t>Worst paired scenario: −23.50%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132" name=""/>
          <p:cNvSpPr/>
          <p:nvPr/>
        </p:nvSpPr>
        <p:spPr>
          <a:xfrm>
            <a:off x="8136000" y="4762800"/>
            <a:ext cx="79200" cy="79200"/>
          </a:xfrm>
          <a:prstGeom prst="ellipse">
            <a:avLst/>
          </a:prstGeom>
          <a:solidFill>
            <a:srgbClr val="c77b0b"/>
          </a:solidFill>
          <a:ln w="0">
            <a:noFill/>
          </a:ln>
        </p:spPr>
      </p:sp>
      <p:sp>
        <p:nvSpPr>
          <p:cNvPr id="133" name=""/>
          <p:cNvSpPr txBox="1"/>
          <p:nvPr/>
        </p:nvSpPr>
        <p:spPr>
          <a:xfrm>
            <a:off x="8316000" y="4680000"/>
            <a:ext cx="3060000" cy="34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50" spc="-1" strike="noStrike">
                <a:solidFill>
                  <a:srgbClr val="172731"/>
                </a:solidFill>
                <a:latin typeface="Arial"/>
              </a:rPr>
              <a:t>No established-session migration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134" name=""/>
          <p:cNvSpPr/>
          <p:nvPr/>
        </p:nvSpPr>
        <p:spPr>
          <a:xfrm>
            <a:off x="8136000" y="5104800"/>
            <a:ext cx="79200" cy="79200"/>
          </a:xfrm>
          <a:prstGeom prst="ellipse">
            <a:avLst/>
          </a:prstGeom>
          <a:solidFill>
            <a:srgbClr val="c77b0b"/>
          </a:solidFill>
          <a:ln w="0">
            <a:noFill/>
          </a:ln>
        </p:spPr>
      </p:sp>
      <p:sp>
        <p:nvSpPr>
          <p:cNvPr id="135" name=""/>
          <p:cNvSpPr txBox="1"/>
          <p:nvPr/>
        </p:nvSpPr>
        <p:spPr>
          <a:xfrm>
            <a:off x="8316000" y="5022000"/>
            <a:ext cx="3060000" cy="34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50" spc="-1" strike="noStrike">
                <a:solidFill>
                  <a:srgbClr val="172731"/>
                </a:solidFill>
                <a:latin typeface="Arial"/>
              </a:rPr>
              <a:t>No live SMF/EMS actuation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136" name=""/>
          <p:cNvSpPr/>
          <p:nvPr/>
        </p:nvSpPr>
        <p:spPr>
          <a:xfrm>
            <a:off x="8136000" y="5446800"/>
            <a:ext cx="79200" cy="79200"/>
          </a:xfrm>
          <a:prstGeom prst="ellipse">
            <a:avLst/>
          </a:prstGeom>
          <a:solidFill>
            <a:srgbClr val="c77b0b"/>
          </a:solidFill>
          <a:ln w="0">
            <a:noFill/>
          </a:ln>
        </p:spPr>
      </p:sp>
      <p:sp>
        <p:nvSpPr>
          <p:cNvPr id="137" name=""/>
          <p:cNvSpPr txBox="1"/>
          <p:nvPr/>
        </p:nvSpPr>
        <p:spPr>
          <a:xfrm>
            <a:off x="8316000" y="5364000"/>
            <a:ext cx="3060000" cy="34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50" spc="-1" strike="noStrike">
                <a:solidFill>
                  <a:srgbClr val="172731"/>
                </a:solidFill>
                <a:latin typeface="Arial"/>
              </a:rPr>
              <a:t>C-DOT telemetry and capacity calibration remain external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138" name=""/>
          <p:cNvSpPr/>
          <p:nvPr/>
        </p:nvSpPr>
        <p:spPr>
          <a:xfrm>
            <a:off x="324000" y="6616800"/>
            <a:ext cx="11088000" cy="0"/>
          </a:xfrm>
          <a:prstGeom prst="line">
            <a:avLst/>
          </a:prstGeom>
          <a:ln w="1080">
            <a:solidFill>
              <a:srgbClr val="cfdc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9" name=""/>
          <p:cNvSpPr txBox="1"/>
          <p:nvPr/>
        </p:nvSpPr>
        <p:spPr>
          <a:xfrm>
            <a:off x="324000" y="6660000"/>
            <a:ext cx="10368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80" spc="-1" strike="noStrike">
                <a:solidFill>
                  <a:srgbClr val="718592"/>
                </a:solidFill>
                <a:latin typeface="Courier New"/>
              </a:rPr>
              <a:t>docs/extreme-forecaster-v1-results.md · docs/cohort-mpc-full-campaign-results.md · README.md</a:t>
            </a:r>
            <a:endParaRPr b="0" lang="en-US" sz="680" spc="-1" strike="noStrike">
              <a:latin typeface="Arial"/>
            </a:endParaRPr>
          </a:p>
        </p:txBody>
      </p:sp>
      <p:sp>
        <p:nvSpPr>
          <p:cNvPr id="140" name=""/>
          <p:cNvSpPr txBox="1"/>
          <p:nvPr/>
        </p:nvSpPr>
        <p:spPr>
          <a:xfrm>
            <a:off x="11052000" y="6660000"/>
            <a:ext cx="684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buNone/>
            </a:pPr>
            <a:r>
              <a:rPr b="1" lang="en-US" sz="750" spc="-1" strike="noStrike">
                <a:solidFill>
                  <a:srgbClr val="718592"/>
                </a:solidFill>
                <a:latin typeface="Courier New"/>
              </a:rPr>
              <a:t>02</a:t>
            </a:r>
            <a:endParaRPr b="0" lang="en-US" sz="7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3f7f8"/>
          </a:solidFill>
          <a:ln w="0">
            <a:noFill/>
          </a:ln>
        </p:spPr>
      </p:sp>
      <p:sp>
        <p:nvSpPr>
          <p:cNvPr id="142" name=""/>
          <p:cNvSpPr txBox="1"/>
          <p:nvPr/>
        </p:nvSpPr>
        <p:spPr>
          <a:xfrm>
            <a:off x="324000" y="158400"/>
            <a:ext cx="3096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00" spc="508" strike="noStrike">
                <a:solidFill>
                  <a:srgbClr val="007c99"/>
                </a:solidFill>
                <a:latin typeface="Courier New"/>
              </a:rPr>
              <a:t>EVIDENCE STANDARD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43" name=""/>
          <p:cNvSpPr txBox="1"/>
          <p:nvPr/>
        </p:nvSpPr>
        <p:spPr>
          <a:xfrm>
            <a:off x="324000" y="378000"/>
            <a:ext cx="10584000" cy="57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50" spc="-1" strike="noStrike">
                <a:solidFill>
                  <a:srgbClr val="172731"/>
                </a:solidFill>
                <a:latin typeface="Arial"/>
              </a:rPr>
              <a:t>Review basis: implementation, documentation, artifacts and executable checks</a:t>
            </a:r>
            <a:endParaRPr b="0" lang="en-US" sz="2150" spc="-1" strike="noStrike">
              <a:latin typeface="Arial"/>
            </a:endParaRPr>
          </a:p>
        </p:txBody>
      </p:sp>
      <p:sp>
        <p:nvSpPr>
          <p:cNvPr id="144" name=""/>
          <p:cNvSpPr/>
          <p:nvPr/>
        </p:nvSpPr>
        <p:spPr>
          <a:xfrm>
            <a:off x="10800000" y="180000"/>
            <a:ext cx="936000" cy="19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145" name=""/>
          <p:cNvSpPr txBox="1"/>
          <p:nvPr/>
        </p:nvSpPr>
        <p:spPr>
          <a:xfrm>
            <a:off x="10818000" y="219600"/>
            <a:ext cx="900000" cy="10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710" spc="-1" strike="noStrike">
                <a:solidFill>
                  <a:srgbClr val="c77b0b"/>
                </a:solidFill>
                <a:latin typeface="Courier New"/>
              </a:rPr>
              <a:t>SYNTHETIC DATA</a:t>
            </a:r>
            <a:endParaRPr b="0" lang="en-US" sz="710" spc="-1" strike="noStrike">
              <a:latin typeface="Arial"/>
            </a:endParaRPr>
          </a:p>
        </p:txBody>
      </p:sp>
      <p:sp>
        <p:nvSpPr>
          <p:cNvPr id="146" name=""/>
          <p:cNvSpPr/>
          <p:nvPr/>
        </p:nvSpPr>
        <p:spPr>
          <a:xfrm>
            <a:off x="504000" y="1548000"/>
            <a:ext cx="324000" cy="324000"/>
          </a:xfrm>
          <a:prstGeom prst="ellipse">
            <a:avLst/>
          </a:prstGeom>
          <a:solidFill>
            <a:srgbClr val="007c99"/>
          </a:solidFill>
          <a:ln w="0">
            <a:noFill/>
          </a:ln>
        </p:spPr>
      </p:sp>
      <p:sp>
        <p:nvSpPr>
          <p:cNvPr id="147" name=""/>
          <p:cNvSpPr txBox="1"/>
          <p:nvPr/>
        </p:nvSpPr>
        <p:spPr>
          <a:xfrm>
            <a:off x="504000" y="1609200"/>
            <a:ext cx="324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US" sz="900" spc="-1" strike="noStrike">
                <a:solidFill>
                  <a:srgbClr val="ffffff"/>
                </a:solidFill>
                <a:latin typeface="Courier New"/>
              </a:rPr>
              <a:t>01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936000" y="1530000"/>
            <a:ext cx="2520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50" spc="-1" strike="noStrike">
                <a:solidFill>
                  <a:srgbClr val="172731"/>
                </a:solidFill>
                <a:latin typeface="Arial"/>
              </a:rPr>
              <a:t>Implementation</a:t>
            </a:r>
            <a:endParaRPr b="0" lang="en-US" sz="1150" spc="-1" strike="noStrike">
              <a:latin typeface="Arial"/>
            </a:endParaRPr>
          </a:p>
        </p:txBody>
      </p:sp>
      <p:sp>
        <p:nvSpPr>
          <p:cNvPr id="149" name=""/>
          <p:cNvSpPr txBox="1"/>
          <p:nvPr/>
        </p:nvSpPr>
        <p:spPr>
          <a:xfrm>
            <a:off x="936000" y="1728000"/>
            <a:ext cx="2700000" cy="32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70" spc="-1" strike="noStrike">
                <a:solidFill>
                  <a:srgbClr val="526875"/>
                </a:solidFill>
                <a:latin typeface="Arial"/>
              </a:rPr>
              <a:t>Simulator, forecasting, optimization, steering, API and React UI traced to source.</a:t>
            </a:r>
            <a:endParaRPr b="0" lang="en-US" sz="870" spc="-1" strike="noStrike">
              <a:latin typeface="Arial"/>
            </a:endParaRPr>
          </a:p>
        </p:txBody>
      </p:sp>
      <p:sp>
        <p:nvSpPr>
          <p:cNvPr id="150" name=""/>
          <p:cNvSpPr/>
          <p:nvPr/>
        </p:nvSpPr>
        <p:spPr>
          <a:xfrm>
            <a:off x="4212000" y="1548000"/>
            <a:ext cx="324000" cy="324000"/>
          </a:xfrm>
          <a:prstGeom prst="ellipse">
            <a:avLst/>
          </a:prstGeom>
          <a:solidFill>
            <a:srgbClr val="6750a4"/>
          </a:solidFill>
          <a:ln w="0">
            <a:noFill/>
          </a:ln>
        </p:spPr>
      </p:sp>
      <p:sp>
        <p:nvSpPr>
          <p:cNvPr id="151" name=""/>
          <p:cNvSpPr txBox="1"/>
          <p:nvPr/>
        </p:nvSpPr>
        <p:spPr>
          <a:xfrm>
            <a:off x="4212000" y="1609200"/>
            <a:ext cx="324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US" sz="900" spc="-1" strike="noStrike">
                <a:solidFill>
                  <a:srgbClr val="ffffff"/>
                </a:solidFill>
                <a:latin typeface="Courier New"/>
              </a:rPr>
              <a:t>02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52" name=""/>
          <p:cNvSpPr txBox="1"/>
          <p:nvPr/>
        </p:nvSpPr>
        <p:spPr>
          <a:xfrm>
            <a:off x="4644000" y="1530000"/>
            <a:ext cx="2520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50" spc="-1" strike="noStrike">
                <a:solidFill>
                  <a:srgbClr val="172731"/>
                </a:solidFill>
                <a:latin typeface="Arial"/>
              </a:rPr>
              <a:t>Design records</a:t>
            </a:r>
            <a:endParaRPr b="0" lang="en-US" sz="1150" spc="-1" strike="noStrike">
              <a:latin typeface="Arial"/>
            </a:endParaRPr>
          </a:p>
        </p:txBody>
      </p:sp>
      <p:sp>
        <p:nvSpPr>
          <p:cNvPr id="153" name=""/>
          <p:cNvSpPr txBox="1"/>
          <p:nvPr/>
        </p:nvSpPr>
        <p:spPr>
          <a:xfrm>
            <a:off x="4644000" y="1728000"/>
            <a:ext cx="2700000" cy="32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70" spc="-1" strike="noStrike">
                <a:solidFill>
                  <a:srgbClr val="526875"/>
                </a:solidFill>
                <a:latin typeface="Arial"/>
              </a:rPr>
              <a:t>Architecture decisions, runbooks, traffic specification and C-DOT gap analysis reconciled.</a:t>
            </a:r>
            <a:endParaRPr b="0" lang="en-US" sz="870" spc="-1" strike="noStrike">
              <a:latin typeface="Arial"/>
            </a:endParaRPr>
          </a:p>
        </p:txBody>
      </p:sp>
      <p:sp>
        <p:nvSpPr>
          <p:cNvPr id="154" name=""/>
          <p:cNvSpPr/>
          <p:nvPr/>
        </p:nvSpPr>
        <p:spPr>
          <a:xfrm>
            <a:off x="7920000" y="1548000"/>
            <a:ext cx="324000" cy="324000"/>
          </a:xfrm>
          <a:prstGeom prst="ellipse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155" name=""/>
          <p:cNvSpPr txBox="1"/>
          <p:nvPr/>
        </p:nvSpPr>
        <p:spPr>
          <a:xfrm>
            <a:off x="7920000" y="1609200"/>
            <a:ext cx="324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US" sz="900" spc="-1" strike="noStrike">
                <a:solidFill>
                  <a:srgbClr val="ffffff"/>
                </a:solidFill>
                <a:latin typeface="Courier New"/>
              </a:rPr>
              <a:t>03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56" name=""/>
          <p:cNvSpPr txBox="1"/>
          <p:nvPr/>
        </p:nvSpPr>
        <p:spPr>
          <a:xfrm>
            <a:off x="8352000" y="1530000"/>
            <a:ext cx="2520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50" spc="-1" strike="noStrike">
                <a:solidFill>
                  <a:srgbClr val="172731"/>
                </a:solidFill>
                <a:latin typeface="Arial"/>
              </a:rPr>
              <a:t>Frozen results</a:t>
            </a:r>
            <a:endParaRPr b="0" lang="en-US" sz="1150" spc="-1" strike="noStrike">
              <a:latin typeface="Arial"/>
            </a:endParaRPr>
          </a:p>
        </p:txBody>
      </p:sp>
      <p:sp>
        <p:nvSpPr>
          <p:cNvPr id="157" name=""/>
          <p:cNvSpPr txBox="1"/>
          <p:nvPr/>
        </p:nvSpPr>
        <p:spPr>
          <a:xfrm>
            <a:off x="8352000" y="1728000"/>
            <a:ext cx="2700000" cy="32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70" spc="-1" strike="noStrike">
                <a:solidFill>
                  <a:srgbClr val="526875"/>
                </a:solidFill>
                <a:latin typeface="Arial"/>
              </a:rPr>
              <a:t>Forecast bundle, optimizer tuning, oracle bound and 30-pair campaign evidence reviewed.</a:t>
            </a:r>
            <a:endParaRPr b="0" lang="en-US" sz="870" spc="-1" strike="noStrike">
              <a:latin typeface="Arial"/>
            </a:endParaRPr>
          </a:p>
        </p:txBody>
      </p:sp>
      <p:sp>
        <p:nvSpPr>
          <p:cNvPr id="158" name=""/>
          <p:cNvSpPr/>
          <p:nvPr/>
        </p:nvSpPr>
        <p:spPr>
          <a:xfrm>
            <a:off x="504000" y="2988000"/>
            <a:ext cx="3456000" cy="2520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159" name=""/>
          <p:cNvSpPr/>
          <p:nvPr/>
        </p:nvSpPr>
        <p:spPr>
          <a:xfrm>
            <a:off x="504000" y="2988000"/>
            <a:ext cx="64800" cy="2520000"/>
          </a:xfrm>
          <a:prstGeom prst="rect">
            <a:avLst/>
          </a:prstGeom>
          <a:solidFill>
            <a:srgbClr val="007c99"/>
          </a:solidFill>
          <a:ln w="0">
            <a:noFill/>
          </a:ln>
        </p:spPr>
      </p:sp>
      <p:sp>
        <p:nvSpPr>
          <p:cNvPr id="160" name=""/>
          <p:cNvSpPr txBox="1"/>
          <p:nvPr/>
        </p:nvSpPr>
        <p:spPr>
          <a:xfrm>
            <a:off x="756000" y="3240000"/>
            <a:ext cx="2880000" cy="38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007c99"/>
                </a:solidFill>
                <a:latin typeface="Arial"/>
              </a:rPr>
              <a:t>90 / 90</a:t>
            </a:r>
            <a:endParaRPr b="0" lang="en-US" sz="2700" spc="-1" strike="noStrike">
              <a:latin typeface="Arial"/>
            </a:endParaRPr>
          </a:p>
        </p:txBody>
      </p:sp>
      <p:sp>
        <p:nvSpPr>
          <p:cNvPr id="161" name=""/>
          <p:cNvSpPr txBox="1"/>
          <p:nvPr/>
        </p:nvSpPr>
        <p:spPr>
          <a:xfrm>
            <a:off x="756000" y="3636000"/>
            <a:ext cx="2880000" cy="2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172731"/>
                </a:solidFill>
                <a:latin typeface="Arial"/>
              </a:rPr>
              <a:t>backend tests passed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62" name=""/>
          <p:cNvSpPr/>
          <p:nvPr/>
        </p:nvSpPr>
        <p:spPr>
          <a:xfrm>
            <a:off x="756000" y="4204800"/>
            <a:ext cx="79200" cy="79200"/>
          </a:xfrm>
          <a:prstGeom prst="ellipse">
            <a:avLst/>
          </a:prstGeom>
          <a:solidFill>
            <a:srgbClr val="007c99"/>
          </a:solidFill>
          <a:ln w="0">
            <a:noFill/>
          </a:ln>
        </p:spPr>
      </p:sp>
      <p:sp>
        <p:nvSpPr>
          <p:cNvPr id="163" name=""/>
          <p:cNvSpPr txBox="1"/>
          <p:nvPr/>
        </p:nvSpPr>
        <p:spPr>
          <a:xfrm>
            <a:off x="936000" y="4122000"/>
            <a:ext cx="2700000" cy="255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0" spc="-1" strike="noStrike">
                <a:solidFill>
                  <a:srgbClr val="172731"/>
                </a:solidFill>
                <a:latin typeface="Arial"/>
              </a:rPr>
              <a:t>contracts and telemetry reconstruction</a:t>
            </a:r>
            <a:endParaRPr b="0" lang="en-US" sz="880" spc="-1" strike="noStrike">
              <a:latin typeface="Arial"/>
            </a:endParaRPr>
          </a:p>
        </p:txBody>
      </p:sp>
      <p:sp>
        <p:nvSpPr>
          <p:cNvPr id="164" name=""/>
          <p:cNvSpPr/>
          <p:nvPr/>
        </p:nvSpPr>
        <p:spPr>
          <a:xfrm>
            <a:off x="756000" y="4460400"/>
            <a:ext cx="79200" cy="79200"/>
          </a:xfrm>
          <a:prstGeom prst="ellipse">
            <a:avLst/>
          </a:prstGeom>
          <a:solidFill>
            <a:srgbClr val="007c99"/>
          </a:solidFill>
          <a:ln w="0">
            <a:noFill/>
          </a:ln>
        </p:spPr>
      </p:sp>
      <p:sp>
        <p:nvSpPr>
          <p:cNvPr id="165" name=""/>
          <p:cNvSpPr txBox="1"/>
          <p:nvPr/>
        </p:nvSpPr>
        <p:spPr>
          <a:xfrm>
            <a:off x="936000" y="4377600"/>
            <a:ext cx="2700000" cy="255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0" spc="-1" strike="noStrike">
                <a:solidFill>
                  <a:srgbClr val="172731"/>
                </a:solidFill>
                <a:latin typeface="Arial"/>
              </a:rPr>
              <a:t>deterministic simulator and Parquet</a:t>
            </a:r>
            <a:endParaRPr b="0" lang="en-US" sz="880" spc="-1" strike="noStrike">
              <a:latin typeface="Arial"/>
            </a:endParaRPr>
          </a:p>
        </p:txBody>
      </p:sp>
      <p:sp>
        <p:nvSpPr>
          <p:cNvPr id="166" name=""/>
          <p:cNvSpPr/>
          <p:nvPr/>
        </p:nvSpPr>
        <p:spPr>
          <a:xfrm>
            <a:off x="756000" y="4716000"/>
            <a:ext cx="79200" cy="79200"/>
          </a:xfrm>
          <a:prstGeom prst="ellipse">
            <a:avLst/>
          </a:prstGeom>
          <a:solidFill>
            <a:srgbClr val="007c99"/>
          </a:solidFill>
          <a:ln w="0">
            <a:noFill/>
          </a:ln>
        </p:spPr>
      </p:sp>
      <p:sp>
        <p:nvSpPr>
          <p:cNvPr id="167" name=""/>
          <p:cNvSpPr txBox="1"/>
          <p:nvPr/>
        </p:nvSpPr>
        <p:spPr>
          <a:xfrm>
            <a:off x="936000" y="4633200"/>
            <a:ext cx="2700000" cy="255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0" spc="-1" strike="noStrike">
                <a:solidFill>
                  <a:srgbClr val="172731"/>
                </a:solidFill>
                <a:latin typeface="Arial"/>
              </a:rPr>
              <a:t>forecast leakage and bundle integrity</a:t>
            </a:r>
            <a:endParaRPr b="0" lang="en-US" sz="880" spc="-1" strike="noStrike">
              <a:latin typeface="Arial"/>
            </a:endParaRPr>
          </a:p>
        </p:txBody>
      </p:sp>
      <p:sp>
        <p:nvSpPr>
          <p:cNvPr id="168" name=""/>
          <p:cNvSpPr/>
          <p:nvPr/>
        </p:nvSpPr>
        <p:spPr>
          <a:xfrm>
            <a:off x="756000" y="4971600"/>
            <a:ext cx="79200" cy="79200"/>
          </a:xfrm>
          <a:prstGeom prst="ellipse">
            <a:avLst/>
          </a:prstGeom>
          <a:solidFill>
            <a:srgbClr val="007c99"/>
          </a:solidFill>
          <a:ln w="0">
            <a:noFill/>
          </a:ln>
        </p:spPr>
      </p:sp>
      <p:sp>
        <p:nvSpPr>
          <p:cNvPr id="169" name=""/>
          <p:cNvSpPr txBox="1"/>
          <p:nvPr/>
        </p:nvSpPr>
        <p:spPr>
          <a:xfrm>
            <a:off x="936000" y="4888800"/>
            <a:ext cx="2700000" cy="255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0" spc="-1" strike="noStrike">
                <a:solidFill>
                  <a:srgbClr val="172731"/>
                </a:solidFill>
                <a:latin typeface="Arial"/>
              </a:rPr>
              <a:t>HiGHS, cohort MPC and oracle bounds</a:t>
            </a:r>
            <a:endParaRPr b="0" lang="en-US" sz="880" spc="-1" strike="noStrike">
              <a:latin typeface="Arial"/>
            </a:endParaRPr>
          </a:p>
        </p:txBody>
      </p:sp>
      <p:sp>
        <p:nvSpPr>
          <p:cNvPr id="170" name=""/>
          <p:cNvSpPr/>
          <p:nvPr/>
        </p:nvSpPr>
        <p:spPr>
          <a:xfrm>
            <a:off x="756000" y="5227200"/>
            <a:ext cx="79200" cy="79200"/>
          </a:xfrm>
          <a:prstGeom prst="ellipse">
            <a:avLst/>
          </a:prstGeom>
          <a:solidFill>
            <a:srgbClr val="007c99"/>
          </a:solidFill>
          <a:ln w="0">
            <a:noFill/>
          </a:ln>
        </p:spPr>
      </p:sp>
      <p:sp>
        <p:nvSpPr>
          <p:cNvPr id="171" name=""/>
          <p:cNvSpPr txBox="1"/>
          <p:nvPr/>
        </p:nvSpPr>
        <p:spPr>
          <a:xfrm>
            <a:off x="936000" y="5144400"/>
            <a:ext cx="2700000" cy="255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0" spc="-1" strike="noStrike">
                <a:solidFill>
                  <a:srgbClr val="172731"/>
                </a:solidFill>
                <a:latin typeface="Arial"/>
              </a:rPr>
              <a:t>API, story, rewind and campaign evidence</a:t>
            </a:r>
            <a:endParaRPr b="0" lang="en-US" sz="880" spc="-1" strike="noStrike">
              <a:latin typeface="Arial"/>
            </a:endParaRPr>
          </a:p>
        </p:txBody>
      </p:sp>
      <p:sp>
        <p:nvSpPr>
          <p:cNvPr id="172" name=""/>
          <p:cNvSpPr/>
          <p:nvPr/>
        </p:nvSpPr>
        <p:spPr>
          <a:xfrm>
            <a:off x="4248000" y="2988000"/>
            <a:ext cx="3456000" cy="2520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173" name=""/>
          <p:cNvSpPr/>
          <p:nvPr/>
        </p:nvSpPr>
        <p:spPr>
          <a:xfrm>
            <a:off x="4248000" y="2988000"/>
            <a:ext cx="64800" cy="2520000"/>
          </a:xfrm>
          <a:prstGeom prst="rect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174" name=""/>
          <p:cNvSpPr txBox="1"/>
          <p:nvPr/>
        </p:nvSpPr>
        <p:spPr>
          <a:xfrm>
            <a:off x="4500000" y="3240000"/>
            <a:ext cx="2880000" cy="38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16805f"/>
                </a:solidFill>
                <a:latin typeface="Arial"/>
              </a:rPr>
              <a:t>6 / 6</a:t>
            </a:r>
            <a:endParaRPr b="0" lang="en-US" sz="2700" spc="-1" strike="noStrike">
              <a:latin typeface="Arial"/>
            </a:endParaRPr>
          </a:p>
        </p:txBody>
      </p:sp>
      <p:sp>
        <p:nvSpPr>
          <p:cNvPr id="175" name=""/>
          <p:cNvSpPr txBox="1"/>
          <p:nvPr/>
        </p:nvSpPr>
        <p:spPr>
          <a:xfrm>
            <a:off x="4500000" y="3636000"/>
            <a:ext cx="2880000" cy="2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172731"/>
                </a:solidFill>
                <a:latin typeface="Arial"/>
              </a:rPr>
              <a:t>demo preflight gates passed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76" name=""/>
          <p:cNvSpPr/>
          <p:nvPr/>
        </p:nvSpPr>
        <p:spPr>
          <a:xfrm>
            <a:off x="4500000" y="4204800"/>
            <a:ext cx="79200" cy="79200"/>
          </a:xfrm>
          <a:prstGeom prst="ellipse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177" name=""/>
          <p:cNvSpPr txBox="1"/>
          <p:nvPr/>
        </p:nvSpPr>
        <p:spPr>
          <a:xfrm>
            <a:off x="4680000" y="4122000"/>
            <a:ext cx="2700000" cy="237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0" spc="-1" strike="noStrike">
                <a:solidFill>
                  <a:srgbClr val="172731"/>
                </a:solidFill>
                <a:latin typeface="Arial"/>
              </a:rPr>
              <a:t>traffic registry</a:t>
            </a:r>
            <a:endParaRPr b="0" lang="en-US" sz="880" spc="-1" strike="noStrike">
              <a:latin typeface="Arial"/>
            </a:endParaRPr>
          </a:p>
        </p:txBody>
      </p:sp>
      <p:sp>
        <p:nvSpPr>
          <p:cNvPr id="178" name=""/>
          <p:cNvSpPr/>
          <p:nvPr/>
        </p:nvSpPr>
        <p:spPr>
          <a:xfrm>
            <a:off x="4500000" y="4442400"/>
            <a:ext cx="79200" cy="79200"/>
          </a:xfrm>
          <a:prstGeom prst="ellipse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179" name=""/>
          <p:cNvSpPr txBox="1"/>
          <p:nvPr/>
        </p:nvSpPr>
        <p:spPr>
          <a:xfrm>
            <a:off x="4680000" y="4359600"/>
            <a:ext cx="2700000" cy="237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0" spc="-1" strike="noStrike">
                <a:solidFill>
                  <a:srgbClr val="172731"/>
                </a:solidFill>
                <a:latin typeface="Arial"/>
              </a:rPr>
              <a:t>3-UPF / 6-class scenario</a:t>
            </a:r>
            <a:endParaRPr b="0" lang="en-US" sz="880" spc="-1" strike="noStrike">
              <a:latin typeface="Arial"/>
            </a:endParaRPr>
          </a:p>
        </p:txBody>
      </p:sp>
      <p:sp>
        <p:nvSpPr>
          <p:cNvPr id="180" name=""/>
          <p:cNvSpPr/>
          <p:nvPr/>
        </p:nvSpPr>
        <p:spPr>
          <a:xfrm>
            <a:off x="4500000" y="4680000"/>
            <a:ext cx="79200" cy="79200"/>
          </a:xfrm>
          <a:prstGeom prst="ellipse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181" name=""/>
          <p:cNvSpPr txBox="1"/>
          <p:nvPr/>
        </p:nvSpPr>
        <p:spPr>
          <a:xfrm>
            <a:off x="4680000" y="4597200"/>
            <a:ext cx="2700000" cy="237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0" spc="-1" strike="noStrike">
                <a:solidFill>
                  <a:srgbClr val="172731"/>
                </a:solidFill>
                <a:latin typeface="Arial"/>
              </a:rPr>
              <a:t>forecast bundle checksum</a:t>
            </a:r>
            <a:endParaRPr b="0" lang="en-US" sz="880" spc="-1" strike="noStrike">
              <a:latin typeface="Arial"/>
            </a:endParaRPr>
          </a:p>
        </p:txBody>
      </p:sp>
      <p:sp>
        <p:nvSpPr>
          <p:cNvPr id="182" name=""/>
          <p:cNvSpPr/>
          <p:nvPr/>
        </p:nvSpPr>
        <p:spPr>
          <a:xfrm>
            <a:off x="4500000" y="4917600"/>
            <a:ext cx="79200" cy="79200"/>
          </a:xfrm>
          <a:prstGeom prst="ellipse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183" name=""/>
          <p:cNvSpPr txBox="1"/>
          <p:nvPr/>
        </p:nvSpPr>
        <p:spPr>
          <a:xfrm>
            <a:off x="4680000" y="4834800"/>
            <a:ext cx="2700000" cy="237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0" spc="-1" strike="noStrike">
                <a:solidFill>
                  <a:srgbClr val="172731"/>
                </a:solidFill>
                <a:latin typeface="Arial"/>
              </a:rPr>
              <a:t>FastAPI OpenAPI: 20 paths</a:t>
            </a:r>
            <a:endParaRPr b="0" lang="en-US" sz="880" spc="-1" strike="noStrike">
              <a:latin typeface="Arial"/>
            </a:endParaRPr>
          </a:p>
        </p:txBody>
      </p:sp>
      <p:sp>
        <p:nvSpPr>
          <p:cNvPr id="184" name=""/>
          <p:cNvSpPr/>
          <p:nvPr/>
        </p:nvSpPr>
        <p:spPr>
          <a:xfrm>
            <a:off x="4500000" y="5155200"/>
            <a:ext cx="79200" cy="79200"/>
          </a:xfrm>
          <a:prstGeom prst="ellipse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185" name=""/>
          <p:cNvSpPr txBox="1"/>
          <p:nvPr/>
        </p:nvSpPr>
        <p:spPr>
          <a:xfrm>
            <a:off x="4680000" y="5072400"/>
            <a:ext cx="2700000" cy="237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0" spc="-1" strike="noStrike">
                <a:solidFill>
                  <a:srgbClr val="172731"/>
                </a:solidFill>
                <a:latin typeface="Arial"/>
              </a:rPr>
              <a:t>production-built operator console</a:t>
            </a:r>
            <a:endParaRPr b="0" lang="en-US" sz="880" spc="-1" strike="noStrike">
              <a:latin typeface="Arial"/>
            </a:endParaRPr>
          </a:p>
        </p:txBody>
      </p:sp>
      <p:sp>
        <p:nvSpPr>
          <p:cNvPr id="186" name=""/>
          <p:cNvSpPr/>
          <p:nvPr/>
        </p:nvSpPr>
        <p:spPr>
          <a:xfrm>
            <a:off x="4500000" y="5392800"/>
            <a:ext cx="79200" cy="79200"/>
          </a:xfrm>
          <a:prstGeom prst="ellipse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187" name=""/>
          <p:cNvSpPr txBox="1"/>
          <p:nvPr/>
        </p:nvSpPr>
        <p:spPr>
          <a:xfrm>
            <a:off x="4680000" y="5310000"/>
            <a:ext cx="2700000" cy="237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0" spc="-1" strike="noStrike">
                <a:solidFill>
                  <a:srgbClr val="172731"/>
                </a:solidFill>
                <a:latin typeface="Arial"/>
              </a:rPr>
              <a:t>frontend bundle checksum</a:t>
            </a:r>
            <a:endParaRPr b="0" lang="en-US" sz="880" spc="-1" strike="noStrike">
              <a:latin typeface="Arial"/>
            </a:endParaRPr>
          </a:p>
        </p:txBody>
      </p:sp>
      <p:sp>
        <p:nvSpPr>
          <p:cNvPr id="188" name=""/>
          <p:cNvSpPr/>
          <p:nvPr/>
        </p:nvSpPr>
        <p:spPr>
          <a:xfrm>
            <a:off x="7992000" y="2988000"/>
            <a:ext cx="3744000" cy="2520000"/>
          </a:xfrm>
          <a:prstGeom prst="roundRect">
            <a:avLst/>
          </a:prstGeom>
          <a:solidFill>
            <a:srgbClr val="fae8e6"/>
          </a:solidFill>
          <a:ln w="6480">
            <a:solidFill>
              <a:srgbClr val="ecc5c1"/>
            </a:solidFill>
            <a:round/>
          </a:ln>
        </p:spPr>
      </p:sp>
      <p:sp>
        <p:nvSpPr>
          <p:cNvPr id="189" name=""/>
          <p:cNvSpPr/>
          <p:nvPr/>
        </p:nvSpPr>
        <p:spPr>
          <a:xfrm>
            <a:off x="7992000" y="2988000"/>
            <a:ext cx="64800" cy="2520000"/>
          </a:xfrm>
          <a:prstGeom prst="rect">
            <a:avLst/>
          </a:prstGeom>
          <a:solidFill>
            <a:srgbClr val="cd443b"/>
          </a:solidFill>
          <a:ln w="0">
            <a:noFill/>
          </a:ln>
        </p:spPr>
      </p:sp>
      <p:sp>
        <p:nvSpPr>
          <p:cNvPr id="190" name=""/>
          <p:cNvSpPr txBox="1"/>
          <p:nvPr/>
        </p:nvSpPr>
        <p:spPr>
          <a:xfrm>
            <a:off x="8244000" y="3240000"/>
            <a:ext cx="324000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400" spc="-1" strike="noStrike">
                <a:solidFill>
                  <a:srgbClr val="cd443b"/>
                </a:solidFill>
                <a:latin typeface="Arial"/>
              </a:rPr>
              <a:t>Evidence rule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91" name=""/>
          <p:cNvSpPr txBox="1"/>
          <p:nvPr/>
        </p:nvSpPr>
        <p:spPr>
          <a:xfrm>
            <a:off x="8244000" y="3708000"/>
            <a:ext cx="3168000" cy="61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80" spc="-1" strike="noStrike">
                <a:solidFill>
                  <a:srgbClr val="172731"/>
                </a:solidFill>
                <a:latin typeface="Arial"/>
              </a:rPr>
              <a:t>Synthetic values, workstation benchmarks and external integration assumptions are never mixed into a production claim.</a:t>
            </a:r>
            <a:endParaRPr b="0" lang="en-US" sz="1080" spc="-1" strike="noStrike">
              <a:latin typeface="Arial"/>
            </a:endParaRPr>
          </a:p>
        </p:txBody>
      </p:sp>
      <p:sp>
        <p:nvSpPr>
          <p:cNvPr id="192" name=""/>
          <p:cNvSpPr txBox="1"/>
          <p:nvPr/>
        </p:nvSpPr>
        <p:spPr>
          <a:xfrm>
            <a:off x="8244000" y="4608000"/>
            <a:ext cx="3168000" cy="5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20" spc="-1" strike="noStrike">
                <a:solidFill>
                  <a:srgbClr val="526875"/>
                </a:solidFill>
                <a:latin typeface="Arial"/>
              </a:rPr>
              <a:t>The worktree is currently dirty; frozen artifacts preserve hashes and exact code identities where documented.</a:t>
            </a:r>
            <a:endParaRPr b="0" lang="en-US" sz="920" spc="-1" strike="noStrike">
              <a:latin typeface="Arial"/>
            </a:endParaRPr>
          </a:p>
        </p:txBody>
      </p:sp>
      <p:sp>
        <p:nvSpPr>
          <p:cNvPr id="193" name=""/>
          <p:cNvSpPr/>
          <p:nvPr/>
        </p:nvSpPr>
        <p:spPr>
          <a:xfrm>
            <a:off x="324000" y="6616800"/>
            <a:ext cx="11088000" cy="0"/>
          </a:xfrm>
          <a:prstGeom prst="line">
            <a:avLst/>
          </a:prstGeom>
          <a:ln w="1080">
            <a:solidFill>
              <a:srgbClr val="cfdc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4" name=""/>
          <p:cNvSpPr txBox="1"/>
          <p:nvPr/>
        </p:nvSpPr>
        <p:spPr>
          <a:xfrm>
            <a:off x="324000" y="6660000"/>
            <a:ext cx="10368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80" spc="-1" strike="noStrike">
                <a:solidFill>
                  <a:srgbClr val="718592"/>
                </a:solidFill>
                <a:latin typeface="Courier New"/>
              </a:rPr>
              <a:t>env/bin/python -m unittest discover -s tests -v · env/bin/python scripts/preflight.py</a:t>
            </a:r>
            <a:endParaRPr b="0" lang="en-US" sz="680" spc="-1" strike="noStrike">
              <a:latin typeface="Arial"/>
            </a:endParaRPr>
          </a:p>
        </p:txBody>
      </p:sp>
      <p:sp>
        <p:nvSpPr>
          <p:cNvPr id="195" name=""/>
          <p:cNvSpPr txBox="1"/>
          <p:nvPr/>
        </p:nvSpPr>
        <p:spPr>
          <a:xfrm>
            <a:off x="11052000" y="6660000"/>
            <a:ext cx="684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buNone/>
            </a:pPr>
            <a:r>
              <a:rPr b="1" lang="en-US" sz="750" spc="-1" strike="noStrike">
                <a:solidFill>
                  <a:srgbClr val="718592"/>
                </a:solidFill>
                <a:latin typeface="Courier New"/>
              </a:rPr>
              <a:t>03</a:t>
            </a:r>
            <a:endParaRPr b="0" lang="en-US" sz="7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3f7f8"/>
          </a:solidFill>
          <a:ln w="0">
            <a:noFill/>
          </a:ln>
        </p:spPr>
      </p:sp>
      <p:sp>
        <p:nvSpPr>
          <p:cNvPr id="197" name=""/>
          <p:cNvSpPr txBox="1"/>
          <p:nvPr/>
        </p:nvSpPr>
        <p:spPr>
          <a:xfrm>
            <a:off x="324000" y="158400"/>
            <a:ext cx="3096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00" spc="508" strike="noStrike">
                <a:solidFill>
                  <a:srgbClr val="007c99"/>
                </a:solidFill>
                <a:latin typeface="Courier New"/>
              </a:rPr>
              <a:t>ARCHITECTURE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98" name=""/>
          <p:cNvSpPr txBox="1"/>
          <p:nvPr/>
        </p:nvSpPr>
        <p:spPr>
          <a:xfrm>
            <a:off x="324000" y="378000"/>
            <a:ext cx="10584000" cy="57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50" spc="-1" strike="noStrike">
                <a:solidFill>
                  <a:srgbClr val="172731"/>
                </a:solidFill>
                <a:latin typeface="Arial"/>
              </a:rPr>
              <a:t>The implementation is an artifact-backed, causal closed loop</a:t>
            </a:r>
            <a:endParaRPr b="0" lang="en-US" sz="2150" spc="-1" strike="noStrike">
              <a:latin typeface="Arial"/>
            </a:endParaRPr>
          </a:p>
        </p:txBody>
      </p:sp>
      <p:sp>
        <p:nvSpPr>
          <p:cNvPr id="199" name=""/>
          <p:cNvSpPr/>
          <p:nvPr/>
        </p:nvSpPr>
        <p:spPr>
          <a:xfrm>
            <a:off x="10800000" y="180000"/>
            <a:ext cx="936000" cy="19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200" name=""/>
          <p:cNvSpPr txBox="1"/>
          <p:nvPr/>
        </p:nvSpPr>
        <p:spPr>
          <a:xfrm>
            <a:off x="10818000" y="219600"/>
            <a:ext cx="900000" cy="10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710" spc="-1" strike="noStrike">
                <a:solidFill>
                  <a:srgbClr val="c77b0b"/>
                </a:solidFill>
                <a:latin typeface="Courier New"/>
              </a:rPr>
              <a:t>SYNTHETIC DATA</a:t>
            </a:r>
            <a:endParaRPr b="0" lang="en-US" sz="710" spc="-1" strike="noStrike">
              <a:latin typeface="Arial"/>
            </a:endParaRPr>
          </a:p>
        </p:txBody>
      </p:sp>
      <p:sp>
        <p:nvSpPr>
          <p:cNvPr id="201" name=""/>
          <p:cNvSpPr/>
          <p:nvPr/>
        </p:nvSpPr>
        <p:spPr>
          <a:xfrm>
            <a:off x="324000" y="1980000"/>
            <a:ext cx="1656000" cy="1224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202" name=""/>
          <p:cNvSpPr/>
          <p:nvPr/>
        </p:nvSpPr>
        <p:spPr>
          <a:xfrm>
            <a:off x="324000" y="1980000"/>
            <a:ext cx="64800" cy="1224000"/>
          </a:xfrm>
          <a:prstGeom prst="rect">
            <a:avLst/>
          </a:prstGeom>
          <a:solidFill>
            <a:srgbClr val="007c99"/>
          </a:solidFill>
          <a:ln w="0">
            <a:noFill/>
          </a:ln>
        </p:spPr>
      </p:sp>
      <p:sp>
        <p:nvSpPr>
          <p:cNvPr id="203" name=""/>
          <p:cNvSpPr txBox="1"/>
          <p:nvPr/>
        </p:nvSpPr>
        <p:spPr>
          <a:xfrm>
            <a:off x="504000" y="2196000"/>
            <a:ext cx="1296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50" spc="-1" strike="noStrike">
                <a:solidFill>
                  <a:srgbClr val="007c99"/>
                </a:solidFill>
                <a:latin typeface="Courier New"/>
              </a:rPr>
              <a:t>SCENARIO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204" name=""/>
          <p:cNvSpPr txBox="1"/>
          <p:nvPr/>
        </p:nvSpPr>
        <p:spPr>
          <a:xfrm>
            <a:off x="504000" y="2484000"/>
            <a:ext cx="1296000" cy="50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20" spc="-1" strike="noStrike">
                <a:solidFill>
                  <a:srgbClr val="172731"/>
                </a:solidFill>
                <a:latin typeface="Arial"/>
              </a:rPr>
              <a:t>Seeded manifest</a:t>
            </a:r>
            <a:endParaRPr b="0" lang="en-US" sz="1020" spc="-1" strike="noStrike">
              <a:latin typeface="Arial"/>
            </a:endParaRPr>
          </a:p>
          <a:p>
            <a:r>
              <a:rPr b="1" lang="en-US" sz="1020" spc="-1" strike="noStrike">
                <a:solidFill>
                  <a:srgbClr val="172731"/>
                </a:solidFill>
                <a:latin typeface="Arial"/>
              </a:rPr>
              <a:t>+ topology + events</a:t>
            </a:r>
            <a:endParaRPr b="0" lang="en-US" sz="1020" spc="-1" strike="noStrike">
              <a:latin typeface="Arial"/>
            </a:endParaRPr>
          </a:p>
        </p:txBody>
      </p:sp>
      <p:sp>
        <p:nvSpPr>
          <p:cNvPr id="205" name=""/>
          <p:cNvSpPr/>
          <p:nvPr/>
        </p:nvSpPr>
        <p:spPr>
          <a:xfrm>
            <a:off x="1980000" y="2592000"/>
            <a:ext cx="158400" cy="0"/>
          </a:xfrm>
          <a:prstGeom prst="line">
            <a:avLst/>
          </a:prstGeom>
          <a:ln w="4680">
            <a:solidFill>
              <a:srgbClr val="5268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6" name=""/>
          <p:cNvSpPr txBox="1"/>
          <p:nvPr/>
        </p:nvSpPr>
        <p:spPr>
          <a:xfrm>
            <a:off x="2080800" y="2463840"/>
            <a:ext cx="144000" cy="2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US" sz="1800" spc="-1" strike="noStrike">
                <a:solidFill>
                  <a:srgbClr val="526875"/>
                </a:solidFill>
                <a:latin typeface="Arial"/>
              </a:rPr>
              <a:t>›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07" name=""/>
          <p:cNvSpPr/>
          <p:nvPr/>
        </p:nvSpPr>
        <p:spPr>
          <a:xfrm>
            <a:off x="2224800" y="1980000"/>
            <a:ext cx="1656000" cy="1224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208" name=""/>
          <p:cNvSpPr/>
          <p:nvPr/>
        </p:nvSpPr>
        <p:spPr>
          <a:xfrm>
            <a:off x="2224800" y="1980000"/>
            <a:ext cx="64800" cy="1224000"/>
          </a:xfrm>
          <a:prstGeom prst="rect">
            <a:avLst/>
          </a:prstGeom>
          <a:solidFill>
            <a:srgbClr val="2f91a6"/>
          </a:solidFill>
          <a:ln w="0">
            <a:noFill/>
          </a:ln>
        </p:spPr>
      </p:sp>
      <p:sp>
        <p:nvSpPr>
          <p:cNvPr id="209" name=""/>
          <p:cNvSpPr txBox="1"/>
          <p:nvPr/>
        </p:nvSpPr>
        <p:spPr>
          <a:xfrm>
            <a:off x="2404800" y="2196000"/>
            <a:ext cx="1296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50" spc="-1" strike="noStrike">
                <a:solidFill>
                  <a:srgbClr val="2f91a6"/>
                </a:solidFill>
                <a:latin typeface="Courier New"/>
              </a:rPr>
              <a:t>SIMULATE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210" name=""/>
          <p:cNvSpPr txBox="1"/>
          <p:nvPr/>
        </p:nvSpPr>
        <p:spPr>
          <a:xfrm>
            <a:off x="2404800" y="2484000"/>
            <a:ext cx="1296000" cy="50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20" spc="-1" strike="noStrike">
                <a:solidFill>
                  <a:srgbClr val="172731"/>
                </a:solidFill>
                <a:latin typeface="Arial"/>
              </a:rPr>
              <a:t>30 s cohorts</a:t>
            </a:r>
            <a:endParaRPr b="0" lang="en-US" sz="1020" spc="-1" strike="noStrike">
              <a:latin typeface="Arial"/>
            </a:endParaRPr>
          </a:p>
          <a:p>
            <a:r>
              <a:rPr b="1" lang="en-US" sz="1020" spc="-1" strike="noStrike">
                <a:solidFill>
                  <a:srgbClr val="172731"/>
                </a:solidFill>
                <a:latin typeface="Arial"/>
              </a:rPr>
              <a:t>+ traffic accounting</a:t>
            </a:r>
            <a:endParaRPr b="0" lang="en-US" sz="1020" spc="-1" strike="noStrike">
              <a:latin typeface="Arial"/>
            </a:endParaRPr>
          </a:p>
        </p:txBody>
      </p:sp>
      <p:sp>
        <p:nvSpPr>
          <p:cNvPr id="211" name=""/>
          <p:cNvSpPr/>
          <p:nvPr/>
        </p:nvSpPr>
        <p:spPr>
          <a:xfrm>
            <a:off x="3880800" y="2592000"/>
            <a:ext cx="158400" cy="0"/>
          </a:xfrm>
          <a:prstGeom prst="line">
            <a:avLst/>
          </a:prstGeom>
          <a:ln w="4680">
            <a:solidFill>
              <a:srgbClr val="5268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2" name=""/>
          <p:cNvSpPr txBox="1"/>
          <p:nvPr/>
        </p:nvSpPr>
        <p:spPr>
          <a:xfrm>
            <a:off x="3981600" y="2463840"/>
            <a:ext cx="144000" cy="2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US" sz="1800" spc="-1" strike="noStrike">
                <a:solidFill>
                  <a:srgbClr val="526875"/>
                </a:solidFill>
                <a:latin typeface="Arial"/>
              </a:rPr>
              <a:t>›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13" name=""/>
          <p:cNvSpPr/>
          <p:nvPr/>
        </p:nvSpPr>
        <p:spPr>
          <a:xfrm>
            <a:off x="4125600" y="1980000"/>
            <a:ext cx="1656000" cy="1224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214" name=""/>
          <p:cNvSpPr/>
          <p:nvPr/>
        </p:nvSpPr>
        <p:spPr>
          <a:xfrm>
            <a:off x="4125600" y="1980000"/>
            <a:ext cx="64800" cy="1224000"/>
          </a:xfrm>
          <a:prstGeom prst="rect">
            <a:avLst/>
          </a:prstGeom>
          <a:solidFill>
            <a:srgbClr val="6750a4"/>
          </a:solidFill>
          <a:ln w="0">
            <a:noFill/>
          </a:ln>
        </p:spPr>
      </p:sp>
      <p:sp>
        <p:nvSpPr>
          <p:cNvPr id="215" name=""/>
          <p:cNvSpPr txBox="1"/>
          <p:nvPr/>
        </p:nvSpPr>
        <p:spPr>
          <a:xfrm>
            <a:off x="4305600" y="2196000"/>
            <a:ext cx="1296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50" spc="-1" strike="noStrike">
                <a:solidFill>
                  <a:srgbClr val="6750a4"/>
                </a:solidFill>
                <a:latin typeface="Courier New"/>
              </a:rPr>
              <a:t>AGGREGATE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216" name=""/>
          <p:cNvSpPr txBox="1"/>
          <p:nvPr/>
        </p:nvSpPr>
        <p:spPr>
          <a:xfrm>
            <a:off x="4305600" y="2484000"/>
            <a:ext cx="1296000" cy="50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20" spc="-1" strike="noStrike">
                <a:solidFill>
                  <a:srgbClr val="172731"/>
                </a:solidFill>
                <a:latin typeface="Arial"/>
              </a:rPr>
              <a:t>20 ticks →</a:t>
            </a:r>
            <a:endParaRPr b="0" lang="en-US" sz="1020" spc="-1" strike="noStrike">
              <a:latin typeface="Arial"/>
            </a:endParaRPr>
          </a:p>
          <a:p>
            <a:r>
              <a:rPr b="1" lang="en-US" sz="1020" spc="-1" strike="noStrike">
                <a:solidFill>
                  <a:srgbClr val="172731"/>
                </a:solidFill>
                <a:latin typeface="Arial"/>
              </a:rPr>
              <a:t>10 min observations</a:t>
            </a:r>
            <a:endParaRPr b="0" lang="en-US" sz="1020" spc="-1" strike="noStrike">
              <a:latin typeface="Arial"/>
            </a:endParaRPr>
          </a:p>
        </p:txBody>
      </p:sp>
      <p:sp>
        <p:nvSpPr>
          <p:cNvPr id="217" name=""/>
          <p:cNvSpPr/>
          <p:nvPr/>
        </p:nvSpPr>
        <p:spPr>
          <a:xfrm>
            <a:off x="5781600" y="2592000"/>
            <a:ext cx="158400" cy="0"/>
          </a:xfrm>
          <a:prstGeom prst="line">
            <a:avLst/>
          </a:prstGeom>
          <a:ln w="4680">
            <a:solidFill>
              <a:srgbClr val="5268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8" name=""/>
          <p:cNvSpPr txBox="1"/>
          <p:nvPr/>
        </p:nvSpPr>
        <p:spPr>
          <a:xfrm>
            <a:off x="5882400" y="2463840"/>
            <a:ext cx="144000" cy="2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US" sz="1800" spc="-1" strike="noStrike">
                <a:solidFill>
                  <a:srgbClr val="526875"/>
                </a:solidFill>
                <a:latin typeface="Arial"/>
              </a:rPr>
              <a:t>›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19" name=""/>
          <p:cNvSpPr/>
          <p:nvPr/>
        </p:nvSpPr>
        <p:spPr>
          <a:xfrm>
            <a:off x="6026400" y="1980000"/>
            <a:ext cx="1656000" cy="1224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220" name=""/>
          <p:cNvSpPr/>
          <p:nvPr/>
        </p:nvSpPr>
        <p:spPr>
          <a:xfrm>
            <a:off x="6026400" y="1980000"/>
            <a:ext cx="64800" cy="1224000"/>
          </a:xfrm>
          <a:prstGeom prst="rect">
            <a:avLst/>
          </a:prstGeom>
          <a:solidFill>
            <a:srgbClr val="6750a4"/>
          </a:solidFill>
          <a:ln w="0">
            <a:noFill/>
          </a:ln>
        </p:spPr>
      </p:sp>
      <p:sp>
        <p:nvSpPr>
          <p:cNvPr id="221" name=""/>
          <p:cNvSpPr txBox="1"/>
          <p:nvPr/>
        </p:nvSpPr>
        <p:spPr>
          <a:xfrm>
            <a:off x="6206400" y="2196000"/>
            <a:ext cx="1296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50" spc="-1" strike="noStrike">
                <a:solidFill>
                  <a:srgbClr val="6750a4"/>
                </a:solidFill>
                <a:latin typeface="Courier New"/>
              </a:rPr>
              <a:t>FORECAST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222" name=""/>
          <p:cNvSpPr txBox="1"/>
          <p:nvPr/>
        </p:nvSpPr>
        <p:spPr>
          <a:xfrm>
            <a:off x="6206400" y="2484000"/>
            <a:ext cx="1296000" cy="50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20" spc="-1" strike="noStrike">
                <a:solidFill>
                  <a:srgbClr val="172731"/>
                </a:solidFill>
                <a:latin typeface="Arial"/>
              </a:rPr>
              <a:t>p50 / p90 / p95</a:t>
            </a:r>
            <a:endParaRPr b="0" lang="en-US" sz="1020" spc="-1" strike="noStrike">
              <a:latin typeface="Arial"/>
            </a:endParaRPr>
          </a:p>
          <a:p>
            <a:r>
              <a:rPr b="1" lang="en-US" sz="1020" spc="-1" strike="noStrike">
                <a:solidFill>
                  <a:srgbClr val="172731"/>
                </a:solidFill>
                <a:latin typeface="Arial"/>
              </a:rPr>
              <a:t>1–12 windows</a:t>
            </a:r>
            <a:endParaRPr b="0" lang="en-US" sz="1020" spc="-1" strike="noStrike">
              <a:latin typeface="Arial"/>
            </a:endParaRPr>
          </a:p>
        </p:txBody>
      </p:sp>
      <p:sp>
        <p:nvSpPr>
          <p:cNvPr id="223" name=""/>
          <p:cNvSpPr/>
          <p:nvPr/>
        </p:nvSpPr>
        <p:spPr>
          <a:xfrm>
            <a:off x="7682400" y="2592000"/>
            <a:ext cx="158400" cy="0"/>
          </a:xfrm>
          <a:prstGeom prst="line">
            <a:avLst/>
          </a:prstGeom>
          <a:ln w="4680">
            <a:solidFill>
              <a:srgbClr val="5268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4" name=""/>
          <p:cNvSpPr txBox="1"/>
          <p:nvPr/>
        </p:nvSpPr>
        <p:spPr>
          <a:xfrm>
            <a:off x="7783200" y="2463840"/>
            <a:ext cx="144000" cy="2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US" sz="1800" spc="-1" strike="noStrike">
                <a:solidFill>
                  <a:srgbClr val="526875"/>
                </a:solidFill>
                <a:latin typeface="Arial"/>
              </a:rPr>
              <a:t>›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25" name=""/>
          <p:cNvSpPr/>
          <p:nvPr/>
        </p:nvSpPr>
        <p:spPr>
          <a:xfrm>
            <a:off x="7927200" y="1980000"/>
            <a:ext cx="1656000" cy="1224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226" name=""/>
          <p:cNvSpPr/>
          <p:nvPr/>
        </p:nvSpPr>
        <p:spPr>
          <a:xfrm>
            <a:off x="7927200" y="1980000"/>
            <a:ext cx="64800" cy="1224000"/>
          </a:xfrm>
          <a:prstGeom prst="rect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227" name=""/>
          <p:cNvSpPr txBox="1"/>
          <p:nvPr/>
        </p:nvSpPr>
        <p:spPr>
          <a:xfrm>
            <a:off x="8107200" y="2196000"/>
            <a:ext cx="1296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50" spc="-1" strike="noStrike">
                <a:solidFill>
                  <a:srgbClr val="16805f"/>
                </a:solidFill>
                <a:latin typeface="Courier New"/>
              </a:rPr>
              <a:t>OPTIMIZE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228" name=""/>
          <p:cNvSpPr txBox="1"/>
          <p:nvPr/>
        </p:nvSpPr>
        <p:spPr>
          <a:xfrm>
            <a:off x="8107200" y="2484000"/>
            <a:ext cx="1296000" cy="50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20" spc="-1" strike="noStrike">
                <a:solidFill>
                  <a:srgbClr val="172731"/>
                </a:solidFill>
                <a:latin typeface="Arial"/>
              </a:rPr>
              <a:t>Cohort-state MPC</a:t>
            </a:r>
            <a:endParaRPr b="0" lang="en-US" sz="1020" spc="-1" strike="noStrike">
              <a:latin typeface="Arial"/>
            </a:endParaRPr>
          </a:p>
          <a:p>
            <a:r>
              <a:rPr b="1" lang="en-US" sz="1020" spc="-1" strike="noStrike">
                <a:solidFill>
                  <a:srgbClr val="172731"/>
                </a:solidFill>
                <a:latin typeface="Arial"/>
              </a:rPr>
              <a:t>+ static certificate</a:t>
            </a:r>
            <a:endParaRPr b="0" lang="en-US" sz="1020" spc="-1" strike="noStrike">
              <a:latin typeface="Arial"/>
            </a:endParaRPr>
          </a:p>
        </p:txBody>
      </p:sp>
      <p:sp>
        <p:nvSpPr>
          <p:cNvPr id="229" name=""/>
          <p:cNvSpPr/>
          <p:nvPr/>
        </p:nvSpPr>
        <p:spPr>
          <a:xfrm>
            <a:off x="9583200" y="2592000"/>
            <a:ext cx="158400" cy="0"/>
          </a:xfrm>
          <a:prstGeom prst="line">
            <a:avLst/>
          </a:prstGeom>
          <a:ln w="4680">
            <a:solidFill>
              <a:srgbClr val="5268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0" name=""/>
          <p:cNvSpPr txBox="1"/>
          <p:nvPr/>
        </p:nvSpPr>
        <p:spPr>
          <a:xfrm>
            <a:off x="9684000" y="2463840"/>
            <a:ext cx="144000" cy="2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US" sz="1800" spc="-1" strike="noStrike">
                <a:solidFill>
                  <a:srgbClr val="526875"/>
                </a:solidFill>
                <a:latin typeface="Arial"/>
              </a:rPr>
              <a:t>›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31" name=""/>
          <p:cNvSpPr/>
          <p:nvPr/>
        </p:nvSpPr>
        <p:spPr>
          <a:xfrm>
            <a:off x="9828000" y="1980000"/>
            <a:ext cx="1656000" cy="1224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232" name=""/>
          <p:cNvSpPr/>
          <p:nvPr/>
        </p:nvSpPr>
        <p:spPr>
          <a:xfrm>
            <a:off x="9828000" y="1980000"/>
            <a:ext cx="64800" cy="1224000"/>
          </a:xfrm>
          <a:prstGeom prst="rect">
            <a:avLst/>
          </a:prstGeom>
          <a:solidFill>
            <a:srgbClr val="c77b0b"/>
          </a:solidFill>
          <a:ln w="0">
            <a:noFill/>
          </a:ln>
        </p:spPr>
      </p:sp>
      <p:sp>
        <p:nvSpPr>
          <p:cNvPr id="233" name=""/>
          <p:cNvSpPr txBox="1"/>
          <p:nvPr/>
        </p:nvSpPr>
        <p:spPr>
          <a:xfrm>
            <a:off x="10008000" y="2196000"/>
            <a:ext cx="1296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50" spc="-1" strike="noStrike">
                <a:solidFill>
                  <a:srgbClr val="c77b0b"/>
                </a:solidFill>
                <a:latin typeface="Courier New"/>
              </a:rPr>
              <a:t>ACTUATE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234" name=""/>
          <p:cNvSpPr txBox="1"/>
          <p:nvPr/>
        </p:nvSpPr>
        <p:spPr>
          <a:xfrm>
            <a:off x="10008000" y="2484000"/>
            <a:ext cx="1296000" cy="50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20" spc="-1" strike="noStrike">
                <a:solidFill>
                  <a:srgbClr val="172731"/>
                </a:solidFill>
                <a:latin typeface="Arial"/>
              </a:rPr>
              <a:t>Weighted rendezvous</a:t>
            </a:r>
            <a:endParaRPr b="0" lang="en-US" sz="1020" spc="-1" strike="noStrike">
              <a:latin typeface="Arial"/>
            </a:endParaRPr>
          </a:p>
          <a:p>
            <a:r>
              <a:rPr b="1" lang="en-US" sz="1020" spc="-1" strike="noStrike">
                <a:solidFill>
                  <a:srgbClr val="172731"/>
                </a:solidFill>
                <a:latin typeface="Arial"/>
              </a:rPr>
              <a:t>new sessions only</a:t>
            </a:r>
            <a:endParaRPr b="0" lang="en-US" sz="1020" spc="-1" strike="noStrike">
              <a:latin typeface="Arial"/>
            </a:endParaRPr>
          </a:p>
        </p:txBody>
      </p:sp>
      <p:sp>
        <p:nvSpPr>
          <p:cNvPr id="235" name=""/>
          <p:cNvSpPr/>
          <p:nvPr/>
        </p:nvSpPr>
        <p:spPr>
          <a:xfrm>
            <a:off x="1152000" y="3780000"/>
            <a:ext cx="9720000" cy="0"/>
          </a:xfrm>
          <a:prstGeom prst="line">
            <a:avLst/>
          </a:prstGeom>
          <a:ln w="4320">
            <a:solidFill>
              <a:srgbClr val="007c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6" name=""/>
          <p:cNvSpPr txBox="1"/>
          <p:nvPr/>
        </p:nvSpPr>
        <p:spPr>
          <a:xfrm>
            <a:off x="360000" y="3636000"/>
            <a:ext cx="792000" cy="28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00" spc="-1" strike="noStrike">
                <a:solidFill>
                  <a:srgbClr val="007c99"/>
                </a:solidFill>
                <a:latin typeface="Courier New"/>
              </a:rPr>
              <a:t>OFFLINE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237" name=""/>
          <p:cNvSpPr txBox="1"/>
          <p:nvPr/>
        </p:nvSpPr>
        <p:spPr>
          <a:xfrm>
            <a:off x="11052000" y="3636000"/>
            <a:ext cx="684000" cy="28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buNone/>
            </a:pPr>
            <a:r>
              <a:rPr b="1" lang="en-US" sz="800" spc="-1" strike="noStrike">
                <a:solidFill>
                  <a:srgbClr val="007c99"/>
                </a:solidFill>
                <a:latin typeface="Courier New"/>
              </a:rPr>
              <a:t>LIVE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238" name=""/>
          <p:cNvSpPr/>
          <p:nvPr/>
        </p:nvSpPr>
        <p:spPr>
          <a:xfrm>
            <a:off x="324000" y="4212000"/>
            <a:ext cx="3312000" cy="1764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239" name=""/>
          <p:cNvSpPr/>
          <p:nvPr/>
        </p:nvSpPr>
        <p:spPr>
          <a:xfrm>
            <a:off x="324000" y="4212000"/>
            <a:ext cx="64800" cy="1764000"/>
          </a:xfrm>
          <a:prstGeom prst="rect">
            <a:avLst/>
          </a:prstGeom>
          <a:solidFill>
            <a:srgbClr val="007c99"/>
          </a:solidFill>
          <a:ln w="0">
            <a:noFill/>
          </a:ln>
        </p:spPr>
      </p:sp>
      <p:sp>
        <p:nvSpPr>
          <p:cNvPr id="240" name=""/>
          <p:cNvSpPr txBox="1"/>
          <p:nvPr/>
        </p:nvSpPr>
        <p:spPr>
          <a:xfrm>
            <a:off x="576000" y="4428000"/>
            <a:ext cx="2772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250" spc="-1" strike="noStrike">
                <a:solidFill>
                  <a:srgbClr val="172731"/>
                </a:solidFill>
                <a:latin typeface="Arial"/>
              </a:rPr>
              <a:t>Artifact factory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241" name=""/>
          <p:cNvSpPr txBox="1"/>
          <p:nvPr/>
        </p:nvSpPr>
        <p:spPr>
          <a:xfrm>
            <a:off x="576000" y="4752000"/>
            <a:ext cx="2772000" cy="9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30" spc="-1" strike="noStrike">
                <a:solidFill>
                  <a:srgbClr val="526875"/>
                </a:solidFill>
                <a:latin typeface="Arial"/>
              </a:rPr>
              <a:t>PBS or workstation shards publish immutable Parquet, JSONL, selection audits and metadata hashes. The cluster is not required during a demo.</a:t>
            </a:r>
            <a:endParaRPr b="0" lang="en-US" sz="930" spc="-1" strike="noStrike">
              <a:latin typeface="Arial"/>
            </a:endParaRPr>
          </a:p>
        </p:txBody>
      </p:sp>
      <p:sp>
        <p:nvSpPr>
          <p:cNvPr id="242" name=""/>
          <p:cNvSpPr/>
          <p:nvPr/>
        </p:nvSpPr>
        <p:spPr>
          <a:xfrm>
            <a:off x="3960000" y="4212000"/>
            <a:ext cx="3564000" cy="1764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243" name=""/>
          <p:cNvSpPr/>
          <p:nvPr/>
        </p:nvSpPr>
        <p:spPr>
          <a:xfrm>
            <a:off x="3960000" y="4212000"/>
            <a:ext cx="64800" cy="1764000"/>
          </a:xfrm>
          <a:prstGeom prst="rect">
            <a:avLst/>
          </a:prstGeom>
          <a:solidFill>
            <a:srgbClr val="6750a4"/>
          </a:solidFill>
          <a:ln w="0">
            <a:noFill/>
          </a:ln>
        </p:spPr>
      </p:sp>
      <p:sp>
        <p:nvSpPr>
          <p:cNvPr id="244" name=""/>
          <p:cNvSpPr txBox="1"/>
          <p:nvPr/>
        </p:nvSpPr>
        <p:spPr>
          <a:xfrm>
            <a:off x="4212000" y="4428000"/>
            <a:ext cx="2988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250" spc="-1" strike="noStrike">
                <a:solidFill>
                  <a:srgbClr val="172731"/>
                </a:solidFill>
                <a:latin typeface="Arial"/>
              </a:rPr>
              <a:t>Control decision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245" name=""/>
          <p:cNvSpPr txBox="1"/>
          <p:nvPr/>
        </p:nvSpPr>
        <p:spPr>
          <a:xfrm>
            <a:off x="4212000" y="4752000"/>
            <a:ext cx="2988000" cy="9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30" spc="-1" strike="noStrike">
                <a:solidFill>
                  <a:srgbClr val="526875"/>
                </a:solidFill>
                <a:latin typeface="Arial"/>
              </a:rPr>
              <a:t>At a decision boundary, only closed history and declared known-at events are visible. The first MPC action is compared with static from the identical cohort state.</a:t>
            </a:r>
            <a:endParaRPr b="0" lang="en-US" sz="930" spc="-1" strike="noStrike">
              <a:latin typeface="Arial"/>
            </a:endParaRPr>
          </a:p>
        </p:txBody>
      </p:sp>
      <p:sp>
        <p:nvSpPr>
          <p:cNvPr id="246" name=""/>
          <p:cNvSpPr/>
          <p:nvPr/>
        </p:nvSpPr>
        <p:spPr>
          <a:xfrm>
            <a:off x="7848000" y="4212000"/>
            <a:ext cx="3888000" cy="1764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247" name=""/>
          <p:cNvSpPr/>
          <p:nvPr/>
        </p:nvSpPr>
        <p:spPr>
          <a:xfrm>
            <a:off x="7848000" y="4212000"/>
            <a:ext cx="64800" cy="1764000"/>
          </a:xfrm>
          <a:prstGeom prst="rect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248" name=""/>
          <p:cNvSpPr txBox="1"/>
          <p:nvPr/>
        </p:nvSpPr>
        <p:spPr>
          <a:xfrm>
            <a:off x="8100000" y="4428000"/>
            <a:ext cx="3312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250" spc="-1" strike="noStrike">
                <a:solidFill>
                  <a:srgbClr val="172731"/>
                </a:solidFill>
                <a:latin typeface="Arial"/>
              </a:rPr>
              <a:t>Presentation runtime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249" name=""/>
          <p:cNvSpPr txBox="1"/>
          <p:nvPr/>
        </p:nvSpPr>
        <p:spPr>
          <a:xfrm>
            <a:off x="8100000" y="4752000"/>
            <a:ext cx="3312000" cy="9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30" spc="-1" strike="noStrike">
                <a:solidFill>
                  <a:srgbClr val="526875"/>
                </a:solidFill>
                <a:latin typeface="Arial"/>
              </a:rPr>
              <a:t>One FastAPI process advances the simulator, emits ordered WebSocket deltas, serves the React console and retains an append-only audit trail.</a:t>
            </a:r>
            <a:endParaRPr b="0" lang="en-US" sz="930" spc="-1" strike="noStrike">
              <a:latin typeface="Arial"/>
            </a:endParaRPr>
          </a:p>
        </p:txBody>
      </p:sp>
      <p:sp>
        <p:nvSpPr>
          <p:cNvPr id="250" name=""/>
          <p:cNvSpPr/>
          <p:nvPr/>
        </p:nvSpPr>
        <p:spPr>
          <a:xfrm>
            <a:off x="324000" y="6616800"/>
            <a:ext cx="11088000" cy="0"/>
          </a:xfrm>
          <a:prstGeom prst="line">
            <a:avLst/>
          </a:prstGeom>
          <a:ln w="1080">
            <a:solidFill>
              <a:srgbClr val="cfdc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1" name=""/>
          <p:cNvSpPr txBox="1"/>
          <p:nvPr/>
        </p:nvSpPr>
        <p:spPr>
          <a:xfrm>
            <a:off x="324000" y="6660000"/>
            <a:ext cx="10368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80" spc="-1" strike="noStrike">
                <a:solidFill>
                  <a:srgbClr val="718592"/>
                </a:solidFill>
                <a:latin typeface="Courier New"/>
              </a:rPr>
              <a:t>docs/system-architecture-decisions.md · docs/end-to-end-runbook.md · demo_api/runtime.py</a:t>
            </a:r>
            <a:endParaRPr b="0" lang="en-US" sz="680" spc="-1" strike="noStrike">
              <a:latin typeface="Arial"/>
            </a:endParaRPr>
          </a:p>
        </p:txBody>
      </p:sp>
      <p:sp>
        <p:nvSpPr>
          <p:cNvPr id="252" name=""/>
          <p:cNvSpPr txBox="1"/>
          <p:nvPr/>
        </p:nvSpPr>
        <p:spPr>
          <a:xfrm>
            <a:off x="11052000" y="6660000"/>
            <a:ext cx="684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buNone/>
            </a:pPr>
            <a:r>
              <a:rPr b="1" lang="en-US" sz="750" spc="-1" strike="noStrike">
                <a:solidFill>
                  <a:srgbClr val="718592"/>
                </a:solidFill>
                <a:latin typeface="Courier New"/>
              </a:rPr>
              <a:t>04</a:t>
            </a:r>
            <a:endParaRPr b="0" lang="en-US" sz="7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3f7f8"/>
          </a:solidFill>
          <a:ln w="0">
            <a:noFill/>
          </a:ln>
        </p:spPr>
      </p:sp>
      <p:sp>
        <p:nvSpPr>
          <p:cNvPr id="254" name=""/>
          <p:cNvSpPr txBox="1"/>
          <p:nvPr/>
        </p:nvSpPr>
        <p:spPr>
          <a:xfrm>
            <a:off x="324000" y="158400"/>
            <a:ext cx="3096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00" spc="508" strike="noStrike">
                <a:solidFill>
                  <a:srgbClr val="007c99"/>
                </a:solidFill>
                <a:latin typeface="Courier New"/>
              </a:rPr>
              <a:t>STAGE 1 · SIMULATION DATA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255" name=""/>
          <p:cNvSpPr txBox="1"/>
          <p:nvPr/>
        </p:nvSpPr>
        <p:spPr>
          <a:xfrm>
            <a:off x="324000" y="378000"/>
            <a:ext cx="10584000" cy="57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50" spc="-1" strike="noStrike">
                <a:solidFill>
                  <a:srgbClr val="172731"/>
                </a:solidFill>
                <a:latin typeface="Arial"/>
              </a:rPr>
              <a:t>Traffic is modeled by controllable groups—not by anonymous aggregate load</a:t>
            </a:r>
            <a:endParaRPr b="0" lang="en-US" sz="2150" spc="-1" strike="noStrike">
              <a:latin typeface="Arial"/>
            </a:endParaRPr>
          </a:p>
        </p:txBody>
      </p:sp>
      <p:sp>
        <p:nvSpPr>
          <p:cNvPr id="256" name=""/>
          <p:cNvSpPr/>
          <p:nvPr/>
        </p:nvSpPr>
        <p:spPr>
          <a:xfrm>
            <a:off x="10800000" y="180000"/>
            <a:ext cx="936000" cy="19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257" name=""/>
          <p:cNvSpPr txBox="1"/>
          <p:nvPr/>
        </p:nvSpPr>
        <p:spPr>
          <a:xfrm>
            <a:off x="10818000" y="219600"/>
            <a:ext cx="900000" cy="10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710" spc="-1" strike="noStrike">
                <a:solidFill>
                  <a:srgbClr val="c77b0b"/>
                </a:solidFill>
                <a:latin typeface="Courier New"/>
              </a:rPr>
              <a:t>SYNTHETIC DATA</a:t>
            </a:r>
            <a:endParaRPr b="0" lang="en-US" sz="710" spc="-1" strike="noStrike">
              <a:latin typeface="Arial"/>
            </a:endParaRPr>
          </a:p>
        </p:txBody>
      </p:sp>
      <p:sp>
        <p:nvSpPr>
          <p:cNvPr id="258" name=""/>
          <p:cNvSpPr/>
          <p:nvPr/>
        </p:nvSpPr>
        <p:spPr>
          <a:xfrm>
            <a:off x="324000" y="1404000"/>
            <a:ext cx="4716000" cy="424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259" name=""/>
          <p:cNvSpPr/>
          <p:nvPr/>
        </p:nvSpPr>
        <p:spPr>
          <a:xfrm>
            <a:off x="324000" y="1404000"/>
            <a:ext cx="64800" cy="4248000"/>
          </a:xfrm>
          <a:prstGeom prst="rect">
            <a:avLst/>
          </a:prstGeom>
          <a:solidFill>
            <a:srgbClr val="007c99"/>
          </a:solidFill>
          <a:ln w="0">
            <a:noFill/>
          </a:ln>
        </p:spPr>
      </p:sp>
      <p:sp>
        <p:nvSpPr>
          <p:cNvPr id="260" name=""/>
          <p:cNvSpPr txBox="1"/>
          <p:nvPr/>
        </p:nvSpPr>
        <p:spPr>
          <a:xfrm>
            <a:off x="576000" y="1620000"/>
            <a:ext cx="417600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500" spc="-1" strike="noStrike">
                <a:solidFill>
                  <a:srgbClr val="172731"/>
                </a:solidFill>
                <a:latin typeface="Arial"/>
              </a:rPr>
              <a:t>Population and dimensions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261" name=""/>
          <p:cNvSpPr/>
          <p:nvPr/>
        </p:nvSpPr>
        <p:spPr>
          <a:xfrm>
            <a:off x="576000" y="2052000"/>
            <a:ext cx="1872000" cy="100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262" name=""/>
          <p:cNvSpPr/>
          <p:nvPr/>
        </p:nvSpPr>
        <p:spPr>
          <a:xfrm>
            <a:off x="576000" y="2052000"/>
            <a:ext cx="64800" cy="1008000"/>
          </a:xfrm>
          <a:prstGeom prst="rect">
            <a:avLst/>
          </a:prstGeom>
          <a:solidFill>
            <a:srgbClr val="007c99"/>
          </a:solidFill>
          <a:ln w="0">
            <a:noFill/>
          </a:ln>
        </p:spPr>
      </p:sp>
      <p:sp>
        <p:nvSpPr>
          <p:cNvPr id="263" name=""/>
          <p:cNvSpPr txBox="1"/>
          <p:nvPr/>
        </p:nvSpPr>
        <p:spPr>
          <a:xfrm>
            <a:off x="756000" y="2196000"/>
            <a:ext cx="1548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20" spc="-1" strike="noStrike">
                <a:solidFill>
                  <a:srgbClr val="718592"/>
                </a:solidFill>
                <a:latin typeface="Courier New"/>
              </a:rPr>
              <a:t>ZONES</a:t>
            </a:r>
            <a:endParaRPr b="0" lang="en-US" sz="720" spc="-1" strike="noStrike">
              <a:latin typeface="Arial"/>
            </a:endParaRPr>
          </a:p>
        </p:txBody>
      </p:sp>
      <p:sp>
        <p:nvSpPr>
          <p:cNvPr id="264" name=""/>
          <p:cNvSpPr txBox="1"/>
          <p:nvPr/>
        </p:nvSpPr>
        <p:spPr>
          <a:xfrm>
            <a:off x="756000" y="2376000"/>
            <a:ext cx="1548000" cy="34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400" spc="-1" strike="noStrike">
                <a:solidFill>
                  <a:srgbClr val="007c99"/>
                </a:solidFill>
                <a:latin typeface="Arial"/>
              </a:rPr>
              <a:t>8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65" name=""/>
          <p:cNvSpPr txBox="1"/>
          <p:nvPr/>
        </p:nvSpPr>
        <p:spPr>
          <a:xfrm>
            <a:off x="756000" y="2772000"/>
            <a:ext cx="1548000" cy="23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20" spc="-1" strike="noStrike">
                <a:solidFill>
                  <a:srgbClr val="526875"/>
                </a:solidFill>
                <a:latin typeface="Arial"/>
              </a:rPr>
              <a:t>urban · industrial · airport · stadium · rural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266" name=""/>
          <p:cNvSpPr/>
          <p:nvPr/>
        </p:nvSpPr>
        <p:spPr>
          <a:xfrm>
            <a:off x="2700000" y="2052000"/>
            <a:ext cx="2052000" cy="100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267" name=""/>
          <p:cNvSpPr/>
          <p:nvPr/>
        </p:nvSpPr>
        <p:spPr>
          <a:xfrm>
            <a:off x="2700000" y="2052000"/>
            <a:ext cx="64800" cy="1008000"/>
          </a:xfrm>
          <a:prstGeom prst="rect">
            <a:avLst/>
          </a:prstGeom>
          <a:solidFill>
            <a:srgbClr val="6750a4"/>
          </a:solidFill>
          <a:ln w="0">
            <a:noFill/>
          </a:ln>
        </p:spPr>
      </p:sp>
      <p:sp>
        <p:nvSpPr>
          <p:cNvPr id="268" name=""/>
          <p:cNvSpPr txBox="1"/>
          <p:nvPr/>
        </p:nvSpPr>
        <p:spPr>
          <a:xfrm>
            <a:off x="2880000" y="2196000"/>
            <a:ext cx="1728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20" spc="-1" strike="noStrike">
                <a:solidFill>
                  <a:srgbClr val="718592"/>
                </a:solidFill>
                <a:latin typeface="Courier New"/>
              </a:rPr>
              <a:t>SERVICES</a:t>
            </a:r>
            <a:endParaRPr b="0" lang="en-US" sz="720" spc="-1" strike="noStrike">
              <a:latin typeface="Arial"/>
            </a:endParaRPr>
          </a:p>
        </p:txBody>
      </p:sp>
      <p:sp>
        <p:nvSpPr>
          <p:cNvPr id="269" name=""/>
          <p:cNvSpPr txBox="1"/>
          <p:nvPr/>
        </p:nvSpPr>
        <p:spPr>
          <a:xfrm>
            <a:off x="2880000" y="2376000"/>
            <a:ext cx="1728000" cy="34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400" spc="-1" strike="noStrike">
                <a:solidFill>
                  <a:srgbClr val="6750a4"/>
                </a:solidFill>
                <a:latin typeface="Arial"/>
              </a:rPr>
              <a:t>12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70" name=""/>
          <p:cNvSpPr txBox="1"/>
          <p:nvPr/>
        </p:nvSpPr>
        <p:spPr>
          <a:xfrm>
            <a:off x="2880000" y="2772000"/>
            <a:ext cx="1728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20" spc="-1" strike="noStrike">
                <a:solidFill>
                  <a:srgbClr val="526875"/>
                </a:solidFill>
                <a:latin typeface="Arial"/>
              </a:rPr>
              <a:t>consumer, enterprise, critical and IoT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271" name=""/>
          <p:cNvSpPr/>
          <p:nvPr/>
        </p:nvSpPr>
        <p:spPr>
          <a:xfrm>
            <a:off x="576000" y="3312000"/>
            <a:ext cx="1872000" cy="100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272" name=""/>
          <p:cNvSpPr/>
          <p:nvPr/>
        </p:nvSpPr>
        <p:spPr>
          <a:xfrm>
            <a:off x="576000" y="3312000"/>
            <a:ext cx="64800" cy="1008000"/>
          </a:xfrm>
          <a:prstGeom prst="rect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273" name=""/>
          <p:cNvSpPr txBox="1"/>
          <p:nvPr/>
        </p:nvSpPr>
        <p:spPr>
          <a:xfrm>
            <a:off x="756000" y="3456000"/>
            <a:ext cx="1548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20" spc="-1" strike="noStrike">
                <a:solidFill>
                  <a:srgbClr val="718592"/>
                </a:solidFill>
                <a:latin typeface="Courier New"/>
              </a:rPr>
              <a:t>GROUPS</a:t>
            </a:r>
            <a:endParaRPr b="0" lang="en-US" sz="720" spc="-1" strike="noStrike">
              <a:latin typeface="Arial"/>
            </a:endParaRPr>
          </a:p>
        </p:txBody>
      </p:sp>
      <p:sp>
        <p:nvSpPr>
          <p:cNvPr id="274" name=""/>
          <p:cNvSpPr txBox="1"/>
          <p:nvPr/>
        </p:nvSpPr>
        <p:spPr>
          <a:xfrm>
            <a:off x="756000" y="3636000"/>
            <a:ext cx="1548000" cy="34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400" spc="-1" strike="noStrike">
                <a:solidFill>
                  <a:srgbClr val="16805f"/>
                </a:solidFill>
                <a:latin typeface="Arial"/>
              </a:rPr>
              <a:t>96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75" name=""/>
          <p:cNvSpPr txBox="1"/>
          <p:nvPr/>
        </p:nvSpPr>
        <p:spPr>
          <a:xfrm>
            <a:off x="756000" y="4032000"/>
            <a:ext cx="1548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20" spc="-1" strike="noStrike">
                <a:solidFill>
                  <a:srgbClr val="526875"/>
                </a:solidFill>
                <a:latin typeface="Arial"/>
              </a:rPr>
              <a:t>8 zones × 12 service profiles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276" name=""/>
          <p:cNvSpPr/>
          <p:nvPr/>
        </p:nvSpPr>
        <p:spPr>
          <a:xfrm>
            <a:off x="2700000" y="3312000"/>
            <a:ext cx="2052000" cy="100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277" name=""/>
          <p:cNvSpPr/>
          <p:nvPr/>
        </p:nvSpPr>
        <p:spPr>
          <a:xfrm>
            <a:off x="2700000" y="3312000"/>
            <a:ext cx="64800" cy="1008000"/>
          </a:xfrm>
          <a:prstGeom prst="rect">
            <a:avLst/>
          </a:prstGeom>
          <a:solidFill>
            <a:srgbClr val="c77b0b"/>
          </a:solidFill>
          <a:ln w="0">
            <a:noFill/>
          </a:ln>
        </p:spPr>
      </p:sp>
      <p:sp>
        <p:nvSpPr>
          <p:cNvPr id="278" name=""/>
          <p:cNvSpPr txBox="1"/>
          <p:nvPr/>
        </p:nvSpPr>
        <p:spPr>
          <a:xfrm>
            <a:off x="2880000" y="3456000"/>
            <a:ext cx="1728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20" spc="-1" strike="noStrike">
                <a:solidFill>
                  <a:srgbClr val="718592"/>
                </a:solidFill>
                <a:latin typeface="Courier New"/>
              </a:rPr>
              <a:t>ELIGIBLE UPFS</a:t>
            </a:r>
            <a:endParaRPr b="0" lang="en-US" sz="720" spc="-1" strike="noStrike">
              <a:latin typeface="Arial"/>
            </a:endParaRPr>
          </a:p>
        </p:txBody>
      </p:sp>
      <p:sp>
        <p:nvSpPr>
          <p:cNvPr id="279" name=""/>
          <p:cNvSpPr txBox="1"/>
          <p:nvPr/>
        </p:nvSpPr>
        <p:spPr>
          <a:xfrm>
            <a:off x="2880000" y="3636000"/>
            <a:ext cx="1728000" cy="34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400" spc="-1" strike="noStrike">
                <a:solidFill>
                  <a:srgbClr val="c77b0b"/>
                </a:solidFill>
                <a:latin typeface="Arial"/>
              </a:rPr>
              <a:t>6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80" name=""/>
          <p:cNvSpPr txBox="1"/>
          <p:nvPr/>
        </p:nvSpPr>
        <p:spPr>
          <a:xfrm>
            <a:off x="2880000" y="4032000"/>
            <a:ext cx="1728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20" spc="-1" strike="noStrike">
                <a:solidFill>
                  <a:srgbClr val="526875"/>
                </a:solidFill>
                <a:latin typeface="Arial"/>
              </a:rPr>
              <a:t>2 edge + 2 regional + 2 central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281" name=""/>
          <p:cNvSpPr txBox="1"/>
          <p:nvPr/>
        </p:nvSpPr>
        <p:spPr>
          <a:xfrm>
            <a:off x="576000" y="4644000"/>
            <a:ext cx="4176000" cy="2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00" spc="-1" strike="noStrike">
                <a:solidFill>
                  <a:srgbClr val="718592"/>
                </a:solidFill>
                <a:latin typeface="Courier New"/>
              </a:rPr>
              <a:t>Forecast / QoS key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282" name=""/>
          <p:cNvSpPr txBox="1"/>
          <p:nvPr/>
        </p:nvSpPr>
        <p:spPr>
          <a:xfrm>
            <a:off x="576000" y="4896000"/>
            <a:ext cx="4176000" cy="28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320" spc="-1" strike="noStrike">
                <a:solidFill>
                  <a:srgbClr val="172731"/>
                </a:solidFill>
                <a:latin typeface="Courier New"/>
              </a:rPr>
              <a:t>(zone, DNN, S-NSSAI, 5QI)</a:t>
            </a:r>
            <a:endParaRPr b="0" lang="en-US" sz="1320" spc="-1" strike="noStrike">
              <a:latin typeface="Arial"/>
            </a:endParaRPr>
          </a:p>
        </p:txBody>
      </p:sp>
      <p:sp>
        <p:nvSpPr>
          <p:cNvPr id="283" name=""/>
          <p:cNvSpPr txBox="1"/>
          <p:nvPr/>
        </p:nvSpPr>
        <p:spPr>
          <a:xfrm>
            <a:off x="576000" y="5328000"/>
            <a:ext cx="417600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0" spc="-1" strike="noStrike">
                <a:solidFill>
                  <a:srgbClr val="526875"/>
                </a:solidFill>
                <a:latin typeface="Arial"/>
              </a:rPr>
              <a:t>5QI is descriptive in v1; it is not assumed to be an independent SMF selection key.</a:t>
            </a:r>
            <a:endParaRPr b="0" lang="en-US" sz="880" spc="-1" strike="noStrike">
              <a:latin typeface="Arial"/>
            </a:endParaRPr>
          </a:p>
        </p:txBody>
      </p:sp>
      <p:sp>
        <p:nvSpPr>
          <p:cNvPr id="284" name=""/>
          <p:cNvSpPr/>
          <p:nvPr/>
        </p:nvSpPr>
        <p:spPr>
          <a:xfrm>
            <a:off x="5364000" y="1404000"/>
            <a:ext cx="6372000" cy="424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285" name=""/>
          <p:cNvSpPr/>
          <p:nvPr/>
        </p:nvSpPr>
        <p:spPr>
          <a:xfrm>
            <a:off x="5364000" y="1404000"/>
            <a:ext cx="64800" cy="4248000"/>
          </a:xfrm>
          <a:prstGeom prst="rect">
            <a:avLst/>
          </a:prstGeom>
          <a:solidFill>
            <a:srgbClr val="6750a4"/>
          </a:solidFill>
          <a:ln w="0">
            <a:noFill/>
          </a:ln>
        </p:spPr>
      </p:sp>
      <p:sp>
        <p:nvSpPr>
          <p:cNvPr id="286" name=""/>
          <p:cNvSpPr txBox="1"/>
          <p:nvPr/>
        </p:nvSpPr>
        <p:spPr>
          <a:xfrm>
            <a:off x="5616000" y="1620000"/>
            <a:ext cx="583200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500" spc="-1" strike="noStrike">
                <a:solidFill>
                  <a:srgbClr val="172731"/>
                </a:solidFill>
                <a:latin typeface="Arial"/>
              </a:rPr>
              <a:t>Zone and service diversity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287" name=""/>
          <p:cNvSpPr/>
          <p:nvPr/>
        </p:nvSpPr>
        <p:spPr>
          <a:xfrm>
            <a:off x="5616000" y="2124000"/>
            <a:ext cx="2520000" cy="360000"/>
          </a:xfrm>
          <a:prstGeom prst="roundRect">
            <a:avLst/>
          </a:prstGeom>
          <a:solidFill>
            <a:srgbClr val="eaf1f3"/>
          </a:solidFill>
          <a:ln w="0">
            <a:noFill/>
          </a:ln>
        </p:spPr>
      </p:sp>
      <p:sp>
        <p:nvSpPr>
          <p:cNvPr id="288" name=""/>
          <p:cNvSpPr/>
          <p:nvPr/>
        </p:nvSpPr>
        <p:spPr>
          <a:xfrm>
            <a:off x="5760000" y="2232000"/>
            <a:ext cx="115200" cy="115200"/>
          </a:xfrm>
          <a:prstGeom prst="ellipse">
            <a:avLst/>
          </a:prstGeom>
          <a:solidFill>
            <a:srgbClr val="007c99"/>
          </a:solidFill>
          <a:ln w="0">
            <a:noFill/>
          </a:ln>
        </p:spPr>
      </p:sp>
      <p:sp>
        <p:nvSpPr>
          <p:cNvPr id="289" name=""/>
          <p:cNvSpPr txBox="1"/>
          <p:nvPr/>
        </p:nvSpPr>
        <p:spPr>
          <a:xfrm>
            <a:off x="5976000" y="2196000"/>
            <a:ext cx="1944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10" spc="-1" strike="noStrike">
                <a:solidFill>
                  <a:srgbClr val="172731"/>
                </a:solidFill>
                <a:latin typeface="Arial"/>
              </a:rPr>
              <a:t>north-urban</a:t>
            </a:r>
            <a:endParaRPr b="0" lang="en-US" sz="910" spc="-1" strike="noStrike">
              <a:latin typeface="Arial"/>
            </a:endParaRPr>
          </a:p>
        </p:txBody>
      </p:sp>
      <p:sp>
        <p:nvSpPr>
          <p:cNvPr id="290" name=""/>
          <p:cNvSpPr/>
          <p:nvPr/>
        </p:nvSpPr>
        <p:spPr>
          <a:xfrm>
            <a:off x="8388000" y="2124000"/>
            <a:ext cx="2520000" cy="360000"/>
          </a:xfrm>
          <a:prstGeom prst="roundRect">
            <a:avLst/>
          </a:prstGeom>
          <a:solidFill>
            <a:srgbClr val="eaf1f3"/>
          </a:solidFill>
          <a:ln w="0">
            <a:noFill/>
          </a:ln>
        </p:spPr>
      </p:sp>
      <p:sp>
        <p:nvSpPr>
          <p:cNvPr id="291" name=""/>
          <p:cNvSpPr/>
          <p:nvPr/>
        </p:nvSpPr>
        <p:spPr>
          <a:xfrm>
            <a:off x="8532000" y="2232000"/>
            <a:ext cx="115200" cy="115200"/>
          </a:xfrm>
          <a:prstGeom prst="ellipse">
            <a:avLst/>
          </a:prstGeom>
          <a:solidFill>
            <a:srgbClr val="007c99"/>
          </a:solidFill>
          <a:ln w="0">
            <a:noFill/>
          </a:ln>
        </p:spPr>
      </p:sp>
      <p:sp>
        <p:nvSpPr>
          <p:cNvPr id="292" name=""/>
          <p:cNvSpPr txBox="1"/>
          <p:nvPr/>
        </p:nvSpPr>
        <p:spPr>
          <a:xfrm>
            <a:off x="8748000" y="2196000"/>
            <a:ext cx="1944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10" spc="-1" strike="noStrike">
                <a:solidFill>
                  <a:srgbClr val="172731"/>
                </a:solidFill>
                <a:latin typeface="Arial"/>
              </a:rPr>
              <a:t>south-urban</a:t>
            </a:r>
            <a:endParaRPr b="0" lang="en-US" sz="910" spc="-1" strike="noStrike">
              <a:latin typeface="Arial"/>
            </a:endParaRPr>
          </a:p>
        </p:txBody>
      </p:sp>
      <p:sp>
        <p:nvSpPr>
          <p:cNvPr id="293" name=""/>
          <p:cNvSpPr/>
          <p:nvPr/>
        </p:nvSpPr>
        <p:spPr>
          <a:xfrm>
            <a:off x="5616000" y="2592000"/>
            <a:ext cx="2520000" cy="360000"/>
          </a:xfrm>
          <a:prstGeom prst="roundRect">
            <a:avLst/>
          </a:prstGeom>
          <a:solidFill>
            <a:srgbClr val="eaf1f3"/>
          </a:solidFill>
          <a:ln w="0">
            <a:noFill/>
          </a:ln>
        </p:spPr>
      </p:sp>
      <p:sp>
        <p:nvSpPr>
          <p:cNvPr id="294" name=""/>
          <p:cNvSpPr/>
          <p:nvPr/>
        </p:nvSpPr>
        <p:spPr>
          <a:xfrm>
            <a:off x="5760000" y="2700000"/>
            <a:ext cx="115200" cy="115200"/>
          </a:xfrm>
          <a:prstGeom prst="ellipse">
            <a:avLst/>
          </a:prstGeom>
          <a:solidFill>
            <a:srgbClr val="007c99"/>
          </a:solidFill>
          <a:ln w="0">
            <a:noFill/>
          </a:ln>
        </p:spPr>
      </p:sp>
      <p:sp>
        <p:nvSpPr>
          <p:cNvPr id="295" name=""/>
          <p:cNvSpPr txBox="1"/>
          <p:nvPr/>
        </p:nvSpPr>
        <p:spPr>
          <a:xfrm>
            <a:off x="5976000" y="2664000"/>
            <a:ext cx="1944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10" spc="-1" strike="noStrike">
                <a:solidFill>
                  <a:srgbClr val="172731"/>
                </a:solidFill>
                <a:latin typeface="Arial"/>
              </a:rPr>
              <a:t>east-urban</a:t>
            </a:r>
            <a:endParaRPr b="0" lang="en-US" sz="910" spc="-1" strike="noStrike">
              <a:latin typeface="Arial"/>
            </a:endParaRPr>
          </a:p>
        </p:txBody>
      </p:sp>
      <p:sp>
        <p:nvSpPr>
          <p:cNvPr id="296" name=""/>
          <p:cNvSpPr/>
          <p:nvPr/>
        </p:nvSpPr>
        <p:spPr>
          <a:xfrm>
            <a:off x="8388000" y="2592000"/>
            <a:ext cx="2520000" cy="360000"/>
          </a:xfrm>
          <a:prstGeom prst="roundRect">
            <a:avLst/>
          </a:prstGeom>
          <a:solidFill>
            <a:srgbClr val="eaf1f3"/>
          </a:solidFill>
          <a:ln w="0">
            <a:noFill/>
          </a:ln>
        </p:spPr>
      </p:sp>
      <p:sp>
        <p:nvSpPr>
          <p:cNvPr id="297" name=""/>
          <p:cNvSpPr/>
          <p:nvPr/>
        </p:nvSpPr>
        <p:spPr>
          <a:xfrm>
            <a:off x="8532000" y="2700000"/>
            <a:ext cx="115200" cy="115200"/>
          </a:xfrm>
          <a:prstGeom prst="ellipse">
            <a:avLst/>
          </a:prstGeom>
          <a:solidFill>
            <a:srgbClr val="007c99"/>
          </a:solidFill>
          <a:ln w="0">
            <a:noFill/>
          </a:ln>
        </p:spPr>
      </p:sp>
      <p:sp>
        <p:nvSpPr>
          <p:cNvPr id="298" name=""/>
          <p:cNvSpPr txBox="1"/>
          <p:nvPr/>
        </p:nvSpPr>
        <p:spPr>
          <a:xfrm>
            <a:off x="8748000" y="2664000"/>
            <a:ext cx="1944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10" spc="-1" strike="noStrike">
                <a:solidFill>
                  <a:srgbClr val="172731"/>
                </a:solidFill>
                <a:latin typeface="Arial"/>
              </a:rPr>
              <a:t>west-urban</a:t>
            </a:r>
            <a:endParaRPr b="0" lang="en-US" sz="910" spc="-1" strike="noStrike">
              <a:latin typeface="Arial"/>
            </a:endParaRPr>
          </a:p>
        </p:txBody>
      </p:sp>
      <p:sp>
        <p:nvSpPr>
          <p:cNvPr id="299" name=""/>
          <p:cNvSpPr/>
          <p:nvPr/>
        </p:nvSpPr>
        <p:spPr>
          <a:xfrm>
            <a:off x="5616000" y="3060000"/>
            <a:ext cx="2520000" cy="360000"/>
          </a:xfrm>
          <a:prstGeom prst="roundRect">
            <a:avLst/>
          </a:prstGeom>
          <a:solidFill>
            <a:srgbClr val="eaf1f3"/>
          </a:solidFill>
          <a:ln w="0">
            <a:noFill/>
          </a:ln>
        </p:spPr>
      </p:sp>
      <p:sp>
        <p:nvSpPr>
          <p:cNvPr id="300" name=""/>
          <p:cNvSpPr/>
          <p:nvPr/>
        </p:nvSpPr>
        <p:spPr>
          <a:xfrm>
            <a:off x="5760000" y="3168000"/>
            <a:ext cx="115200" cy="115200"/>
          </a:xfrm>
          <a:prstGeom prst="ellipse">
            <a:avLst/>
          </a:prstGeom>
          <a:solidFill>
            <a:srgbClr val="6750a4"/>
          </a:solidFill>
          <a:ln w="0">
            <a:noFill/>
          </a:ln>
        </p:spPr>
      </p:sp>
      <p:sp>
        <p:nvSpPr>
          <p:cNvPr id="301" name=""/>
          <p:cNvSpPr txBox="1"/>
          <p:nvPr/>
        </p:nvSpPr>
        <p:spPr>
          <a:xfrm>
            <a:off x="5976000" y="3132000"/>
            <a:ext cx="1944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10" spc="-1" strike="noStrike">
                <a:solidFill>
                  <a:srgbClr val="172731"/>
                </a:solidFill>
                <a:latin typeface="Arial"/>
              </a:rPr>
              <a:t>industrial</a:t>
            </a:r>
            <a:endParaRPr b="0" lang="en-US" sz="910" spc="-1" strike="noStrike">
              <a:latin typeface="Arial"/>
            </a:endParaRPr>
          </a:p>
        </p:txBody>
      </p:sp>
      <p:sp>
        <p:nvSpPr>
          <p:cNvPr id="302" name=""/>
          <p:cNvSpPr/>
          <p:nvPr/>
        </p:nvSpPr>
        <p:spPr>
          <a:xfrm>
            <a:off x="8388000" y="3060000"/>
            <a:ext cx="2520000" cy="360000"/>
          </a:xfrm>
          <a:prstGeom prst="roundRect">
            <a:avLst/>
          </a:prstGeom>
          <a:solidFill>
            <a:srgbClr val="eaf1f3"/>
          </a:solidFill>
          <a:ln w="0">
            <a:noFill/>
          </a:ln>
        </p:spPr>
      </p:sp>
      <p:sp>
        <p:nvSpPr>
          <p:cNvPr id="303" name=""/>
          <p:cNvSpPr/>
          <p:nvPr/>
        </p:nvSpPr>
        <p:spPr>
          <a:xfrm>
            <a:off x="8532000" y="3168000"/>
            <a:ext cx="115200" cy="115200"/>
          </a:xfrm>
          <a:prstGeom prst="ellipse">
            <a:avLst/>
          </a:prstGeom>
          <a:solidFill>
            <a:srgbClr val="6750a4"/>
          </a:solidFill>
          <a:ln w="0">
            <a:noFill/>
          </a:ln>
        </p:spPr>
      </p:sp>
      <p:sp>
        <p:nvSpPr>
          <p:cNvPr id="304" name=""/>
          <p:cNvSpPr txBox="1"/>
          <p:nvPr/>
        </p:nvSpPr>
        <p:spPr>
          <a:xfrm>
            <a:off x="8748000" y="3132000"/>
            <a:ext cx="1944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10" spc="-1" strike="noStrike">
                <a:solidFill>
                  <a:srgbClr val="172731"/>
                </a:solidFill>
                <a:latin typeface="Arial"/>
              </a:rPr>
              <a:t>airport</a:t>
            </a:r>
            <a:endParaRPr b="0" lang="en-US" sz="910" spc="-1" strike="noStrike">
              <a:latin typeface="Arial"/>
            </a:endParaRPr>
          </a:p>
        </p:txBody>
      </p:sp>
      <p:sp>
        <p:nvSpPr>
          <p:cNvPr id="305" name=""/>
          <p:cNvSpPr/>
          <p:nvPr/>
        </p:nvSpPr>
        <p:spPr>
          <a:xfrm>
            <a:off x="5616000" y="3528000"/>
            <a:ext cx="2520000" cy="360000"/>
          </a:xfrm>
          <a:prstGeom prst="roundRect">
            <a:avLst/>
          </a:prstGeom>
          <a:solidFill>
            <a:srgbClr val="eaf1f3"/>
          </a:solidFill>
          <a:ln w="0">
            <a:noFill/>
          </a:ln>
        </p:spPr>
      </p:sp>
      <p:sp>
        <p:nvSpPr>
          <p:cNvPr id="306" name=""/>
          <p:cNvSpPr/>
          <p:nvPr/>
        </p:nvSpPr>
        <p:spPr>
          <a:xfrm>
            <a:off x="5760000" y="3636000"/>
            <a:ext cx="115200" cy="115200"/>
          </a:xfrm>
          <a:prstGeom prst="ellipse">
            <a:avLst/>
          </a:prstGeom>
          <a:solidFill>
            <a:srgbClr val="6750a4"/>
          </a:solidFill>
          <a:ln w="0">
            <a:noFill/>
          </a:ln>
        </p:spPr>
      </p:sp>
      <p:sp>
        <p:nvSpPr>
          <p:cNvPr id="307" name=""/>
          <p:cNvSpPr txBox="1"/>
          <p:nvPr/>
        </p:nvSpPr>
        <p:spPr>
          <a:xfrm>
            <a:off x="5976000" y="3600000"/>
            <a:ext cx="1944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10" spc="-1" strike="noStrike">
                <a:solidFill>
                  <a:srgbClr val="172731"/>
                </a:solidFill>
                <a:latin typeface="Arial"/>
              </a:rPr>
              <a:t>stadium</a:t>
            </a:r>
            <a:endParaRPr b="0" lang="en-US" sz="910" spc="-1" strike="noStrike">
              <a:latin typeface="Arial"/>
            </a:endParaRPr>
          </a:p>
        </p:txBody>
      </p:sp>
      <p:sp>
        <p:nvSpPr>
          <p:cNvPr id="308" name=""/>
          <p:cNvSpPr/>
          <p:nvPr/>
        </p:nvSpPr>
        <p:spPr>
          <a:xfrm>
            <a:off x="8388000" y="3528000"/>
            <a:ext cx="2520000" cy="360000"/>
          </a:xfrm>
          <a:prstGeom prst="roundRect">
            <a:avLst/>
          </a:prstGeom>
          <a:solidFill>
            <a:srgbClr val="eaf1f3"/>
          </a:solidFill>
          <a:ln w="0">
            <a:noFill/>
          </a:ln>
        </p:spPr>
      </p:sp>
      <p:sp>
        <p:nvSpPr>
          <p:cNvPr id="309" name=""/>
          <p:cNvSpPr/>
          <p:nvPr/>
        </p:nvSpPr>
        <p:spPr>
          <a:xfrm>
            <a:off x="8532000" y="3636000"/>
            <a:ext cx="115200" cy="115200"/>
          </a:xfrm>
          <a:prstGeom prst="ellipse">
            <a:avLst/>
          </a:prstGeom>
          <a:solidFill>
            <a:srgbClr val="6750a4"/>
          </a:solidFill>
          <a:ln w="0">
            <a:noFill/>
          </a:ln>
        </p:spPr>
      </p:sp>
      <p:sp>
        <p:nvSpPr>
          <p:cNvPr id="310" name=""/>
          <p:cNvSpPr txBox="1"/>
          <p:nvPr/>
        </p:nvSpPr>
        <p:spPr>
          <a:xfrm>
            <a:off x="8748000" y="3600000"/>
            <a:ext cx="1944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10" spc="-1" strike="noStrike">
                <a:solidFill>
                  <a:srgbClr val="172731"/>
                </a:solidFill>
                <a:latin typeface="Arial"/>
              </a:rPr>
              <a:t>rural</a:t>
            </a:r>
            <a:endParaRPr b="0" lang="en-US" sz="910" spc="-1" strike="noStrike">
              <a:latin typeface="Arial"/>
            </a:endParaRPr>
          </a:p>
        </p:txBody>
      </p:sp>
      <p:sp>
        <p:nvSpPr>
          <p:cNvPr id="311" name=""/>
          <p:cNvSpPr txBox="1"/>
          <p:nvPr/>
        </p:nvSpPr>
        <p:spPr>
          <a:xfrm>
            <a:off x="5616000" y="4140000"/>
            <a:ext cx="5544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50" spc="-1" strike="noStrike">
                <a:solidFill>
                  <a:srgbClr val="007c99"/>
                </a:solidFill>
                <a:latin typeface="Arial"/>
              </a:rPr>
              <a:t>Why grouping matters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312" name=""/>
          <p:cNvSpPr/>
          <p:nvPr/>
        </p:nvSpPr>
        <p:spPr>
          <a:xfrm>
            <a:off x="5616000" y="4564800"/>
            <a:ext cx="79200" cy="79200"/>
          </a:xfrm>
          <a:prstGeom prst="ellipse">
            <a:avLst/>
          </a:prstGeom>
          <a:solidFill>
            <a:srgbClr val="007c99"/>
          </a:solidFill>
          <a:ln w="0">
            <a:noFill/>
          </a:ln>
        </p:spPr>
      </p:sp>
      <p:sp>
        <p:nvSpPr>
          <p:cNvPr id="313" name=""/>
          <p:cNvSpPr txBox="1"/>
          <p:nvPr/>
        </p:nvSpPr>
        <p:spPr>
          <a:xfrm>
            <a:off x="5796000" y="4482000"/>
            <a:ext cx="5364000" cy="33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30" spc="-1" strike="noStrike">
                <a:solidFill>
                  <a:srgbClr val="172731"/>
                </a:solidFill>
                <a:latin typeface="Arial"/>
              </a:rPr>
              <a:t>Forecasts remain local to an operationally meaningful class.</a:t>
            </a:r>
            <a:endParaRPr b="0" lang="en-US" sz="930" spc="-1" strike="noStrike">
              <a:latin typeface="Arial"/>
            </a:endParaRPr>
          </a:p>
        </p:txBody>
      </p:sp>
      <p:sp>
        <p:nvSpPr>
          <p:cNvPr id="314" name=""/>
          <p:cNvSpPr/>
          <p:nvPr/>
        </p:nvSpPr>
        <p:spPr>
          <a:xfrm>
            <a:off x="5616000" y="4896000"/>
            <a:ext cx="79200" cy="79200"/>
          </a:xfrm>
          <a:prstGeom prst="ellipse">
            <a:avLst/>
          </a:prstGeom>
          <a:solidFill>
            <a:srgbClr val="007c99"/>
          </a:solidFill>
          <a:ln w="0">
            <a:noFill/>
          </a:ln>
        </p:spPr>
      </p:sp>
      <p:sp>
        <p:nvSpPr>
          <p:cNvPr id="315" name=""/>
          <p:cNvSpPr txBox="1"/>
          <p:nvPr/>
        </p:nvSpPr>
        <p:spPr>
          <a:xfrm>
            <a:off x="5796000" y="4813200"/>
            <a:ext cx="5364000" cy="33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30" spc="-1" strike="noStrike">
                <a:solidFill>
                  <a:srgbClr val="172731"/>
                </a:solidFill>
                <a:latin typeface="Arial"/>
              </a:rPr>
              <a:t>UPF eligibility and path latency are enforced per group.</a:t>
            </a:r>
            <a:endParaRPr b="0" lang="en-US" sz="930" spc="-1" strike="noStrike">
              <a:latin typeface="Arial"/>
            </a:endParaRPr>
          </a:p>
        </p:txBody>
      </p:sp>
      <p:sp>
        <p:nvSpPr>
          <p:cNvPr id="316" name=""/>
          <p:cNvSpPr/>
          <p:nvPr/>
        </p:nvSpPr>
        <p:spPr>
          <a:xfrm>
            <a:off x="5616000" y="5227200"/>
            <a:ext cx="79200" cy="79200"/>
          </a:xfrm>
          <a:prstGeom prst="ellipse">
            <a:avLst/>
          </a:prstGeom>
          <a:solidFill>
            <a:srgbClr val="007c99"/>
          </a:solidFill>
          <a:ln w="0">
            <a:noFill/>
          </a:ln>
        </p:spPr>
      </p:sp>
      <p:sp>
        <p:nvSpPr>
          <p:cNvPr id="317" name=""/>
          <p:cNvSpPr txBox="1"/>
          <p:nvPr/>
        </p:nvSpPr>
        <p:spPr>
          <a:xfrm>
            <a:off x="5796000" y="5144400"/>
            <a:ext cx="5364000" cy="33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30" spc="-1" strike="noStrike">
                <a:solidFill>
                  <a:srgbClr val="172731"/>
                </a:solidFill>
                <a:latin typeface="Arial"/>
              </a:rPr>
              <a:t>Routing weights can shift one class without assuming every session can reach every UPF.</a:t>
            </a:r>
            <a:endParaRPr b="0" lang="en-US" sz="930" spc="-1" strike="noStrike">
              <a:latin typeface="Arial"/>
            </a:endParaRPr>
          </a:p>
        </p:txBody>
      </p:sp>
      <p:sp>
        <p:nvSpPr>
          <p:cNvPr id="318" name=""/>
          <p:cNvSpPr/>
          <p:nvPr/>
        </p:nvSpPr>
        <p:spPr>
          <a:xfrm>
            <a:off x="324000" y="6616800"/>
            <a:ext cx="11088000" cy="0"/>
          </a:xfrm>
          <a:prstGeom prst="line">
            <a:avLst/>
          </a:prstGeom>
          <a:ln w="1080">
            <a:solidFill>
              <a:srgbClr val="cfdc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9" name=""/>
          <p:cNvSpPr txBox="1"/>
          <p:nvPr/>
        </p:nvSpPr>
        <p:spPr>
          <a:xfrm>
            <a:off x="324000" y="6660000"/>
            <a:ext cx="10368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80" spc="-1" strike="noStrike">
                <a:solidFill>
                  <a:srgbClr val="718592"/>
                </a:solidFill>
                <a:latin typeface="Courier New"/>
              </a:rPr>
              <a:t>configs/extreme_training_profile.json · experiments/build_extreme_history_manifest.py · docs/extreme-data-spec-and-cdot-gap-analysis.md</a:t>
            </a:r>
            <a:endParaRPr b="0" lang="en-US" sz="680" spc="-1" strike="noStrike">
              <a:latin typeface="Arial"/>
            </a:endParaRPr>
          </a:p>
        </p:txBody>
      </p:sp>
      <p:sp>
        <p:nvSpPr>
          <p:cNvPr id="320" name=""/>
          <p:cNvSpPr txBox="1"/>
          <p:nvPr/>
        </p:nvSpPr>
        <p:spPr>
          <a:xfrm>
            <a:off x="11052000" y="6660000"/>
            <a:ext cx="684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buNone/>
            </a:pPr>
            <a:r>
              <a:rPr b="1" lang="en-US" sz="750" spc="-1" strike="noStrike">
                <a:solidFill>
                  <a:srgbClr val="718592"/>
                </a:solidFill>
                <a:latin typeface="Courier New"/>
              </a:rPr>
              <a:t>05</a:t>
            </a:r>
            <a:endParaRPr b="0" lang="en-US" sz="7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3f7f8"/>
          </a:solidFill>
          <a:ln w="0">
            <a:noFill/>
          </a:ln>
        </p:spPr>
      </p:sp>
      <p:sp>
        <p:nvSpPr>
          <p:cNvPr id="322" name=""/>
          <p:cNvSpPr txBox="1"/>
          <p:nvPr/>
        </p:nvSpPr>
        <p:spPr>
          <a:xfrm>
            <a:off x="324000" y="158400"/>
            <a:ext cx="3096000" cy="23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00" spc="508" strike="noStrike">
                <a:solidFill>
                  <a:srgbClr val="007c99"/>
                </a:solidFill>
                <a:latin typeface="Courier New"/>
              </a:rPr>
              <a:t>STAGE 1 · PROBABILISTIC MODEL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323" name=""/>
          <p:cNvSpPr txBox="1"/>
          <p:nvPr/>
        </p:nvSpPr>
        <p:spPr>
          <a:xfrm>
            <a:off x="324000" y="378000"/>
            <a:ext cx="10584000" cy="61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50" spc="-1" strike="noStrike">
                <a:solidFill>
                  <a:srgbClr val="172731"/>
                </a:solidFill>
                <a:latin typeface="Arial"/>
              </a:rPr>
              <a:t>The executable stochastic model is simple, reproducible and deliberately bounded</a:t>
            </a:r>
            <a:endParaRPr b="0" lang="en-US" sz="2150" spc="-1" strike="noStrike">
              <a:latin typeface="Arial"/>
            </a:endParaRPr>
          </a:p>
        </p:txBody>
      </p:sp>
      <p:sp>
        <p:nvSpPr>
          <p:cNvPr id="324" name=""/>
          <p:cNvSpPr/>
          <p:nvPr/>
        </p:nvSpPr>
        <p:spPr>
          <a:xfrm>
            <a:off x="10800000" y="180000"/>
            <a:ext cx="936000" cy="19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325" name=""/>
          <p:cNvSpPr txBox="1"/>
          <p:nvPr/>
        </p:nvSpPr>
        <p:spPr>
          <a:xfrm>
            <a:off x="10818000" y="219600"/>
            <a:ext cx="900000" cy="10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710" spc="-1" strike="noStrike">
                <a:solidFill>
                  <a:srgbClr val="c77b0b"/>
                </a:solidFill>
                <a:latin typeface="Courier New"/>
              </a:rPr>
              <a:t>SYNTHETIC DATA</a:t>
            </a:r>
            <a:endParaRPr b="0" lang="en-US" sz="710" spc="-1" strike="noStrike">
              <a:latin typeface="Arial"/>
            </a:endParaRPr>
          </a:p>
        </p:txBody>
      </p:sp>
      <p:sp>
        <p:nvSpPr>
          <p:cNvPr id="326" name=""/>
          <p:cNvSpPr/>
          <p:nvPr/>
        </p:nvSpPr>
        <p:spPr>
          <a:xfrm>
            <a:off x="324000" y="1440000"/>
            <a:ext cx="7092000" cy="1980000"/>
          </a:xfrm>
          <a:prstGeom prst="roundRect">
            <a:avLst/>
          </a:prstGeom>
          <a:solidFill>
            <a:srgbClr val="193644"/>
          </a:solidFill>
          <a:ln w="0">
            <a:noFill/>
          </a:ln>
        </p:spPr>
      </p:sp>
      <p:sp>
        <p:nvSpPr>
          <p:cNvPr id="327" name=""/>
          <p:cNvSpPr/>
          <p:nvPr/>
        </p:nvSpPr>
        <p:spPr>
          <a:xfrm>
            <a:off x="324000" y="1440000"/>
            <a:ext cx="64800" cy="1980000"/>
          </a:xfrm>
          <a:prstGeom prst="rect">
            <a:avLst/>
          </a:prstGeom>
          <a:solidFill>
            <a:srgbClr val="007c99"/>
          </a:solidFill>
          <a:ln w="0">
            <a:noFill/>
          </a:ln>
        </p:spPr>
      </p:sp>
      <p:sp>
        <p:nvSpPr>
          <p:cNvPr id="328" name=""/>
          <p:cNvSpPr txBox="1"/>
          <p:nvPr/>
        </p:nvSpPr>
        <p:spPr>
          <a:xfrm>
            <a:off x="648000" y="1728000"/>
            <a:ext cx="6408000" cy="3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2500" spc="-1" strike="noStrike">
                <a:solidFill>
                  <a:srgbClr val="ffffff"/>
                </a:solidFill>
                <a:latin typeface="Courier New"/>
              </a:rPr>
              <a:t>N(g,t)  ~  Poisson( λg × Fg,t )</a:t>
            </a:r>
            <a:endParaRPr b="0" lang="en-US" sz="2500" spc="-1" strike="noStrike">
              <a:latin typeface="Arial"/>
            </a:endParaRPr>
          </a:p>
        </p:txBody>
      </p:sp>
      <p:sp>
        <p:nvSpPr>
          <p:cNvPr id="329" name=""/>
          <p:cNvSpPr txBox="1"/>
          <p:nvPr/>
        </p:nvSpPr>
        <p:spPr>
          <a:xfrm>
            <a:off x="648000" y="2376000"/>
            <a:ext cx="6408000" cy="31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1080" spc="-1" strike="noStrike">
                <a:solidFill>
                  <a:srgbClr val="c5d7dd"/>
                </a:solidFill>
                <a:latin typeface="Courier New"/>
              </a:rPr>
              <a:t>Fg,t = daily profile × weekend factor × U(0.86, 1.16) weekly noise × active surge</a:t>
            </a:r>
            <a:endParaRPr b="0" lang="en-US" sz="1080" spc="-1" strike="noStrike">
              <a:latin typeface="Arial"/>
            </a:endParaRPr>
          </a:p>
        </p:txBody>
      </p:sp>
      <p:sp>
        <p:nvSpPr>
          <p:cNvPr id="330" name=""/>
          <p:cNvSpPr txBox="1"/>
          <p:nvPr/>
        </p:nvSpPr>
        <p:spPr>
          <a:xfrm>
            <a:off x="648000" y="2916000"/>
            <a:ext cx="6408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920" spc="-1" strike="noStrike">
                <a:solidFill>
                  <a:srgbClr val="77c6d4"/>
                </a:solidFill>
                <a:latin typeface="Arial"/>
              </a:rPr>
              <a:t>Factors update hourly; arrivals are drawn every 30 seconds.</a:t>
            </a:r>
            <a:endParaRPr b="0" lang="en-US" sz="920" spc="-1" strike="noStrike">
              <a:latin typeface="Arial"/>
            </a:endParaRPr>
          </a:p>
        </p:txBody>
      </p:sp>
      <p:sp>
        <p:nvSpPr>
          <p:cNvPr id="331" name=""/>
          <p:cNvSpPr/>
          <p:nvPr/>
        </p:nvSpPr>
        <p:spPr>
          <a:xfrm>
            <a:off x="7704000" y="1440000"/>
            <a:ext cx="4032000" cy="1980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332" name=""/>
          <p:cNvSpPr/>
          <p:nvPr/>
        </p:nvSpPr>
        <p:spPr>
          <a:xfrm>
            <a:off x="7704000" y="1440000"/>
            <a:ext cx="64800" cy="1980000"/>
          </a:xfrm>
          <a:prstGeom prst="rect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333" name=""/>
          <p:cNvSpPr txBox="1"/>
          <p:nvPr/>
        </p:nvSpPr>
        <p:spPr>
          <a:xfrm>
            <a:off x="7956000" y="1692000"/>
            <a:ext cx="3528000" cy="2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300" spc="-1" strike="noStrike">
                <a:solidFill>
                  <a:srgbClr val="172731"/>
                </a:solidFill>
                <a:latin typeface="Arial"/>
              </a:rPr>
              <a:t>Determinism by construction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334" name=""/>
          <p:cNvSpPr/>
          <p:nvPr/>
        </p:nvSpPr>
        <p:spPr>
          <a:xfrm>
            <a:off x="7956000" y="2224800"/>
            <a:ext cx="79200" cy="79200"/>
          </a:xfrm>
          <a:prstGeom prst="ellipse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335" name=""/>
          <p:cNvSpPr txBox="1"/>
          <p:nvPr/>
        </p:nvSpPr>
        <p:spPr>
          <a:xfrm>
            <a:off x="8136000" y="2142000"/>
            <a:ext cx="3312000" cy="26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20" spc="-1" strike="noStrike">
                <a:solidFill>
                  <a:srgbClr val="172731"/>
                </a:solidFill>
                <a:latin typeface="Arial"/>
              </a:rPr>
              <a:t>manifest seed fixes events</a:t>
            </a:r>
            <a:endParaRPr b="0" lang="en-US" sz="920" spc="-1" strike="noStrike">
              <a:latin typeface="Arial"/>
            </a:endParaRPr>
          </a:p>
        </p:txBody>
      </p:sp>
      <p:sp>
        <p:nvSpPr>
          <p:cNvPr id="336" name=""/>
          <p:cNvSpPr/>
          <p:nvPr/>
        </p:nvSpPr>
        <p:spPr>
          <a:xfrm>
            <a:off x="7956000" y="2491200"/>
            <a:ext cx="79200" cy="79200"/>
          </a:xfrm>
          <a:prstGeom prst="ellipse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337" name=""/>
          <p:cNvSpPr txBox="1"/>
          <p:nvPr/>
        </p:nvSpPr>
        <p:spPr>
          <a:xfrm>
            <a:off x="8136000" y="2408400"/>
            <a:ext cx="3312000" cy="26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20" spc="-1" strike="noStrike">
                <a:solidFill>
                  <a:srgbClr val="172731"/>
                </a:solidFill>
                <a:latin typeface="Arial"/>
              </a:rPr>
              <a:t>SHA-256-derived random stream per group</a:t>
            </a:r>
            <a:endParaRPr b="0" lang="en-US" sz="920" spc="-1" strike="noStrike">
              <a:latin typeface="Arial"/>
            </a:endParaRPr>
          </a:p>
        </p:txBody>
      </p:sp>
      <p:sp>
        <p:nvSpPr>
          <p:cNvPr id="338" name=""/>
          <p:cNvSpPr/>
          <p:nvPr/>
        </p:nvSpPr>
        <p:spPr>
          <a:xfrm>
            <a:off x="7956000" y="2757600"/>
            <a:ext cx="79200" cy="79200"/>
          </a:xfrm>
          <a:prstGeom prst="ellipse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339" name=""/>
          <p:cNvSpPr txBox="1"/>
          <p:nvPr/>
        </p:nvSpPr>
        <p:spPr>
          <a:xfrm>
            <a:off x="8136000" y="2674800"/>
            <a:ext cx="3312000" cy="26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20" spc="-1" strike="noStrike">
                <a:solidFill>
                  <a:srgbClr val="172731"/>
                </a:solidFill>
                <a:latin typeface="Arial"/>
              </a:rPr>
              <a:t>independent arrival and lifetime streams</a:t>
            </a:r>
            <a:endParaRPr b="0" lang="en-US" sz="920" spc="-1" strike="noStrike">
              <a:latin typeface="Arial"/>
            </a:endParaRPr>
          </a:p>
        </p:txBody>
      </p:sp>
      <p:sp>
        <p:nvSpPr>
          <p:cNvPr id="340" name=""/>
          <p:cNvSpPr/>
          <p:nvPr/>
        </p:nvSpPr>
        <p:spPr>
          <a:xfrm>
            <a:off x="7956000" y="3024000"/>
            <a:ext cx="79200" cy="79200"/>
          </a:xfrm>
          <a:prstGeom prst="ellipse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341" name=""/>
          <p:cNvSpPr txBox="1"/>
          <p:nvPr/>
        </p:nvSpPr>
        <p:spPr>
          <a:xfrm>
            <a:off x="8136000" y="2941200"/>
            <a:ext cx="3312000" cy="26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20" spc="-1" strike="noStrike">
                <a:solidFill>
                  <a:srgbClr val="172731"/>
                </a:solidFill>
                <a:latin typeface="Arial"/>
              </a:rPr>
              <a:t>same seed + policy ⇒ same logical run</a:t>
            </a:r>
            <a:endParaRPr b="0" lang="en-US" sz="920" spc="-1" strike="noStrike">
              <a:latin typeface="Arial"/>
            </a:endParaRPr>
          </a:p>
        </p:txBody>
      </p:sp>
      <p:sp>
        <p:nvSpPr>
          <p:cNvPr id="342" name=""/>
          <p:cNvSpPr/>
          <p:nvPr/>
        </p:nvSpPr>
        <p:spPr>
          <a:xfrm>
            <a:off x="324000" y="3744000"/>
            <a:ext cx="2592000" cy="1620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343" name=""/>
          <p:cNvSpPr/>
          <p:nvPr/>
        </p:nvSpPr>
        <p:spPr>
          <a:xfrm>
            <a:off x="324000" y="3744000"/>
            <a:ext cx="64800" cy="1620000"/>
          </a:xfrm>
          <a:prstGeom prst="rect">
            <a:avLst/>
          </a:prstGeom>
          <a:solidFill>
            <a:srgbClr val="007c99"/>
          </a:solidFill>
          <a:ln w="0">
            <a:noFill/>
          </a:ln>
        </p:spPr>
      </p:sp>
      <p:sp>
        <p:nvSpPr>
          <p:cNvPr id="344" name=""/>
          <p:cNvSpPr txBox="1"/>
          <p:nvPr/>
        </p:nvSpPr>
        <p:spPr>
          <a:xfrm>
            <a:off x="540000" y="3996000"/>
            <a:ext cx="2124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20" spc="-1" strike="noStrike">
                <a:solidFill>
                  <a:srgbClr val="007c99"/>
                </a:solidFill>
                <a:latin typeface="Courier New"/>
              </a:rPr>
              <a:t>SESSION LIFETIME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345" name=""/>
          <p:cNvSpPr txBox="1"/>
          <p:nvPr/>
        </p:nvSpPr>
        <p:spPr>
          <a:xfrm>
            <a:off x="540000" y="4392000"/>
            <a:ext cx="2124000" cy="7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60" spc="-1" strike="noStrike">
                <a:solidFill>
                  <a:srgbClr val="172731"/>
                </a:solidFill>
                <a:latin typeface="Arial"/>
              </a:rPr>
              <a:t>Discrete uniform integer draw within each class range.</a:t>
            </a:r>
            <a:endParaRPr b="0" lang="en-US" sz="960" spc="-1" strike="noStrike">
              <a:latin typeface="Arial"/>
            </a:endParaRPr>
          </a:p>
        </p:txBody>
      </p:sp>
      <p:sp>
        <p:nvSpPr>
          <p:cNvPr id="346" name=""/>
          <p:cNvSpPr/>
          <p:nvPr/>
        </p:nvSpPr>
        <p:spPr>
          <a:xfrm>
            <a:off x="3178800" y="3744000"/>
            <a:ext cx="2592000" cy="1620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347" name=""/>
          <p:cNvSpPr/>
          <p:nvPr/>
        </p:nvSpPr>
        <p:spPr>
          <a:xfrm>
            <a:off x="3178800" y="3744000"/>
            <a:ext cx="64800" cy="1620000"/>
          </a:xfrm>
          <a:prstGeom prst="rect">
            <a:avLst/>
          </a:prstGeom>
          <a:solidFill>
            <a:srgbClr val="6750a4"/>
          </a:solidFill>
          <a:ln w="0">
            <a:noFill/>
          </a:ln>
        </p:spPr>
      </p:sp>
      <p:sp>
        <p:nvSpPr>
          <p:cNvPr id="348" name=""/>
          <p:cNvSpPr txBox="1"/>
          <p:nvPr/>
        </p:nvSpPr>
        <p:spPr>
          <a:xfrm>
            <a:off x="3394800" y="3996000"/>
            <a:ext cx="2124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20" spc="-1" strike="noStrike">
                <a:solidFill>
                  <a:srgbClr val="6750a4"/>
                </a:solidFill>
                <a:latin typeface="Courier New"/>
              </a:rPr>
              <a:t>SESSION RATE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349" name=""/>
          <p:cNvSpPr txBox="1"/>
          <p:nvPr/>
        </p:nvSpPr>
        <p:spPr>
          <a:xfrm>
            <a:off x="3394800" y="4392000"/>
            <a:ext cx="2124000" cy="7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60" spc="-1" strike="noStrike">
                <a:solidFill>
                  <a:srgbClr val="172731"/>
                </a:solidFill>
                <a:latin typeface="Arial"/>
              </a:rPr>
              <a:t>Fixed UL/DL Mbps per active session for a class.</a:t>
            </a:r>
            <a:endParaRPr b="0" lang="en-US" sz="960" spc="-1" strike="noStrike">
              <a:latin typeface="Arial"/>
            </a:endParaRPr>
          </a:p>
        </p:txBody>
      </p:sp>
      <p:sp>
        <p:nvSpPr>
          <p:cNvPr id="350" name=""/>
          <p:cNvSpPr/>
          <p:nvPr/>
        </p:nvSpPr>
        <p:spPr>
          <a:xfrm>
            <a:off x="6033600" y="3744000"/>
            <a:ext cx="2592000" cy="1620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351" name=""/>
          <p:cNvSpPr/>
          <p:nvPr/>
        </p:nvSpPr>
        <p:spPr>
          <a:xfrm>
            <a:off x="6033600" y="3744000"/>
            <a:ext cx="64800" cy="1620000"/>
          </a:xfrm>
          <a:prstGeom prst="rect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352" name=""/>
          <p:cNvSpPr txBox="1"/>
          <p:nvPr/>
        </p:nvSpPr>
        <p:spPr>
          <a:xfrm>
            <a:off x="6249600" y="3996000"/>
            <a:ext cx="2124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20" spc="-1" strike="noStrike">
                <a:solidFill>
                  <a:srgbClr val="16805f"/>
                </a:solidFill>
                <a:latin typeface="Courier New"/>
              </a:rPr>
              <a:t>STATE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353" name=""/>
          <p:cNvSpPr txBox="1"/>
          <p:nvPr/>
        </p:nvSpPr>
        <p:spPr>
          <a:xfrm>
            <a:off x="6249600" y="4392000"/>
            <a:ext cx="2124000" cy="7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60" spc="-1" strike="noStrike">
                <a:solidFill>
                  <a:srgbClr val="172731"/>
                </a:solidFill>
                <a:latin typeface="Arial"/>
              </a:rPr>
              <a:t>Placed sessions become aggregate cohorts with explicit departure steps.</a:t>
            </a:r>
            <a:endParaRPr b="0" lang="en-US" sz="960" spc="-1" strike="noStrike">
              <a:latin typeface="Arial"/>
            </a:endParaRPr>
          </a:p>
        </p:txBody>
      </p:sp>
      <p:sp>
        <p:nvSpPr>
          <p:cNvPr id="354" name=""/>
          <p:cNvSpPr/>
          <p:nvPr/>
        </p:nvSpPr>
        <p:spPr>
          <a:xfrm>
            <a:off x="8888400" y="3744000"/>
            <a:ext cx="2592000" cy="1620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355" name=""/>
          <p:cNvSpPr/>
          <p:nvPr/>
        </p:nvSpPr>
        <p:spPr>
          <a:xfrm>
            <a:off x="8888400" y="3744000"/>
            <a:ext cx="64800" cy="1620000"/>
          </a:xfrm>
          <a:prstGeom prst="rect">
            <a:avLst/>
          </a:prstGeom>
          <a:solidFill>
            <a:srgbClr val="c77b0b"/>
          </a:solidFill>
          <a:ln w="0">
            <a:noFill/>
          </a:ln>
        </p:spPr>
      </p:sp>
      <p:sp>
        <p:nvSpPr>
          <p:cNvPr id="356" name=""/>
          <p:cNvSpPr txBox="1"/>
          <p:nvPr/>
        </p:nvSpPr>
        <p:spPr>
          <a:xfrm>
            <a:off x="9104400" y="3996000"/>
            <a:ext cx="2124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20" spc="-1" strike="noStrike">
                <a:solidFill>
                  <a:srgbClr val="c77b0b"/>
                </a:solidFill>
                <a:latin typeface="Courier New"/>
              </a:rPr>
              <a:t>LOAD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357" name=""/>
          <p:cNvSpPr txBox="1"/>
          <p:nvPr/>
        </p:nvSpPr>
        <p:spPr>
          <a:xfrm>
            <a:off x="9104400" y="4392000"/>
            <a:ext cx="2124000" cy="7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60" spc="-1" strike="noStrike">
                <a:solidFill>
                  <a:srgbClr val="172731"/>
                </a:solidFill>
                <a:latin typeface="Arial"/>
              </a:rPr>
              <a:t>Offered demand is the sum of fixed rates for all active sessions.</a:t>
            </a:r>
            <a:endParaRPr b="0" lang="en-US" sz="960" spc="-1" strike="noStrike">
              <a:latin typeface="Arial"/>
            </a:endParaRPr>
          </a:p>
        </p:txBody>
      </p:sp>
      <p:sp>
        <p:nvSpPr>
          <p:cNvPr id="358" name=""/>
          <p:cNvSpPr/>
          <p:nvPr/>
        </p:nvSpPr>
        <p:spPr>
          <a:xfrm>
            <a:off x="324000" y="5616000"/>
            <a:ext cx="11412000" cy="576000"/>
          </a:xfrm>
          <a:prstGeom prst="roundRect">
            <a:avLst/>
          </a:prstGeom>
          <a:solidFill>
            <a:srgbClr val="faf0de"/>
          </a:solidFill>
          <a:ln w="6480">
            <a:solidFill>
              <a:srgbClr val="e7ca99"/>
            </a:solidFill>
            <a:round/>
          </a:ln>
        </p:spPr>
      </p:sp>
      <p:sp>
        <p:nvSpPr>
          <p:cNvPr id="359" name=""/>
          <p:cNvSpPr/>
          <p:nvPr/>
        </p:nvSpPr>
        <p:spPr>
          <a:xfrm>
            <a:off x="324000" y="5616000"/>
            <a:ext cx="64800" cy="576000"/>
          </a:xfrm>
          <a:prstGeom prst="rect">
            <a:avLst/>
          </a:prstGeom>
          <a:solidFill>
            <a:srgbClr val="c77b0b"/>
          </a:solidFill>
          <a:ln w="0">
            <a:noFill/>
          </a:ln>
        </p:spPr>
      </p:sp>
      <p:sp>
        <p:nvSpPr>
          <p:cNvPr id="360" name=""/>
          <p:cNvSpPr txBox="1"/>
          <p:nvPr/>
        </p:nvSpPr>
        <p:spPr>
          <a:xfrm>
            <a:off x="576000" y="5760000"/>
            <a:ext cx="10908000" cy="28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20" spc="-1" strike="noStrike">
                <a:solidFill>
                  <a:srgbClr val="172731"/>
                </a:solidFill>
                <a:latin typeface="Arial"/>
              </a:rPr>
              <a:t>Not implemented in the extreme generator: AR(1), Markov bursts, heavy-tailed rate/lifetime, persistent UE identity, mobility, packet-level traffic or telemetry faults.</a:t>
            </a:r>
            <a:endParaRPr b="0" lang="en-US" sz="920" spc="-1" strike="noStrike">
              <a:latin typeface="Arial"/>
            </a:endParaRPr>
          </a:p>
        </p:txBody>
      </p:sp>
      <p:sp>
        <p:nvSpPr>
          <p:cNvPr id="361" name=""/>
          <p:cNvSpPr/>
          <p:nvPr/>
        </p:nvSpPr>
        <p:spPr>
          <a:xfrm>
            <a:off x="324000" y="6616800"/>
            <a:ext cx="11088000" cy="0"/>
          </a:xfrm>
          <a:prstGeom prst="line">
            <a:avLst/>
          </a:prstGeom>
          <a:ln w="1080">
            <a:solidFill>
              <a:srgbClr val="cfdc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2" name=""/>
          <p:cNvSpPr txBox="1"/>
          <p:nvPr/>
        </p:nvSpPr>
        <p:spPr>
          <a:xfrm>
            <a:off x="324000" y="6660000"/>
            <a:ext cx="10368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80" spc="-1" strike="noStrike">
                <a:solidFill>
                  <a:srgbClr val="718592"/>
                </a:solidFill>
                <a:latin typeface="Courier New"/>
              </a:rPr>
              <a:t>simulator/macro/engine.py::_poisson · configs/extreme_training_profile.json · docs/traffic-model-spec.md</a:t>
            </a:r>
            <a:endParaRPr b="0" lang="en-US" sz="680" spc="-1" strike="noStrike">
              <a:latin typeface="Arial"/>
            </a:endParaRPr>
          </a:p>
        </p:txBody>
      </p:sp>
      <p:sp>
        <p:nvSpPr>
          <p:cNvPr id="363" name=""/>
          <p:cNvSpPr txBox="1"/>
          <p:nvPr/>
        </p:nvSpPr>
        <p:spPr>
          <a:xfrm>
            <a:off x="11052000" y="6660000"/>
            <a:ext cx="684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buNone/>
            </a:pPr>
            <a:r>
              <a:rPr b="1" lang="en-US" sz="750" spc="-1" strike="noStrike">
                <a:solidFill>
                  <a:srgbClr val="718592"/>
                </a:solidFill>
                <a:latin typeface="Courier New"/>
              </a:rPr>
              <a:t>06</a:t>
            </a:r>
            <a:endParaRPr b="0" lang="en-US" sz="7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3f7f8"/>
          </a:solidFill>
          <a:ln w="0">
            <a:noFill/>
          </a:ln>
        </p:spPr>
      </p:sp>
      <p:sp>
        <p:nvSpPr>
          <p:cNvPr id="365" name=""/>
          <p:cNvSpPr txBox="1"/>
          <p:nvPr/>
        </p:nvSpPr>
        <p:spPr>
          <a:xfrm>
            <a:off x="324000" y="158400"/>
            <a:ext cx="3096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00" spc="508" strike="noStrike">
                <a:solidFill>
                  <a:srgbClr val="007c99"/>
                </a:solidFill>
                <a:latin typeface="Courier New"/>
              </a:rPr>
              <a:t>STAGE 1 · TRAFFIC CATALOG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366" name=""/>
          <p:cNvSpPr txBox="1"/>
          <p:nvPr/>
        </p:nvSpPr>
        <p:spPr>
          <a:xfrm>
            <a:off x="324000" y="378000"/>
            <a:ext cx="10584000" cy="57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50" spc="-1" strike="noStrike">
                <a:solidFill>
                  <a:srgbClr val="172731"/>
                </a:solidFill>
                <a:latin typeface="Arial"/>
              </a:rPr>
              <a:t>Twelve service classes create distinct temporal and directional demand</a:t>
            </a:r>
            <a:endParaRPr b="0" lang="en-US" sz="2150" spc="-1" strike="noStrike">
              <a:latin typeface="Arial"/>
            </a:endParaRPr>
          </a:p>
        </p:txBody>
      </p:sp>
      <p:sp>
        <p:nvSpPr>
          <p:cNvPr id="367" name=""/>
          <p:cNvSpPr txBox="1"/>
          <p:nvPr/>
        </p:nvSpPr>
        <p:spPr>
          <a:xfrm>
            <a:off x="324000" y="1015200"/>
            <a:ext cx="1051200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526875"/>
                </a:solidFill>
                <a:latin typeface="Arial"/>
              </a:rPr>
              <a:t>Values are per active session; lifetime ranges are from the executable extreme profile.</a:t>
            </a:r>
            <a:endParaRPr b="0" lang="en-US" sz="960" spc="-1" strike="noStrike">
              <a:latin typeface="Arial"/>
            </a:endParaRPr>
          </a:p>
        </p:txBody>
      </p:sp>
      <p:sp>
        <p:nvSpPr>
          <p:cNvPr id="368" name=""/>
          <p:cNvSpPr/>
          <p:nvPr/>
        </p:nvSpPr>
        <p:spPr>
          <a:xfrm>
            <a:off x="10800000" y="180000"/>
            <a:ext cx="936000" cy="19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369" name=""/>
          <p:cNvSpPr txBox="1"/>
          <p:nvPr/>
        </p:nvSpPr>
        <p:spPr>
          <a:xfrm>
            <a:off x="10818000" y="219600"/>
            <a:ext cx="900000" cy="10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710" spc="-1" strike="noStrike">
                <a:solidFill>
                  <a:srgbClr val="c77b0b"/>
                </a:solidFill>
                <a:latin typeface="Courier New"/>
              </a:rPr>
              <a:t>SYNTHETIC DATA</a:t>
            </a:r>
            <a:endParaRPr b="0" lang="en-US" sz="710" spc="-1" strike="noStrike">
              <a:latin typeface="Arial"/>
            </a:endParaRPr>
          </a:p>
        </p:txBody>
      </p:sp>
      <p:sp>
        <p:nvSpPr>
          <p:cNvPr id="370" name=""/>
          <p:cNvSpPr/>
          <p:nvPr/>
        </p:nvSpPr>
        <p:spPr>
          <a:xfrm>
            <a:off x="324000" y="1404000"/>
            <a:ext cx="10584000" cy="345600"/>
          </a:xfrm>
          <a:prstGeom prst="rect">
            <a:avLst/>
          </a:prstGeom>
          <a:solidFill>
            <a:srgbClr val="193644"/>
          </a:solidFill>
          <a:ln w="6480">
            <a:solidFill>
              <a:srgbClr val="cfdce1"/>
            </a:solidFill>
            <a:round/>
          </a:ln>
        </p:spPr>
      </p:sp>
      <p:sp>
        <p:nvSpPr>
          <p:cNvPr id="371" name=""/>
          <p:cNvSpPr txBox="1"/>
          <p:nvPr/>
        </p:nvSpPr>
        <p:spPr>
          <a:xfrm>
            <a:off x="385200" y="1450800"/>
            <a:ext cx="2685600" cy="27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n-US" sz="830" spc="-1" strike="noStrike">
                <a:solidFill>
                  <a:srgbClr val="ffffff"/>
                </a:solidFill>
                <a:latin typeface="Arial"/>
              </a:rPr>
              <a:t>SERVICE / DNN</a:t>
            </a:r>
            <a:endParaRPr b="0" lang="en-US" sz="830" spc="-1" strike="noStrike">
              <a:latin typeface="Arial"/>
            </a:endParaRPr>
          </a:p>
        </p:txBody>
      </p:sp>
      <p:sp>
        <p:nvSpPr>
          <p:cNvPr id="372" name=""/>
          <p:cNvSpPr txBox="1"/>
          <p:nvPr/>
        </p:nvSpPr>
        <p:spPr>
          <a:xfrm>
            <a:off x="3193200" y="1450800"/>
            <a:ext cx="597600" cy="27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US" sz="830" spc="-1" strike="noStrike">
                <a:solidFill>
                  <a:srgbClr val="ffffff"/>
                </a:solidFill>
                <a:latin typeface="Arial"/>
              </a:rPr>
              <a:t>5QI</a:t>
            </a:r>
            <a:endParaRPr b="0" lang="en-US" sz="830" spc="-1" strike="noStrike">
              <a:latin typeface="Arial"/>
            </a:endParaRPr>
          </a:p>
        </p:txBody>
      </p:sp>
      <p:sp>
        <p:nvSpPr>
          <p:cNvPr id="373" name=""/>
          <p:cNvSpPr txBox="1"/>
          <p:nvPr/>
        </p:nvSpPr>
        <p:spPr>
          <a:xfrm>
            <a:off x="3913200" y="1450800"/>
            <a:ext cx="1821600" cy="27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r">
              <a:buNone/>
            </a:pPr>
            <a:r>
              <a:rPr b="1" lang="en-US" sz="830" spc="-1" strike="noStrike">
                <a:solidFill>
                  <a:srgbClr val="ffffff"/>
                </a:solidFill>
                <a:latin typeface="Arial"/>
              </a:rPr>
              <a:t>ARRIVALS / 30 s / ZONE</a:t>
            </a:r>
            <a:endParaRPr b="0" lang="en-US" sz="830" spc="-1" strike="noStrike">
              <a:latin typeface="Arial"/>
            </a:endParaRPr>
          </a:p>
        </p:txBody>
      </p:sp>
      <p:sp>
        <p:nvSpPr>
          <p:cNvPr id="374" name=""/>
          <p:cNvSpPr txBox="1"/>
          <p:nvPr/>
        </p:nvSpPr>
        <p:spPr>
          <a:xfrm>
            <a:off x="5857200" y="1450800"/>
            <a:ext cx="1389600" cy="27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US" sz="830" spc="-1" strike="noStrike">
                <a:solidFill>
                  <a:srgbClr val="ffffff"/>
                </a:solidFill>
                <a:latin typeface="Arial"/>
              </a:rPr>
              <a:t>LIFETIME</a:t>
            </a:r>
            <a:endParaRPr b="0" lang="en-US" sz="830" spc="-1" strike="noStrike">
              <a:latin typeface="Arial"/>
            </a:endParaRPr>
          </a:p>
        </p:txBody>
      </p:sp>
      <p:sp>
        <p:nvSpPr>
          <p:cNvPr id="375" name=""/>
          <p:cNvSpPr txBox="1"/>
          <p:nvPr/>
        </p:nvSpPr>
        <p:spPr>
          <a:xfrm>
            <a:off x="7369200" y="1450800"/>
            <a:ext cx="1677600" cy="27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US" sz="830" spc="-1" strike="noStrike">
                <a:solidFill>
                  <a:srgbClr val="ffffff"/>
                </a:solidFill>
                <a:latin typeface="Arial"/>
              </a:rPr>
              <a:t>UL / DL Mbps</a:t>
            </a:r>
            <a:endParaRPr b="0" lang="en-US" sz="830" spc="-1" strike="noStrike">
              <a:latin typeface="Arial"/>
            </a:endParaRPr>
          </a:p>
        </p:txBody>
      </p:sp>
      <p:sp>
        <p:nvSpPr>
          <p:cNvPr id="376" name=""/>
          <p:cNvSpPr txBox="1"/>
          <p:nvPr/>
        </p:nvSpPr>
        <p:spPr>
          <a:xfrm>
            <a:off x="9169200" y="1450800"/>
            <a:ext cx="1677600" cy="27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n-US" sz="830" spc="-1" strike="noStrike">
                <a:solidFill>
                  <a:srgbClr val="ffffff"/>
                </a:solidFill>
                <a:latin typeface="Arial"/>
              </a:rPr>
              <a:t>CALENDAR</a:t>
            </a:r>
            <a:endParaRPr b="0" lang="en-US" sz="830" spc="-1" strike="noStrike">
              <a:latin typeface="Arial"/>
            </a:endParaRPr>
          </a:p>
        </p:txBody>
      </p:sp>
      <p:sp>
        <p:nvSpPr>
          <p:cNvPr id="377" name=""/>
          <p:cNvSpPr/>
          <p:nvPr/>
        </p:nvSpPr>
        <p:spPr>
          <a:xfrm>
            <a:off x="324000" y="1749600"/>
            <a:ext cx="10584000" cy="345600"/>
          </a:xfrm>
          <a:prstGeom prst="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378" name=""/>
          <p:cNvSpPr txBox="1"/>
          <p:nvPr/>
        </p:nvSpPr>
        <p:spPr>
          <a:xfrm>
            <a:off x="385200" y="1796400"/>
            <a:ext cx="2685600" cy="27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50" spc="-1" strike="noStrike">
                <a:solidFill>
                  <a:srgbClr val="172731"/>
                </a:solidFill>
                <a:latin typeface="Arial"/>
              </a:rPr>
              <a:t>Consumer video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379" name=""/>
          <p:cNvSpPr txBox="1"/>
          <p:nvPr/>
        </p:nvSpPr>
        <p:spPr>
          <a:xfrm>
            <a:off x="3193200" y="1796400"/>
            <a:ext cx="597600" cy="27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850" spc="-1" strike="noStrike">
                <a:solidFill>
                  <a:srgbClr val="172731"/>
                </a:solidFill>
                <a:latin typeface="Arial"/>
              </a:rPr>
              <a:t>9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380" name=""/>
          <p:cNvSpPr txBox="1"/>
          <p:nvPr/>
        </p:nvSpPr>
        <p:spPr>
          <a:xfrm>
            <a:off x="3913200" y="1796400"/>
            <a:ext cx="1821600" cy="27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r">
              <a:buNone/>
            </a:pPr>
            <a:r>
              <a:rPr b="0" lang="en-US" sz="850" spc="-1" strike="noStrike">
                <a:solidFill>
                  <a:srgbClr val="172731"/>
                </a:solidFill>
                <a:latin typeface="Arial"/>
              </a:rPr>
              <a:t>201.6–403.2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381" name=""/>
          <p:cNvSpPr txBox="1"/>
          <p:nvPr/>
        </p:nvSpPr>
        <p:spPr>
          <a:xfrm>
            <a:off x="5857200" y="1796400"/>
            <a:ext cx="1389600" cy="27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850" spc="-1" strike="noStrike">
                <a:solidFill>
                  <a:srgbClr val="172731"/>
                </a:solidFill>
                <a:latin typeface="Arial"/>
              </a:rPr>
              <a:t>1–12 h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382" name=""/>
          <p:cNvSpPr txBox="1"/>
          <p:nvPr/>
        </p:nvSpPr>
        <p:spPr>
          <a:xfrm>
            <a:off x="7369200" y="1796400"/>
            <a:ext cx="1677600" cy="27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850" spc="-1" strike="noStrike">
                <a:solidFill>
                  <a:srgbClr val="172731"/>
                </a:solidFill>
                <a:latin typeface="Arial"/>
              </a:rPr>
              <a:t>0.15 / 4.00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383" name=""/>
          <p:cNvSpPr txBox="1"/>
          <p:nvPr/>
        </p:nvSpPr>
        <p:spPr>
          <a:xfrm>
            <a:off x="9169200" y="1796400"/>
            <a:ext cx="1677600" cy="27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50" spc="-1" strike="noStrike">
                <a:solidFill>
                  <a:srgbClr val="172731"/>
                </a:solidFill>
                <a:latin typeface="Arial"/>
              </a:rPr>
              <a:t>Evening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384" name=""/>
          <p:cNvSpPr/>
          <p:nvPr/>
        </p:nvSpPr>
        <p:spPr>
          <a:xfrm>
            <a:off x="324000" y="2095200"/>
            <a:ext cx="10584000" cy="345600"/>
          </a:xfrm>
          <a:prstGeom prst="rect">
            <a:avLst/>
          </a:prstGeom>
          <a:solidFill>
            <a:srgbClr val="f8fafb"/>
          </a:solidFill>
          <a:ln w="6480">
            <a:solidFill>
              <a:srgbClr val="cfdce1"/>
            </a:solidFill>
            <a:round/>
          </a:ln>
        </p:spPr>
      </p:sp>
      <p:sp>
        <p:nvSpPr>
          <p:cNvPr id="385" name=""/>
          <p:cNvSpPr txBox="1"/>
          <p:nvPr/>
        </p:nvSpPr>
        <p:spPr>
          <a:xfrm>
            <a:off x="385200" y="2142000"/>
            <a:ext cx="2685600" cy="27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50" spc="-1" strike="noStrike">
                <a:solidFill>
                  <a:srgbClr val="172731"/>
                </a:solidFill>
                <a:latin typeface="Arial"/>
              </a:rPr>
              <a:t>Social / live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386" name=""/>
          <p:cNvSpPr txBox="1"/>
          <p:nvPr/>
        </p:nvSpPr>
        <p:spPr>
          <a:xfrm>
            <a:off x="3193200" y="2142000"/>
            <a:ext cx="597600" cy="27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850" spc="-1" strike="noStrike">
                <a:solidFill>
                  <a:srgbClr val="172731"/>
                </a:solidFill>
                <a:latin typeface="Arial"/>
              </a:rPr>
              <a:t>8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387" name=""/>
          <p:cNvSpPr txBox="1"/>
          <p:nvPr/>
        </p:nvSpPr>
        <p:spPr>
          <a:xfrm>
            <a:off x="3913200" y="2142000"/>
            <a:ext cx="1821600" cy="27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r">
              <a:buNone/>
            </a:pPr>
            <a:r>
              <a:rPr b="0" lang="en-US" sz="850" spc="-1" strike="noStrike">
                <a:solidFill>
                  <a:srgbClr val="172731"/>
                </a:solidFill>
                <a:latin typeface="Arial"/>
              </a:rPr>
              <a:t>112.0–224.0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388" name=""/>
          <p:cNvSpPr txBox="1"/>
          <p:nvPr/>
        </p:nvSpPr>
        <p:spPr>
          <a:xfrm>
            <a:off x="5857200" y="2142000"/>
            <a:ext cx="1389600" cy="27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850" spc="-1" strike="noStrike">
                <a:solidFill>
                  <a:srgbClr val="172731"/>
                </a:solidFill>
                <a:latin typeface="Arial"/>
              </a:rPr>
              <a:t>10 m–2 h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389" name=""/>
          <p:cNvSpPr txBox="1"/>
          <p:nvPr/>
        </p:nvSpPr>
        <p:spPr>
          <a:xfrm>
            <a:off x="7369200" y="2142000"/>
            <a:ext cx="1677600" cy="27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850" spc="-1" strike="noStrike">
                <a:solidFill>
                  <a:srgbClr val="172731"/>
                </a:solidFill>
                <a:latin typeface="Arial"/>
              </a:rPr>
              <a:t>2.00 / 1.00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390" name=""/>
          <p:cNvSpPr txBox="1"/>
          <p:nvPr/>
        </p:nvSpPr>
        <p:spPr>
          <a:xfrm>
            <a:off x="9169200" y="2142000"/>
            <a:ext cx="1677600" cy="27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50" spc="-1" strike="noStrike">
                <a:solidFill>
                  <a:srgbClr val="172731"/>
                </a:solidFill>
                <a:latin typeface="Arial"/>
              </a:rPr>
              <a:t>Evening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391" name=""/>
          <p:cNvSpPr/>
          <p:nvPr/>
        </p:nvSpPr>
        <p:spPr>
          <a:xfrm>
            <a:off x="324000" y="2440800"/>
            <a:ext cx="10584000" cy="345600"/>
          </a:xfrm>
          <a:prstGeom prst="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392" name=""/>
          <p:cNvSpPr txBox="1"/>
          <p:nvPr/>
        </p:nvSpPr>
        <p:spPr>
          <a:xfrm>
            <a:off x="385200" y="2487600"/>
            <a:ext cx="2685600" cy="27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50" spc="-1" strike="noStrike">
                <a:solidFill>
                  <a:srgbClr val="172731"/>
                </a:solidFill>
                <a:latin typeface="Arial"/>
              </a:rPr>
              <a:t>Gaming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393" name=""/>
          <p:cNvSpPr txBox="1"/>
          <p:nvPr/>
        </p:nvSpPr>
        <p:spPr>
          <a:xfrm>
            <a:off x="3193200" y="2487600"/>
            <a:ext cx="597600" cy="27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850" spc="-1" strike="noStrike">
                <a:solidFill>
                  <a:srgbClr val="172731"/>
                </a:solidFill>
                <a:latin typeface="Arial"/>
              </a:rPr>
              <a:t>3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394" name=""/>
          <p:cNvSpPr txBox="1"/>
          <p:nvPr/>
        </p:nvSpPr>
        <p:spPr>
          <a:xfrm>
            <a:off x="3913200" y="2487600"/>
            <a:ext cx="1821600" cy="27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r">
              <a:buNone/>
            </a:pPr>
            <a:r>
              <a:rPr b="0" lang="en-US" sz="850" spc="-1" strike="noStrike">
                <a:solidFill>
                  <a:srgbClr val="172731"/>
                </a:solidFill>
                <a:latin typeface="Arial"/>
              </a:rPr>
              <a:t>134.4–268.8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395" name=""/>
          <p:cNvSpPr txBox="1"/>
          <p:nvPr/>
        </p:nvSpPr>
        <p:spPr>
          <a:xfrm>
            <a:off x="5857200" y="2487600"/>
            <a:ext cx="1389600" cy="27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850" spc="-1" strike="noStrike">
                <a:solidFill>
                  <a:srgbClr val="172731"/>
                </a:solidFill>
                <a:latin typeface="Arial"/>
              </a:rPr>
              <a:t>40 m–6 h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396" name=""/>
          <p:cNvSpPr txBox="1"/>
          <p:nvPr/>
        </p:nvSpPr>
        <p:spPr>
          <a:xfrm>
            <a:off x="7369200" y="2487600"/>
            <a:ext cx="1677600" cy="27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850" spc="-1" strike="noStrike">
                <a:solidFill>
                  <a:srgbClr val="172731"/>
                </a:solidFill>
                <a:latin typeface="Arial"/>
              </a:rPr>
              <a:t>0.20 / 0.40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397" name=""/>
          <p:cNvSpPr txBox="1"/>
          <p:nvPr/>
        </p:nvSpPr>
        <p:spPr>
          <a:xfrm>
            <a:off x="9169200" y="2487600"/>
            <a:ext cx="1677600" cy="27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50" spc="-1" strike="noStrike">
                <a:solidFill>
                  <a:srgbClr val="172731"/>
                </a:solidFill>
                <a:latin typeface="Arial"/>
              </a:rPr>
              <a:t>Late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398" name=""/>
          <p:cNvSpPr/>
          <p:nvPr/>
        </p:nvSpPr>
        <p:spPr>
          <a:xfrm>
            <a:off x="324000" y="2786400"/>
            <a:ext cx="10584000" cy="345600"/>
          </a:xfrm>
          <a:prstGeom prst="rect">
            <a:avLst/>
          </a:prstGeom>
          <a:solidFill>
            <a:srgbClr val="f8fafb"/>
          </a:solidFill>
          <a:ln w="6480">
            <a:solidFill>
              <a:srgbClr val="cfdce1"/>
            </a:solidFill>
            <a:round/>
          </a:ln>
        </p:spPr>
      </p:sp>
      <p:sp>
        <p:nvSpPr>
          <p:cNvPr id="399" name=""/>
          <p:cNvSpPr txBox="1"/>
          <p:nvPr/>
        </p:nvSpPr>
        <p:spPr>
          <a:xfrm>
            <a:off x="385200" y="2833200"/>
            <a:ext cx="2685600" cy="27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50" spc="-1" strike="noStrike">
                <a:solidFill>
                  <a:srgbClr val="172731"/>
                </a:solidFill>
                <a:latin typeface="Arial"/>
              </a:rPr>
              <a:t>IMS voice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400" name=""/>
          <p:cNvSpPr txBox="1"/>
          <p:nvPr/>
        </p:nvSpPr>
        <p:spPr>
          <a:xfrm>
            <a:off x="3193200" y="2833200"/>
            <a:ext cx="597600" cy="27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850" spc="-1" strike="noStrike">
                <a:solidFill>
                  <a:srgbClr val="172731"/>
                </a:solidFill>
                <a:latin typeface="Arial"/>
              </a:rPr>
              <a:t>1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401" name=""/>
          <p:cNvSpPr txBox="1"/>
          <p:nvPr/>
        </p:nvSpPr>
        <p:spPr>
          <a:xfrm>
            <a:off x="3913200" y="2833200"/>
            <a:ext cx="1821600" cy="27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r">
              <a:buNone/>
            </a:pPr>
            <a:r>
              <a:rPr b="0" lang="en-US" sz="850" spc="-1" strike="noStrike">
                <a:solidFill>
                  <a:srgbClr val="172731"/>
                </a:solidFill>
                <a:latin typeface="Arial"/>
              </a:rPr>
              <a:t>89.6–179.2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402" name=""/>
          <p:cNvSpPr txBox="1"/>
          <p:nvPr/>
        </p:nvSpPr>
        <p:spPr>
          <a:xfrm>
            <a:off x="5857200" y="2833200"/>
            <a:ext cx="1389600" cy="27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850" spc="-1" strike="noStrike">
                <a:solidFill>
                  <a:srgbClr val="172731"/>
                </a:solidFill>
                <a:latin typeface="Arial"/>
              </a:rPr>
              <a:t>10 m–4 h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403" name=""/>
          <p:cNvSpPr txBox="1"/>
          <p:nvPr/>
        </p:nvSpPr>
        <p:spPr>
          <a:xfrm>
            <a:off x="7369200" y="2833200"/>
            <a:ext cx="1677600" cy="27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850" spc="-1" strike="noStrike">
                <a:solidFill>
                  <a:srgbClr val="172731"/>
                </a:solidFill>
                <a:latin typeface="Arial"/>
              </a:rPr>
              <a:t>0.08 / 0.08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404" name=""/>
          <p:cNvSpPr txBox="1"/>
          <p:nvPr/>
        </p:nvSpPr>
        <p:spPr>
          <a:xfrm>
            <a:off x="9169200" y="2833200"/>
            <a:ext cx="1677600" cy="27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50" spc="-1" strike="noStrike">
                <a:solidFill>
                  <a:srgbClr val="172731"/>
                </a:solidFill>
                <a:latin typeface="Arial"/>
              </a:rPr>
              <a:t>Commute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405" name=""/>
          <p:cNvSpPr/>
          <p:nvPr/>
        </p:nvSpPr>
        <p:spPr>
          <a:xfrm>
            <a:off x="324000" y="3132000"/>
            <a:ext cx="10584000" cy="345600"/>
          </a:xfrm>
          <a:prstGeom prst="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406" name=""/>
          <p:cNvSpPr txBox="1"/>
          <p:nvPr/>
        </p:nvSpPr>
        <p:spPr>
          <a:xfrm>
            <a:off x="385200" y="3178800"/>
            <a:ext cx="2685600" cy="27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50" spc="-1" strike="noStrike">
                <a:solidFill>
                  <a:srgbClr val="172731"/>
                </a:solidFill>
                <a:latin typeface="Arial"/>
              </a:rPr>
              <a:t>Enterprise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407" name=""/>
          <p:cNvSpPr txBox="1"/>
          <p:nvPr/>
        </p:nvSpPr>
        <p:spPr>
          <a:xfrm>
            <a:off x="3193200" y="3178800"/>
            <a:ext cx="597600" cy="27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850" spc="-1" strike="noStrike">
                <a:solidFill>
                  <a:srgbClr val="172731"/>
                </a:solidFill>
                <a:latin typeface="Arial"/>
              </a:rPr>
              <a:t>7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408" name=""/>
          <p:cNvSpPr txBox="1"/>
          <p:nvPr/>
        </p:nvSpPr>
        <p:spPr>
          <a:xfrm>
            <a:off x="3913200" y="3178800"/>
            <a:ext cx="1821600" cy="27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r">
              <a:buNone/>
            </a:pPr>
            <a:r>
              <a:rPr b="0" lang="en-US" sz="850" spc="-1" strike="noStrike">
                <a:solidFill>
                  <a:srgbClr val="172731"/>
                </a:solidFill>
                <a:latin typeface="Arial"/>
              </a:rPr>
              <a:t>112.0–224.0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409" name=""/>
          <p:cNvSpPr txBox="1"/>
          <p:nvPr/>
        </p:nvSpPr>
        <p:spPr>
          <a:xfrm>
            <a:off x="5857200" y="3178800"/>
            <a:ext cx="1389600" cy="27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850" spc="-1" strike="noStrike">
                <a:solidFill>
                  <a:srgbClr val="172731"/>
                </a:solidFill>
                <a:latin typeface="Arial"/>
              </a:rPr>
              <a:t>30 m–8 h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410" name=""/>
          <p:cNvSpPr txBox="1"/>
          <p:nvPr/>
        </p:nvSpPr>
        <p:spPr>
          <a:xfrm>
            <a:off x="7369200" y="3178800"/>
            <a:ext cx="1677600" cy="27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850" spc="-1" strike="noStrike">
                <a:solidFill>
                  <a:srgbClr val="172731"/>
                </a:solidFill>
                <a:latin typeface="Arial"/>
              </a:rPr>
              <a:t>1.00 / 2.00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411" name=""/>
          <p:cNvSpPr txBox="1"/>
          <p:nvPr/>
        </p:nvSpPr>
        <p:spPr>
          <a:xfrm>
            <a:off x="9169200" y="3178800"/>
            <a:ext cx="1677600" cy="27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50" spc="-1" strike="noStrike">
                <a:solidFill>
                  <a:srgbClr val="172731"/>
                </a:solidFill>
                <a:latin typeface="Arial"/>
              </a:rPr>
              <a:t>Business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412" name=""/>
          <p:cNvSpPr/>
          <p:nvPr/>
        </p:nvSpPr>
        <p:spPr>
          <a:xfrm>
            <a:off x="324000" y="3477600"/>
            <a:ext cx="10584000" cy="345600"/>
          </a:xfrm>
          <a:prstGeom prst="rect">
            <a:avLst/>
          </a:prstGeom>
          <a:solidFill>
            <a:srgbClr val="f8fafb"/>
          </a:solidFill>
          <a:ln w="6480">
            <a:solidFill>
              <a:srgbClr val="cfdce1"/>
            </a:solidFill>
            <a:round/>
          </a:ln>
        </p:spPr>
      </p:sp>
      <p:sp>
        <p:nvSpPr>
          <p:cNvPr id="413" name=""/>
          <p:cNvSpPr txBox="1"/>
          <p:nvPr/>
        </p:nvSpPr>
        <p:spPr>
          <a:xfrm>
            <a:off x="385200" y="3524400"/>
            <a:ext cx="2685600" cy="27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50" spc="-1" strike="noStrike">
                <a:solidFill>
                  <a:srgbClr val="172731"/>
                </a:solidFill>
                <a:latin typeface="Arial"/>
              </a:rPr>
              <a:t>Video conference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414" name=""/>
          <p:cNvSpPr txBox="1"/>
          <p:nvPr/>
        </p:nvSpPr>
        <p:spPr>
          <a:xfrm>
            <a:off x="3193200" y="3524400"/>
            <a:ext cx="597600" cy="27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850" spc="-1" strike="noStrike">
                <a:solidFill>
                  <a:srgbClr val="172731"/>
                </a:solidFill>
                <a:latin typeface="Arial"/>
              </a:rPr>
              <a:t>2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415" name=""/>
          <p:cNvSpPr txBox="1"/>
          <p:nvPr/>
        </p:nvSpPr>
        <p:spPr>
          <a:xfrm>
            <a:off x="3913200" y="3524400"/>
            <a:ext cx="1821600" cy="27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r">
              <a:buNone/>
            </a:pPr>
            <a:r>
              <a:rPr b="0" lang="en-US" sz="850" spc="-1" strike="noStrike">
                <a:solidFill>
                  <a:srgbClr val="172731"/>
                </a:solidFill>
                <a:latin typeface="Arial"/>
              </a:rPr>
              <a:t>89.6–179.2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416" name=""/>
          <p:cNvSpPr txBox="1"/>
          <p:nvPr/>
        </p:nvSpPr>
        <p:spPr>
          <a:xfrm>
            <a:off x="5857200" y="3524400"/>
            <a:ext cx="1389600" cy="27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850" spc="-1" strike="noStrike">
                <a:solidFill>
                  <a:srgbClr val="172731"/>
                </a:solidFill>
                <a:latin typeface="Arial"/>
              </a:rPr>
              <a:t>30 m–6 h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417" name=""/>
          <p:cNvSpPr txBox="1"/>
          <p:nvPr/>
        </p:nvSpPr>
        <p:spPr>
          <a:xfrm>
            <a:off x="7369200" y="3524400"/>
            <a:ext cx="1677600" cy="27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850" spc="-1" strike="noStrike">
                <a:solidFill>
                  <a:srgbClr val="172731"/>
                </a:solidFill>
                <a:latin typeface="Arial"/>
              </a:rPr>
              <a:t>1.50 / 1.50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418" name=""/>
          <p:cNvSpPr txBox="1"/>
          <p:nvPr/>
        </p:nvSpPr>
        <p:spPr>
          <a:xfrm>
            <a:off x="9169200" y="3524400"/>
            <a:ext cx="1677600" cy="27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50" spc="-1" strike="noStrike">
                <a:solidFill>
                  <a:srgbClr val="172731"/>
                </a:solidFill>
                <a:latin typeface="Arial"/>
              </a:rPr>
              <a:t>Business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419" name=""/>
          <p:cNvSpPr/>
          <p:nvPr/>
        </p:nvSpPr>
        <p:spPr>
          <a:xfrm>
            <a:off x="324000" y="3823200"/>
            <a:ext cx="10584000" cy="345600"/>
          </a:xfrm>
          <a:prstGeom prst="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420" name=""/>
          <p:cNvSpPr txBox="1"/>
          <p:nvPr/>
        </p:nvSpPr>
        <p:spPr>
          <a:xfrm>
            <a:off x="385200" y="3870000"/>
            <a:ext cx="2685600" cy="27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50" spc="-1" strike="noStrike">
                <a:solidFill>
                  <a:srgbClr val="172731"/>
                </a:solidFill>
                <a:latin typeface="Arial"/>
              </a:rPr>
              <a:t>Industrial URLLC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421" name=""/>
          <p:cNvSpPr txBox="1"/>
          <p:nvPr/>
        </p:nvSpPr>
        <p:spPr>
          <a:xfrm>
            <a:off x="3193200" y="3870000"/>
            <a:ext cx="597600" cy="27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850" spc="-1" strike="noStrike">
                <a:solidFill>
                  <a:srgbClr val="172731"/>
                </a:solidFill>
                <a:latin typeface="Arial"/>
              </a:rPr>
              <a:t>82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422" name=""/>
          <p:cNvSpPr txBox="1"/>
          <p:nvPr/>
        </p:nvSpPr>
        <p:spPr>
          <a:xfrm>
            <a:off x="3913200" y="3870000"/>
            <a:ext cx="1821600" cy="27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r">
              <a:buNone/>
            </a:pPr>
            <a:r>
              <a:rPr b="0" lang="en-US" sz="850" spc="-1" strike="noStrike">
                <a:solidFill>
                  <a:srgbClr val="172731"/>
                </a:solidFill>
                <a:latin typeface="Arial"/>
              </a:rPr>
              <a:t>67.2–134.4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423" name=""/>
          <p:cNvSpPr txBox="1"/>
          <p:nvPr/>
        </p:nvSpPr>
        <p:spPr>
          <a:xfrm>
            <a:off x="5857200" y="3870000"/>
            <a:ext cx="1389600" cy="27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850" spc="-1" strike="noStrike">
                <a:solidFill>
                  <a:srgbClr val="172731"/>
                </a:solidFill>
                <a:latin typeface="Arial"/>
              </a:rPr>
              <a:t>4–24 h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424" name=""/>
          <p:cNvSpPr txBox="1"/>
          <p:nvPr/>
        </p:nvSpPr>
        <p:spPr>
          <a:xfrm>
            <a:off x="7369200" y="3870000"/>
            <a:ext cx="1677600" cy="27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850" spc="-1" strike="noStrike">
                <a:solidFill>
                  <a:srgbClr val="172731"/>
                </a:solidFill>
                <a:latin typeface="Arial"/>
              </a:rPr>
              <a:t>0.10 / 0.08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425" name=""/>
          <p:cNvSpPr txBox="1"/>
          <p:nvPr/>
        </p:nvSpPr>
        <p:spPr>
          <a:xfrm>
            <a:off x="9169200" y="3870000"/>
            <a:ext cx="1677600" cy="27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50" spc="-1" strike="noStrike">
                <a:solidFill>
                  <a:srgbClr val="172731"/>
                </a:solidFill>
                <a:latin typeface="Arial"/>
              </a:rPr>
              <a:t>Industrial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426" name=""/>
          <p:cNvSpPr/>
          <p:nvPr/>
        </p:nvSpPr>
        <p:spPr>
          <a:xfrm>
            <a:off x="324000" y="4168800"/>
            <a:ext cx="10584000" cy="345600"/>
          </a:xfrm>
          <a:prstGeom prst="rect">
            <a:avLst/>
          </a:prstGeom>
          <a:solidFill>
            <a:srgbClr val="f8fafb"/>
          </a:solidFill>
          <a:ln w="6480">
            <a:solidFill>
              <a:srgbClr val="cfdce1"/>
            </a:solidFill>
            <a:round/>
          </a:ln>
        </p:spPr>
      </p:sp>
      <p:sp>
        <p:nvSpPr>
          <p:cNvPr id="427" name=""/>
          <p:cNvSpPr txBox="1"/>
          <p:nvPr/>
        </p:nvSpPr>
        <p:spPr>
          <a:xfrm>
            <a:off x="385200" y="4215600"/>
            <a:ext cx="2685600" cy="27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50" spc="-1" strike="noStrike">
                <a:solidFill>
                  <a:srgbClr val="172731"/>
                </a:solidFill>
                <a:latin typeface="Arial"/>
              </a:rPr>
              <a:t>Massive IoT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428" name=""/>
          <p:cNvSpPr txBox="1"/>
          <p:nvPr/>
        </p:nvSpPr>
        <p:spPr>
          <a:xfrm>
            <a:off x="3193200" y="4215600"/>
            <a:ext cx="597600" cy="27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850" spc="-1" strike="noStrike">
                <a:solidFill>
                  <a:srgbClr val="172731"/>
                </a:solidFill>
                <a:latin typeface="Arial"/>
              </a:rPr>
              <a:t>9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429" name=""/>
          <p:cNvSpPr txBox="1"/>
          <p:nvPr/>
        </p:nvSpPr>
        <p:spPr>
          <a:xfrm>
            <a:off x="3913200" y="4215600"/>
            <a:ext cx="1821600" cy="27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r">
              <a:buNone/>
            </a:pPr>
            <a:r>
              <a:rPr b="0" lang="en-US" sz="850" spc="-1" strike="noStrike">
                <a:solidFill>
                  <a:srgbClr val="172731"/>
                </a:solidFill>
                <a:latin typeface="Arial"/>
              </a:rPr>
              <a:t>224.0–448.0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430" name=""/>
          <p:cNvSpPr txBox="1"/>
          <p:nvPr/>
        </p:nvSpPr>
        <p:spPr>
          <a:xfrm>
            <a:off x="5857200" y="4215600"/>
            <a:ext cx="1389600" cy="27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850" spc="-1" strike="noStrike">
                <a:solidFill>
                  <a:srgbClr val="172731"/>
                </a:solidFill>
                <a:latin typeface="Arial"/>
              </a:rPr>
              <a:t>6–48 h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431" name=""/>
          <p:cNvSpPr txBox="1"/>
          <p:nvPr/>
        </p:nvSpPr>
        <p:spPr>
          <a:xfrm>
            <a:off x="7369200" y="4215600"/>
            <a:ext cx="1677600" cy="27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850" spc="-1" strike="noStrike">
                <a:solidFill>
                  <a:srgbClr val="172731"/>
                </a:solidFill>
                <a:latin typeface="Arial"/>
              </a:rPr>
              <a:t>0.020 / 0.004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432" name=""/>
          <p:cNvSpPr txBox="1"/>
          <p:nvPr/>
        </p:nvSpPr>
        <p:spPr>
          <a:xfrm>
            <a:off x="9169200" y="4215600"/>
            <a:ext cx="1677600" cy="27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50" spc="-1" strike="noStrike">
                <a:solidFill>
                  <a:srgbClr val="172731"/>
                </a:solidFill>
                <a:latin typeface="Arial"/>
              </a:rPr>
              <a:t>Flat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433" name=""/>
          <p:cNvSpPr/>
          <p:nvPr/>
        </p:nvSpPr>
        <p:spPr>
          <a:xfrm>
            <a:off x="324000" y="4514400"/>
            <a:ext cx="10584000" cy="345600"/>
          </a:xfrm>
          <a:prstGeom prst="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434" name=""/>
          <p:cNvSpPr txBox="1"/>
          <p:nvPr/>
        </p:nvSpPr>
        <p:spPr>
          <a:xfrm>
            <a:off x="385200" y="4561200"/>
            <a:ext cx="2685600" cy="27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50" spc="-1" strike="noStrike">
                <a:solidFill>
                  <a:srgbClr val="172731"/>
                </a:solidFill>
                <a:latin typeface="Arial"/>
              </a:rPr>
              <a:t>Connected vehicle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435" name=""/>
          <p:cNvSpPr txBox="1"/>
          <p:nvPr/>
        </p:nvSpPr>
        <p:spPr>
          <a:xfrm>
            <a:off x="3193200" y="4561200"/>
            <a:ext cx="597600" cy="27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850" spc="-1" strike="noStrike">
                <a:solidFill>
                  <a:srgbClr val="172731"/>
                </a:solidFill>
                <a:latin typeface="Arial"/>
              </a:rPr>
              <a:t>84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436" name=""/>
          <p:cNvSpPr txBox="1"/>
          <p:nvPr/>
        </p:nvSpPr>
        <p:spPr>
          <a:xfrm>
            <a:off x="3913200" y="4561200"/>
            <a:ext cx="1821600" cy="27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r">
              <a:buNone/>
            </a:pPr>
            <a:r>
              <a:rPr b="0" lang="en-US" sz="850" spc="-1" strike="noStrike">
                <a:solidFill>
                  <a:srgbClr val="172731"/>
                </a:solidFill>
                <a:latin typeface="Arial"/>
              </a:rPr>
              <a:t>112.0–224.0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437" name=""/>
          <p:cNvSpPr txBox="1"/>
          <p:nvPr/>
        </p:nvSpPr>
        <p:spPr>
          <a:xfrm>
            <a:off x="5857200" y="4561200"/>
            <a:ext cx="1389600" cy="27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850" spc="-1" strike="noStrike">
                <a:solidFill>
                  <a:srgbClr val="172731"/>
                </a:solidFill>
                <a:latin typeface="Arial"/>
              </a:rPr>
              <a:t>5 m–1 h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438" name=""/>
          <p:cNvSpPr txBox="1"/>
          <p:nvPr/>
        </p:nvSpPr>
        <p:spPr>
          <a:xfrm>
            <a:off x="7369200" y="4561200"/>
            <a:ext cx="1677600" cy="27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850" spc="-1" strike="noStrike">
                <a:solidFill>
                  <a:srgbClr val="172731"/>
                </a:solidFill>
                <a:latin typeface="Arial"/>
              </a:rPr>
              <a:t>0.50 / 1.00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439" name=""/>
          <p:cNvSpPr txBox="1"/>
          <p:nvPr/>
        </p:nvSpPr>
        <p:spPr>
          <a:xfrm>
            <a:off x="9169200" y="4561200"/>
            <a:ext cx="1677600" cy="27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50" spc="-1" strike="noStrike">
                <a:solidFill>
                  <a:srgbClr val="172731"/>
                </a:solidFill>
                <a:latin typeface="Arial"/>
              </a:rPr>
              <a:t>Commute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440" name=""/>
          <p:cNvSpPr/>
          <p:nvPr/>
        </p:nvSpPr>
        <p:spPr>
          <a:xfrm>
            <a:off x="324000" y="4860000"/>
            <a:ext cx="10584000" cy="345600"/>
          </a:xfrm>
          <a:prstGeom prst="rect">
            <a:avLst/>
          </a:prstGeom>
          <a:solidFill>
            <a:srgbClr val="f8fafb"/>
          </a:solidFill>
          <a:ln w="6480">
            <a:solidFill>
              <a:srgbClr val="cfdce1"/>
            </a:solidFill>
            <a:round/>
          </a:ln>
        </p:spPr>
      </p:sp>
      <p:sp>
        <p:nvSpPr>
          <p:cNvPr id="441" name=""/>
          <p:cNvSpPr txBox="1"/>
          <p:nvPr/>
        </p:nvSpPr>
        <p:spPr>
          <a:xfrm>
            <a:off x="385200" y="4906800"/>
            <a:ext cx="2685600" cy="27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50" spc="-1" strike="noStrike">
                <a:solidFill>
                  <a:srgbClr val="172731"/>
                </a:solidFill>
                <a:latin typeface="Arial"/>
              </a:rPr>
              <a:t>Edge AI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442" name=""/>
          <p:cNvSpPr txBox="1"/>
          <p:nvPr/>
        </p:nvSpPr>
        <p:spPr>
          <a:xfrm>
            <a:off x="3193200" y="4906800"/>
            <a:ext cx="597600" cy="27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850" spc="-1" strike="noStrike">
                <a:solidFill>
                  <a:srgbClr val="172731"/>
                </a:solidFill>
                <a:latin typeface="Arial"/>
              </a:rPr>
              <a:t>7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443" name=""/>
          <p:cNvSpPr txBox="1"/>
          <p:nvPr/>
        </p:nvSpPr>
        <p:spPr>
          <a:xfrm>
            <a:off x="3913200" y="4906800"/>
            <a:ext cx="1821600" cy="27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r">
              <a:buNone/>
            </a:pPr>
            <a:r>
              <a:rPr b="0" lang="en-US" sz="850" spc="-1" strike="noStrike">
                <a:solidFill>
                  <a:srgbClr val="172731"/>
                </a:solidFill>
                <a:latin typeface="Arial"/>
              </a:rPr>
              <a:t>56.0–112.0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444" name=""/>
          <p:cNvSpPr txBox="1"/>
          <p:nvPr/>
        </p:nvSpPr>
        <p:spPr>
          <a:xfrm>
            <a:off x="5857200" y="4906800"/>
            <a:ext cx="1389600" cy="27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850" spc="-1" strike="noStrike">
                <a:solidFill>
                  <a:srgbClr val="172731"/>
                </a:solidFill>
                <a:latin typeface="Arial"/>
              </a:rPr>
              <a:t>10 m–2 h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445" name=""/>
          <p:cNvSpPr txBox="1"/>
          <p:nvPr/>
        </p:nvSpPr>
        <p:spPr>
          <a:xfrm>
            <a:off x="7369200" y="4906800"/>
            <a:ext cx="1677600" cy="27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850" spc="-1" strike="noStrike">
                <a:solidFill>
                  <a:srgbClr val="172731"/>
                </a:solidFill>
                <a:latin typeface="Arial"/>
              </a:rPr>
              <a:t>3.00 / 6.00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446" name=""/>
          <p:cNvSpPr txBox="1"/>
          <p:nvPr/>
        </p:nvSpPr>
        <p:spPr>
          <a:xfrm>
            <a:off x="9169200" y="4906800"/>
            <a:ext cx="1677600" cy="27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50" spc="-1" strike="noStrike">
                <a:solidFill>
                  <a:srgbClr val="172731"/>
                </a:solidFill>
                <a:latin typeface="Arial"/>
              </a:rPr>
              <a:t>Business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447" name=""/>
          <p:cNvSpPr/>
          <p:nvPr/>
        </p:nvSpPr>
        <p:spPr>
          <a:xfrm>
            <a:off x="324000" y="5205600"/>
            <a:ext cx="10584000" cy="345600"/>
          </a:xfrm>
          <a:prstGeom prst="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448" name=""/>
          <p:cNvSpPr txBox="1"/>
          <p:nvPr/>
        </p:nvSpPr>
        <p:spPr>
          <a:xfrm>
            <a:off x="385200" y="5252400"/>
            <a:ext cx="2685600" cy="27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50" spc="-1" strike="noStrike">
                <a:solidFill>
                  <a:srgbClr val="172731"/>
                </a:solidFill>
                <a:latin typeface="Arial"/>
              </a:rPr>
              <a:t>Cloud backup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449" name=""/>
          <p:cNvSpPr txBox="1"/>
          <p:nvPr/>
        </p:nvSpPr>
        <p:spPr>
          <a:xfrm>
            <a:off x="3193200" y="5252400"/>
            <a:ext cx="597600" cy="27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850" spc="-1" strike="noStrike">
                <a:solidFill>
                  <a:srgbClr val="172731"/>
                </a:solidFill>
                <a:latin typeface="Arial"/>
              </a:rPr>
              <a:t>9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450" name=""/>
          <p:cNvSpPr txBox="1"/>
          <p:nvPr/>
        </p:nvSpPr>
        <p:spPr>
          <a:xfrm>
            <a:off x="3913200" y="5252400"/>
            <a:ext cx="1821600" cy="27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r">
              <a:buNone/>
            </a:pPr>
            <a:r>
              <a:rPr b="0" lang="en-US" sz="850" spc="-1" strike="noStrike">
                <a:solidFill>
                  <a:srgbClr val="172731"/>
                </a:solidFill>
                <a:latin typeface="Arial"/>
              </a:rPr>
              <a:t>22.4–44.8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451" name=""/>
          <p:cNvSpPr txBox="1"/>
          <p:nvPr/>
        </p:nvSpPr>
        <p:spPr>
          <a:xfrm>
            <a:off x="5857200" y="5252400"/>
            <a:ext cx="1389600" cy="27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850" spc="-1" strike="noStrike">
                <a:solidFill>
                  <a:srgbClr val="172731"/>
                </a:solidFill>
                <a:latin typeface="Arial"/>
              </a:rPr>
              <a:t>1–12 h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452" name=""/>
          <p:cNvSpPr txBox="1"/>
          <p:nvPr/>
        </p:nvSpPr>
        <p:spPr>
          <a:xfrm>
            <a:off x="7369200" y="5252400"/>
            <a:ext cx="1677600" cy="27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850" spc="-1" strike="noStrike">
                <a:solidFill>
                  <a:srgbClr val="172731"/>
                </a:solidFill>
                <a:latin typeface="Arial"/>
              </a:rPr>
              <a:t>8.00 / 2.00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453" name=""/>
          <p:cNvSpPr txBox="1"/>
          <p:nvPr/>
        </p:nvSpPr>
        <p:spPr>
          <a:xfrm>
            <a:off x="9169200" y="5252400"/>
            <a:ext cx="1677600" cy="27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50" spc="-1" strike="noStrike">
                <a:solidFill>
                  <a:srgbClr val="172731"/>
                </a:solidFill>
                <a:latin typeface="Arial"/>
              </a:rPr>
              <a:t>Overnight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454" name=""/>
          <p:cNvSpPr/>
          <p:nvPr/>
        </p:nvSpPr>
        <p:spPr>
          <a:xfrm>
            <a:off x="324000" y="5551200"/>
            <a:ext cx="10584000" cy="345600"/>
          </a:xfrm>
          <a:prstGeom prst="rect">
            <a:avLst/>
          </a:prstGeom>
          <a:solidFill>
            <a:srgbClr val="f8fafb"/>
          </a:solidFill>
          <a:ln w="6480">
            <a:solidFill>
              <a:srgbClr val="cfdce1"/>
            </a:solidFill>
            <a:round/>
          </a:ln>
        </p:spPr>
      </p:sp>
      <p:sp>
        <p:nvSpPr>
          <p:cNvPr id="455" name=""/>
          <p:cNvSpPr txBox="1"/>
          <p:nvPr/>
        </p:nvSpPr>
        <p:spPr>
          <a:xfrm>
            <a:off x="385200" y="5598000"/>
            <a:ext cx="2685600" cy="27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50" spc="-1" strike="noStrike">
                <a:solidFill>
                  <a:srgbClr val="172731"/>
                </a:solidFill>
                <a:latin typeface="Arial"/>
              </a:rPr>
              <a:t>Public safety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456" name=""/>
          <p:cNvSpPr txBox="1"/>
          <p:nvPr/>
        </p:nvSpPr>
        <p:spPr>
          <a:xfrm>
            <a:off x="3193200" y="5598000"/>
            <a:ext cx="597600" cy="27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850" spc="-1" strike="noStrike">
                <a:solidFill>
                  <a:srgbClr val="172731"/>
                </a:solidFill>
                <a:latin typeface="Arial"/>
              </a:rPr>
              <a:t>65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457" name=""/>
          <p:cNvSpPr txBox="1"/>
          <p:nvPr/>
        </p:nvSpPr>
        <p:spPr>
          <a:xfrm>
            <a:off x="3913200" y="5598000"/>
            <a:ext cx="1821600" cy="27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r">
              <a:buNone/>
            </a:pPr>
            <a:r>
              <a:rPr b="0" lang="en-US" sz="850" spc="-1" strike="noStrike">
                <a:solidFill>
                  <a:srgbClr val="172731"/>
                </a:solidFill>
                <a:latin typeface="Arial"/>
              </a:rPr>
              <a:t>33.6–67.2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458" name=""/>
          <p:cNvSpPr txBox="1"/>
          <p:nvPr/>
        </p:nvSpPr>
        <p:spPr>
          <a:xfrm>
            <a:off x="5857200" y="5598000"/>
            <a:ext cx="1389600" cy="27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850" spc="-1" strike="noStrike">
                <a:solidFill>
                  <a:srgbClr val="172731"/>
                </a:solidFill>
                <a:latin typeface="Arial"/>
              </a:rPr>
              <a:t>20 m–3 h20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459" name=""/>
          <p:cNvSpPr txBox="1"/>
          <p:nvPr/>
        </p:nvSpPr>
        <p:spPr>
          <a:xfrm>
            <a:off x="7369200" y="5598000"/>
            <a:ext cx="1677600" cy="27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850" spc="-1" strike="noStrike">
                <a:solidFill>
                  <a:srgbClr val="172731"/>
                </a:solidFill>
                <a:latin typeface="Arial"/>
              </a:rPr>
              <a:t>2.00 / 2.00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460" name=""/>
          <p:cNvSpPr txBox="1"/>
          <p:nvPr/>
        </p:nvSpPr>
        <p:spPr>
          <a:xfrm>
            <a:off x="9169200" y="5598000"/>
            <a:ext cx="1677600" cy="27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50" spc="-1" strike="noStrike">
                <a:solidFill>
                  <a:srgbClr val="172731"/>
                </a:solidFill>
                <a:latin typeface="Arial"/>
              </a:rPr>
              <a:t>Flat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461" name=""/>
          <p:cNvSpPr/>
          <p:nvPr/>
        </p:nvSpPr>
        <p:spPr>
          <a:xfrm>
            <a:off x="324000" y="5976000"/>
            <a:ext cx="11412000" cy="324000"/>
          </a:xfrm>
          <a:prstGeom prst="roundRect">
            <a:avLst/>
          </a:prstGeom>
          <a:solidFill>
            <a:srgbClr val="e1f1f4"/>
          </a:solidFill>
          <a:ln w="0">
            <a:noFill/>
          </a:ln>
        </p:spPr>
      </p:sp>
      <p:sp>
        <p:nvSpPr>
          <p:cNvPr id="462" name=""/>
          <p:cNvSpPr/>
          <p:nvPr/>
        </p:nvSpPr>
        <p:spPr>
          <a:xfrm>
            <a:off x="324000" y="5976000"/>
            <a:ext cx="64800" cy="324000"/>
          </a:xfrm>
          <a:prstGeom prst="rect">
            <a:avLst/>
          </a:prstGeom>
          <a:solidFill>
            <a:srgbClr val="007c99"/>
          </a:solidFill>
          <a:ln w="0">
            <a:noFill/>
          </a:ln>
        </p:spPr>
      </p:sp>
      <p:sp>
        <p:nvSpPr>
          <p:cNvPr id="463" name=""/>
          <p:cNvSpPr txBox="1"/>
          <p:nvPr/>
        </p:nvSpPr>
        <p:spPr>
          <a:xfrm>
            <a:off x="576000" y="6048000"/>
            <a:ext cx="10908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39" spc="-1" strike="noStrike">
                <a:solidFill>
                  <a:srgbClr val="172731"/>
                </a:solidFill>
                <a:latin typeface="Arial"/>
              </a:rPr>
              <a:t>The same arrival count drives sessions, UL and DL via fixed class rates; identical target WAPE does not imply three independent traffic processes.</a:t>
            </a:r>
            <a:endParaRPr b="0" lang="en-US" sz="839" spc="-1" strike="noStrike">
              <a:latin typeface="Arial"/>
            </a:endParaRPr>
          </a:p>
        </p:txBody>
      </p:sp>
      <p:sp>
        <p:nvSpPr>
          <p:cNvPr id="464" name=""/>
          <p:cNvSpPr/>
          <p:nvPr/>
        </p:nvSpPr>
        <p:spPr>
          <a:xfrm>
            <a:off x="324000" y="6616800"/>
            <a:ext cx="11088000" cy="0"/>
          </a:xfrm>
          <a:prstGeom prst="line">
            <a:avLst/>
          </a:prstGeom>
          <a:ln w="1080">
            <a:solidFill>
              <a:srgbClr val="cfdc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5" name=""/>
          <p:cNvSpPr txBox="1"/>
          <p:nvPr/>
        </p:nvSpPr>
        <p:spPr>
          <a:xfrm>
            <a:off x="324000" y="6660000"/>
            <a:ext cx="10368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80" spc="-1" strike="noStrike">
                <a:solidFill>
                  <a:srgbClr val="718592"/>
                </a:solidFill>
                <a:latin typeface="Courier New"/>
              </a:rPr>
              <a:t>configs/extreme_training_profile.json · docs/extreme-data-spec-and-cdot-gap-analysis.md §4</a:t>
            </a:r>
            <a:endParaRPr b="0" lang="en-US" sz="680" spc="-1" strike="noStrike">
              <a:latin typeface="Arial"/>
            </a:endParaRPr>
          </a:p>
        </p:txBody>
      </p:sp>
      <p:sp>
        <p:nvSpPr>
          <p:cNvPr id="466" name=""/>
          <p:cNvSpPr txBox="1"/>
          <p:nvPr/>
        </p:nvSpPr>
        <p:spPr>
          <a:xfrm>
            <a:off x="11052000" y="6660000"/>
            <a:ext cx="684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buNone/>
            </a:pPr>
            <a:r>
              <a:rPr b="1" lang="en-US" sz="750" spc="-1" strike="noStrike">
                <a:solidFill>
                  <a:srgbClr val="718592"/>
                </a:solidFill>
                <a:latin typeface="Courier New"/>
              </a:rPr>
              <a:t>07</a:t>
            </a:r>
            <a:endParaRPr b="0" lang="en-US" sz="7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3f7f8"/>
          </a:solidFill>
          <a:ln w="0">
            <a:noFill/>
          </a:ln>
        </p:spPr>
      </p:sp>
      <p:sp>
        <p:nvSpPr>
          <p:cNvPr id="468" name=""/>
          <p:cNvSpPr txBox="1"/>
          <p:nvPr/>
        </p:nvSpPr>
        <p:spPr>
          <a:xfrm>
            <a:off x="324000" y="158400"/>
            <a:ext cx="3096000" cy="23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00" spc="508" strike="noStrike">
                <a:solidFill>
                  <a:srgbClr val="007c99"/>
                </a:solidFill>
                <a:latin typeface="Courier New"/>
              </a:rPr>
              <a:t>STAGE 1 · SCENARIO CATALOGUE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469" name=""/>
          <p:cNvSpPr txBox="1"/>
          <p:nvPr/>
        </p:nvSpPr>
        <p:spPr>
          <a:xfrm>
            <a:off x="324000" y="378000"/>
            <a:ext cx="10584000" cy="61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50" spc="-1" strike="noStrike">
                <a:solidFill>
                  <a:srgbClr val="172731"/>
                </a:solidFill>
                <a:latin typeface="Arial"/>
              </a:rPr>
              <a:t>Scenario generation covers normal regimes, random surges and network disturbances</a:t>
            </a:r>
            <a:endParaRPr b="0" lang="en-US" sz="2150" spc="-1" strike="noStrike">
              <a:latin typeface="Arial"/>
            </a:endParaRPr>
          </a:p>
        </p:txBody>
      </p:sp>
      <p:sp>
        <p:nvSpPr>
          <p:cNvPr id="470" name=""/>
          <p:cNvSpPr/>
          <p:nvPr/>
        </p:nvSpPr>
        <p:spPr>
          <a:xfrm>
            <a:off x="10800000" y="180000"/>
            <a:ext cx="936000" cy="19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471" name=""/>
          <p:cNvSpPr txBox="1"/>
          <p:nvPr/>
        </p:nvSpPr>
        <p:spPr>
          <a:xfrm>
            <a:off x="10818000" y="219600"/>
            <a:ext cx="900000" cy="10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710" spc="-1" strike="noStrike">
                <a:solidFill>
                  <a:srgbClr val="c77b0b"/>
                </a:solidFill>
                <a:latin typeface="Courier New"/>
              </a:rPr>
              <a:t>SYNTHETIC DATA</a:t>
            </a:r>
            <a:endParaRPr b="0" lang="en-US" sz="710" spc="-1" strike="noStrike">
              <a:latin typeface="Arial"/>
            </a:endParaRPr>
          </a:p>
        </p:txBody>
      </p:sp>
      <p:sp>
        <p:nvSpPr>
          <p:cNvPr id="472" name=""/>
          <p:cNvSpPr/>
          <p:nvPr/>
        </p:nvSpPr>
        <p:spPr>
          <a:xfrm>
            <a:off x="324000" y="1440000"/>
            <a:ext cx="11412000" cy="720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473" name=""/>
          <p:cNvSpPr/>
          <p:nvPr/>
        </p:nvSpPr>
        <p:spPr>
          <a:xfrm>
            <a:off x="324000" y="1440000"/>
            <a:ext cx="64800" cy="720000"/>
          </a:xfrm>
          <a:prstGeom prst="rect">
            <a:avLst/>
          </a:prstGeom>
          <a:solidFill>
            <a:srgbClr val="007c99"/>
          </a:solidFill>
          <a:ln w="0">
            <a:noFill/>
          </a:ln>
        </p:spPr>
      </p:sp>
      <p:sp>
        <p:nvSpPr>
          <p:cNvPr id="474" name=""/>
          <p:cNvSpPr txBox="1"/>
          <p:nvPr/>
        </p:nvSpPr>
        <p:spPr>
          <a:xfrm>
            <a:off x="612000" y="1584000"/>
            <a:ext cx="1800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70" spc="-1" strike="noStrike">
                <a:solidFill>
                  <a:srgbClr val="007c99"/>
                </a:solidFill>
                <a:latin typeface="Courier New"/>
              </a:rPr>
              <a:t>DAILY / WEEKLY</a:t>
            </a:r>
            <a:endParaRPr b="0" lang="en-US" sz="870" spc="-1" strike="noStrike">
              <a:latin typeface="Arial"/>
            </a:endParaRPr>
          </a:p>
        </p:txBody>
      </p:sp>
      <p:sp>
        <p:nvSpPr>
          <p:cNvPr id="475" name=""/>
          <p:cNvSpPr txBox="1"/>
          <p:nvPr/>
        </p:nvSpPr>
        <p:spPr>
          <a:xfrm>
            <a:off x="2556000" y="1584000"/>
            <a:ext cx="1620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172731"/>
                </a:solidFill>
                <a:latin typeface="Arial"/>
              </a:rPr>
              <a:t>258,048 factors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476" name=""/>
          <p:cNvSpPr txBox="1"/>
          <p:nvPr/>
        </p:nvSpPr>
        <p:spPr>
          <a:xfrm>
            <a:off x="4356000" y="1584000"/>
            <a:ext cx="4500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39" spc="-1" strike="noStrike">
                <a:solidFill>
                  <a:srgbClr val="172731"/>
                </a:solidFill>
                <a:latin typeface="Arial"/>
              </a:rPr>
              <a:t>service curve × weekend × group/week noise</a:t>
            </a:r>
            <a:endParaRPr b="0" lang="en-US" sz="939" spc="-1" strike="noStrike">
              <a:latin typeface="Arial"/>
            </a:endParaRPr>
          </a:p>
        </p:txBody>
      </p:sp>
      <p:sp>
        <p:nvSpPr>
          <p:cNvPr id="477" name=""/>
          <p:cNvSpPr txBox="1"/>
          <p:nvPr/>
        </p:nvSpPr>
        <p:spPr>
          <a:xfrm>
            <a:off x="9072000" y="1584000"/>
            <a:ext cx="2340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9" spc="-1" strike="noStrike">
                <a:solidFill>
                  <a:srgbClr val="526875"/>
                </a:solidFill>
                <a:latin typeface="Arial"/>
              </a:rPr>
              <a:t>demand seasonality</a:t>
            </a:r>
            <a:endParaRPr b="0" lang="en-US" sz="889" spc="-1" strike="noStrike">
              <a:latin typeface="Arial"/>
            </a:endParaRPr>
          </a:p>
        </p:txBody>
      </p:sp>
      <p:sp>
        <p:nvSpPr>
          <p:cNvPr id="478" name=""/>
          <p:cNvSpPr/>
          <p:nvPr/>
        </p:nvSpPr>
        <p:spPr>
          <a:xfrm>
            <a:off x="324000" y="2354400"/>
            <a:ext cx="11412000" cy="720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479" name=""/>
          <p:cNvSpPr/>
          <p:nvPr/>
        </p:nvSpPr>
        <p:spPr>
          <a:xfrm>
            <a:off x="324000" y="2354400"/>
            <a:ext cx="64800" cy="720000"/>
          </a:xfrm>
          <a:prstGeom prst="rect">
            <a:avLst/>
          </a:prstGeom>
          <a:solidFill>
            <a:srgbClr val="6750a4"/>
          </a:solidFill>
          <a:ln w="0">
            <a:noFill/>
          </a:ln>
        </p:spPr>
      </p:sp>
      <p:sp>
        <p:nvSpPr>
          <p:cNvPr id="480" name=""/>
          <p:cNvSpPr txBox="1"/>
          <p:nvPr/>
        </p:nvSpPr>
        <p:spPr>
          <a:xfrm>
            <a:off x="612000" y="2498400"/>
            <a:ext cx="1800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70" spc="-1" strike="noStrike">
                <a:solidFill>
                  <a:srgbClr val="6750a4"/>
                </a:solidFill>
                <a:latin typeface="Courier New"/>
              </a:rPr>
              <a:t>FLASH CROWDS</a:t>
            </a:r>
            <a:endParaRPr b="0" lang="en-US" sz="870" spc="-1" strike="noStrike">
              <a:latin typeface="Arial"/>
            </a:endParaRPr>
          </a:p>
        </p:txBody>
      </p:sp>
      <p:sp>
        <p:nvSpPr>
          <p:cNvPr id="481" name=""/>
          <p:cNvSpPr txBox="1"/>
          <p:nvPr/>
        </p:nvSpPr>
        <p:spPr>
          <a:xfrm>
            <a:off x="2556000" y="2498400"/>
            <a:ext cx="1620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172731"/>
                </a:solidFill>
                <a:latin typeface="Arial"/>
              </a:rPr>
              <a:t>192 episodes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482" name=""/>
          <p:cNvSpPr txBox="1"/>
          <p:nvPr/>
        </p:nvSpPr>
        <p:spPr>
          <a:xfrm>
            <a:off x="4356000" y="2498400"/>
            <a:ext cx="4500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39" spc="-1" strike="noStrike">
                <a:solidFill>
                  <a:srgbClr val="172731"/>
                </a:solidFill>
                <a:latin typeface="Arial"/>
              </a:rPr>
              <a:t>12/week · random group · 2–10 h · ×2.5–8.0</a:t>
            </a:r>
            <a:endParaRPr b="0" lang="en-US" sz="939" spc="-1" strike="noStrike">
              <a:latin typeface="Arial"/>
            </a:endParaRPr>
          </a:p>
        </p:txBody>
      </p:sp>
      <p:sp>
        <p:nvSpPr>
          <p:cNvPr id="483" name=""/>
          <p:cNvSpPr txBox="1"/>
          <p:nvPr/>
        </p:nvSpPr>
        <p:spPr>
          <a:xfrm>
            <a:off x="9072000" y="2498400"/>
            <a:ext cx="2340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9" spc="-1" strike="noStrike">
                <a:solidFill>
                  <a:srgbClr val="526875"/>
                </a:solidFill>
                <a:latin typeface="Arial"/>
              </a:rPr>
              <a:t>localized step surges</a:t>
            </a:r>
            <a:endParaRPr b="0" lang="en-US" sz="889" spc="-1" strike="noStrike">
              <a:latin typeface="Arial"/>
            </a:endParaRPr>
          </a:p>
        </p:txBody>
      </p:sp>
      <p:sp>
        <p:nvSpPr>
          <p:cNvPr id="484" name=""/>
          <p:cNvSpPr/>
          <p:nvPr/>
        </p:nvSpPr>
        <p:spPr>
          <a:xfrm>
            <a:off x="324000" y="3268800"/>
            <a:ext cx="11412000" cy="720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485" name=""/>
          <p:cNvSpPr/>
          <p:nvPr/>
        </p:nvSpPr>
        <p:spPr>
          <a:xfrm>
            <a:off x="324000" y="3268800"/>
            <a:ext cx="64800" cy="720000"/>
          </a:xfrm>
          <a:prstGeom prst="rect">
            <a:avLst/>
          </a:prstGeom>
          <a:solidFill>
            <a:srgbClr val="c77b0b"/>
          </a:solidFill>
          <a:ln w="0">
            <a:noFill/>
          </a:ln>
        </p:spPr>
      </p:sp>
      <p:sp>
        <p:nvSpPr>
          <p:cNvPr id="486" name=""/>
          <p:cNvSpPr txBox="1"/>
          <p:nvPr/>
        </p:nvSpPr>
        <p:spPr>
          <a:xfrm>
            <a:off x="612000" y="3412800"/>
            <a:ext cx="1800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70" spc="-1" strike="noStrike">
                <a:solidFill>
                  <a:srgbClr val="c77b0b"/>
                </a:solidFill>
                <a:latin typeface="Courier New"/>
              </a:rPr>
              <a:t>BROWNOUTS</a:t>
            </a:r>
            <a:endParaRPr b="0" lang="en-US" sz="870" spc="-1" strike="noStrike">
              <a:latin typeface="Arial"/>
            </a:endParaRPr>
          </a:p>
        </p:txBody>
      </p:sp>
      <p:sp>
        <p:nvSpPr>
          <p:cNvPr id="487" name=""/>
          <p:cNvSpPr txBox="1"/>
          <p:nvPr/>
        </p:nvSpPr>
        <p:spPr>
          <a:xfrm>
            <a:off x="2556000" y="3412800"/>
            <a:ext cx="1620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172731"/>
                </a:solidFill>
                <a:latin typeface="Arial"/>
              </a:rPr>
              <a:t>128 episodes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488" name=""/>
          <p:cNvSpPr txBox="1"/>
          <p:nvPr/>
        </p:nvSpPr>
        <p:spPr>
          <a:xfrm>
            <a:off x="4356000" y="3412800"/>
            <a:ext cx="4500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39" spc="-1" strike="noStrike">
                <a:solidFill>
                  <a:srgbClr val="172731"/>
                </a:solidFill>
                <a:latin typeface="Arial"/>
              </a:rPr>
              <a:t>8/week · 1–8 h · UL ×0.18–0.70</a:t>
            </a:r>
            <a:endParaRPr b="0" lang="en-US" sz="939" spc="-1" strike="noStrike">
              <a:latin typeface="Arial"/>
            </a:endParaRPr>
          </a:p>
        </p:txBody>
      </p:sp>
      <p:sp>
        <p:nvSpPr>
          <p:cNvPr id="489" name=""/>
          <p:cNvSpPr txBox="1"/>
          <p:nvPr/>
        </p:nvSpPr>
        <p:spPr>
          <a:xfrm>
            <a:off x="9072000" y="3412800"/>
            <a:ext cx="2340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9" spc="-1" strike="noStrike">
                <a:solidFill>
                  <a:srgbClr val="526875"/>
                </a:solidFill>
                <a:latin typeface="Arial"/>
              </a:rPr>
              <a:t>capacity, queue, drops</a:t>
            </a:r>
            <a:endParaRPr b="0" lang="en-US" sz="889" spc="-1" strike="noStrike">
              <a:latin typeface="Arial"/>
            </a:endParaRPr>
          </a:p>
        </p:txBody>
      </p:sp>
      <p:sp>
        <p:nvSpPr>
          <p:cNvPr id="490" name=""/>
          <p:cNvSpPr/>
          <p:nvPr/>
        </p:nvSpPr>
        <p:spPr>
          <a:xfrm>
            <a:off x="324000" y="4183200"/>
            <a:ext cx="11412000" cy="720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491" name=""/>
          <p:cNvSpPr/>
          <p:nvPr/>
        </p:nvSpPr>
        <p:spPr>
          <a:xfrm>
            <a:off x="324000" y="4183200"/>
            <a:ext cx="64800" cy="720000"/>
          </a:xfrm>
          <a:prstGeom prst="rect">
            <a:avLst/>
          </a:prstGeom>
          <a:solidFill>
            <a:srgbClr val="cd443b"/>
          </a:solidFill>
          <a:ln w="0">
            <a:noFill/>
          </a:ln>
        </p:spPr>
      </p:sp>
      <p:sp>
        <p:nvSpPr>
          <p:cNvPr id="492" name=""/>
          <p:cNvSpPr txBox="1"/>
          <p:nvPr/>
        </p:nvSpPr>
        <p:spPr>
          <a:xfrm>
            <a:off x="612000" y="4327200"/>
            <a:ext cx="1800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70" spc="-1" strike="noStrike">
                <a:solidFill>
                  <a:srgbClr val="cd443b"/>
                </a:solidFill>
                <a:latin typeface="Courier New"/>
              </a:rPr>
              <a:t>NEAR OUTAGES</a:t>
            </a:r>
            <a:endParaRPr b="0" lang="en-US" sz="870" spc="-1" strike="noStrike">
              <a:latin typeface="Arial"/>
            </a:endParaRPr>
          </a:p>
        </p:txBody>
      </p:sp>
      <p:sp>
        <p:nvSpPr>
          <p:cNvPr id="493" name=""/>
          <p:cNvSpPr txBox="1"/>
          <p:nvPr/>
        </p:nvSpPr>
        <p:spPr>
          <a:xfrm>
            <a:off x="2556000" y="4327200"/>
            <a:ext cx="1620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172731"/>
                </a:solidFill>
                <a:latin typeface="Arial"/>
              </a:rPr>
              <a:t>48 episodes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494" name=""/>
          <p:cNvSpPr txBox="1"/>
          <p:nvPr/>
        </p:nvSpPr>
        <p:spPr>
          <a:xfrm>
            <a:off x="4356000" y="4327200"/>
            <a:ext cx="4500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39" spc="-1" strike="noStrike">
                <a:solidFill>
                  <a:srgbClr val="172731"/>
                </a:solidFill>
                <a:latin typeface="Arial"/>
              </a:rPr>
              <a:t>3/week · 1–4 h · degraded + 1% capacity</a:t>
            </a:r>
            <a:endParaRPr b="0" lang="en-US" sz="939" spc="-1" strike="noStrike">
              <a:latin typeface="Arial"/>
            </a:endParaRPr>
          </a:p>
        </p:txBody>
      </p:sp>
      <p:sp>
        <p:nvSpPr>
          <p:cNvPr id="495" name=""/>
          <p:cNvSpPr txBox="1"/>
          <p:nvPr/>
        </p:nvSpPr>
        <p:spPr>
          <a:xfrm>
            <a:off x="9072000" y="4327200"/>
            <a:ext cx="2340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9" spc="-1" strike="noStrike">
                <a:solidFill>
                  <a:srgbClr val="526875"/>
                </a:solidFill>
                <a:latin typeface="Arial"/>
              </a:rPr>
              <a:t>severe residual stress</a:t>
            </a:r>
            <a:endParaRPr b="0" lang="en-US" sz="889" spc="-1" strike="noStrike">
              <a:latin typeface="Arial"/>
            </a:endParaRPr>
          </a:p>
        </p:txBody>
      </p:sp>
      <p:sp>
        <p:nvSpPr>
          <p:cNvPr id="496" name=""/>
          <p:cNvSpPr/>
          <p:nvPr/>
        </p:nvSpPr>
        <p:spPr>
          <a:xfrm>
            <a:off x="324000" y="5097600"/>
            <a:ext cx="11412000" cy="720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497" name=""/>
          <p:cNvSpPr/>
          <p:nvPr/>
        </p:nvSpPr>
        <p:spPr>
          <a:xfrm>
            <a:off x="324000" y="5097600"/>
            <a:ext cx="64800" cy="720000"/>
          </a:xfrm>
          <a:prstGeom prst="rect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498" name=""/>
          <p:cNvSpPr txBox="1"/>
          <p:nvPr/>
        </p:nvSpPr>
        <p:spPr>
          <a:xfrm>
            <a:off x="612000" y="5241600"/>
            <a:ext cx="1800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70" spc="-1" strike="noStrike">
                <a:solidFill>
                  <a:srgbClr val="16805f"/>
                </a:solidFill>
                <a:latin typeface="Courier New"/>
              </a:rPr>
              <a:t>LATENCY</a:t>
            </a:r>
            <a:endParaRPr b="0" lang="en-US" sz="870" spc="-1" strike="noStrike">
              <a:latin typeface="Arial"/>
            </a:endParaRPr>
          </a:p>
        </p:txBody>
      </p:sp>
      <p:sp>
        <p:nvSpPr>
          <p:cNvPr id="499" name=""/>
          <p:cNvSpPr txBox="1"/>
          <p:nvPr/>
        </p:nvSpPr>
        <p:spPr>
          <a:xfrm>
            <a:off x="2556000" y="5241600"/>
            <a:ext cx="1620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172731"/>
                </a:solidFill>
                <a:latin typeface="Arial"/>
              </a:rPr>
              <a:t>80 episodes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00" name=""/>
          <p:cNvSpPr txBox="1"/>
          <p:nvPr/>
        </p:nvSpPr>
        <p:spPr>
          <a:xfrm>
            <a:off x="4356000" y="5241600"/>
            <a:ext cx="4500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39" spc="-1" strike="noStrike">
                <a:solidFill>
                  <a:srgbClr val="172731"/>
                </a:solidFill>
                <a:latin typeface="Arial"/>
              </a:rPr>
              <a:t>5/week · 1–6 h · +25–140 ms</a:t>
            </a:r>
            <a:endParaRPr b="0" lang="en-US" sz="939" spc="-1" strike="noStrike">
              <a:latin typeface="Arial"/>
            </a:endParaRPr>
          </a:p>
        </p:txBody>
      </p:sp>
      <p:sp>
        <p:nvSpPr>
          <p:cNvPr id="501" name=""/>
          <p:cNvSpPr txBox="1"/>
          <p:nvPr/>
        </p:nvSpPr>
        <p:spPr>
          <a:xfrm>
            <a:off x="9072000" y="5241600"/>
            <a:ext cx="2340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9" spc="-1" strike="noStrike">
                <a:solidFill>
                  <a:srgbClr val="526875"/>
                </a:solidFill>
                <a:latin typeface="Arial"/>
              </a:rPr>
              <a:t>path-cost disturbance</a:t>
            </a:r>
            <a:endParaRPr b="0" lang="en-US" sz="889" spc="-1" strike="noStrike">
              <a:latin typeface="Arial"/>
            </a:endParaRPr>
          </a:p>
        </p:txBody>
      </p:sp>
      <p:sp>
        <p:nvSpPr>
          <p:cNvPr id="502" name=""/>
          <p:cNvSpPr/>
          <p:nvPr/>
        </p:nvSpPr>
        <p:spPr>
          <a:xfrm>
            <a:off x="324000" y="6084000"/>
            <a:ext cx="11412000" cy="270000"/>
          </a:xfrm>
          <a:prstGeom prst="roundRect">
            <a:avLst/>
          </a:prstGeom>
          <a:solidFill>
            <a:srgbClr val="faf0de"/>
          </a:solidFill>
          <a:ln w="0">
            <a:noFill/>
          </a:ln>
        </p:spPr>
      </p:sp>
      <p:sp>
        <p:nvSpPr>
          <p:cNvPr id="503" name=""/>
          <p:cNvSpPr/>
          <p:nvPr/>
        </p:nvSpPr>
        <p:spPr>
          <a:xfrm>
            <a:off x="324000" y="6084000"/>
            <a:ext cx="64800" cy="270000"/>
          </a:xfrm>
          <a:prstGeom prst="rect">
            <a:avLst/>
          </a:prstGeom>
          <a:solidFill>
            <a:srgbClr val="c77b0b"/>
          </a:solidFill>
          <a:ln w="0">
            <a:noFill/>
          </a:ln>
        </p:spPr>
      </p:sp>
      <p:sp>
        <p:nvSpPr>
          <p:cNvPr id="504" name=""/>
          <p:cNvSpPr txBox="1"/>
          <p:nvPr/>
        </p:nvSpPr>
        <p:spPr>
          <a:xfrm>
            <a:off x="576000" y="6134400"/>
            <a:ext cx="10908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80" spc="-1" strike="noStrike">
                <a:solidFill>
                  <a:srgbClr val="172731"/>
                </a:solidFill>
                <a:latin typeface="Arial"/>
              </a:rPr>
              <a:t>Surge IDs are not stored in run.parquet; their multipliers are folded into hourly arrival-factor events. Fault effects appear as resulting UPF state.</a:t>
            </a:r>
            <a:endParaRPr b="0" lang="en-US" sz="780" spc="-1" strike="noStrike">
              <a:latin typeface="Arial"/>
            </a:endParaRPr>
          </a:p>
        </p:txBody>
      </p:sp>
      <p:sp>
        <p:nvSpPr>
          <p:cNvPr id="505" name=""/>
          <p:cNvSpPr/>
          <p:nvPr/>
        </p:nvSpPr>
        <p:spPr>
          <a:xfrm>
            <a:off x="324000" y="6616800"/>
            <a:ext cx="11088000" cy="0"/>
          </a:xfrm>
          <a:prstGeom prst="line">
            <a:avLst/>
          </a:prstGeom>
          <a:ln w="1080">
            <a:solidFill>
              <a:srgbClr val="cfdc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06" name=""/>
          <p:cNvSpPr txBox="1"/>
          <p:nvPr/>
        </p:nvSpPr>
        <p:spPr>
          <a:xfrm>
            <a:off x="324000" y="6660000"/>
            <a:ext cx="10368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80" spc="-1" strike="noStrike">
                <a:solidFill>
                  <a:srgbClr val="718592"/>
                </a:solidFill>
                <a:latin typeface="Courier New"/>
              </a:rPr>
              <a:t>experiments/build_extreme_history_manifest.py::_surges/_fault_events · docs/extreme-data-spec-and-cdot-gap-analysis.md §6</a:t>
            </a:r>
            <a:endParaRPr b="0" lang="en-US" sz="680" spc="-1" strike="noStrike">
              <a:latin typeface="Arial"/>
            </a:endParaRPr>
          </a:p>
        </p:txBody>
      </p:sp>
      <p:sp>
        <p:nvSpPr>
          <p:cNvPr id="507" name=""/>
          <p:cNvSpPr txBox="1"/>
          <p:nvPr/>
        </p:nvSpPr>
        <p:spPr>
          <a:xfrm>
            <a:off x="11052000" y="6660000"/>
            <a:ext cx="684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buNone/>
            </a:pPr>
            <a:r>
              <a:rPr b="1" lang="en-US" sz="750" spc="-1" strike="noStrike">
                <a:solidFill>
                  <a:srgbClr val="718592"/>
                </a:solidFill>
                <a:latin typeface="Courier New"/>
              </a:rPr>
              <a:t>08</a:t>
            </a:r>
            <a:endParaRPr b="0" lang="en-US" sz="7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3f7f8"/>
          </a:solidFill>
          <a:ln w="0">
            <a:noFill/>
          </a:ln>
        </p:spPr>
      </p:sp>
      <p:sp>
        <p:nvSpPr>
          <p:cNvPr id="509" name=""/>
          <p:cNvSpPr txBox="1"/>
          <p:nvPr/>
        </p:nvSpPr>
        <p:spPr>
          <a:xfrm>
            <a:off x="324000" y="158400"/>
            <a:ext cx="3096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00" spc="508" strike="noStrike">
                <a:solidFill>
                  <a:srgbClr val="007c99"/>
                </a:solidFill>
                <a:latin typeface="Courier New"/>
              </a:rPr>
              <a:t>STAGE 1 · UPF TOPOLOGY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510" name=""/>
          <p:cNvSpPr txBox="1"/>
          <p:nvPr/>
        </p:nvSpPr>
        <p:spPr>
          <a:xfrm>
            <a:off x="324000" y="378000"/>
            <a:ext cx="10584000" cy="57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50" spc="-1" strike="noStrike">
                <a:solidFill>
                  <a:srgbClr val="172731"/>
                </a:solidFill>
                <a:latin typeface="Arial"/>
              </a:rPr>
              <a:t>Eligibility and directional safety envelopes constrain every placement</a:t>
            </a:r>
            <a:endParaRPr b="0" lang="en-US" sz="2150" spc="-1" strike="noStrike">
              <a:latin typeface="Arial"/>
            </a:endParaRPr>
          </a:p>
        </p:txBody>
      </p:sp>
      <p:sp>
        <p:nvSpPr>
          <p:cNvPr id="511" name=""/>
          <p:cNvSpPr/>
          <p:nvPr/>
        </p:nvSpPr>
        <p:spPr>
          <a:xfrm>
            <a:off x="10800000" y="180000"/>
            <a:ext cx="936000" cy="19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512" name=""/>
          <p:cNvSpPr txBox="1"/>
          <p:nvPr/>
        </p:nvSpPr>
        <p:spPr>
          <a:xfrm>
            <a:off x="10818000" y="219600"/>
            <a:ext cx="900000" cy="10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710" spc="-1" strike="noStrike">
                <a:solidFill>
                  <a:srgbClr val="c77b0b"/>
                </a:solidFill>
                <a:latin typeface="Courier New"/>
              </a:rPr>
              <a:t>SYNTHETIC DATA</a:t>
            </a:r>
            <a:endParaRPr b="0" lang="en-US" sz="710" spc="-1" strike="noStrike">
              <a:latin typeface="Arial"/>
            </a:endParaRPr>
          </a:p>
        </p:txBody>
      </p:sp>
      <p:sp>
        <p:nvSpPr>
          <p:cNvPr id="513" name=""/>
          <p:cNvSpPr/>
          <p:nvPr/>
        </p:nvSpPr>
        <p:spPr>
          <a:xfrm>
            <a:off x="324000" y="1404000"/>
            <a:ext cx="5400000" cy="4536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514" name=""/>
          <p:cNvSpPr/>
          <p:nvPr/>
        </p:nvSpPr>
        <p:spPr>
          <a:xfrm>
            <a:off x="324000" y="1404000"/>
            <a:ext cx="64800" cy="4536000"/>
          </a:xfrm>
          <a:prstGeom prst="rect">
            <a:avLst/>
          </a:prstGeom>
          <a:solidFill>
            <a:srgbClr val="007c99"/>
          </a:solidFill>
          <a:ln w="0">
            <a:noFill/>
          </a:ln>
        </p:spPr>
      </p:sp>
      <p:sp>
        <p:nvSpPr>
          <p:cNvPr id="515" name=""/>
          <p:cNvSpPr txBox="1"/>
          <p:nvPr/>
        </p:nvSpPr>
        <p:spPr>
          <a:xfrm>
            <a:off x="576000" y="1656000"/>
            <a:ext cx="4896000" cy="2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400" spc="-1" strike="noStrike">
                <a:solidFill>
                  <a:srgbClr val="172731"/>
                </a:solidFill>
                <a:latin typeface="Arial"/>
              </a:rPr>
              <a:t>24-UPF logical hierarchy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16" name=""/>
          <p:cNvSpPr txBox="1"/>
          <p:nvPr/>
        </p:nvSpPr>
        <p:spPr>
          <a:xfrm>
            <a:off x="576000" y="1980000"/>
            <a:ext cx="4896000" cy="2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20" spc="-1" strike="noStrike">
                <a:solidFill>
                  <a:srgbClr val="526875"/>
                </a:solidFill>
                <a:latin typeface="Arial"/>
              </a:rPr>
              <a:t>One traffic group sees exactly six eligible destinations</a:t>
            </a:r>
            <a:endParaRPr b="0" lang="en-US" sz="920" spc="-1" strike="noStrike">
              <a:latin typeface="Arial"/>
            </a:endParaRPr>
          </a:p>
        </p:txBody>
      </p:sp>
      <p:sp>
        <p:nvSpPr>
          <p:cNvPr id="517" name=""/>
          <p:cNvSpPr txBox="1"/>
          <p:nvPr/>
        </p:nvSpPr>
        <p:spPr>
          <a:xfrm>
            <a:off x="648000" y="2592000"/>
            <a:ext cx="936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007c99"/>
                </a:solidFill>
                <a:latin typeface="Courier New"/>
              </a:rPr>
              <a:t>ZONE</a:t>
            </a:r>
            <a:endParaRPr b="0" lang="en-US" sz="750" spc="-1" strike="noStrike">
              <a:latin typeface="Arial"/>
            </a:endParaRPr>
          </a:p>
        </p:txBody>
      </p:sp>
      <p:sp>
        <p:nvSpPr>
          <p:cNvPr id="518" name=""/>
          <p:cNvSpPr/>
          <p:nvPr/>
        </p:nvSpPr>
        <p:spPr>
          <a:xfrm>
            <a:off x="1692000" y="2520000"/>
            <a:ext cx="756000" cy="252000"/>
          </a:xfrm>
          <a:prstGeom prst="roundRect">
            <a:avLst/>
          </a:prstGeom>
          <a:solidFill>
            <a:srgbClr val="eaf1f3"/>
          </a:solidFill>
          <a:ln w="0">
            <a:noFill/>
          </a:ln>
        </p:spPr>
      </p:sp>
      <p:sp>
        <p:nvSpPr>
          <p:cNvPr id="519" name=""/>
          <p:cNvSpPr txBox="1"/>
          <p:nvPr/>
        </p:nvSpPr>
        <p:spPr>
          <a:xfrm>
            <a:off x="1728000" y="2563200"/>
            <a:ext cx="684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680" spc="-1" strike="noStrike">
                <a:solidFill>
                  <a:srgbClr val="172731"/>
                </a:solidFill>
                <a:latin typeface="Arial"/>
              </a:rPr>
              <a:t>north</a:t>
            </a:r>
            <a:endParaRPr b="0" lang="en-US" sz="680" spc="-1" strike="noStrike">
              <a:latin typeface="Arial"/>
            </a:endParaRPr>
          </a:p>
        </p:txBody>
      </p:sp>
      <p:sp>
        <p:nvSpPr>
          <p:cNvPr id="520" name=""/>
          <p:cNvSpPr/>
          <p:nvPr/>
        </p:nvSpPr>
        <p:spPr>
          <a:xfrm>
            <a:off x="2592000" y="2520000"/>
            <a:ext cx="756000" cy="252000"/>
          </a:xfrm>
          <a:prstGeom prst="roundRect">
            <a:avLst/>
          </a:prstGeom>
          <a:solidFill>
            <a:srgbClr val="eaf1f3"/>
          </a:solidFill>
          <a:ln w="0">
            <a:noFill/>
          </a:ln>
        </p:spPr>
      </p:sp>
      <p:sp>
        <p:nvSpPr>
          <p:cNvPr id="521" name=""/>
          <p:cNvSpPr txBox="1"/>
          <p:nvPr/>
        </p:nvSpPr>
        <p:spPr>
          <a:xfrm>
            <a:off x="2628000" y="2563200"/>
            <a:ext cx="684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680" spc="-1" strike="noStrike">
                <a:solidFill>
                  <a:srgbClr val="172731"/>
                </a:solidFill>
                <a:latin typeface="Arial"/>
              </a:rPr>
              <a:t>south</a:t>
            </a:r>
            <a:endParaRPr b="0" lang="en-US" sz="680" spc="-1" strike="noStrike">
              <a:latin typeface="Arial"/>
            </a:endParaRPr>
          </a:p>
        </p:txBody>
      </p:sp>
      <p:sp>
        <p:nvSpPr>
          <p:cNvPr id="522" name=""/>
          <p:cNvSpPr/>
          <p:nvPr/>
        </p:nvSpPr>
        <p:spPr>
          <a:xfrm>
            <a:off x="3492000" y="2520000"/>
            <a:ext cx="756000" cy="252000"/>
          </a:xfrm>
          <a:prstGeom prst="roundRect">
            <a:avLst/>
          </a:prstGeom>
          <a:solidFill>
            <a:srgbClr val="eaf1f3"/>
          </a:solidFill>
          <a:ln w="0">
            <a:noFill/>
          </a:ln>
        </p:spPr>
      </p:sp>
      <p:sp>
        <p:nvSpPr>
          <p:cNvPr id="523" name=""/>
          <p:cNvSpPr txBox="1"/>
          <p:nvPr/>
        </p:nvSpPr>
        <p:spPr>
          <a:xfrm>
            <a:off x="3528000" y="2563200"/>
            <a:ext cx="684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680" spc="-1" strike="noStrike">
                <a:solidFill>
                  <a:srgbClr val="172731"/>
                </a:solidFill>
                <a:latin typeface="Arial"/>
              </a:rPr>
              <a:t>east</a:t>
            </a:r>
            <a:endParaRPr b="0" lang="en-US" sz="680" spc="-1" strike="noStrike">
              <a:latin typeface="Arial"/>
            </a:endParaRPr>
          </a:p>
        </p:txBody>
      </p:sp>
      <p:sp>
        <p:nvSpPr>
          <p:cNvPr id="524" name=""/>
          <p:cNvSpPr/>
          <p:nvPr/>
        </p:nvSpPr>
        <p:spPr>
          <a:xfrm>
            <a:off x="4392000" y="2520000"/>
            <a:ext cx="756000" cy="252000"/>
          </a:xfrm>
          <a:prstGeom prst="roundRect">
            <a:avLst/>
          </a:prstGeom>
          <a:solidFill>
            <a:srgbClr val="eaf1f3"/>
          </a:solidFill>
          <a:ln w="0">
            <a:noFill/>
          </a:ln>
        </p:spPr>
      </p:sp>
      <p:sp>
        <p:nvSpPr>
          <p:cNvPr id="525" name=""/>
          <p:cNvSpPr txBox="1"/>
          <p:nvPr/>
        </p:nvSpPr>
        <p:spPr>
          <a:xfrm>
            <a:off x="4428000" y="2563200"/>
            <a:ext cx="684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680" spc="-1" strike="noStrike">
                <a:solidFill>
                  <a:srgbClr val="172731"/>
                </a:solidFill>
                <a:latin typeface="Arial"/>
              </a:rPr>
              <a:t>west</a:t>
            </a:r>
            <a:endParaRPr b="0" lang="en-US" sz="680" spc="-1" strike="noStrike">
              <a:latin typeface="Arial"/>
            </a:endParaRPr>
          </a:p>
        </p:txBody>
      </p:sp>
      <p:sp>
        <p:nvSpPr>
          <p:cNvPr id="526" name=""/>
          <p:cNvSpPr/>
          <p:nvPr/>
        </p:nvSpPr>
        <p:spPr>
          <a:xfrm>
            <a:off x="1692000" y="2844000"/>
            <a:ext cx="756000" cy="252000"/>
          </a:xfrm>
          <a:prstGeom prst="roundRect">
            <a:avLst/>
          </a:prstGeom>
          <a:solidFill>
            <a:srgbClr val="eaf1f3"/>
          </a:solidFill>
          <a:ln w="0">
            <a:noFill/>
          </a:ln>
        </p:spPr>
      </p:sp>
      <p:sp>
        <p:nvSpPr>
          <p:cNvPr id="527" name=""/>
          <p:cNvSpPr txBox="1"/>
          <p:nvPr/>
        </p:nvSpPr>
        <p:spPr>
          <a:xfrm>
            <a:off x="1728000" y="2887200"/>
            <a:ext cx="684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680" spc="-1" strike="noStrike">
                <a:solidFill>
                  <a:srgbClr val="172731"/>
                </a:solidFill>
                <a:latin typeface="Arial"/>
              </a:rPr>
              <a:t>industrial</a:t>
            </a:r>
            <a:endParaRPr b="0" lang="en-US" sz="680" spc="-1" strike="noStrike">
              <a:latin typeface="Arial"/>
            </a:endParaRPr>
          </a:p>
        </p:txBody>
      </p:sp>
      <p:sp>
        <p:nvSpPr>
          <p:cNvPr id="528" name=""/>
          <p:cNvSpPr/>
          <p:nvPr/>
        </p:nvSpPr>
        <p:spPr>
          <a:xfrm>
            <a:off x="2592000" y="2844000"/>
            <a:ext cx="756000" cy="252000"/>
          </a:xfrm>
          <a:prstGeom prst="roundRect">
            <a:avLst/>
          </a:prstGeom>
          <a:solidFill>
            <a:srgbClr val="eaf1f3"/>
          </a:solidFill>
          <a:ln w="0">
            <a:noFill/>
          </a:ln>
        </p:spPr>
      </p:sp>
      <p:sp>
        <p:nvSpPr>
          <p:cNvPr id="529" name=""/>
          <p:cNvSpPr txBox="1"/>
          <p:nvPr/>
        </p:nvSpPr>
        <p:spPr>
          <a:xfrm>
            <a:off x="2628000" y="2887200"/>
            <a:ext cx="684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680" spc="-1" strike="noStrike">
                <a:solidFill>
                  <a:srgbClr val="172731"/>
                </a:solidFill>
                <a:latin typeface="Arial"/>
              </a:rPr>
              <a:t>airport</a:t>
            </a:r>
            <a:endParaRPr b="0" lang="en-US" sz="680" spc="-1" strike="noStrike">
              <a:latin typeface="Arial"/>
            </a:endParaRPr>
          </a:p>
        </p:txBody>
      </p:sp>
      <p:sp>
        <p:nvSpPr>
          <p:cNvPr id="530" name=""/>
          <p:cNvSpPr/>
          <p:nvPr/>
        </p:nvSpPr>
        <p:spPr>
          <a:xfrm>
            <a:off x="3492000" y="2844000"/>
            <a:ext cx="756000" cy="252000"/>
          </a:xfrm>
          <a:prstGeom prst="roundRect">
            <a:avLst/>
          </a:prstGeom>
          <a:solidFill>
            <a:srgbClr val="eaf1f3"/>
          </a:solidFill>
          <a:ln w="0">
            <a:noFill/>
          </a:ln>
        </p:spPr>
      </p:sp>
      <p:sp>
        <p:nvSpPr>
          <p:cNvPr id="531" name=""/>
          <p:cNvSpPr txBox="1"/>
          <p:nvPr/>
        </p:nvSpPr>
        <p:spPr>
          <a:xfrm>
            <a:off x="3528000" y="2887200"/>
            <a:ext cx="684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680" spc="-1" strike="noStrike">
                <a:solidFill>
                  <a:srgbClr val="172731"/>
                </a:solidFill>
                <a:latin typeface="Arial"/>
              </a:rPr>
              <a:t>stadium</a:t>
            </a:r>
            <a:endParaRPr b="0" lang="en-US" sz="680" spc="-1" strike="noStrike">
              <a:latin typeface="Arial"/>
            </a:endParaRPr>
          </a:p>
        </p:txBody>
      </p:sp>
      <p:sp>
        <p:nvSpPr>
          <p:cNvPr id="532" name=""/>
          <p:cNvSpPr/>
          <p:nvPr/>
        </p:nvSpPr>
        <p:spPr>
          <a:xfrm>
            <a:off x="4392000" y="2844000"/>
            <a:ext cx="756000" cy="252000"/>
          </a:xfrm>
          <a:prstGeom prst="roundRect">
            <a:avLst/>
          </a:prstGeom>
          <a:solidFill>
            <a:srgbClr val="eaf1f3"/>
          </a:solidFill>
          <a:ln w="0">
            <a:noFill/>
          </a:ln>
        </p:spPr>
      </p:sp>
      <p:sp>
        <p:nvSpPr>
          <p:cNvPr id="533" name=""/>
          <p:cNvSpPr txBox="1"/>
          <p:nvPr/>
        </p:nvSpPr>
        <p:spPr>
          <a:xfrm>
            <a:off x="4428000" y="2887200"/>
            <a:ext cx="684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680" spc="-1" strike="noStrike">
                <a:solidFill>
                  <a:srgbClr val="172731"/>
                </a:solidFill>
                <a:latin typeface="Arial"/>
              </a:rPr>
              <a:t>rural</a:t>
            </a:r>
            <a:endParaRPr b="0" lang="en-US" sz="680" spc="-1" strike="noStrike">
              <a:latin typeface="Arial"/>
            </a:endParaRPr>
          </a:p>
        </p:txBody>
      </p:sp>
      <p:sp>
        <p:nvSpPr>
          <p:cNvPr id="534" name=""/>
          <p:cNvSpPr txBox="1"/>
          <p:nvPr/>
        </p:nvSpPr>
        <p:spPr>
          <a:xfrm>
            <a:off x="648000" y="3420000"/>
            <a:ext cx="936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2f91a6"/>
                </a:solidFill>
                <a:latin typeface="Courier New"/>
              </a:rPr>
              <a:t>EDGE</a:t>
            </a:r>
            <a:endParaRPr b="0" lang="en-US" sz="750" spc="-1" strike="noStrike">
              <a:latin typeface="Arial"/>
            </a:endParaRPr>
          </a:p>
        </p:txBody>
      </p:sp>
      <p:sp>
        <p:nvSpPr>
          <p:cNvPr id="535" name=""/>
          <p:cNvSpPr/>
          <p:nvPr/>
        </p:nvSpPr>
        <p:spPr>
          <a:xfrm>
            <a:off x="1692000" y="3348000"/>
            <a:ext cx="2952000" cy="396000"/>
          </a:xfrm>
          <a:prstGeom prst="roundRect">
            <a:avLst/>
          </a:prstGeom>
          <a:solidFill>
            <a:srgbClr val="eaf1f3"/>
          </a:solidFill>
          <a:ln w="0">
            <a:noFill/>
          </a:ln>
        </p:spPr>
      </p:sp>
      <p:sp>
        <p:nvSpPr>
          <p:cNvPr id="536" name=""/>
          <p:cNvSpPr/>
          <p:nvPr/>
        </p:nvSpPr>
        <p:spPr>
          <a:xfrm>
            <a:off x="1692000" y="3348000"/>
            <a:ext cx="64800" cy="396000"/>
          </a:xfrm>
          <a:prstGeom prst="rect">
            <a:avLst/>
          </a:prstGeom>
          <a:solidFill>
            <a:srgbClr val="2f91a6"/>
          </a:solidFill>
          <a:ln w="0">
            <a:noFill/>
          </a:ln>
        </p:spPr>
      </p:sp>
      <p:sp>
        <p:nvSpPr>
          <p:cNvPr id="537" name=""/>
          <p:cNvSpPr txBox="1"/>
          <p:nvPr/>
        </p:nvSpPr>
        <p:spPr>
          <a:xfrm>
            <a:off x="1944000" y="3448800"/>
            <a:ext cx="2448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80" spc="-1" strike="noStrike">
                <a:solidFill>
                  <a:srgbClr val="172731"/>
                </a:solidFill>
                <a:latin typeface="Arial"/>
              </a:rPr>
              <a:t>2 per zone</a:t>
            </a:r>
            <a:endParaRPr b="0" lang="en-US" sz="980" spc="-1" strike="noStrike">
              <a:latin typeface="Arial"/>
            </a:endParaRPr>
          </a:p>
        </p:txBody>
      </p:sp>
      <p:sp>
        <p:nvSpPr>
          <p:cNvPr id="538" name=""/>
          <p:cNvSpPr txBox="1"/>
          <p:nvPr/>
        </p:nvSpPr>
        <p:spPr>
          <a:xfrm>
            <a:off x="4752000" y="3409200"/>
            <a:ext cx="576000" cy="2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1800" spc="-1" strike="noStrike">
                <a:solidFill>
                  <a:srgbClr val="2f91a6"/>
                </a:solidFill>
                <a:latin typeface="Arial"/>
              </a:rPr>
              <a:t>→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39" name=""/>
          <p:cNvSpPr txBox="1"/>
          <p:nvPr/>
        </p:nvSpPr>
        <p:spPr>
          <a:xfrm>
            <a:off x="648000" y="4248000"/>
            <a:ext cx="936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6750a4"/>
                </a:solidFill>
                <a:latin typeface="Courier New"/>
              </a:rPr>
              <a:t>REGIONAL</a:t>
            </a:r>
            <a:endParaRPr b="0" lang="en-US" sz="750" spc="-1" strike="noStrike">
              <a:latin typeface="Arial"/>
            </a:endParaRPr>
          </a:p>
        </p:txBody>
      </p:sp>
      <p:sp>
        <p:nvSpPr>
          <p:cNvPr id="540" name=""/>
          <p:cNvSpPr/>
          <p:nvPr/>
        </p:nvSpPr>
        <p:spPr>
          <a:xfrm>
            <a:off x="1692000" y="4176000"/>
            <a:ext cx="2952000" cy="396000"/>
          </a:xfrm>
          <a:prstGeom prst="roundRect">
            <a:avLst/>
          </a:prstGeom>
          <a:solidFill>
            <a:srgbClr val="eaf1f3"/>
          </a:solidFill>
          <a:ln w="0">
            <a:noFill/>
          </a:ln>
        </p:spPr>
      </p:sp>
      <p:sp>
        <p:nvSpPr>
          <p:cNvPr id="541" name=""/>
          <p:cNvSpPr/>
          <p:nvPr/>
        </p:nvSpPr>
        <p:spPr>
          <a:xfrm>
            <a:off x="1692000" y="4176000"/>
            <a:ext cx="64800" cy="396000"/>
          </a:xfrm>
          <a:prstGeom prst="rect">
            <a:avLst/>
          </a:prstGeom>
          <a:solidFill>
            <a:srgbClr val="6750a4"/>
          </a:solidFill>
          <a:ln w="0">
            <a:noFill/>
          </a:ln>
        </p:spPr>
      </p:sp>
      <p:sp>
        <p:nvSpPr>
          <p:cNvPr id="542" name=""/>
          <p:cNvSpPr txBox="1"/>
          <p:nvPr/>
        </p:nvSpPr>
        <p:spPr>
          <a:xfrm>
            <a:off x="1944000" y="4276800"/>
            <a:ext cx="2448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80" spc="-1" strike="noStrike">
                <a:solidFill>
                  <a:srgbClr val="172731"/>
                </a:solidFill>
                <a:latin typeface="Arial"/>
              </a:rPr>
              <a:t>4 total</a:t>
            </a:r>
            <a:endParaRPr b="0" lang="en-US" sz="980" spc="-1" strike="noStrike">
              <a:latin typeface="Arial"/>
            </a:endParaRPr>
          </a:p>
        </p:txBody>
      </p:sp>
      <p:sp>
        <p:nvSpPr>
          <p:cNvPr id="543" name=""/>
          <p:cNvSpPr txBox="1"/>
          <p:nvPr/>
        </p:nvSpPr>
        <p:spPr>
          <a:xfrm>
            <a:off x="4752000" y="4237200"/>
            <a:ext cx="576000" cy="2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1800" spc="-1" strike="noStrike">
                <a:solidFill>
                  <a:srgbClr val="6750a4"/>
                </a:solidFill>
                <a:latin typeface="Arial"/>
              </a:rPr>
              <a:t>→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44" name=""/>
          <p:cNvSpPr txBox="1"/>
          <p:nvPr/>
        </p:nvSpPr>
        <p:spPr>
          <a:xfrm>
            <a:off x="648000" y="5076000"/>
            <a:ext cx="936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16805f"/>
                </a:solidFill>
                <a:latin typeface="Courier New"/>
              </a:rPr>
              <a:t>CENTRAL</a:t>
            </a:r>
            <a:endParaRPr b="0" lang="en-US" sz="750" spc="-1" strike="noStrike">
              <a:latin typeface="Arial"/>
            </a:endParaRPr>
          </a:p>
        </p:txBody>
      </p:sp>
      <p:sp>
        <p:nvSpPr>
          <p:cNvPr id="545" name=""/>
          <p:cNvSpPr/>
          <p:nvPr/>
        </p:nvSpPr>
        <p:spPr>
          <a:xfrm>
            <a:off x="1692000" y="5004000"/>
            <a:ext cx="2952000" cy="396000"/>
          </a:xfrm>
          <a:prstGeom prst="roundRect">
            <a:avLst/>
          </a:prstGeom>
          <a:solidFill>
            <a:srgbClr val="eaf1f3"/>
          </a:solidFill>
          <a:ln w="0">
            <a:noFill/>
          </a:ln>
        </p:spPr>
      </p:sp>
      <p:sp>
        <p:nvSpPr>
          <p:cNvPr id="546" name=""/>
          <p:cNvSpPr/>
          <p:nvPr/>
        </p:nvSpPr>
        <p:spPr>
          <a:xfrm>
            <a:off x="1692000" y="5004000"/>
            <a:ext cx="64800" cy="396000"/>
          </a:xfrm>
          <a:prstGeom prst="rect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547" name=""/>
          <p:cNvSpPr txBox="1"/>
          <p:nvPr/>
        </p:nvSpPr>
        <p:spPr>
          <a:xfrm>
            <a:off x="1944000" y="5104800"/>
            <a:ext cx="2448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80" spc="-1" strike="noStrike">
                <a:solidFill>
                  <a:srgbClr val="172731"/>
                </a:solidFill>
                <a:latin typeface="Arial"/>
              </a:rPr>
              <a:t>4 total</a:t>
            </a:r>
            <a:endParaRPr b="0" lang="en-US" sz="980" spc="-1" strike="noStrike">
              <a:latin typeface="Arial"/>
            </a:endParaRPr>
          </a:p>
        </p:txBody>
      </p:sp>
      <p:sp>
        <p:nvSpPr>
          <p:cNvPr id="548" name=""/>
          <p:cNvSpPr txBox="1"/>
          <p:nvPr/>
        </p:nvSpPr>
        <p:spPr>
          <a:xfrm>
            <a:off x="4752000" y="5065200"/>
            <a:ext cx="576000" cy="2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1800" spc="-1" strike="noStrike">
                <a:solidFill>
                  <a:srgbClr val="16805f"/>
                </a:solidFill>
                <a:latin typeface="Arial"/>
              </a:rPr>
              <a:t>→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49" name=""/>
          <p:cNvSpPr/>
          <p:nvPr/>
        </p:nvSpPr>
        <p:spPr>
          <a:xfrm>
            <a:off x="6048000" y="1404000"/>
            <a:ext cx="5688000" cy="4536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550" name=""/>
          <p:cNvSpPr/>
          <p:nvPr/>
        </p:nvSpPr>
        <p:spPr>
          <a:xfrm>
            <a:off x="6048000" y="1404000"/>
            <a:ext cx="64800" cy="4536000"/>
          </a:xfrm>
          <a:prstGeom prst="rect">
            <a:avLst/>
          </a:prstGeom>
          <a:solidFill>
            <a:srgbClr val="6750a4"/>
          </a:solidFill>
          <a:ln w="0">
            <a:noFill/>
          </a:ln>
        </p:spPr>
      </p:sp>
      <p:sp>
        <p:nvSpPr>
          <p:cNvPr id="551" name=""/>
          <p:cNvSpPr txBox="1"/>
          <p:nvPr/>
        </p:nvSpPr>
        <p:spPr>
          <a:xfrm>
            <a:off x="6300000" y="1656000"/>
            <a:ext cx="5184000" cy="2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400" spc="-1" strike="noStrike">
                <a:solidFill>
                  <a:srgbClr val="172731"/>
                </a:solidFill>
                <a:latin typeface="Arial"/>
              </a:rPr>
              <a:t>Per-instance capacity envelope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52" name=""/>
          <p:cNvSpPr/>
          <p:nvPr/>
        </p:nvSpPr>
        <p:spPr>
          <a:xfrm>
            <a:off x="6300000" y="2124000"/>
            <a:ext cx="6048000" cy="396000"/>
          </a:xfrm>
          <a:prstGeom prst="rect">
            <a:avLst/>
          </a:prstGeom>
          <a:solidFill>
            <a:srgbClr val="193644"/>
          </a:solidFill>
          <a:ln w="6480">
            <a:solidFill>
              <a:srgbClr val="cfdce1"/>
            </a:solidFill>
            <a:round/>
          </a:ln>
        </p:spPr>
      </p:sp>
      <p:sp>
        <p:nvSpPr>
          <p:cNvPr id="553" name=""/>
          <p:cNvSpPr txBox="1"/>
          <p:nvPr/>
        </p:nvSpPr>
        <p:spPr>
          <a:xfrm>
            <a:off x="6361200" y="2170800"/>
            <a:ext cx="1137600" cy="32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n-US" sz="740" spc="-1" strike="noStrike">
                <a:solidFill>
                  <a:srgbClr val="ffffff"/>
                </a:solidFill>
                <a:latin typeface="Arial"/>
              </a:rPr>
              <a:t>TIER</a:t>
            </a:r>
            <a:endParaRPr b="0" lang="en-US" sz="740" spc="-1" strike="noStrike">
              <a:latin typeface="Arial"/>
            </a:endParaRPr>
          </a:p>
        </p:txBody>
      </p:sp>
      <p:sp>
        <p:nvSpPr>
          <p:cNvPr id="554" name=""/>
          <p:cNvSpPr txBox="1"/>
          <p:nvPr/>
        </p:nvSpPr>
        <p:spPr>
          <a:xfrm>
            <a:off x="7621200" y="2170800"/>
            <a:ext cx="525600" cy="32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US" sz="740" spc="-1" strike="noStrike">
                <a:solidFill>
                  <a:srgbClr val="ffffff"/>
                </a:solidFill>
                <a:latin typeface="Arial"/>
              </a:rPr>
              <a:t>COUNT</a:t>
            </a:r>
            <a:endParaRPr b="0" lang="en-US" sz="740" spc="-1" strike="noStrike">
              <a:latin typeface="Arial"/>
            </a:endParaRPr>
          </a:p>
        </p:txBody>
      </p:sp>
      <p:sp>
        <p:nvSpPr>
          <p:cNvPr id="555" name=""/>
          <p:cNvSpPr txBox="1"/>
          <p:nvPr/>
        </p:nvSpPr>
        <p:spPr>
          <a:xfrm>
            <a:off x="8269200" y="2170800"/>
            <a:ext cx="777600" cy="32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r">
              <a:buNone/>
            </a:pPr>
            <a:r>
              <a:rPr b="1" lang="en-US" sz="740" spc="-1" strike="noStrike">
                <a:solidFill>
                  <a:srgbClr val="ffffff"/>
                </a:solidFill>
                <a:latin typeface="Arial"/>
              </a:rPr>
              <a:t>UL</a:t>
            </a:r>
            <a:endParaRPr b="0" lang="en-US" sz="740" spc="-1" strike="noStrike">
              <a:latin typeface="Arial"/>
            </a:endParaRPr>
          </a:p>
        </p:txBody>
      </p:sp>
      <p:sp>
        <p:nvSpPr>
          <p:cNvPr id="556" name=""/>
          <p:cNvSpPr txBox="1"/>
          <p:nvPr/>
        </p:nvSpPr>
        <p:spPr>
          <a:xfrm>
            <a:off x="9169200" y="2170800"/>
            <a:ext cx="813600" cy="32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r">
              <a:buNone/>
            </a:pPr>
            <a:r>
              <a:rPr b="1" lang="en-US" sz="740" spc="-1" strike="noStrike">
                <a:solidFill>
                  <a:srgbClr val="ffffff"/>
                </a:solidFill>
                <a:latin typeface="Arial"/>
              </a:rPr>
              <a:t>DL</a:t>
            </a:r>
            <a:endParaRPr b="0" lang="en-US" sz="740" spc="-1" strike="noStrike">
              <a:latin typeface="Arial"/>
            </a:endParaRPr>
          </a:p>
        </p:txBody>
      </p:sp>
      <p:sp>
        <p:nvSpPr>
          <p:cNvPr id="557" name=""/>
          <p:cNvSpPr txBox="1"/>
          <p:nvPr/>
        </p:nvSpPr>
        <p:spPr>
          <a:xfrm>
            <a:off x="10105200" y="2170800"/>
            <a:ext cx="993600" cy="32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r">
              <a:buNone/>
            </a:pPr>
            <a:r>
              <a:rPr b="1" lang="en-US" sz="740" spc="-1" strike="noStrike">
                <a:solidFill>
                  <a:srgbClr val="ffffff"/>
                </a:solidFill>
                <a:latin typeface="Arial"/>
              </a:rPr>
              <a:t>SESSION CAP</a:t>
            </a:r>
            <a:endParaRPr b="0" lang="en-US" sz="740" spc="-1" strike="noStrike">
              <a:latin typeface="Arial"/>
            </a:endParaRPr>
          </a:p>
        </p:txBody>
      </p:sp>
      <p:sp>
        <p:nvSpPr>
          <p:cNvPr id="558" name=""/>
          <p:cNvSpPr txBox="1"/>
          <p:nvPr/>
        </p:nvSpPr>
        <p:spPr>
          <a:xfrm>
            <a:off x="11221200" y="2170800"/>
            <a:ext cx="1065600" cy="32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US" sz="740" spc="-1" strike="noStrike">
                <a:solidFill>
                  <a:srgbClr val="ffffff"/>
                </a:solidFill>
                <a:latin typeface="Arial"/>
              </a:rPr>
              <a:t>SAFE</a:t>
            </a:r>
            <a:endParaRPr b="0" lang="en-US" sz="740" spc="-1" strike="noStrike">
              <a:latin typeface="Arial"/>
            </a:endParaRPr>
          </a:p>
        </p:txBody>
      </p:sp>
      <p:sp>
        <p:nvSpPr>
          <p:cNvPr id="559" name=""/>
          <p:cNvSpPr/>
          <p:nvPr/>
        </p:nvSpPr>
        <p:spPr>
          <a:xfrm>
            <a:off x="6300000" y="2520000"/>
            <a:ext cx="6048000" cy="396000"/>
          </a:xfrm>
          <a:prstGeom prst="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560" name=""/>
          <p:cNvSpPr txBox="1"/>
          <p:nvPr/>
        </p:nvSpPr>
        <p:spPr>
          <a:xfrm>
            <a:off x="6361200" y="2566800"/>
            <a:ext cx="1137600" cy="32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760" spc="-1" strike="noStrike">
                <a:solidFill>
                  <a:srgbClr val="172731"/>
                </a:solidFill>
                <a:latin typeface="Arial"/>
              </a:rPr>
              <a:t>Edge A</a:t>
            </a:r>
            <a:endParaRPr b="0" lang="en-US" sz="760" spc="-1" strike="noStrike">
              <a:latin typeface="Arial"/>
            </a:endParaRPr>
          </a:p>
        </p:txBody>
      </p:sp>
      <p:sp>
        <p:nvSpPr>
          <p:cNvPr id="561" name=""/>
          <p:cNvSpPr txBox="1"/>
          <p:nvPr/>
        </p:nvSpPr>
        <p:spPr>
          <a:xfrm>
            <a:off x="7621200" y="2566800"/>
            <a:ext cx="525600" cy="32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760" spc="-1" strike="noStrike">
                <a:solidFill>
                  <a:srgbClr val="172731"/>
                </a:solidFill>
                <a:latin typeface="Arial"/>
              </a:rPr>
              <a:t>8</a:t>
            </a:r>
            <a:endParaRPr b="0" lang="en-US" sz="760" spc="-1" strike="noStrike">
              <a:latin typeface="Arial"/>
            </a:endParaRPr>
          </a:p>
        </p:txBody>
      </p:sp>
      <p:sp>
        <p:nvSpPr>
          <p:cNvPr id="562" name=""/>
          <p:cNvSpPr txBox="1"/>
          <p:nvPr/>
        </p:nvSpPr>
        <p:spPr>
          <a:xfrm>
            <a:off x="8269200" y="2566800"/>
            <a:ext cx="777600" cy="32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r">
              <a:buNone/>
            </a:pPr>
            <a:r>
              <a:rPr b="0" lang="en-US" sz="760" spc="-1" strike="noStrike">
                <a:solidFill>
                  <a:srgbClr val="172731"/>
                </a:solidFill>
                <a:latin typeface="Arial"/>
              </a:rPr>
              <a:t>480 G</a:t>
            </a:r>
            <a:endParaRPr b="0" lang="en-US" sz="760" spc="-1" strike="noStrike">
              <a:latin typeface="Arial"/>
            </a:endParaRPr>
          </a:p>
        </p:txBody>
      </p:sp>
      <p:sp>
        <p:nvSpPr>
          <p:cNvPr id="563" name=""/>
          <p:cNvSpPr txBox="1"/>
          <p:nvPr/>
        </p:nvSpPr>
        <p:spPr>
          <a:xfrm>
            <a:off x="9169200" y="2566800"/>
            <a:ext cx="813600" cy="32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r">
              <a:buNone/>
            </a:pPr>
            <a:r>
              <a:rPr b="0" lang="en-US" sz="760" spc="-1" strike="noStrike">
                <a:solidFill>
                  <a:srgbClr val="172731"/>
                </a:solidFill>
                <a:latin typeface="Arial"/>
              </a:rPr>
              <a:t>1.44 T</a:t>
            </a:r>
            <a:endParaRPr b="0" lang="en-US" sz="760" spc="-1" strike="noStrike">
              <a:latin typeface="Arial"/>
            </a:endParaRPr>
          </a:p>
        </p:txBody>
      </p:sp>
      <p:sp>
        <p:nvSpPr>
          <p:cNvPr id="564" name=""/>
          <p:cNvSpPr txBox="1"/>
          <p:nvPr/>
        </p:nvSpPr>
        <p:spPr>
          <a:xfrm>
            <a:off x="10105200" y="2566800"/>
            <a:ext cx="993600" cy="32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r">
              <a:buNone/>
            </a:pPr>
            <a:r>
              <a:rPr b="0" lang="en-US" sz="760" spc="-1" strike="noStrike">
                <a:solidFill>
                  <a:srgbClr val="172731"/>
                </a:solidFill>
                <a:latin typeface="Arial"/>
              </a:rPr>
              <a:t>1.44 M</a:t>
            </a:r>
            <a:endParaRPr b="0" lang="en-US" sz="760" spc="-1" strike="noStrike">
              <a:latin typeface="Arial"/>
            </a:endParaRPr>
          </a:p>
        </p:txBody>
      </p:sp>
      <p:sp>
        <p:nvSpPr>
          <p:cNvPr id="565" name=""/>
          <p:cNvSpPr txBox="1"/>
          <p:nvPr/>
        </p:nvSpPr>
        <p:spPr>
          <a:xfrm>
            <a:off x="11221200" y="2566800"/>
            <a:ext cx="1065600" cy="32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760" spc="-1" strike="noStrike">
                <a:solidFill>
                  <a:srgbClr val="172731"/>
                </a:solidFill>
                <a:latin typeface="Arial"/>
              </a:rPr>
              <a:t>78% / 82%</a:t>
            </a:r>
            <a:endParaRPr b="0" lang="en-US" sz="760" spc="-1" strike="noStrike">
              <a:latin typeface="Arial"/>
            </a:endParaRPr>
          </a:p>
        </p:txBody>
      </p:sp>
      <p:sp>
        <p:nvSpPr>
          <p:cNvPr id="566" name=""/>
          <p:cNvSpPr/>
          <p:nvPr/>
        </p:nvSpPr>
        <p:spPr>
          <a:xfrm>
            <a:off x="6300000" y="2916000"/>
            <a:ext cx="6048000" cy="396000"/>
          </a:xfrm>
          <a:prstGeom prst="rect">
            <a:avLst/>
          </a:prstGeom>
          <a:solidFill>
            <a:srgbClr val="f8fafb"/>
          </a:solidFill>
          <a:ln w="6480">
            <a:solidFill>
              <a:srgbClr val="cfdce1"/>
            </a:solidFill>
            <a:round/>
          </a:ln>
        </p:spPr>
      </p:sp>
      <p:sp>
        <p:nvSpPr>
          <p:cNvPr id="567" name=""/>
          <p:cNvSpPr txBox="1"/>
          <p:nvPr/>
        </p:nvSpPr>
        <p:spPr>
          <a:xfrm>
            <a:off x="6361200" y="2962800"/>
            <a:ext cx="1137600" cy="32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760" spc="-1" strike="noStrike">
                <a:solidFill>
                  <a:srgbClr val="172731"/>
                </a:solidFill>
                <a:latin typeface="Arial"/>
              </a:rPr>
              <a:t>Edge B</a:t>
            </a:r>
            <a:endParaRPr b="0" lang="en-US" sz="760" spc="-1" strike="noStrike">
              <a:latin typeface="Arial"/>
            </a:endParaRPr>
          </a:p>
        </p:txBody>
      </p:sp>
      <p:sp>
        <p:nvSpPr>
          <p:cNvPr id="568" name=""/>
          <p:cNvSpPr txBox="1"/>
          <p:nvPr/>
        </p:nvSpPr>
        <p:spPr>
          <a:xfrm>
            <a:off x="7621200" y="2962800"/>
            <a:ext cx="525600" cy="32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760" spc="-1" strike="noStrike">
                <a:solidFill>
                  <a:srgbClr val="172731"/>
                </a:solidFill>
                <a:latin typeface="Arial"/>
              </a:rPr>
              <a:t>8</a:t>
            </a:r>
            <a:endParaRPr b="0" lang="en-US" sz="760" spc="-1" strike="noStrike">
              <a:latin typeface="Arial"/>
            </a:endParaRPr>
          </a:p>
        </p:txBody>
      </p:sp>
      <p:sp>
        <p:nvSpPr>
          <p:cNvPr id="569" name=""/>
          <p:cNvSpPr txBox="1"/>
          <p:nvPr/>
        </p:nvSpPr>
        <p:spPr>
          <a:xfrm>
            <a:off x="8269200" y="2962800"/>
            <a:ext cx="777600" cy="32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r">
              <a:buNone/>
            </a:pPr>
            <a:r>
              <a:rPr b="0" lang="en-US" sz="760" spc="-1" strike="noStrike">
                <a:solidFill>
                  <a:srgbClr val="172731"/>
                </a:solidFill>
                <a:latin typeface="Arial"/>
              </a:rPr>
              <a:t>560 G</a:t>
            </a:r>
            <a:endParaRPr b="0" lang="en-US" sz="760" spc="-1" strike="noStrike">
              <a:latin typeface="Arial"/>
            </a:endParaRPr>
          </a:p>
        </p:txBody>
      </p:sp>
      <p:sp>
        <p:nvSpPr>
          <p:cNvPr id="570" name=""/>
          <p:cNvSpPr txBox="1"/>
          <p:nvPr/>
        </p:nvSpPr>
        <p:spPr>
          <a:xfrm>
            <a:off x="9169200" y="2962800"/>
            <a:ext cx="813600" cy="32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r">
              <a:buNone/>
            </a:pPr>
            <a:r>
              <a:rPr b="0" lang="en-US" sz="760" spc="-1" strike="noStrike">
                <a:solidFill>
                  <a:srgbClr val="172731"/>
                </a:solidFill>
                <a:latin typeface="Arial"/>
              </a:rPr>
              <a:t>1.28 T</a:t>
            </a:r>
            <a:endParaRPr b="0" lang="en-US" sz="760" spc="-1" strike="noStrike">
              <a:latin typeface="Arial"/>
            </a:endParaRPr>
          </a:p>
        </p:txBody>
      </p:sp>
      <p:sp>
        <p:nvSpPr>
          <p:cNvPr id="571" name=""/>
          <p:cNvSpPr txBox="1"/>
          <p:nvPr/>
        </p:nvSpPr>
        <p:spPr>
          <a:xfrm>
            <a:off x="10105200" y="2962800"/>
            <a:ext cx="993600" cy="32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r">
              <a:buNone/>
            </a:pPr>
            <a:r>
              <a:rPr b="0" lang="en-US" sz="760" spc="-1" strike="noStrike">
                <a:solidFill>
                  <a:srgbClr val="172731"/>
                </a:solidFill>
                <a:latin typeface="Arial"/>
              </a:rPr>
              <a:t>1.44 M</a:t>
            </a:r>
            <a:endParaRPr b="0" lang="en-US" sz="760" spc="-1" strike="noStrike">
              <a:latin typeface="Arial"/>
            </a:endParaRPr>
          </a:p>
        </p:txBody>
      </p:sp>
      <p:sp>
        <p:nvSpPr>
          <p:cNvPr id="572" name=""/>
          <p:cNvSpPr txBox="1"/>
          <p:nvPr/>
        </p:nvSpPr>
        <p:spPr>
          <a:xfrm>
            <a:off x="11221200" y="2962800"/>
            <a:ext cx="1065600" cy="32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760" spc="-1" strike="noStrike">
                <a:solidFill>
                  <a:srgbClr val="172731"/>
                </a:solidFill>
                <a:latin typeface="Arial"/>
              </a:rPr>
              <a:t>78% / 82%</a:t>
            </a:r>
            <a:endParaRPr b="0" lang="en-US" sz="760" spc="-1" strike="noStrike">
              <a:latin typeface="Arial"/>
            </a:endParaRPr>
          </a:p>
        </p:txBody>
      </p:sp>
      <p:sp>
        <p:nvSpPr>
          <p:cNvPr id="573" name=""/>
          <p:cNvSpPr/>
          <p:nvPr/>
        </p:nvSpPr>
        <p:spPr>
          <a:xfrm>
            <a:off x="6300000" y="3312000"/>
            <a:ext cx="6048000" cy="396000"/>
          </a:xfrm>
          <a:prstGeom prst="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574" name=""/>
          <p:cNvSpPr txBox="1"/>
          <p:nvPr/>
        </p:nvSpPr>
        <p:spPr>
          <a:xfrm>
            <a:off x="6361200" y="3358800"/>
            <a:ext cx="1137600" cy="32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760" spc="-1" strike="noStrike">
                <a:solidFill>
                  <a:srgbClr val="172731"/>
                </a:solidFill>
                <a:latin typeface="Arial"/>
              </a:rPr>
              <a:t>Regional</a:t>
            </a:r>
            <a:endParaRPr b="0" lang="en-US" sz="760" spc="-1" strike="noStrike">
              <a:latin typeface="Arial"/>
            </a:endParaRPr>
          </a:p>
        </p:txBody>
      </p:sp>
      <p:sp>
        <p:nvSpPr>
          <p:cNvPr id="575" name=""/>
          <p:cNvSpPr txBox="1"/>
          <p:nvPr/>
        </p:nvSpPr>
        <p:spPr>
          <a:xfrm>
            <a:off x="7621200" y="3358800"/>
            <a:ext cx="525600" cy="32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760" spc="-1" strike="noStrike">
                <a:solidFill>
                  <a:srgbClr val="172731"/>
                </a:solidFill>
                <a:latin typeface="Arial"/>
              </a:rPr>
              <a:t>4</a:t>
            </a:r>
            <a:endParaRPr b="0" lang="en-US" sz="760" spc="-1" strike="noStrike">
              <a:latin typeface="Arial"/>
            </a:endParaRPr>
          </a:p>
        </p:txBody>
      </p:sp>
      <p:sp>
        <p:nvSpPr>
          <p:cNvPr id="576" name=""/>
          <p:cNvSpPr txBox="1"/>
          <p:nvPr/>
        </p:nvSpPr>
        <p:spPr>
          <a:xfrm>
            <a:off x="8269200" y="3358800"/>
            <a:ext cx="777600" cy="32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r">
              <a:buNone/>
            </a:pPr>
            <a:r>
              <a:rPr b="0" lang="en-US" sz="760" spc="-1" strike="noStrike">
                <a:solidFill>
                  <a:srgbClr val="172731"/>
                </a:solidFill>
                <a:latin typeface="Arial"/>
              </a:rPr>
              <a:t>1.12 T</a:t>
            </a:r>
            <a:endParaRPr b="0" lang="en-US" sz="760" spc="-1" strike="noStrike">
              <a:latin typeface="Arial"/>
            </a:endParaRPr>
          </a:p>
        </p:txBody>
      </p:sp>
      <p:sp>
        <p:nvSpPr>
          <p:cNvPr id="577" name=""/>
          <p:cNvSpPr txBox="1"/>
          <p:nvPr/>
        </p:nvSpPr>
        <p:spPr>
          <a:xfrm>
            <a:off x="9169200" y="3358800"/>
            <a:ext cx="813600" cy="32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r">
              <a:buNone/>
            </a:pPr>
            <a:r>
              <a:rPr b="0" lang="en-US" sz="760" spc="-1" strike="noStrike">
                <a:solidFill>
                  <a:srgbClr val="172731"/>
                </a:solidFill>
                <a:latin typeface="Arial"/>
              </a:rPr>
              <a:t>2.40 T</a:t>
            </a:r>
            <a:endParaRPr b="0" lang="en-US" sz="760" spc="-1" strike="noStrike">
              <a:latin typeface="Arial"/>
            </a:endParaRPr>
          </a:p>
        </p:txBody>
      </p:sp>
      <p:sp>
        <p:nvSpPr>
          <p:cNvPr id="578" name=""/>
          <p:cNvSpPr txBox="1"/>
          <p:nvPr/>
        </p:nvSpPr>
        <p:spPr>
          <a:xfrm>
            <a:off x="10105200" y="3358800"/>
            <a:ext cx="993600" cy="32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r">
              <a:buNone/>
            </a:pPr>
            <a:r>
              <a:rPr b="0" lang="en-US" sz="760" spc="-1" strike="noStrike">
                <a:solidFill>
                  <a:srgbClr val="172731"/>
                </a:solidFill>
                <a:latin typeface="Arial"/>
              </a:rPr>
              <a:t>3.52 M</a:t>
            </a:r>
            <a:endParaRPr b="0" lang="en-US" sz="760" spc="-1" strike="noStrike">
              <a:latin typeface="Arial"/>
            </a:endParaRPr>
          </a:p>
        </p:txBody>
      </p:sp>
      <p:sp>
        <p:nvSpPr>
          <p:cNvPr id="579" name=""/>
          <p:cNvSpPr txBox="1"/>
          <p:nvPr/>
        </p:nvSpPr>
        <p:spPr>
          <a:xfrm>
            <a:off x="11221200" y="3358800"/>
            <a:ext cx="1065600" cy="32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760" spc="-1" strike="noStrike">
                <a:solidFill>
                  <a:srgbClr val="172731"/>
                </a:solidFill>
                <a:latin typeface="Arial"/>
              </a:rPr>
              <a:t>80% / 85%</a:t>
            </a:r>
            <a:endParaRPr b="0" lang="en-US" sz="760" spc="-1" strike="noStrike">
              <a:latin typeface="Arial"/>
            </a:endParaRPr>
          </a:p>
        </p:txBody>
      </p:sp>
      <p:sp>
        <p:nvSpPr>
          <p:cNvPr id="580" name=""/>
          <p:cNvSpPr/>
          <p:nvPr/>
        </p:nvSpPr>
        <p:spPr>
          <a:xfrm>
            <a:off x="6300000" y="3708000"/>
            <a:ext cx="6048000" cy="396000"/>
          </a:xfrm>
          <a:prstGeom prst="rect">
            <a:avLst/>
          </a:prstGeom>
          <a:solidFill>
            <a:srgbClr val="f8fafb"/>
          </a:solidFill>
          <a:ln w="6480">
            <a:solidFill>
              <a:srgbClr val="cfdce1"/>
            </a:solidFill>
            <a:round/>
          </a:ln>
        </p:spPr>
      </p:sp>
      <p:sp>
        <p:nvSpPr>
          <p:cNvPr id="581" name=""/>
          <p:cNvSpPr txBox="1"/>
          <p:nvPr/>
        </p:nvSpPr>
        <p:spPr>
          <a:xfrm>
            <a:off x="6361200" y="3754800"/>
            <a:ext cx="1137600" cy="32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760" spc="-1" strike="noStrike">
                <a:solidFill>
                  <a:srgbClr val="172731"/>
                </a:solidFill>
                <a:latin typeface="Arial"/>
              </a:rPr>
              <a:t>Central</a:t>
            </a:r>
            <a:endParaRPr b="0" lang="en-US" sz="760" spc="-1" strike="noStrike">
              <a:latin typeface="Arial"/>
            </a:endParaRPr>
          </a:p>
        </p:txBody>
      </p:sp>
      <p:sp>
        <p:nvSpPr>
          <p:cNvPr id="582" name=""/>
          <p:cNvSpPr txBox="1"/>
          <p:nvPr/>
        </p:nvSpPr>
        <p:spPr>
          <a:xfrm>
            <a:off x="7621200" y="3754800"/>
            <a:ext cx="525600" cy="32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760" spc="-1" strike="noStrike">
                <a:solidFill>
                  <a:srgbClr val="172731"/>
                </a:solidFill>
                <a:latin typeface="Arial"/>
              </a:rPr>
              <a:t>4</a:t>
            </a:r>
            <a:endParaRPr b="0" lang="en-US" sz="760" spc="-1" strike="noStrike">
              <a:latin typeface="Arial"/>
            </a:endParaRPr>
          </a:p>
        </p:txBody>
      </p:sp>
      <p:sp>
        <p:nvSpPr>
          <p:cNvPr id="583" name=""/>
          <p:cNvSpPr txBox="1"/>
          <p:nvPr/>
        </p:nvSpPr>
        <p:spPr>
          <a:xfrm>
            <a:off x="8269200" y="3754800"/>
            <a:ext cx="777600" cy="32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r">
              <a:buNone/>
            </a:pPr>
            <a:r>
              <a:rPr b="0" lang="en-US" sz="760" spc="-1" strike="noStrike">
                <a:solidFill>
                  <a:srgbClr val="172731"/>
                </a:solidFill>
                <a:latin typeface="Arial"/>
              </a:rPr>
              <a:t>1.92 T</a:t>
            </a:r>
            <a:endParaRPr b="0" lang="en-US" sz="760" spc="-1" strike="noStrike">
              <a:latin typeface="Arial"/>
            </a:endParaRPr>
          </a:p>
        </p:txBody>
      </p:sp>
      <p:sp>
        <p:nvSpPr>
          <p:cNvPr id="584" name=""/>
          <p:cNvSpPr txBox="1"/>
          <p:nvPr/>
        </p:nvSpPr>
        <p:spPr>
          <a:xfrm>
            <a:off x="9169200" y="3754800"/>
            <a:ext cx="813600" cy="32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r">
              <a:buNone/>
            </a:pPr>
            <a:r>
              <a:rPr b="0" lang="en-US" sz="760" spc="-1" strike="noStrike">
                <a:solidFill>
                  <a:srgbClr val="172731"/>
                </a:solidFill>
                <a:latin typeface="Arial"/>
              </a:rPr>
              <a:t>3.84 T</a:t>
            </a:r>
            <a:endParaRPr b="0" lang="en-US" sz="760" spc="-1" strike="noStrike">
              <a:latin typeface="Arial"/>
            </a:endParaRPr>
          </a:p>
        </p:txBody>
      </p:sp>
      <p:sp>
        <p:nvSpPr>
          <p:cNvPr id="585" name=""/>
          <p:cNvSpPr txBox="1"/>
          <p:nvPr/>
        </p:nvSpPr>
        <p:spPr>
          <a:xfrm>
            <a:off x="10105200" y="3754800"/>
            <a:ext cx="993600" cy="32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r">
              <a:buNone/>
            </a:pPr>
            <a:r>
              <a:rPr b="0" lang="en-US" sz="760" spc="-1" strike="noStrike">
                <a:solidFill>
                  <a:srgbClr val="172731"/>
                </a:solidFill>
                <a:latin typeface="Arial"/>
              </a:rPr>
              <a:t>5.12 M</a:t>
            </a:r>
            <a:endParaRPr b="0" lang="en-US" sz="760" spc="-1" strike="noStrike">
              <a:latin typeface="Arial"/>
            </a:endParaRPr>
          </a:p>
        </p:txBody>
      </p:sp>
      <p:sp>
        <p:nvSpPr>
          <p:cNvPr id="586" name=""/>
          <p:cNvSpPr txBox="1"/>
          <p:nvPr/>
        </p:nvSpPr>
        <p:spPr>
          <a:xfrm>
            <a:off x="11221200" y="3754800"/>
            <a:ext cx="1065600" cy="32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760" spc="-1" strike="noStrike">
                <a:solidFill>
                  <a:srgbClr val="172731"/>
                </a:solidFill>
                <a:latin typeface="Arial"/>
              </a:rPr>
              <a:t>75% / 85%</a:t>
            </a:r>
            <a:endParaRPr b="0" lang="en-US" sz="760" spc="-1" strike="noStrike">
              <a:latin typeface="Arial"/>
            </a:endParaRPr>
          </a:p>
        </p:txBody>
      </p:sp>
      <p:sp>
        <p:nvSpPr>
          <p:cNvPr id="587" name=""/>
          <p:cNvSpPr/>
          <p:nvPr/>
        </p:nvSpPr>
        <p:spPr>
          <a:xfrm>
            <a:off x="6300000" y="4104000"/>
            <a:ext cx="6048000" cy="396000"/>
          </a:xfrm>
          <a:prstGeom prst="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588" name=""/>
          <p:cNvSpPr txBox="1"/>
          <p:nvPr/>
        </p:nvSpPr>
        <p:spPr>
          <a:xfrm>
            <a:off x="6361200" y="4150800"/>
            <a:ext cx="1137600" cy="32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760" spc="-1" strike="noStrike">
                <a:solidFill>
                  <a:srgbClr val="172731"/>
                </a:solidFill>
                <a:latin typeface="Arial"/>
              </a:rPr>
              <a:t>TOTAL</a:t>
            </a:r>
            <a:endParaRPr b="0" lang="en-US" sz="760" spc="-1" strike="noStrike">
              <a:latin typeface="Arial"/>
            </a:endParaRPr>
          </a:p>
        </p:txBody>
      </p:sp>
      <p:sp>
        <p:nvSpPr>
          <p:cNvPr id="589" name=""/>
          <p:cNvSpPr txBox="1"/>
          <p:nvPr/>
        </p:nvSpPr>
        <p:spPr>
          <a:xfrm>
            <a:off x="7621200" y="4150800"/>
            <a:ext cx="525600" cy="32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760" spc="-1" strike="noStrike">
                <a:solidFill>
                  <a:srgbClr val="172731"/>
                </a:solidFill>
                <a:latin typeface="Arial"/>
              </a:rPr>
              <a:t>24</a:t>
            </a:r>
            <a:endParaRPr b="0" lang="en-US" sz="760" spc="-1" strike="noStrike">
              <a:latin typeface="Arial"/>
            </a:endParaRPr>
          </a:p>
        </p:txBody>
      </p:sp>
      <p:sp>
        <p:nvSpPr>
          <p:cNvPr id="590" name=""/>
          <p:cNvSpPr txBox="1"/>
          <p:nvPr/>
        </p:nvSpPr>
        <p:spPr>
          <a:xfrm>
            <a:off x="8269200" y="4150800"/>
            <a:ext cx="777600" cy="32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r">
              <a:buNone/>
            </a:pPr>
            <a:r>
              <a:rPr b="0" lang="en-US" sz="760" spc="-1" strike="noStrike">
                <a:solidFill>
                  <a:srgbClr val="172731"/>
                </a:solidFill>
                <a:latin typeface="Arial"/>
              </a:rPr>
              <a:t>20.48 T</a:t>
            </a:r>
            <a:endParaRPr b="0" lang="en-US" sz="760" spc="-1" strike="noStrike">
              <a:latin typeface="Arial"/>
            </a:endParaRPr>
          </a:p>
        </p:txBody>
      </p:sp>
      <p:sp>
        <p:nvSpPr>
          <p:cNvPr id="591" name=""/>
          <p:cNvSpPr txBox="1"/>
          <p:nvPr/>
        </p:nvSpPr>
        <p:spPr>
          <a:xfrm>
            <a:off x="9169200" y="4150800"/>
            <a:ext cx="813600" cy="32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r">
              <a:buNone/>
            </a:pPr>
            <a:r>
              <a:rPr b="0" lang="en-US" sz="760" spc="-1" strike="noStrike">
                <a:solidFill>
                  <a:srgbClr val="172731"/>
                </a:solidFill>
                <a:latin typeface="Arial"/>
              </a:rPr>
              <a:t>46.72 T</a:t>
            </a:r>
            <a:endParaRPr b="0" lang="en-US" sz="760" spc="-1" strike="noStrike">
              <a:latin typeface="Arial"/>
            </a:endParaRPr>
          </a:p>
        </p:txBody>
      </p:sp>
      <p:sp>
        <p:nvSpPr>
          <p:cNvPr id="592" name=""/>
          <p:cNvSpPr txBox="1"/>
          <p:nvPr/>
        </p:nvSpPr>
        <p:spPr>
          <a:xfrm>
            <a:off x="10105200" y="4150800"/>
            <a:ext cx="993600" cy="32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r">
              <a:buNone/>
            </a:pPr>
            <a:r>
              <a:rPr b="0" lang="en-US" sz="760" spc="-1" strike="noStrike">
                <a:solidFill>
                  <a:srgbClr val="172731"/>
                </a:solidFill>
                <a:latin typeface="Arial"/>
              </a:rPr>
              <a:t>57.60 M</a:t>
            </a:r>
            <a:endParaRPr b="0" lang="en-US" sz="760" spc="-1" strike="noStrike">
              <a:latin typeface="Arial"/>
            </a:endParaRPr>
          </a:p>
        </p:txBody>
      </p:sp>
      <p:sp>
        <p:nvSpPr>
          <p:cNvPr id="593" name=""/>
          <p:cNvSpPr txBox="1"/>
          <p:nvPr/>
        </p:nvSpPr>
        <p:spPr>
          <a:xfrm>
            <a:off x="11221200" y="4150800"/>
            <a:ext cx="1065600" cy="32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760" spc="-1" strike="noStrike">
                <a:solidFill>
                  <a:srgbClr val="172731"/>
                </a:solidFill>
                <a:latin typeface="Arial"/>
              </a:rPr>
              <a:t>mixed</a:t>
            </a:r>
            <a:endParaRPr b="0" lang="en-US" sz="760" spc="-1" strike="noStrike">
              <a:latin typeface="Arial"/>
            </a:endParaRPr>
          </a:p>
        </p:txBody>
      </p:sp>
      <p:sp>
        <p:nvSpPr>
          <p:cNvPr id="594" name=""/>
          <p:cNvSpPr txBox="1"/>
          <p:nvPr/>
        </p:nvSpPr>
        <p:spPr>
          <a:xfrm>
            <a:off x="6300000" y="4716000"/>
            <a:ext cx="5112000" cy="9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39" spc="-1" strike="noStrike">
                <a:solidFill>
                  <a:srgbClr val="172731"/>
                </a:solidFill>
                <a:latin typeface="Arial"/>
              </a:rPr>
              <a:t>Admission filters: health ∈ {healthy, degraded} · group eligible · locality path exists · optional max latency · session capacity available.</a:t>
            </a:r>
            <a:endParaRPr b="0" lang="en-US" sz="939" spc="-1" strike="noStrike">
              <a:latin typeface="Arial"/>
            </a:endParaRPr>
          </a:p>
        </p:txBody>
      </p:sp>
      <p:sp>
        <p:nvSpPr>
          <p:cNvPr id="595" name=""/>
          <p:cNvSpPr/>
          <p:nvPr/>
        </p:nvSpPr>
        <p:spPr>
          <a:xfrm>
            <a:off x="324000" y="6616800"/>
            <a:ext cx="11088000" cy="0"/>
          </a:xfrm>
          <a:prstGeom prst="line">
            <a:avLst/>
          </a:prstGeom>
          <a:ln w="1080">
            <a:solidFill>
              <a:srgbClr val="cfdc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96" name=""/>
          <p:cNvSpPr txBox="1"/>
          <p:nvPr/>
        </p:nvSpPr>
        <p:spPr>
          <a:xfrm>
            <a:off x="324000" y="6660000"/>
            <a:ext cx="10368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80" spc="-1" strike="noStrike">
                <a:solidFill>
                  <a:srgbClr val="718592"/>
                </a:solidFill>
                <a:latin typeface="Courier New"/>
              </a:rPr>
              <a:t>experiments/build_extreme_history_manifest.py::_upfs/_eligible_upfs · simulator/macro/config.py</a:t>
            </a:r>
            <a:endParaRPr b="0" lang="en-US" sz="680" spc="-1" strike="noStrike">
              <a:latin typeface="Arial"/>
            </a:endParaRPr>
          </a:p>
        </p:txBody>
      </p:sp>
      <p:sp>
        <p:nvSpPr>
          <p:cNvPr id="597" name=""/>
          <p:cNvSpPr txBox="1"/>
          <p:nvPr/>
        </p:nvSpPr>
        <p:spPr>
          <a:xfrm>
            <a:off x="11052000" y="6660000"/>
            <a:ext cx="684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buNone/>
            </a:pPr>
            <a:r>
              <a:rPr b="1" lang="en-US" sz="750" spc="-1" strike="noStrike">
                <a:solidFill>
                  <a:srgbClr val="718592"/>
                </a:solidFill>
                <a:latin typeface="Courier New"/>
              </a:rPr>
              <a:t>09</a:t>
            </a:r>
            <a:endParaRPr b="0" lang="en-US" sz="7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3f7f8"/>
          </a:solidFill>
          <a:ln w="0">
            <a:noFill/>
          </a:ln>
        </p:spPr>
      </p:sp>
      <p:sp>
        <p:nvSpPr>
          <p:cNvPr id="599" name=""/>
          <p:cNvSpPr txBox="1"/>
          <p:nvPr/>
        </p:nvSpPr>
        <p:spPr>
          <a:xfrm>
            <a:off x="324000" y="158400"/>
            <a:ext cx="3096000" cy="23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00" spc="508" strike="noStrike">
                <a:solidFill>
                  <a:srgbClr val="007c99"/>
                </a:solidFill>
                <a:latin typeface="Courier New"/>
              </a:rPr>
              <a:t>STAGE 1 · SIMULATOR MECHANICS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600" name=""/>
          <p:cNvSpPr txBox="1"/>
          <p:nvPr/>
        </p:nvSpPr>
        <p:spPr>
          <a:xfrm>
            <a:off x="324000" y="378000"/>
            <a:ext cx="10584000" cy="57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50" spc="-1" strike="noStrike">
                <a:solidFill>
                  <a:srgbClr val="172731"/>
                </a:solidFill>
                <a:latin typeface="Arial"/>
              </a:rPr>
              <a:t>Each 30-second tick preserves causal order and all traffic accounting states</a:t>
            </a:r>
            <a:endParaRPr b="0" lang="en-US" sz="2150" spc="-1" strike="noStrike">
              <a:latin typeface="Arial"/>
            </a:endParaRPr>
          </a:p>
        </p:txBody>
      </p:sp>
      <p:sp>
        <p:nvSpPr>
          <p:cNvPr id="601" name=""/>
          <p:cNvSpPr/>
          <p:nvPr/>
        </p:nvSpPr>
        <p:spPr>
          <a:xfrm>
            <a:off x="10800000" y="180000"/>
            <a:ext cx="936000" cy="19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602" name=""/>
          <p:cNvSpPr txBox="1"/>
          <p:nvPr/>
        </p:nvSpPr>
        <p:spPr>
          <a:xfrm>
            <a:off x="10818000" y="219600"/>
            <a:ext cx="900000" cy="10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710" spc="-1" strike="noStrike">
                <a:solidFill>
                  <a:srgbClr val="c77b0b"/>
                </a:solidFill>
                <a:latin typeface="Courier New"/>
              </a:rPr>
              <a:t>SYNTHETIC DATA</a:t>
            </a:r>
            <a:endParaRPr b="0" lang="en-US" sz="710" spc="-1" strike="noStrike">
              <a:latin typeface="Arial"/>
            </a:endParaRPr>
          </a:p>
        </p:txBody>
      </p:sp>
      <p:sp>
        <p:nvSpPr>
          <p:cNvPr id="603" name=""/>
          <p:cNvSpPr/>
          <p:nvPr/>
        </p:nvSpPr>
        <p:spPr>
          <a:xfrm>
            <a:off x="324000" y="1476000"/>
            <a:ext cx="5436000" cy="900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604" name=""/>
          <p:cNvSpPr/>
          <p:nvPr/>
        </p:nvSpPr>
        <p:spPr>
          <a:xfrm>
            <a:off x="324000" y="1476000"/>
            <a:ext cx="64800" cy="900000"/>
          </a:xfrm>
          <a:prstGeom prst="rect">
            <a:avLst/>
          </a:prstGeom>
          <a:solidFill>
            <a:srgbClr val="007c99"/>
          </a:solidFill>
          <a:ln w="0">
            <a:noFill/>
          </a:ln>
        </p:spPr>
      </p:sp>
      <p:sp>
        <p:nvSpPr>
          <p:cNvPr id="605" name=""/>
          <p:cNvSpPr/>
          <p:nvPr/>
        </p:nvSpPr>
        <p:spPr>
          <a:xfrm>
            <a:off x="540000" y="1692000"/>
            <a:ext cx="432000" cy="432000"/>
          </a:xfrm>
          <a:prstGeom prst="ellipse">
            <a:avLst/>
          </a:prstGeom>
          <a:solidFill>
            <a:srgbClr val="007c99"/>
          </a:solidFill>
          <a:ln w="0">
            <a:noFill/>
          </a:ln>
        </p:spPr>
      </p:sp>
      <p:sp>
        <p:nvSpPr>
          <p:cNvPr id="606" name=""/>
          <p:cNvSpPr txBox="1"/>
          <p:nvPr/>
        </p:nvSpPr>
        <p:spPr>
          <a:xfrm>
            <a:off x="540000" y="1800000"/>
            <a:ext cx="432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1000" spc="-1" strike="noStrike">
                <a:solidFill>
                  <a:srgbClr val="ffffff"/>
                </a:solidFill>
                <a:latin typeface="Courier New"/>
              </a:rPr>
              <a:t>1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607" name=""/>
          <p:cNvSpPr txBox="1"/>
          <p:nvPr/>
        </p:nvSpPr>
        <p:spPr>
          <a:xfrm>
            <a:off x="1152000" y="1656000"/>
            <a:ext cx="1260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39" spc="-1" strike="noStrike">
                <a:solidFill>
                  <a:srgbClr val="007c99"/>
                </a:solidFill>
                <a:latin typeface="Courier New"/>
              </a:rPr>
              <a:t>CLOSE</a:t>
            </a:r>
            <a:endParaRPr b="0" lang="en-US" sz="839" spc="-1" strike="noStrike">
              <a:latin typeface="Arial"/>
            </a:endParaRPr>
          </a:p>
        </p:txBody>
      </p:sp>
      <p:sp>
        <p:nvSpPr>
          <p:cNvPr id="608" name=""/>
          <p:cNvSpPr txBox="1"/>
          <p:nvPr/>
        </p:nvSpPr>
        <p:spPr>
          <a:xfrm>
            <a:off x="2412000" y="1620000"/>
            <a:ext cx="3060000" cy="5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70" spc="-1" strike="noStrike">
                <a:solidFill>
                  <a:srgbClr val="172731"/>
                </a:solidFill>
                <a:latin typeface="Arial"/>
              </a:rPr>
              <a:t>At a 10-minute boundary, close the prior 20-tick history bucket.</a:t>
            </a:r>
            <a:endParaRPr b="0" lang="en-US" sz="870" spc="-1" strike="noStrike">
              <a:latin typeface="Arial"/>
            </a:endParaRPr>
          </a:p>
        </p:txBody>
      </p:sp>
      <p:sp>
        <p:nvSpPr>
          <p:cNvPr id="609" name=""/>
          <p:cNvSpPr/>
          <p:nvPr/>
        </p:nvSpPr>
        <p:spPr>
          <a:xfrm>
            <a:off x="6102000" y="1476000"/>
            <a:ext cx="5436000" cy="900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610" name=""/>
          <p:cNvSpPr/>
          <p:nvPr/>
        </p:nvSpPr>
        <p:spPr>
          <a:xfrm>
            <a:off x="6102000" y="1476000"/>
            <a:ext cx="64800" cy="900000"/>
          </a:xfrm>
          <a:prstGeom prst="rect">
            <a:avLst/>
          </a:prstGeom>
          <a:solidFill>
            <a:srgbClr val="6750a4"/>
          </a:solidFill>
          <a:ln w="0">
            <a:noFill/>
          </a:ln>
        </p:spPr>
      </p:sp>
      <p:sp>
        <p:nvSpPr>
          <p:cNvPr id="611" name=""/>
          <p:cNvSpPr/>
          <p:nvPr/>
        </p:nvSpPr>
        <p:spPr>
          <a:xfrm>
            <a:off x="6318000" y="1692000"/>
            <a:ext cx="432000" cy="432000"/>
          </a:xfrm>
          <a:prstGeom prst="ellipse">
            <a:avLst/>
          </a:prstGeom>
          <a:solidFill>
            <a:srgbClr val="6750a4"/>
          </a:solidFill>
          <a:ln w="0">
            <a:noFill/>
          </a:ln>
        </p:spPr>
      </p:sp>
      <p:sp>
        <p:nvSpPr>
          <p:cNvPr id="612" name=""/>
          <p:cNvSpPr txBox="1"/>
          <p:nvPr/>
        </p:nvSpPr>
        <p:spPr>
          <a:xfrm>
            <a:off x="6318000" y="1800000"/>
            <a:ext cx="432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1000" spc="-1" strike="noStrike">
                <a:solidFill>
                  <a:srgbClr val="ffffff"/>
                </a:solidFill>
                <a:latin typeface="Courier New"/>
              </a:rPr>
              <a:t>2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613" name=""/>
          <p:cNvSpPr txBox="1"/>
          <p:nvPr/>
        </p:nvSpPr>
        <p:spPr>
          <a:xfrm>
            <a:off x="6930000" y="1656000"/>
            <a:ext cx="1260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39" spc="-1" strike="noStrike">
                <a:solidFill>
                  <a:srgbClr val="6750a4"/>
                </a:solidFill>
                <a:latin typeface="Courier New"/>
              </a:rPr>
              <a:t>EVENTS</a:t>
            </a:r>
            <a:endParaRPr b="0" lang="en-US" sz="839" spc="-1" strike="noStrike">
              <a:latin typeface="Arial"/>
            </a:endParaRPr>
          </a:p>
        </p:txBody>
      </p:sp>
      <p:sp>
        <p:nvSpPr>
          <p:cNvPr id="614" name=""/>
          <p:cNvSpPr txBox="1"/>
          <p:nvPr/>
        </p:nvSpPr>
        <p:spPr>
          <a:xfrm>
            <a:off x="8190000" y="1620000"/>
            <a:ext cx="3060000" cy="5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70" spc="-1" strike="noStrike">
                <a:solidFill>
                  <a:srgbClr val="172731"/>
                </a:solidFill>
                <a:latin typeface="Arial"/>
              </a:rPr>
              <a:t>Apply arrival, capacity, health and latency events for this tick.</a:t>
            </a:r>
            <a:endParaRPr b="0" lang="en-US" sz="870" spc="-1" strike="noStrike">
              <a:latin typeface="Arial"/>
            </a:endParaRPr>
          </a:p>
        </p:txBody>
      </p:sp>
      <p:sp>
        <p:nvSpPr>
          <p:cNvPr id="615" name=""/>
          <p:cNvSpPr/>
          <p:nvPr/>
        </p:nvSpPr>
        <p:spPr>
          <a:xfrm>
            <a:off x="324000" y="2592000"/>
            <a:ext cx="5436000" cy="900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616" name=""/>
          <p:cNvSpPr/>
          <p:nvPr/>
        </p:nvSpPr>
        <p:spPr>
          <a:xfrm>
            <a:off x="324000" y="2592000"/>
            <a:ext cx="64800" cy="900000"/>
          </a:xfrm>
          <a:prstGeom prst="rect">
            <a:avLst/>
          </a:prstGeom>
          <a:solidFill>
            <a:srgbClr val="007c99"/>
          </a:solidFill>
          <a:ln w="0">
            <a:noFill/>
          </a:ln>
        </p:spPr>
      </p:sp>
      <p:sp>
        <p:nvSpPr>
          <p:cNvPr id="617" name=""/>
          <p:cNvSpPr/>
          <p:nvPr/>
        </p:nvSpPr>
        <p:spPr>
          <a:xfrm>
            <a:off x="540000" y="2808000"/>
            <a:ext cx="432000" cy="432000"/>
          </a:xfrm>
          <a:prstGeom prst="ellipse">
            <a:avLst/>
          </a:prstGeom>
          <a:solidFill>
            <a:srgbClr val="007c99"/>
          </a:solidFill>
          <a:ln w="0">
            <a:noFill/>
          </a:ln>
        </p:spPr>
      </p:sp>
      <p:sp>
        <p:nvSpPr>
          <p:cNvPr id="618" name=""/>
          <p:cNvSpPr txBox="1"/>
          <p:nvPr/>
        </p:nvSpPr>
        <p:spPr>
          <a:xfrm>
            <a:off x="540000" y="2916000"/>
            <a:ext cx="432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1000" spc="-1" strike="noStrike">
                <a:solidFill>
                  <a:srgbClr val="ffffff"/>
                </a:solidFill>
                <a:latin typeface="Courier New"/>
              </a:rPr>
              <a:t>3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619" name=""/>
          <p:cNvSpPr txBox="1"/>
          <p:nvPr/>
        </p:nvSpPr>
        <p:spPr>
          <a:xfrm>
            <a:off x="1152000" y="2772000"/>
            <a:ext cx="1260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39" spc="-1" strike="noStrike">
                <a:solidFill>
                  <a:srgbClr val="007c99"/>
                </a:solidFill>
                <a:latin typeface="Courier New"/>
              </a:rPr>
              <a:t>POLICY</a:t>
            </a:r>
            <a:endParaRPr b="0" lang="en-US" sz="839" spc="-1" strike="noStrike">
              <a:latin typeface="Arial"/>
            </a:endParaRPr>
          </a:p>
        </p:txBody>
      </p:sp>
      <p:sp>
        <p:nvSpPr>
          <p:cNvPr id="620" name=""/>
          <p:cNvSpPr txBox="1"/>
          <p:nvPr/>
        </p:nvSpPr>
        <p:spPr>
          <a:xfrm>
            <a:off x="2412000" y="2736000"/>
            <a:ext cx="3060000" cy="5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70" spc="-1" strike="noStrike">
                <a:solidFill>
                  <a:srgbClr val="172731"/>
                </a:solidFill>
                <a:latin typeface="Arial"/>
              </a:rPr>
              <a:t>Replan if due using current state and only causal history.</a:t>
            </a:r>
            <a:endParaRPr b="0" lang="en-US" sz="870" spc="-1" strike="noStrike">
              <a:latin typeface="Arial"/>
            </a:endParaRPr>
          </a:p>
        </p:txBody>
      </p:sp>
      <p:sp>
        <p:nvSpPr>
          <p:cNvPr id="621" name=""/>
          <p:cNvSpPr/>
          <p:nvPr/>
        </p:nvSpPr>
        <p:spPr>
          <a:xfrm>
            <a:off x="6102000" y="2592000"/>
            <a:ext cx="5436000" cy="900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622" name=""/>
          <p:cNvSpPr/>
          <p:nvPr/>
        </p:nvSpPr>
        <p:spPr>
          <a:xfrm>
            <a:off x="6102000" y="2592000"/>
            <a:ext cx="64800" cy="900000"/>
          </a:xfrm>
          <a:prstGeom prst="rect">
            <a:avLst/>
          </a:prstGeom>
          <a:solidFill>
            <a:srgbClr val="6750a4"/>
          </a:solidFill>
          <a:ln w="0">
            <a:noFill/>
          </a:ln>
        </p:spPr>
      </p:sp>
      <p:sp>
        <p:nvSpPr>
          <p:cNvPr id="623" name=""/>
          <p:cNvSpPr/>
          <p:nvPr/>
        </p:nvSpPr>
        <p:spPr>
          <a:xfrm>
            <a:off x="6318000" y="2808000"/>
            <a:ext cx="432000" cy="432000"/>
          </a:xfrm>
          <a:prstGeom prst="ellipse">
            <a:avLst/>
          </a:prstGeom>
          <a:solidFill>
            <a:srgbClr val="6750a4"/>
          </a:solidFill>
          <a:ln w="0">
            <a:noFill/>
          </a:ln>
        </p:spPr>
      </p:sp>
      <p:sp>
        <p:nvSpPr>
          <p:cNvPr id="624" name=""/>
          <p:cNvSpPr txBox="1"/>
          <p:nvPr/>
        </p:nvSpPr>
        <p:spPr>
          <a:xfrm>
            <a:off x="6318000" y="2916000"/>
            <a:ext cx="432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1000" spc="-1" strike="noStrike">
                <a:solidFill>
                  <a:srgbClr val="ffffff"/>
                </a:solidFill>
                <a:latin typeface="Courier New"/>
              </a:rPr>
              <a:t>4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625" name=""/>
          <p:cNvSpPr txBox="1"/>
          <p:nvPr/>
        </p:nvSpPr>
        <p:spPr>
          <a:xfrm>
            <a:off x="6930000" y="2772000"/>
            <a:ext cx="1260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39" spc="-1" strike="noStrike">
                <a:solidFill>
                  <a:srgbClr val="6750a4"/>
                </a:solidFill>
                <a:latin typeface="Courier New"/>
              </a:rPr>
              <a:t>ARRIVALS</a:t>
            </a:r>
            <a:endParaRPr b="0" lang="en-US" sz="839" spc="-1" strike="noStrike">
              <a:latin typeface="Arial"/>
            </a:endParaRPr>
          </a:p>
        </p:txBody>
      </p:sp>
      <p:sp>
        <p:nvSpPr>
          <p:cNvPr id="626" name=""/>
          <p:cNvSpPr txBox="1"/>
          <p:nvPr/>
        </p:nvSpPr>
        <p:spPr>
          <a:xfrm>
            <a:off x="8190000" y="2736000"/>
            <a:ext cx="3060000" cy="5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70" spc="-1" strike="noStrike">
                <a:solidFill>
                  <a:srgbClr val="172731"/>
                </a:solidFill>
                <a:latin typeface="Arial"/>
              </a:rPr>
              <a:t>Draw exact Poisson arrivals per group from independent streams.</a:t>
            </a:r>
            <a:endParaRPr b="0" lang="en-US" sz="870" spc="-1" strike="noStrike">
              <a:latin typeface="Arial"/>
            </a:endParaRPr>
          </a:p>
        </p:txBody>
      </p:sp>
      <p:sp>
        <p:nvSpPr>
          <p:cNvPr id="627" name=""/>
          <p:cNvSpPr/>
          <p:nvPr/>
        </p:nvSpPr>
        <p:spPr>
          <a:xfrm>
            <a:off x="324000" y="3708000"/>
            <a:ext cx="5436000" cy="900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628" name=""/>
          <p:cNvSpPr/>
          <p:nvPr/>
        </p:nvSpPr>
        <p:spPr>
          <a:xfrm>
            <a:off x="324000" y="3708000"/>
            <a:ext cx="64800" cy="900000"/>
          </a:xfrm>
          <a:prstGeom prst="rect">
            <a:avLst/>
          </a:prstGeom>
          <a:solidFill>
            <a:srgbClr val="007c99"/>
          </a:solidFill>
          <a:ln w="0">
            <a:noFill/>
          </a:ln>
        </p:spPr>
      </p:sp>
      <p:sp>
        <p:nvSpPr>
          <p:cNvPr id="629" name=""/>
          <p:cNvSpPr/>
          <p:nvPr/>
        </p:nvSpPr>
        <p:spPr>
          <a:xfrm>
            <a:off x="540000" y="3924000"/>
            <a:ext cx="432000" cy="432000"/>
          </a:xfrm>
          <a:prstGeom prst="ellipse">
            <a:avLst/>
          </a:prstGeom>
          <a:solidFill>
            <a:srgbClr val="007c99"/>
          </a:solidFill>
          <a:ln w="0">
            <a:noFill/>
          </a:ln>
        </p:spPr>
      </p:sp>
      <p:sp>
        <p:nvSpPr>
          <p:cNvPr id="630" name=""/>
          <p:cNvSpPr txBox="1"/>
          <p:nvPr/>
        </p:nvSpPr>
        <p:spPr>
          <a:xfrm>
            <a:off x="540000" y="4032000"/>
            <a:ext cx="432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1000" spc="-1" strike="noStrike">
                <a:solidFill>
                  <a:srgbClr val="ffffff"/>
                </a:solidFill>
                <a:latin typeface="Courier New"/>
              </a:rPr>
              <a:t>5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631" name=""/>
          <p:cNvSpPr txBox="1"/>
          <p:nvPr/>
        </p:nvSpPr>
        <p:spPr>
          <a:xfrm>
            <a:off x="1152000" y="3888000"/>
            <a:ext cx="1260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39" spc="-1" strike="noStrike">
                <a:solidFill>
                  <a:srgbClr val="007c99"/>
                </a:solidFill>
                <a:latin typeface="Courier New"/>
              </a:rPr>
              <a:t>SELECT</a:t>
            </a:r>
            <a:endParaRPr b="0" lang="en-US" sz="839" spc="-1" strike="noStrike">
              <a:latin typeface="Arial"/>
            </a:endParaRPr>
          </a:p>
        </p:txBody>
      </p:sp>
      <p:sp>
        <p:nvSpPr>
          <p:cNvPr id="632" name=""/>
          <p:cNvSpPr txBox="1"/>
          <p:nvPr/>
        </p:nvSpPr>
        <p:spPr>
          <a:xfrm>
            <a:off x="2412000" y="3852000"/>
            <a:ext cx="3060000" cy="5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70" spc="-1" strike="noStrike">
                <a:solidFill>
                  <a:srgbClr val="172731"/>
                </a:solidFill>
                <a:latin typeface="Arial"/>
              </a:rPr>
              <a:t>Filter eligible/healthy UPFs and run weighted rendezvous per session.</a:t>
            </a:r>
            <a:endParaRPr b="0" lang="en-US" sz="870" spc="-1" strike="noStrike">
              <a:latin typeface="Arial"/>
            </a:endParaRPr>
          </a:p>
        </p:txBody>
      </p:sp>
      <p:sp>
        <p:nvSpPr>
          <p:cNvPr id="633" name=""/>
          <p:cNvSpPr/>
          <p:nvPr/>
        </p:nvSpPr>
        <p:spPr>
          <a:xfrm>
            <a:off x="6102000" y="3708000"/>
            <a:ext cx="5436000" cy="900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634" name=""/>
          <p:cNvSpPr/>
          <p:nvPr/>
        </p:nvSpPr>
        <p:spPr>
          <a:xfrm>
            <a:off x="6102000" y="3708000"/>
            <a:ext cx="64800" cy="900000"/>
          </a:xfrm>
          <a:prstGeom prst="rect">
            <a:avLst/>
          </a:prstGeom>
          <a:solidFill>
            <a:srgbClr val="6750a4"/>
          </a:solidFill>
          <a:ln w="0">
            <a:noFill/>
          </a:ln>
        </p:spPr>
      </p:sp>
      <p:sp>
        <p:nvSpPr>
          <p:cNvPr id="635" name=""/>
          <p:cNvSpPr/>
          <p:nvPr/>
        </p:nvSpPr>
        <p:spPr>
          <a:xfrm>
            <a:off x="6318000" y="3924000"/>
            <a:ext cx="432000" cy="432000"/>
          </a:xfrm>
          <a:prstGeom prst="ellipse">
            <a:avLst/>
          </a:prstGeom>
          <a:solidFill>
            <a:srgbClr val="6750a4"/>
          </a:solidFill>
          <a:ln w="0">
            <a:noFill/>
          </a:ln>
        </p:spPr>
      </p:sp>
      <p:sp>
        <p:nvSpPr>
          <p:cNvPr id="636" name=""/>
          <p:cNvSpPr txBox="1"/>
          <p:nvPr/>
        </p:nvSpPr>
        <p:spPr>
          <a:xfrm>
            <a:off x="6318000" y="4032000"/>
            <a:ext cx="432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1000" spc="-1" strike="noStrike">
                <a:solidFill>
                  <a:srgbClr val="ffffff"/>
                </a:solidFill>
                <a:latin typeface="Courier New"/>
              </a:rPr>
              <a:t>6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637" name=""/>
          <p:cNvSpPr txBox="1"/>
          <p:nvPr/>
        </p:nvSpPr>
        <p:spPr>
          <a:xfrm>
            <a:off x="6930000" y="3888000"/>
            <a:ext cx="1260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39" spc="-1" strike="noStrike">
                <a:solidFill>
                  <a:srgbClr val="6750a4"/>
                </a:solidFill>
                <a:latin typeface="Courier New"/>
              </a:rPr>
              <a:t>ADMIT</a:t>
            </a:r>
            <a:endParaRPr b="0" lang="en-US" sz="839" spc="-1" strike="noStrike">
              <a:latin typeface="Arial"/>
            </a:endParaRPr>
          </a:p>
        </p:txBody>
      </p:sp>
      <p:sp>
        <p:nvSpPr>
          <p:cNvPr id="638" name=""/>
          <p:cNvSpPr txBox="1"/>
          <p:nvPr/>
        </p:nvSpPr>
        <p:spPr>
          <a:xfrm>
            <a:off x="8190000" y="3852000"/>
            <a:ext cx="3060000" cy="5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70" spc="-1" strike="noStrike">
                <a:solidFill>
                  <a:srgbClr val="172731"/>
                </a:solidFill>
                <a:latin typeface="Arial"/>
              </a:rPr>
              <a:t>Check session capacity; draw uniform lifetime and create a cohort.</a:t>
            </a:r>
            <a:endParaRPr b="0" lang="en-US" sz="870" spc="-1" strike="noStrike">
              <a:latin typeface="Arial"/>
            </a:endParaRPr>
          </a:p>
        </p:txBody>
      </p:sp>
      <p:sp>
        <p:nvSpPr>
          <p:cNvPr id="639" name=""/>
          <p:cNvSpPr/>
          <p:nvPr/>
        </p:nvSpPr>
        <p:spPr>
          <a:xfrm>
            <a:off x="324000" y="4824000"/>
            <a:ext cx="5436000" cy="900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640" name=""/>
          <p:cNvSpPr/>
          <p:nvPr/>
        </p:nvSpPr>
        <p:spPr>
          <a:xfrm>
            <a:off x="324000" y="4824000"/>
            <a:ext cx="64800" cy="900000"/>
          </a:xfrm>
          <a:prstGeom prst="rect">
            <a:avLst/>
          </a:prstGeom>
          <a:solidFill>
            <a:srgbClr val="007c99"/>
          </a:solidFill>
          <a:ln w="0">
            <a:noFill/>
          </a:ln>
        </p:spPr>
      </p:sp>
      <p:sp>
        <p:nvSpPr>
          <p:cNvPr id="641" name=""/>
          <p:cNvSpPr/>
          <p:nvPr/>
        </p:nvSpPr>
        <p:spPr>
          <a:xfrm>
            <a:off x="540000" y="5040000"/>
            <a:ext cx="432000" cy="432000"/>
          </a:xfrm>
          <a:prstGeom prst="ellipse">
            <a:avLst/>
          </a:prstGeom>
          <a:solidFill>
            <a:srgbClr val="007c99"/>
          </a:solidFill>
          <a:ln w="0">
            <a:noFill/>
          </a:ln>
        </p:spPr>
      </p:sp>
      <p:sp>
        <p:nvSpPr>
          <p:cNvPr id="642" name=""/>
          <p:cNvSpPr txBox="1"/>
          <p:nvPr/>
        </p:nvSpPr>
        <p:spPr>
          <a:xfrm>
            <a:off x="540000" y="5148000"/>
            <a:ext cx="432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1000" spc="-1" strike="noStrike">
                <a:solidFill>
                  <a:srgbClr val="ffffff"/>
                </a:solidFill>
                <a:latin typeface="Courier New"/>
              </a:rPr>
              <a:t>7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643" name=""/>
          <p:cNvSpPr txBox="1"/>
          <p:nvPr/>
        </p:nvSpPr>
        <p:spPr>
          <a:xfrm>
            <a:off x="1152000" y="5004000"/>
            <a:ext cx="1260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39" spc="-1" strike="noStrike">
                <a:solidFill>
                  <a:srgbClr val="007c99"/>
                </a:solidFill>
                <a:latin typeface="Courier New"/>
              </a:rPr>
              <a:t>SERVE</a:t>
            </a:r>
            <a:endParaRPr b="0" lang="en-US" sz="839" spc="-1" strike="noStrike">
              <a:latin typeface="Arial"/>
            </a:endParaRPr>
          </a:p>
        </p:txBody>
      </p:sp>
      <p:sp>
        <p:nvSpPr>
          <p:cNvPr id="644" name=""/>
          <p:cNvSpPr txBox="1"/>
          <p:nvPr/>
        </p:nvSpPr>
        <p:spPr>
          <a:xfrm>
            <a:off x="2412000" y="4968000"/>
            <a:ext cx="3060000" cy="5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70" spc="-1" strike="noStrike">
                <a:solidFill>
                  <a:srgbClr val="172731"/>
                </a:solidFill>
                <a:latin typeface="Arial"/>
              </a:rPr>
              <a:t>Apply capacity, queues and drops separately for UL and DL.</a:t>
            </a:r>
            <a:endParaRPr b="0" lang="en-US" sz="870" spc="-1" strike="noStrike">
              <a:latin typeface="Arial"/>
            </a:endParaRPr>
          </a:p>
        </p:txBody>
      </p:sp>
      <p:sp>
        <p:nvSpPr>
          <p:cNvPr id="645" name=""/>
          <p:cNvSpPr/>
          <p:nvPr/>
        </p:nvSpPr>
        <p:spPr>
          <a:xfrm>
            <a:off x="6102000" y="4824000"/>
            <a:ext cx="5436000" cy="900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646" name=""/>
          <p:cNvSpPr/>
          <p:nvPr/>
        </p:nvSpPr>
        <p:spPr>
          <a:xfrm>
            <a:off x="6102000" y="4824000"/>
            <a:ext cx="64800" cy="900000"/>
          </a:xfrm>
          <a:prstGeom prst="rect">
            <a:avLst/>
          </a:prstGeom>
          <a:solidFill>
            <a:srgbClr val="6750a4"/>
          </a:solidFill>
          <a:ln w="0">
            <a:noFill/>
          </a:ln>
        </p:spPr>
      </p:sp>
      <p:sp>
        <p:nvSpPr>
          <p:cNvPr id="647" name=""/>
          <p:cNvSpPr/>
          <p:nvPr/>
        </p:nvSpPr>
        <p:spPr>
          <a:xfrm>
            <a:off x="6318000" y="5040000"/>
            <a:ext cx="432000" cy="432000"/>
          </a:xfrm>
          <a:prstGeom prst="ellipse">
            <a:avLst/>
          </a:prstGeom>
          <a:solidFill>
            <a:srgbClr val="6750a4"/>
          </a:solidFill>
          <a:ln w="0">
            <a:noFill/>
          </a:ln>
        </p:spPr>
      </p:sp>
      <p:sp>
        <p:nvSpPr>
          <p:cNvPr id="648" name=""/>
          <p:cNvSpPr txBox="1"/>
          <p:nvPr/>
        </p:nvSpPr>
        <p:spPr>
          <a:xfrm>
            <a:off x="6318000" y="5148000"/>
            <a:ext cx="432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1000" spc="-1" strike="noStrike">
                <a:solidFill>
                  <a:srgbClr val="ffffff"/>
                </a:solidFill>
                <a:latin typeface="Courier New"/>
              </a:rPr>
              <a:t>8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649" name=""/>
          <p:cNvSpPr txBox="1"/>
          <p:nvPr/>
        </p:nvSpPr>
        <p:spPr>
          <a:xfrm>
            <a:off x="6930000" y="5004000"/>
            <a:ext cx="1260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39" spc="-1" strike="noStrike">
                <a:solidFill>
                  <a:srgbClr val="6750a4"/>
                </a:solidFill>
                <a:latin typeface="Courier New"/>
              </a:rPr>
              <a:t>EMIT</a:t>
            </a:r>
            <a:endParaRPr b="0" lang="en-US" sz="839" spc="-1" strike="noStrike">
              <a:latin typeface="Arial"/>
            </a:endParaRPr>
          </a:p>
        </p:txBody>
      </p:sp>
      <p:sp>
        <p:nvSpPr>
          <p:cNvPr id="650" name=""/>
          <p:cNvSpPr txBox="1"/>
          <p:nvPr/>
        </p:nvSpPr>
        <p:spPr>
          <a:xfrm>
            <a:off x="8190000" y="4968000"/>
            <a:ext cx="3060000" cy="5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70" spc="-1" strike="noStrike">
                <a:solidFill>
                  <a:srgbClr val="172731"/>
                </a:solidFill>
                <a:latin typeface="Arial"/>
              </a:rPr>
              <a:t>Write step telemetry, audit samples and boundary group/UPF state.</a:t>
            </a:r>
            <a:endParaRPr b="0" lang="en-US" sz="870" spc="-1" strike="noStrike">
              <a:latin typeface="Arial"/>
            </a:endParaRPr>
          </a:p>
        </p:txBody>
      </p:sp>
      <p:sp>
        <p:nvSpPr>
          <p:cNvPr id="651" name=""/>
          <p:cNvSpPr/>
          <p:nvPr/>
        </p:nvSpPr>
        <p:spPr>
          <a:xfrm>
            <a:off x="324000" y="6048000"/>
            <a:ext cx="11412000" cy="288000"/>
          </a:xfrm>
          <a:prstGeom prst="roundRect">
            <a:avLst/>
          </a:prstGeom>
          <a:solidFill>
            <a:srgbClr val="e1f1f4"/>
          </a:solidFill>
          <a:ln w="0">
            <a:noFill/>
          </a:ln>
        </p:spPr>
      </p:sp>
      <p:sp>
        <p:nvSpPr>
          <p:cNvPr id="652" name=""/>
          <p:cNvSpPr/>
          <p:nvPr/>
        </p:nvSpPr>
        <p:spPr>
          <a:xfrm>
            <a:off x="324000" y="6048000"/>
            <a:ext cx="64800" cy="288000"/>
          </a:xfrm>
          <a:prstGeom prst="rect">
            <a:avLst/>
          </a:prstGeom>
          <a:solidFill>
            <a:srgbClr val="007c99"/>
          </a:solidFill>
          <a:ln w="0">
            <a:noFill/>
          </a:ln>
        </p:spPr>
      </p:sp>
      <p:sp>
        <p:nvSpPr>
          <p:cNvPr id="653" name=""/>
          <p:cNvSpPr txBox="1"/>
          <p:nvPr/>
        </p:nvSpPr>
        <p:spPr>
          <a:xfrm>
            <a:off x="576000" y="6102000"/>
            <a:ext cx="10908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20" spc="-1" strike="noStrike">
                <a:solidFill>
                  <a:srgbClr val="172731"/>
                </a:solidFill>
                <a:latin typeface="Arial"/>
              </a:rPr>
              <a:t>Traffic is recorded as offered → carried / queued / dropped, while admission failures and unplaced rejections remain separate.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654" name=""/>
          <p:cNvSpPr/>
          <p:nvPr/>
        </p:nvSpPr>
        <p:spPr>
          <a:xfrm>
            <a:off x="324000" y="6616800"/>
            <a:ext cx="11088000" cy="0"/>
          </a:xfrm>
          <a:prstGeom prst="line">
            <a:avLst/>
          </a:prstGeom>
          <a:ln w="1080">
            <a:solidFill>
              <a:srgbClr val="cfdc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55" name=""/>
          <p:cNvSpPr txBox="1"/>
          <p:nvPr/>
        </p:nvSpPr>
        <p:spPr>
          <a:xfrm>
            <a:off x="324000" y="6660000"/>
            <a:ext cx="10368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80" spc="-1" strike="noStrike">
                <a:solidFill>
                  <a:srgbClr val="718592"/>
                </a:solidFill>
                <a:latin typeface="Courier New"/>
              </a:rPr>
              <a:t>simulator/macro/engine.py::Simulator.advance · simulator/macro/model.py · steering/hashing.py</a:t>
            </a:r>
            <a:endParaRPr b="0" lang="en-US" sz="680" spc="-1" strike="noStrike">
              <a:latin typeface="Arial"/>
            </a:endParaRPr>
          </a:p>
        </p:txBody>
      </p:sp>
      <p:sp>
        <p:nvSpPr>
          <p:cNvPr id="656" name=""/>
          <p:cNvSpPr txBox="1"/>
          <p:nvPr/>
        </p:nvSpPr>
        <p:spPr>
          <a:xfrm>
            <a:off x="11052000" y="6660000"/>
            <a:ext cx="684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buNone/>
            </a:pPr>
            <a:r>
              <a:rPr b="1" lang="en-US" sz="750" spc="-1" strike="noStrike">
                <a:solidFill>
                  <a:srgbClr val="718592"/>
                </a:solidFill>
                <a:latin typeface="Courier New"/>
              </a:rPr>
              <a:t>10</a:t>
            </a:r>
            <a:endParaRPr b="0" lang="en-US" sz="7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3f7f8"/>
          </a:solidFill>
          <a:ln w="0">
            <a:noFill/>
          </a:ln>
        </p:spPr>
      </p:sp>
      <p:sp>
        <p:nvSpPr>
          <p:cNvPr id="658" name=""/>
          <p:cNvSpPr txBox="1"/>
          <p:nvPr/>
        </p:nvSpPr>
        <p:spPr>
          <a:xfrm>
            <a:off x="324000" y="158400"/>
            <a:ext cx="3096000" cy="23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00" spc="508" strike="noStrike">
                <a:solidFill>
                  <a:srgbClr val="007c99"/>
                </a:solidFill>
                <a:latin typeface="Courier New"/>
              </a:rPr>
              <a:t>STAGE 1 · DATASET AND ARTIFACTS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659" name=""/>
          <p:cNvSpPr txBox="1"/>
          <p:nvPr/>
        </p:nvSpPr>
        <p:spPr>
          <a:xfrm>
            <a:off x="324000" y="378000"/>
            <a:ext cx="10584000" cy="57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50" spc="-1" strike="noStrike">
                <a:solidFill>
                  <a:srgbClr val="172731"/>
                </a:solidFill>
                <a:latin typeface="Arial"/>
              </a:rPr>
              <a:t>The 16-week extreme campaign is large enough to stress the full offline path</a:t>
            </a:r>
            <a:endParaRPr b="0" lang="en-US" sz="2150" spc="-1" strike="noStrike">
              <a:latin typeface="Arial"/>
            </a:endParaRPr>
          </a:p>
        </p:txBody>
      </p:sp>
      <p:sp>
        <p:nvSpPr>
          <p:cNvPr id="660" name=""/>
          <p:cNvSpPr/>
          <p:nvPr/>
        </p:nvSpPr>
        <p:spPr>
          <a:xfrm>
            <a:off x="10800000" y="180000"/>
            <a:ext cx="936000" cy="19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661" name=""/>
          <p:cNvSpPr txBox="1"/>
          <p:nvPr/>
        </p:nvSpPr>
        <p:spPr>
          <a:xfrm>
            <a:off x="10818000" y="219600"/>
            <a:ext cx="900000" cy="10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710" spc="-1" strike="noStrike">
                <a:solidFill>
                  <a:srgbClr val="c77b0b"/>
                </a:solidFill>
                <a:latin typeface="Courier New"/>
              </a:rPr>
              <a:t>SYNTHETIC DATA</a:t>
            </a:r>
            <a:endParaRPr b="0" lang="en-US" sz="710" spc="-1" strike="noStrike">
              <a:latin typeface="Arial"/>
            </a:endParaRPr>
          </a:p>
        </p:txBody>
      </p:sp>
      <p:sp>
        <p:nvSpPr>
          <p:cNvPr id="662" name=""/>
          <p:cNvSpPr/>
          <p:nvPr/>
        </p:nvSpPr>
        <p:spPr>
          <a:xfrm>
            <a:off x="324000" y="1404000"/>
            <a:ext cx="2664000" cy="100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663" name=""/>
          <p:cNvSpPr/>
          <p:nvPr/>
        </p:nvSpPr>
        <p:spPr>
          <a:xfrm>
            <a:off x="324000" y="1404000"/>
            <a:ext cx="64800" cy="1008000"/>
          </a:xfrm>
          <a:prstGeom prst="rect">
            <a:avLst/>
          </a:prstGeom>
          <a:solidFill>
            <a:srgbClr val="007c99"/>
          </a:solidFill>
          <a:ln w="0">
            <a:noFill/>
          </a:ln>
        </p:spPr>
      </p:sp>
      <p:sp>
        <p:nvSpPr>
          <p:cNvPr id="664" name=""/>
          <p:cNvSpPr txBox="1"/>
          <p:nvPr/>
        </p:nvSpPr>
        <p:spPr>
          <a:xfrm>
            <a:off x="504000" y="1548000"/>
            <a:ext cx="2340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20" spc="-1" strike="noStrike">
                <a:solidFill>
                  <a:srgbClr val="718592"/>
                </a:solidFill>
                <a:latin typeface="Courier New"/>
              </a:rPr>
              <a:t>DURATION</a:t>
            </a:r>
            <a:endParaRPr b="0" lang="en-US" sz="720" spc="-1" strike="noStrike">
              <a:latin typeface="Arial"/>
            </a:endParaRPr>
          </a:p>
        </p:txBody>
      </p:sp>
      <p:sp>
        <p:nvSpPr>
          <p:cNvPr id="665" name=""/>
          <p:cNvSpPr txBox="1"/>
          <p:nvPr/>
        </p:nvSpPr>
        <p:spPr>
          <a:xfrm>
            <a:off x="504000" y="1728000"/>
            <a:ext cx="2340000" cy="34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400" spc="-1" strike="noStrike">
                <a:solidFill>
                  <a:srgbClr val="007c99"/>
                </a:solidFill>
                <a:latin typeface="Arial"/>
              </a:rPr>
              <a:t>112 d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666" name=""/>
          <p:cNvSpPr txBox="1"/>
          <p:nvPr/>
        </p:nvSpPr>
        <p:spPr>
          <a:xfrm>
            <a:off x="504000" y="2124000"/>
            <a:ext cx="2340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20" spc="-1" strike="noStrike">
                <a:solidFill>
                  <a:srgbClr val="526875"/>
                </a:solidFill>
                <a:latin typeface="Arial"/>
              </a:rPr>
              <a:t>322,560 × 30-second ticks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667" name=""/>
          <p:cNvSpPr/>
          <p:nvPr/>
        </p:nvSpPr>
        <p:spPr>
          <a:xfrm>
            <a:off x="3204000" y="1404000"/>
            <a:ext cx="2664000" cy="100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668" name=""/>
          <p:cNvSpPr/>
          <p:nvPr/>
        </p:nvSpPr>
        <p:spPr>
          <a:xfrm>
            <a:off x="3204000" y="1404000"/>
            <a:ext cx="64800" cy="1008000"/>
          </a:xfrm>
          <a:prstGeom prst="rect">
            <a:avLst/>
          </a:prstGeom>
          <a:solidFill>
            <a:srgbClr val="6750a4"/>
          </a:solidFill>
          <a:ln w="0">
            <a:noFill/>
          </a:ln>
        </p:spPr>
      </p:sp>
      <p:sp>
        <p:nvSpPr>
          <p:cNvPr id="669" name=""/>
          <p:cNvSpPr txBox="1"/>
          <p:nvPr/>
        </p:nvSpPr>
        <p:spPr>
          <a:xfrm>
            <a:off x="3384000" y="1548000"/>
            <a:ext cx="2340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20" spc="-1" strike="noStrike">
                <a:solidFill>
                  <a:srgbClr val="718592"/>
                </a:solidFill>
                <a:latin typeface="Courier New"/>
              </a:rPr>
              <a:t>TRAINING ROWS</a:t>
            </a:r>
            <a:endParaRPr b="0" lang="en-US" sz="720" spc="-1" strike="noStrike">
              <a:latin typeface="Arial"/>
            </a:endParaRPr>
          </a:p>
        </p:txBody>
      </p:sp>
      <p:sp>
        <p:nvSpPr>
          <p:cNvPr id="670" name=""/>
          <p:cNvSpPr txBox="1"/>
          <p:nvPr/>
        </p:nvSpPr>
        <p:spPr>
          <a:xfrm>
            <a:off x="3384000" y="1728000"/>
            <a:ext cx="2340000" cy="34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400" spc="-1" strike="noStrike">
                <a:solidFill>
                  <a:srgbClr val="6750a4"/>
                </a:solidFill>
                <a:latin typeface="Arial"/>
              </a:rPr>
              <a:t>1.548 M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671" name=""/>
          <p:cNvSpPr txBox="1"/>
          <p:nvPr/>
        </p:nvSpPr>
        <p:spPr>
          <a:xfrm>
            <a:off x="3384000" y="2124000"/>
            <a:ext cx="2340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20" spc="-1" strike="noStrike">
                <a:solidFill>
                  <a:srgbClr val="526875"/>
                </a:solidFill>
                <a:latin typeface="Arial"/>
              </a:rPr>
              <a:t>96 groups × 16,128 buckets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672" name=""/>
          <p:cNvSpPr/>
          <p:nvPr/>
        </p:nvSpPr>
        <p:spPr>
          <a:xfrm>
            <a:off x="6084000" y="1404000"/>
            <a:ext cx="2664000" cy="100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673" name=""/>
          <p:cNvSpPr/>
          <p:nvPr/>
        </p:nvSpPr>
        <p:spPr>
          <a:xfrm>
            <a:off x="6084000" y="1404000"/>
            <a:ext cx="64800" cy="1008000"/>
          </a:xfrm>
          <a:prstGeom prst="rect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674" name=""/>
          <p:cNvSpPr txBox="1"/>
          <p:nvPr/>
        </p:nvSpPr>
        <p:spPr>
          <a:xfrm>
            <a:off x="6264000" y="1548000"/>
            <a:ext cx="2340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20" spc="-1" strike="noStrike">
                <a:solidFill>
                  <a:srgbClr val="718592"/>
                </a:solidFill>
                <a:latin typeface="Courier New"/>
              </a:rPr>
              <a:t>PROJECTED SESSIONS</a:t>
            </a:r>
            <a:endParaRPr b="0" lang="en-US" sz="720" spc="-1" strike="noStrike">
              <a:latin typeface="Arial"/>
            </a:endParaRPr>
          </a:p>
        </p:txBody>
      </p:sp>
      <p:sp>
        <p:nvSpPr>
          <p:cNvPr id="675" name=""/>
          <p:cNvSpPr txBox="1"/>
          <p:nvPr/>
        </p:nvSpPr>
        <p:spPr>
          <a:xfrm>
            <a:off x="6264000" y="1728000"/>
            <a:ext cx="2340000" cy="34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400" spc="-1" strike="noStrike">
                <a:solidFill>
                  <a:srgbClr val="16805f"/>
                </a:solidFill>
                <a:latin typeface="Arial"/>
              </a:rPr>
              <a:t>4.39 B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676" name=""/>
          <p:cNvSpPr txBox="1"/>
          <p:nvPr/>
        </p:nvSpPr>
        <p:spPr>
          <a:xfrm>
            <a:off x="6264000" y="2124000"/>
            <a:ext cx="2340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20" spc="-1" strike="noStrike">
                <a:solidFill>
                  <a:srgbClr val="526875"/>
                </a:solidFill>
                <a:latin typeface="Arial"/>
              </a:rPr>
              <a:t>routed arrivals; audit sampled 1:5,000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677" name=""/>
          <p:cNvSpPr/>
          <p:nvPr/>
        </p:nvSpPr>
        <p:spPr>
          <a:xfrm>
            <a:off x="8964000" y="1404000"/>
            <a:ext cx="2772000" cy="100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678" name=""/>
          <p:cNvSpPr/>
          <p:nvPr/>
        </p:nvSpPr>
        <p:spPr>
          <a:xfrm>
            <a:off x="8964000" y="1404000"/>
            <a:ext cx="64800" cy="1008000"/>
          </a:xfrm>
          <a:prstGeom prst="rect">
            <a:avLst/>
          </a:prstGeom>
          <a:solidFill>
            <a:srgbClr val="c77b0b"/>
          </a:solidFill>
          <a:ln w="0">
            <a:noFill/>
          </a:ln>
        </p:spPr>
      </p:sp>
      <p:sp>
        <p:nvSpPr>
          <p:cNvPr id="679" name=""/>
          <p:cNvSpPr txBox="1"/>
          <p:nvPr/>
        </p:nvSpPr>
        <p:spPr>
          <a:xfrm>
            <a:off x="9144000" y="1548000"/>
            <a:ext cx="2448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20" spc="-1" strike="noStrike">
                <a:solidFill>
                  <a:srgbClr val="718592"/>
                </a:solidFill>
                <a:latin typeface="Courier New"/>
              </a:rPr>
              <a:t>ARTIFACTS</a:t>
            </a:r>
            <a:endParaRPr b="0" lang="en-US" sz="720" spc="-1" strike="noStrike">
              <a:latin typeface="Arial"/>
            </a:endParaRPr>
          </a:p>
        </p:txBody>
      </p:sp>
      <p:sp>
        <p:nvSpPr>
          <p:cNvPr id="680" name=""/>
          <p:cNvSpPr txBox="1"/>
          <p:nvPr/>
        </p:nvSpPr>
        <p:spPr>
          <a:xfrm>
            <a:off x="9144000" y="1728000"/>
            <a:ext cx="2448000" cy="34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400" spc="-1" strike="noStrike">
                <a:solidFill>
                  <a:srgbClr val="c77b0b"/>
                </a:solidFill>
                <a:latin typeface="Arial"/>
              </a:rPr>
              <a:t>≈</a:t>
            </a:r>
            <a:r>
              <a:rPr b="1" lang="en-US" sz="2400" spc="-1" strike="noStrike">
                <a:solidFill>
                  <a:srgbClr val="c77b0b"/>
                </a:solidFill>
                <a:latin typeface="Arial"/>
              </a:rPr>
              <a:t>9.6 GiB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681" name=""/>
          <p:cNvSpPr txBox="1"/>
          <p:nvPr/>
        </p:nvSpPr>
        <p:spPr>
          <a:xfrm>
            <a:off x="9144000" y="2124000"/>
            <a:ext cx="2448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20" spc="-1" strike="noStrike">
                <a:solidFill>
                  <a:srgbClr val="526875"/>
                </a:solidFill>
                <a:latin typeface="Arial"/>
              </a:rPr>
              <a:t>one 112-day extreme shard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682" name=""/>
          <p:cNvSpPr/>
          <p:nvPr/>
        </p:nvSpPr>
        <p:spPr>
          <a:xfrm>
            <a:off x="324000" y="2772000"/>
            <a:ext cx="11412000" cy="432000"/>
          </a:xfrm>
          <a:prstGeom prst="rect">
            <a:avLst/>
          </a:prstGeom>
          <a:solidFill>
            <a:srgbClr val="193644"/>
          </a:solidFill>
          <a:ln w="6480">
            <a:solidFill>
              <a:srgbClr val="cfdce1"/>
            </a:solidFill>
            <a:round/>
          </a:ln>
        </p:spPr>
      </p:sp>
      <p:sp>
        <p:nvSpPr>
          <p:cNvPr id="683" name=""/>
          <p:cNvSpPr txBox="1"/>
          <p:nvPr/>
        </p:nvSpPr>
        <p:spPr>
          <a:xfrm>
            <a:off x="385200" y="2818800"/>
            <a:ext cx="25056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n-US" sz="839" spc="-1" strike="noStrike">
                <a:solidFill>
                  <a:srgbClr val="ffffff"/>
                </a:solidFill>
                <a:latin typeface="Arial"/>
              </a:rPr>
              <a:t>ARTIFACT</a:t>
            </a:r>
            <a:endParaRPr b="0" lang="en-US" sz="839" spc="-1" strike="noStrike">
              <a:latin typeface="Arial"/>
            </a:endParaRPr>
          </a:p>
        </p:txBody>
      </p:sp>
      <p:sp>
        <p:nvSpPr>
          <p:cNvPr id="684" name=""/>
          <p:cNvSpPr txBox="1"/>
          <p:nvPr/>
        </p:nvSpPr>
        <p:spPr>
          <a:xfrm>
            <a:off x="3013200" y="2818800"/>
            <a:ext cx="18576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n-US" sz="839" spc="-1" strike="noStrike">
                <a:solidFill>
                  <a:srgbClr val="ffffff"/>
                </a:solidFill>
                <a:latin typeface="Arial"/>
              </a:rPr>
              <a:t>GRANULARITY</a:t>
            </a:r>
            <a:endParaRPr b="0" lang="en-US" sz="839" spc="-1" strike="noStrike">
              <a:latin typeface="Arial"/>
            </a:endParaRPr>
          </a:p>
        </p:txBody>
      </p:sp>
      <p:sp>
        <p:nvSpPr>
          <p:cNvPr id="685" name=""/>
          <p:cNvSpPr txBox="1"/>
          <p:nvPr/>
        </p:nvSpPr>
        <p:spPr>
          <a:xfrm>
            <a:off x="4993200" y="2818800"/>
            <a:ext cx="66816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n-US" sz="839" spc="-1" strike="noStrike">
                <a:solidFill>
                  <a:srgbClr val="ffffff"/>
                </a:solidFill>
                <a:latin typeface="Arial"/>
              </a:rPr>
              <a:t>WHAT IT PROVES</a:t>
            </a:r>
            <a:endParaRPr b="0" lang="en-US" sz="839" spc="-1" strike="noStrike">
              <a:latin typeface="Arial"/>
            </a:endParaRPr>
          </a:p>
        </p:txBody>
      </p:sp>
      <p:sp>
        <p:nvSpPr>
          <p:cNvPr id="686" name=""/>
          <p:cNvSpPr/>
          <p:nvPr/>
        </p:nvSpPr>
        <p:spPr>
          <a:xfrm>
            <a:off x="324000" y="3204000"/>
            <a:ext cx="11412000" cy="432000"/>
          </a:xfrm>
          <a:prstGeom prst="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687" name=""/>
          <p:cNvSpPr txBox="1"/>
          <p:nvPr/>
        </p:nvSpPr>
        <p:spPr>
          <a:xfrm>
            <a:off x="385200" y="3250800"/>
            <a:ext cx="25056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60" spc="-1" strike="noStrike">
                <a:solidFill>
                  <a:srgbClr val="172731"/>
                </a:solidFill>
                <a:latin typeface="Arial"/>
              </a:rPr>
              <a:t>run.parquet</a:t>
            </a:r>
            <a:endParaRPr b="0" lang="en-US" sz="860" spc="-1" strike="noStrike">
              <a:latin typeface="Arial"/>
            </a:endParaRPr>
          </a:p>
        </p:txBody>
      </p:sp>
      <p:sp>
        <p:nvSpPr>
          <p:cNvPr id="688" name=""/>
          <p:cNvSpPr txBox="1"/>
          <p:nvPr/>
        </p:nvSpPr>
        <p:spPr>
          <a:xfrm>
            <a:off x="3013200" y="3250800"/>
            <a:ext cx="18576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60" spc="-1" strike="noStrike">
                <a:solidFill>
                  <a:srgbClr val="172731"/>
                </a:solidFill>
                <a:latin typeface="Arial"/>
              </a:rPr>
              <a:t>1 row / 30 s</a:t>
            </a:r>
            <a:endParaRPr b="0" lang="en-US" sz="860" spc="-1" strike="noStrike">
              <a:latin typeface="Arial"/>
            </a:endParaRPr>
          </a:p>
        </p:txBody>
      </p:sp>
      <p:sp>
        <p:nvSpPr>
          <p:cNvPr id="689" name=""/>
          <p:cNvSpPr txBox="1"/>
          <p:nvPr/>
        </p:nvSpPr>
        <p:spPr>
          <a:xfrm>
            <a:off x="4993200" y="3250800"/>
            <a:ext cx="66816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60" spc="-1" strike="noStrike">
                <a:solidFill>
                  <a:srgbClr val="172731"/>
                </a:solidFill>
                <a:latin typeface="Arial"/>
              </a:rPr>
              <a:t>group arrivals + nested per-UPF UL/DL/session state</a:t>
            </a:r>
            <a:endParaRPr b="0" lang="en-US" sz="860" spc="-1" strike="noStrike">
              <a:latin typeface="Arial"/>
            </a:endParaRPr>
          </a:p>
        </p:txBody>
      </p:sp>
      <p:sp>
        <p:nvSpPr>
          <p:cNvPr id="690" name=""/>
          <p:cNvSpPr/>
          <p:nvPr/>
        </p:nvSpPr>
        <p:spPr>
          <a:xfrm>
            <a:off x="324000" y="3636000"/>
            <a:ext cx="11412000" cy="432000"/>
          </a:xfrm>
          <a:prstGeom prst="rect">
            <a:avLst/>
          </a:prstGeom>
          <a:solidFill>
            <a:srgbClr val="f8fafb"/>
          </a:solidFill>
          <a:ln w="6480">
            <a:solidFill>
              <a:srgbClr val="cfdce1"/>
            </a:solidFill>
            <a:round/>
          </a:ln>
        </p:spPr>
      </p:sp>
      <p:sp>
        <p:nvSpPr>
          <p:cNvPr id="691" name=""/>
          <p:cNvSpPr txBox="1"/>
          <p:nvPr/>
        </p:nvSpPr>
        <p:spPr>
          <a:xfrm>
            <a:off x="385200" y="3682800"/>
            <a:ext cx="25056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60" spc="-1" strike="noStrike">
                <a:solidFill>
                  <a:srgbClr val="172731"/>
                </a:solidFill>
                <a:latin typeface="Arial"/>
              </a:rPr>
              <a:t>group_upf_buckets[]</a:t>
            </a:r>
            <a:endParaRPr b="0" lang="en-US" sz="860" spc="-1" strike="noStrike">
              <a:latin typeface="Arial"/>
            </a:endParaRPr>
          </a:p>
        </p:txBody>
      </p:sp>
      <p:sp>
        <p:nvSpPr>
          <p:cNvPr id="692" name=""/>
          <p:cNvSpPr txBox="1"/>
          <p:nvPr/>
        </p:nvSpPr>
        <p:spPr>
          <a:xfrm>
            <a:off x="3013200" y="3682800"/>
            <a:ext cx="18576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60" spc="-1" strike="noStrike">
                <a:solidFill>
                  <a:srgbClr val="172731"/>
                </a:solidFill>
                <a:latin typeface="Arial"/>
              </a:rPr>
              <a:t>10 min boundary</a:t>
            </a:r>
            <a:endParaRPr b="0" lang="en-US" sz="860" spc="-1" strike="noStrike">
              <a:latin typeface="Arial"/>
            </a:endParaRPr>
          </a:p>
        </p:txBody>
      </p:sp>
      <p:sp>
        <p:nvSpPr>
          <p:cNvPr id="693" name=""/>
          <p:cNvSpPr txBox="1"/>
          <p:nvPr/>
        </p:nvSpPr>
        <p:spPr>
          <a:xfrm>
            <a:off x="4993200" y="3682800"/>
            <a:ext cx="66816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60" spc="-1" strike="noStrike">
                <a:solidFill>
                  <a:srgbClr val="172731"/>
                </a:solidFill>
                <a:latin typeface="Arial"/>
              </a:rPr>
              <a:t>joint class/UPF active, admitted and rejected state</a:t>
            </a:r>
            <a:endParaRPr b="0" lang="en-US" sz="860" spc="-1" strike="noStrike">
              <a:latin typeface="Arial"/>
            </a:endParaRPr>
          </a:p>
        </p:txBody>
      </p:sp>
      <p:sp>
        <p:nvSpPr>
          <p:cNvPr id="694" name=""/>
          <p:cNvSpPr/>
          <p:nvPr/>
        </p:nvSpPr>
        <p:spPr>
          <a:xfrm>
            <a:off x="324000" y="4068000"/>
            <a:ext cx="11412000" cy="432000"/>
          </a:xfrm>
          <a:prstGeom prst="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695" name=""/>
          <p:cNvSpPr txBox="1"/>
          <p:nvPr/>
        </p:nvSpPr>
        <p:spPr>
          <a:xfrm>
            <a:off x="385200" y="4114800"/>
            <a:ext cx="25056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60" spc="-1" strike="noStrike">
                <a:solidFill>
                  <a:srgbClr val="172731"/>
                </a:solidFill>
                <a:latin typeface="Arial"/>
              </a:rPr>
              <a:t>selection-audits.parquet</a:t>
            </a:r>
            <a:endParaRPr b="0" lang="en-US" sz="860" spc="-1" strike="noStrike">
              <a:latin typeface="Arial"/>
            </a:endParaRPr>
          </a:p>
        </p:txBody>
      </p:sp>
      <p:sp>
        <p:nvSpPr>
          <p:cNvPr id="696" name=""/>
          <p:cNvSpPr txBox="1"/>
          <p:nvPr/>
        </p:nvSpPr>
        <p:spPr>
          <a:xfrm>
            <a:off x="3013200" y="4114800"/>
            <a:ext cx="18576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60" spc="-1" strike="noStrike">
                <a:solidFill>
                  <a:srgbClr val="172731"/>
                </a:solidFill>
                <a:latin typeface="Arial"/>
              </a:rPr>
              <a:t>1 / 5,000 sessions</a:t>
            </a:r>
            <a:endParaRPr b="0" lang="en-US" sz="860" spc="-1" strike="noStrike">
              <a:latin typeface="Arial"/>
            </a:endParaRPr>
          </a:p>
        </p:txBody>
      </p:sp>
      <p:sp>
        <p:nvSpPr>
          <p:cNvPr id="697" name=""/>
          <p:cNvSpPr txBox="1"/>
          <p:nvPr/>
        </p:nvSpPr>
        <p:spPr>
          <a:xfrm>
            <a:off x="4993200" y="4114800"/>
            <a:ext cx="66816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60" spc="-1" strike="noStrike">
                <a:solidFill>
                  <a:srgbClr val="172731"/>
                </a:solidFill>
                <a:latin typeface="Arial"/>
              </a:rPr>
              <a:t>hashed key, eligible set, weights and selected UPF</a:t>
            </a:r>
            <a:endParaRPr b="0" lang="en-US" sz="860" spc="-1" strike="noStrike">
              <a:latin typeface="Arial"/>
            </a:endParaRPr>
          </a:p>
        </p:txBody>
      </p:sp>
      <p:sp>
        <p:nvSpPr>
          <p:cNvPr id="698" name=""/>
          <p:cNvSpPr/>
          <p:nvPr/>
        </p:nvSpPr>
        <p:spPr>
          <a:xfrm>
            <a:off x="324000" y="4500000"/>
            <a:ext cx="11412000" cy="432000"/>
          </a:xfrm>
          <a:prstGeom prst="rect">
            <a:avLst/>
          </a:prstGeom>
          <a:solidFill>
            <a:srgbClr val="f8fafb"/>
          </a:solidFill>
          <a:ln w="6480">
            <a:solidFill>
              <a:srgbClr val="cfdce1"/>
            </a:solidFill>
            <a:round/>
          </a:ln>
        </p:spPr>
      </p:sp>
      <p:sp>
        <p:nvSpPr>
          <p:cNvPr id="699" name=""/>
          <p:cNvSpPr txBox="1"/>
          <p:nvPr/>
        </p:nvSpPr>
        <p:spPr>
          <a:xfrm>
            <a:off x="385200" y="4546800"/>
            <a:ext cx="25056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60" spc="-1" strike="noStrike">
                <a:solidFill>
                  <a:srgbClr val="172731"/>
                </a:solidFill>
                <a:latin typeface="Arial"/>
              </a:rPr>
              <a:t>run.jsonl</a:t>
            </a:r>
            <a:endParaRPr b="0" lang="en-US" sz="860" spc="-1" strike="noStrike">
              <a:latin typeface="Arial"/>
            </a:endParaRPr>
          </a:p>
        </p:txBody>
      </p:sp>
      <p:sp>
        <p:nvSpPr>
          <p:cNvPr id="700" name=""/>
          <p:cNvSpPr txBox="1"/>
          <p:nvPr/>
        </p:nvSpPr>
        <p:spPr>
          <a:xfrm>
            <a:off x="3013200" y="4546800"/>
            <a:ext cx="18576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60" spc="-1" strike="noStrike">
                <a:solidFill>
                  <a:srgbClr val="172731"/>
                </a:solidFill>
                <a:latin typeface="Arial"/>
              </a:rPr>
              <a:t>readable adapter</a:t>
            </a:r>
            <a:endParaRPr b="0" lang="en-US" sz="860" spc="-1" strike="noStrike">
              <a:latin typeface="Arial"/>
            </a:endParaRPr>
          </a:p>
        </p:txBody>
      </p:sp>
      <p:sp>
        <p:nvSpPr>
          <p:cNvPr id="701" name=""/>
          <p:cNvSpPr txBox="1"/>
          <p:nvPr/>
        </p:nvSpPr>
        <p:spPr>
          <a:xfrm>
            <a:off x="4993200" y="4546800"/>
            <a:ext cx="66816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60" spc="-1" strike="noStrike">
                <a:solidFill>
                  <a:srgbClr val="172731"/>
                </a:solidFill>
                <a:latin typeface="Arial"/>
              </a:rPr>
              <a:t>metadata + steps + retained selection audits</a:t>
            </a:r>
            <a:endParaRPr b="0" lang="en-US" sz="860" spc="-1" strike="noStrike">
              <a:latin typeface="Arial"/>
            </a:endParaRPr>
          </a:p>
        </p:txBody>
      </p:sp>
      <p:sp>
        <p:nvSpPr>
          <p:cNvPr id="702" name=""/>
          <p:cNvSpPr/>
          <p:nvPr/>
        </p:nvSpPr>
        <p:spPr>
          <a:xfrm>
            <a:off x="324000" y="4932000"/>
            <a:ext cx="11412000" cy="432000"/>
          </a:xfrm>
          <a:prstGeom prst="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703" name=""/>
          <p:cNvSpPr txBox="1"/>
          <p:nvPr/>
        </p:nvSpPr>
        <p:spPr>
          <a:xfrm>
            <a:off x="385200" y="4978800"/>
            <a:ext cx="25056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60" spc="-1" strike="noStrike">
                <a:solidFill>
                  <a:srgbClr val="172731"/>
                </a:solidFill>
                <a:latin typeface="Arial"/>
              </a:rPr>
              <a:t>metadata.json</a:t>
            </a:r>
            <a:endParaRPr b="0" lang="en-US" sz="860" spc="-1" strike="noStrike">
              <a:latin typeface="Arial"/>
            </a:endParaRPr>
          </a:p>
        </p:txBody>
      </p:sp>
      <p:sp>
        <p:nvSpPr>
          <p:cNvPr id="704" name=""/>
          <p:cNvSpPr txBox="1"/>
          <p:nvPr/>
        </p:nvSpPr>
        <p:spPr>
          <a:xfrm>
            <a:off x="3013200" y="4978800"/>
            <a:ext cx="18576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60" spc="-1" strike="noStrike">
                <a:solidFill>
                  <a:srgbClr val="172731"/>
                </a:solidFill>
                <a:latin typeface="Arial"/>
              </a:rPr>
              <a:t>1 / shard</a:t>
            </a:r>
            <a:endParaRPr b="0" lang="en-US" sz="860" spc="-1" strike="noStrike">
              <a:latin typeface="Arial"/>
            </a:endParaRPr>
          </a:p>
        </p:txBody>
      </p:sp>
      <p:sp>
        <p:nvSpPr>
          <p:cNvPr id="705" name=""/>
          <p:cNvSpPr txBox="1"/>
          <p:nvPr/>
        </p:nvSpPr>
        <p:spPr>
          <a:xfrm>
            <a:off x="4993200" y="4978800"/>
            <a:ext cx="66816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60" spc="-1" strike="noStrike">
                <a:solidFill>
                  <a:srgbClr val="172731"/>
                </a:solidFill>
                <a:latin typeface="Arial"/>
              </a:rPr>
              <a:t>hashes, source identity, host/job and aggregate metrics</a:t>
            </a:r>
            <a:endParaRPr b="0" lang="en-US" sz="860" spc="-1" strike="noStrike">
              <a:latin typeface="Arial"/>
            </a:endParaRPr>
          </a:p>
        </p:txBody>
      </p:sp>
      <p:sp>
        <p:nvSpPr>
          <p:cNvPr id="706" name=""/>
          <p:cNvSpPr/>
          <p:nvPr/>
        </p:nvSpPr>
        <p:spPr>
          <a:xfrm>
            <a:off x="324000" y="5364000"/>
            <a:ext cx="11412000" cy="432000"/>
          </a:xfrm>
          <a:prstGeom prst="rect">
            <a:avLst/>
          </a:prstGeom>
          <a:solidFill>
            <a:srgbClr val="f8fafb"/>
          </a:solidFill>
          <a:ln w="6480">
            <a:solidFill>
              <a:srgbClr val="cfdce1"/>
            </a:solidFill>
            <a:round/>
          </a:ln>
        </p:spPr>
      </p:sp>
      <p:sp>
        <p:nvSpPr>
          <p:cNvPr id="707" name=""/>
          <p:cNvSpPr txBox="1"/>
          <p:nvPr/>
        </p:nvSpPr>
        <p:spPr>
          <a:xfrm>
            <a:off x="385200" y="5410800"/>
            <a:ext cx="25056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60" spc="-1" strike="noStrike">
                <a:solidFill>
                  <a:srgbClr val="172731"/>
                </a:solidFill>
                <a:latin typeface="Arial"/>
              </a:rPr>
              <a:t>forecast bundle</a:t>
            </a:r>
            <a:endParaRPr b="0" lang="en-US" sz="860" spc="-1" strike="noStrike">
              <a:latin typeface="Arial"/>
            </a:endParaRPr>
          </a:p>
        </p:txBody>
      </p:sp>
      <p:sp>
        <p:nvSpPr>
          <p:cNvPr id="708" name=""/>
          <p:cNvSpPr txBox="1"/>
          <p:nvPr/>
        </p:nvSpPr>
        <p:spPr>
          <a:xfrm>
            <a:off x="3013200" y="5410800"/>
            <a:ext cx="18576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60" spc="-1" strike="noStrike">
                <a:solidFill>
                  <a:srgbClr val="172731"/>
                </a:solidFill>
                <a:latin typeface="Arial"/>
              </a:rPr>
              <a:t>1 immutable JSON</a:t>
            </a:r>
            <a:endParaRPr b="0" lang="en-US" sz="860" spc="-1" strike="noStrike">
              <a:latin typeface="Arial"/>
            </a:endParaRPr>
          </a:p>
        </p:txBody>
      </p:sp>
      <p:sp>
        <p:nvSpPr>
          <p:cNvPr id="709" name=""/>
          <p:cNvSpPr txBox="1"/>
          <p:nvPr/>
        </p:nvSpPr>
        <p:spPr>
          <a:xfrm>
            <a:off x="4993200" y="5410800"/>
            <a:ext cx="66816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60" spc="-1" strike="noStrike">
                <a:solidFill>
                  <a:srgbClr val="172731"/>
                </a:solidFill>
                <a:latin typeface="Arial"/>
              </a:rPr>
              <a:t>2,304 models, metrics, calibration and checksum</a:t>
            </a:r>
            <a:endParaRPr b="0" lang="en-US" sz="860" spc="-1" strike="noStrike">
              <a:latin typeface="Arial"/>
            </a:endParaRPr>
          </a:p>
        </p:txBody>
      </p:sp>
      <p:sp>
        <p:nvSpPr>
          <p:cNvPr id="710" name=""/>
          <p:cNvSpPr/>
          <p:nvPr/>
        </p:nvSpPr>
        <p:spPr>
          <a:xfrm>
            <a:off x="324000" y="5940000"/>
            <a:ext cx="11412000" cy="396000"/>
          </a:xfrm>
          <a:prstGeom prst="roundRect">
            <a:avLst/>
          </a:prstGeom>
          <a:solidFill>
            <a:srgbClr val="faf0de"/>
          </a:solidFill>
          <a:ln w="0">
            <a:noFill/>
          </a:ln>
        </p:spPr>
      </p:sp>
      <p:sp>
        <p:nvSpPr>
          <p:cNvPr id="711" name=""/>
          <p:cNvSpPr/>
          <p:nvPr/>
        </p:nvSpPr>
        <p:spPr>
          <a:xfrm>
            <a:off x="324000" y="5940000"/>
            <a:ext cx="64800" cy="396000"/>
          </a:xfrm>
          <a:prstGeom prst="rect">
            <a:avLst/>
          </a:prstGeom>
          <a:solidFill>
            <a:srgbClr val="c77b0b"/>
          </a:solidFill>
          <a:ln w="0">
            <a:noFill/>
          </a:ln>
        </p:spPr>
      </p:sp>
      <p:sp>
        <p:nvSpPr>
          <p:cNvPr id="712" name=""/>
          <p:cNvSpPr txBox="1"/>
          <p:nvPr/>
        </p:nvSpPr>
        <p:spPr>
          <a:xfrm>
            <a:off x="576000" y="6030000"/>
            <a:ext cx="10908000" cy="2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50" spc="-1" strike="noStrike">
                <a:solidFill>
                  <a:srgbClr val="172731"/>
                </a:solidFill>
                <a:latin typeface="Arial"/>
              </a:rPr>
              <a:t>Measured one-day calibration: 5:06 wall time · 588 MiB peak RSS · 87.6 MiB output. A 112-day shard projects to ~9 h 32 m and ~64 GiB retained memory.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713" name=""/>
          <p:cNvSpPr/>
          <p:nvPr/>
        </p:nvSpPr>
        <p:spPr>
          <a:xfrm>
            <a:off x="324000" y="6616800"/>
            <a:ext cx="11088000" cy="0"/>
          </a:xfrm>
          <a:prstGeom prst="line">
            <a:avLst/>
          </a:prstGeom>
          <a:ln w="1080">
            <a:solidFill>
              <a:srgbClr val="cfdc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14" name=""/>
          <p:cNvSpPr txBox="1"/>
          <p:nvPr/>
        </p:nvSpPr>
        <p:spPr>
          <a:xfrm>
            <a:off x="324000" y="6660000"/>
            <a:ext cx="10368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80" spc="-1" strike="noStrike">
                <a:solidFill>
                  <a:srgbClr val="718592"/>
                </a:solidFill>
                <a:latin typeface="Courier New"/>
              </a:rPr>
              <a:t>docs/extreme-data-spec-and-cdot-gap-analysis.md §§3,8 · simulator/macro/engine.py::write_parquet</a:t>
            </a:r>
            <a:endParaRPr b="0" lang="en-US" sz="680" spc="-1" strike="noStrike">
              <a:latin typeface="Arial"/>
            </a:endParaRPr>
          </a:p>
        </p:txBody>
      </p:sp>
      <p:sp>
        <p:nvSpPr>
          <p:cNvPr id="715" name=""/>
          <p:cNvSpPr txBox="1"/>
          <p:nvPr/>
        </p:nvSpPr>
        <p:spPr>
          <a:xfrm>
            <a:off x="11052000" y="6660000"/>
            <a:ext cx="684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buNone/>
            </a:pPr>
            <a:r>
              <a:rPr b="1" lang="en-US" sz="750" spc="-1" strike="noStrike">
                <a:solidFill>
                  <a:srgbClr val="718592"/>
                </a:solidFill>
                <a:latin typeface="Courier New"/>
              </a:rPr>
              <a:t>11</a:t>
            </a:r>
            <a:endParaRPr b="0" lang="en-US" sz="7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3f7f8"/>
          </a:solidFill>
          <a:ln w="0">
            <a:noFill/>
          </a:ln>
        </p:spPr>
      </p:sp>
      <p:sp>
        <p:nvSpPr>
          <p:cNvPr id="717" name=""/>
          <p:cNvSpPr txBox="1"/>
          <p:nvPr/>
        </p:nvSpPr>
        <p:spPr>
          <a:xfrm>
            <a:off x="324000" y="158400"/>
            <a:ext cx="3096000" cy="23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00" spc="508" strike="noStrike">
                <a:solidFill>
                  <a:srgbClr val="007c99"/>
                </a:solidFill>
                <a:latin typeface="Courier New"/>
              </a:rPr>
              <a:t>STAGE 2 · FORECASTER TRAINING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718" name=""/>
          <p:cNvSpPr txBox="1"/>
          <p:nvPr/>
        </p:nvSpPr>
        <p:spPr>
          <a:xfrm>
            <a:off x="324000" y="378000"/>
            <a:ext cx="10584000" cy="57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50" spc="-1" strike="noStrike">
                <a:solidFill>
                  <a:srgbClr val="172731"/>
                </a:solidFill>
                <a:latin typeface="Arial"/>
              </a:rPr>
              <a:t>Training converts canonical 30-second Parquet into leakage-safe direct forecasts</a:t>
            </a:r>
            <a:endParaRPr b="0" lang="en-US" sz="2150" spc="-1" strike="noStrike">
              <a:latin typeface="Arial"/>
            </a:endParaRPr>
          </a:p>
        </p:txBody>
      </p:sp>
      <p:sp>
        <p:nvSpPr>
          <p:cNvPr id="719" name=""/>
          <p:cNvSpPr/>
          <p:nvPr/>
        </p:nvSpPr>
        <p:spPr>
          <a:xfrm>
            <a:off x="10800000" y="180000"/>
            <a:ext cx="936000" cy="19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720" name=""/>
          <p:cNvSpPr txBox="1"/>
          <p:nvPr/>
        </p:nvSpPr>
        <p:spPr>
          <a:xfrm>
            <a:off x="10818000" y="219600"/>
            <a:ext cx="900000" cy="10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710" spc="-1" strike="noStrike">
                <a:solidFill>
                  <a:srgbClr val="c77b0b"/>
                </a:solidFill>
                <a:latin typeface="Courier New"/>
              </a:rPr>
              <a:t>SYNTHETIC DATA</a:t>
            </a:r>
            <a:endParaRPr b="0" lang="en-US" sz="710" spc="-1" strike="noStrike">
              <a:latin typeface="Arial"/>
            </a:endParaRPr>
          </a:p>
        </p:txBody>
      </p:sp>
      <p:sp>
        <p:nvSpPr>
          <p:cNvPr id="721" name=""/>
          <p:cNvSpPr/>
          <p:nvPr/>
        </p:nvSpPr>
        <p:spPr>
          <a:xfrm>
            <a:off x="324000" y="1764000"/>
            <a:ext cx="1656000" cy="1152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722" name=""/>
          <p:cNvSpPr/>
          <p:nvPr/>
        </p:nvSpPr>
        <p:spPr>
          <a:xfrm>
            <a:off x="324000" y="1764000"/>
            <a:ext cx="64800" cy="1152000"/>
          </a:xfrm>
          <a:prstGeom prst="rect">
            <a:avLst/>
          </a:prstGeom>
          <a:solidFill>
            <a:srgbClr val="007c99"/>
          </a:solidFill>
          <a:ln w="0">
            <a:noFill/>
          </a:ln>
        </p:spPr>
      </p:sp>
      <p:sp>
        <p:nvSpPr>
          <p:cNvPr id="723" name=""/>
          <p:cNvSpPr txBox="1"/>
          <p:nvPr/>
        </p:nvSpPr>
        <p:spPr>
          <a:xfrm>
            <a:off x="504000" y="1980000"/>
            <a:ext cx="1296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20" spc="-1" strike="noStrike">
                <a:solidFill>
                  <a:srgbClr val="007c99"/>
                </a:solidFill>
                <a:latin typeface="Courier New"/>
              </a:rPr>
              <a:t>20 TICKS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724" name=""/>
          <p:cNvSpPr txBox="1"/>
          <p:nvPr/>
        </p:nvSpPr>
        <p:spPr>
          <a:xfrm>
            <a:off x="504000" y="2340000"/>
            <a:ext cx="1296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20" spc="-1" strike="noStrike">
                <a:solidFill>
                  <a:srgbClr val="172731"/>
                </a:solidFill>
                <a:latin typeface="Arial"/>
              </a:rPr>
              <a:t>sum group arrivals</a:t>
            </a:r>
            <a:endParaRPr b="0" lang="en-US" sz="920" spc="-1" strike="noStrike">
              <a:latin typeface="Arial"/>
            </a:endParaRPr>
          </a:p>
        </p:txBody>
      </p:sp>
      <p:sp>
        <p:nvSpPr>
          <p:cNvPr id="725" name=""/>
          <p:cNvSpPr/>
          <p:nvPr/>
        </p:nvSpPr>
        <p:spPr>
          <a:xfrm>
            <a:off x="1980000" y="2340000"/>
            <a:ext cx="158400" cy="0"/>
          </a:xfrm>
          <a:prstGeom prst="line">
            <a:avLst/>
          </a:prstGeom>
          <a:ln w="4680">
            <a:solidFill>
              <a:srgbClr val="5268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26" name=""/>
          <p:cNvSpPr txBox="1"/>
          <p:nvPr/>
        </p:nvSpPr>
        <p:spPr>
          <a:xfrm>
            <a:off x="2080800" y="2211840"/>
            <a:ext cx="144000" cy="2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US" sz="1800" spc="-1" strike="noStrike">
                <a:solidFill>
                  <a:srgbClr val="526875"/>
                </a:solidFill>
                <a:latin typeface="Arial"/>
              </a:rPr>
              <a:t>›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727" name=""/>
          <p:cNvSpPr/>
          <p:nvPr/>
        </p:nvSpPr>
        <p:spPr>
          <a:xfrm>
            <a:off x="2224800" y="1764000"/>
            <a:ext cx="1656000" cy="1152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728" name=""/>
          <p:cNvSpPr/>
          <p:nvPr/>
        </p:nvSpPr>
        <p:spPr>
          <a:xfrm>
            <a:off x="2224800" y="1764000"/>
            <a:ext cx="64800" cy="1152000"/>
          </a:xfrm>
          <a:prstGeom prst="rect">
            <a:avLst/>
          </a:prstGeom>
          <a:solidFill>
            <a:srgbClr val="2f91a6"/>
          </a:solidFill>
          <a:ln w="0">
            <a:noFill/>
          </a:ln>
        </p:spPr>
      </p:sp>
      <p:sp>
        <p:nvSpPr>
          <p:cNvPr id="729" name=""/>
          <p:cNvSpPr txBox="1"/>
          <p:nvPr/>
        </p:nvSpPr>
        <p:spPr>
          <a:xfrm>
            <a:off x="2404800" y="1980000"/>
            <a:ext cx="1296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20" spc="-1" strike="noStrike">
                <a:solidFill>
                  <a:srgbClr val="2f91a6"/>
                </a:solidFill>
                <a:latin typeface="Courier New"/>
              </a:rPr>
              <a:t>10 MIN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730" name=""/>
          <p:cNvSpPr txBox="1"/>
          <p:nvPr/>
        </p:nvSpPr>
        <p:spPr>
          <a:xfrm>
            <a:off x="2404800" y="2340000"/>
            <a:ext cx="1296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20" spc="-1" strike="noStrike">
                <a:solidFill>
                  <a:srgbClr val="172731"/>
                </a:solidFill>
                <a:latin typeface="Arial"/>
              </a:rPr>
              <a:t>mean UPF residual state</a:t>
            </a:r>
            <a:endParaRPr b="0" lang="en-US" sz="920" spc="-1" strike="noStrike">
              <a:latin typeface="Arial"/>
            </a:endParaRPr>
          </a:p>
        </p:txBody>
      </p:sp>
      <p:sp>
        <p:nvSpPr>
          <p:cNvPr id="731" name=""/>
          <p:cNvSpPr/>
          <p:nvPr/>
        </p:nvSpPr>
        <p:spPr>
          <a:xfrm>
            <a:off x="3880800" y="2340000"/>
            <a:ext cx="158400" cy="0"/>
          </a:xfrm>
          <a:prstGeom prst="line">
            <a:avLst/>
          </a:prstGeom>
          <a:ln w="4680">
            <a:solidFill>
              <a:srgbClr val="5268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32" name=""/>
          <p:cNvSpPr txBox="1"/>
          <p:nvPr/>
        </p:nvSpPr>
        <p:spPr>
          <a:xfrm>
            <a:off x="3981600" y="2211840"/>
            <a:ext cx="144000" cy="2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US" sz="1800" spc="-1" strike="noStrike">
                <a:solidFill>
                  <a:srgbClr val="526875"/>
                </a:solidFill>
                <a:latin typeface="Arial"/>
              </a:rPr>
              <a:t>›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733" name=""/>
          <p:cNvSpPr/>
          <p:nvPr/>
        </p:nvSpPr>
        <p:spPr>
          <a:xfrm>
            <a:off x="4125600" y="1764000"/>
            <a:ext cx="1656000" cy="1152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734" name=""/>
          <p:cNvSpPr/>
          <p:nvPr/>
        </p:nvSpPr>
        <p:spPr>
          <a:xfrm>
            <a:off x="4125600" y="1764000"/>
            <a:ext cx="64800" cy="1152000"/>
          </a:xfrm>
          <a:prstGeom prst="rect">
            <a:avLst/>
          </a:prstGeom>
          <a:solidFill>
            <a:srgbClr val="6750a4"/>
          </a:solidFill>
          <a:ln w="0">
            <a:noFill/>
          </a:ln>
        </p:spPr>
      </p:sp>
      <p:sp>
        <p:nvSpPr>
          <p:cNvPr id="735" name=""/>
          <p:cNvSpPr txBox="1"/>
          <p:nvPr/>
        </p:nvSpPr>
        <p:spPr>
          <a:xfrm>
            <a:off x="4305600" y="1980000"/>
            <a:ext cx="1296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20" spc="-1" strike="noStrike">
                <a:solidFill>
                  <a:srgbClr val="6750a4"/>
                </a:solidFill>
                <a:latin typeface="Courier New"/>
              </a:rPr>
              <a:t>OBSERVATION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736" name=""/>
          <p:cNvSpPr txBox="1"/>
          <p:nvPr/>
        </p:nvSpPr>
        <p:spPr>
          <a:xfrm>
            <a:off x="4305600" y="2340000"/>
            <a:ext cx="1296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20" spc="-1" strike="noStrike">
                <a:solidFill>
                  <a:srgbClr val="172731"/>
                </a:solidFill>
                <a:latin typeface="Arial"/>
              </a:rPr>
              <a:t>sessions + UL + DL</a:t>
            </a:r>
            <a:endParaRPr b="0" lang="en-US" sz="920" spc="-1" strike="noStrike">
              <a:latin typeface="Arial"/>
            </a:endParaRPr>
          </a:p>
        </p:txBody>
      </p:sp>
      <p:sp>
        <p:nvSpPr>
          <p:cNvPr id="737" name=""/>
          <p:cNvSpPr/>
          <p:nvPr/>
        </p:nvSpPr>
        <p:spPr>
          <a:xfrm>
            <a:off x="5781600" y="2340000"/>
            <a:ext cx="158400" cy="0"/>
          </a:xfrm>
          <a:prstGeom prst="line">
            <a:avLst/>
          </a:prstGeom>
          <a:ln w="4680">
            <a:solidFill>
              <a:srgbClr val="5268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38" name=""/>
          <p:cNvSpPr txBox="1"/>
          <p:nvPr/>
        </p:nvSpPr>
        <p:spPr>
          <a:xfrm>
            <a:off x="5882400" y="2211840"/>
            <a:ext cx="144000" cy="2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US" sz="1800" spc="-1" strike="noStrike">
                <a:solidFill>
                  <a:srgbClr val="526875"/>
                </a:solidFill>
                <a:latin typeface="Arial"/>
              </a:rPr>
              <a:t>›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739" name=""/>
          <p:cNvSpPr/>
          <p:nvPr/>
        </p:nvSpPr>
        <p:spPr>
          <a:xfrm>
            <a:off x="6026400" y="1764000"/>
            <a:ext cx="1656000" cy="1152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740" name=""/>
          <p:cNvSpPr/>
          <p:nvPr/>
        </p:nvSpPr>
        <p:spPr>
          <a:xfrm>
            <a:off x="6026400" y="1764000"/>
            <a:ext cx="64800" cy="1152000"/>
          </a:xfrm>
          <a:prstGeom prst="rect">
            <a:avLst/>
          </a:prstGeom>
          <a:solidFill>
            <a:srgbClr val="6750a4"/>
          </a:solidFill>
          <a:ln w="0">
            <a:noFill/>
          </a:ln>
        </p:spPr>
      </p:sp>
      <p:sp>
        <p:nvSpPr>
          <p:cNvPr id="741" name=""/>
          <p:cNvSpPr txBox="1"/>
          <p:nvPr/>
        </p:nvSpPr>
        <p:spPr>
          <a:xfrm>
            <a:off x="6206400" y="1980000"/>
            <a:ext cx="1296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20" spc="-1" strike="noStrike">
                <a:solidFill>
                  <a:srgbClr val="6750a4"/>
                </a:solidFill>
                <a:latin typeface="Courier New"/>
              </a:rPr>
              <a:t>DIRECT MODELS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742" name=""/>
          <p:cNvSpPr txBox="1"/>
          <p:nvPr/>
        </p:nvSpPr>
        <p:spPr>
          <a:xfrm>
            <a:off x="6206400" y="2340000"/>
            <a:ext cx="1296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20" spc="-1" strike="noStrike">
                <a:solidFill>
                  <a:srgbClr val="172731"/>
                </a:solidFill>
                <a:latin typeface="Arial"/>
              </a:rPr>
              <a:t>3 targets × 8 horizons</a:t>
            </a:r>
            <a:endParaRPr b="0" lang="en-US" sz="920" spc="-1" strike="noStrike">
              <a:latin typeface="Arial"/>
            </a:endParaRPr>
          </a:p>
        </p:txBody>
      </p:sp>
      <p:sp>
        <p:nvSpPr>
          <p:cNvPr id="743" name=""/>
          <p:cNvSpPr/>
          <p:nvPr/>
        </p:nvSpPr>
        <p:spPr>
          <a:xfrm>
            <a:off x="7682400" y="2340000"/>
            <a:ext cx="158400" cy="0"/>
          </a:xfrm>
          <a:prstGeom prst="line">
            <a:avLst/>
          </a:prstGeom>
          <a:ln w="4680">
            <a:solidFill>
              <a:srgbClr val="5268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44" name=""/>
          <p:cNvSpPr txBox="1"/>
          <p:nvPr/>
        </p:nvSpPr>
        <p:spPr>
          <a:xfrm>
            <a:off x="7783200" y="2211840"/>
            <a:ext cx="144000" cy="2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US" sz="1800" spc="-1" strike="noStrike">
                <a:solidFill>
                  <a:srgbClr val="526875"/>
                </a:solidFill>
                <a:latin typeface="Arial"/>
              </a:rPr>
              <a:t>›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745" name=""/>
          <p:cNvSpPr/>
          <p:nvPr/>
        </p:nvSpPr>
        <p:spPr>
          <a:xfrm>
            <a:off x="7927200" y="1764000"/>
            <a:ext cx="1656000" cy="1152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746" name=""/>
          <p:cNvSpPr/>
          <p:nvPr/>
        </p:nvSpPr>
        <p:spPr>
          <a:xfrm>
            <a:off x="7927200" y="1764000"/>
            <a:ext cx="64800" cy="1152000"/>
          </a:xfrm>
          <a:prstGeom prst="rect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747" name=""/>
          <p:cNvSpPr txBox="1"/>
          <p:nvPr/>
        </p:nvSpPr>
        <p:spPr>
          <a:xfrm>
            <a:off x="8107200" y="1980000"/>
            <a:ext cx="1296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20" spc="-1" strike="noStrike">
                <a:solidFill>
                  <a:srgbClr val="16805f"/>
                </a:solidFill>
                <a:latin typeface="Courier New"/>
              </a:rPr>
              <a:t>CONFORMAL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748" name=""/>
          <p:cNvSpPr txBox="1"/>
          <p:nvPr/>
        </p:nvSpPr>
        <p:spPr>
          <a:xfrm>
            <a:off x="8107200" y="2340000"/>
            <a:ext cx="1296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20" spc="-1" strike="noStrike">
                <a:solidFill>
                  <a:srgbClr val="172731"/>
                </a:solidFill>
                <a:latin typeface="Arial"/>
              </a:rPr>
              <a:t>p50 + p90 / p95 widths</a:t>
            </a:r>
            <a:endParaRPr b="0" lang="en-US" sz="920" spc="-1" strike="noStrike">
              <a:latin typeface="Arial"/>
            </a:endParaRPr>
          </a:p>
        </p:txBody>
      </p:sp>
      <p:sp>
        <p:nvSpPr>
          <p:cNvPr id="749" name=""/>
          <p:cNvSpPr/>
          <p:nvPr/>
        </p:nvSpPr>
        <p:spPr>
          <a:xfrm>
            <a:off x="9583200" y="2340000"/>
            <a:ext cx="158400" cy="0"/>
          </a:xfrm>
          <a:prstGeom prst="line">
            <a:avLst/>
          </a:prstGeom>
          <a:ln w="4680">
            <a:solidFill>
              <a:srgbClr val="5268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50" name=""/>
          <p:cNvSpPr txBox="1"/>
          <p:nvPr/>
        </p:nvSpPr>
        <p:spPr>
          <a:xfrm>
            <a:off x="9684000" y="2211840"/>
            <a:ext cx="144000" cy="2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US" sz="1800" spc="-1" strike="noStrike">
                <a:solidFill>
                  <a:srgbClr val="526875"/>
                </a:solidFill>
                <a:latin typeface="Arial"/>
              </a:rPr>
              <a:t>›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751" name=""/>
          <p:cNvSpPr/>
          <p:nvPr/>
        </p:nvSpPr>
        <p:spPr>
          <a:xfrm>
            <a:off x="9828000" y="1764000"/>
            <a:ext cx="1656000" cy="1152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752" name=""/>
          <p:cNvSpPr/>
          <p:nvPr/>
        </p:nvSpPr>
        <p:spPr>
          <a:xfrm>
            <a:off x="9828000" y="1764000"/>
            <a:ext cx="64800" cy="1152000"/>
          </a:xfrm>
          <a:prstGeom prst="rect">
            <a:avLst/>
          </a:prstGeom>
          <a:solidFill>
            <a:srgbClr val="c77b0b"/>
          </a:solidFill>
          <a:ln w="0">
            <a:noFill/>
          </a:ln>
        </p:spPr>
      </p:sp>
      <p:sp>
        <p:nvSpPr>
          <p:cNvPr id="753" name=""/>
          <p:cNvSpPr txBox="1"/>
          <p:nvPr/>
        </p:nvSpPr>
        <p:spPr>
          <a:xfrm>
            <a:off x="10008000" y="1980000"/>
            <a:ext cx="1296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20" spc="-1" strike="noStrike">
                <a:solidFill>
                  <a:srgbClr val="c77b0b"/>
                </a:solidFill>
                <a:latin typeface="Courier New"/>
              </a:rPr>
              <a:t>BUNDLE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754" name=""/>
          <p:cNvSpPr txBox="1"/>
          <p:nvPr/>
        </p:nvSpPr>
        <p:spPr>
          <a:xfrm>
            <a:off x="10008000" y="2340000"/>
            <a:ext cx="1296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20" spc="-1" strike="noStrike">
                <a:solidFill>
                  <a:srgbClr val="172731"/>
                </a:solidFill>
                <a:latin typeface="Arial"/>
              </a:rPr>
              <a:t>checksum + metadata</a:t>
            </a:r>
            <a:endParaRPr b="0" lang="en-US" sz="920" spc="-1" strike="noStrike">
              <a:latin typeface="Arial"/>
            </a:endParaRPr>
          </a:p>
        </p:txBody>
      </p:sp>
      <p:sp>
        <p:nvSpPr>
          <p:cNvPr id="755" name=""/>
          <p:cNvSpPr/>
          <p:nvPr/>
        </p:nvSpPr>
        <p:spPr>
          <a:xfrm>
            <a:off x="324000" y="3348000"/>
            <a:ext cx="5436000" cy="2376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756" name=""/>
          <p:cNvSpPr/>
          <p:nvPr/>
        </p:nvSpPr>
        <p:spPr>
          <a:xfrm>
            <a:off x="324000" y="3348000"/>
            <a:ext cx="64800" cy="2376000"/>
          </a:xfrm>
          <a:prstGeom prst="rect">
            <a:avLst/>
          </a:prstGeom>
          <a:solidFill>
            <a:srgbClr val="6750a4"/>
          </a:solidFill>
          <a:ln w="0">
            <a:noFill/>
          </a:ln>
        </p:spPr>
      </p:sp>
      <p:sp>
        <p:nvSpPr>
          <p:cNvPr id="757" name=""/>
          <p:cNvSpPr txBox="1"/>
          <p:nvPr/>
        </p:nvSpPr>
        <p:spPr>
          <a:xfrm>
            <a:off x="576000" y="3600000"/>
            <a:ext cx="4896000" cy="2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350" spc="-1" strike="noStrike">
                <a:solidFill>
                  <a:srgbClr val="172731"/>
                </a:solidFill>
                <a:latin typeface="Arial"/>
              </a:rPr>
              <a:t>Exact training row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758" name=""/>
          <p:cNvSpPr/>
          <p:nvPr/>
        </p:nvSpPr>
        <p:spPr>
          <a:xfrm>
            <a:off x="576000" y="4096800"/>
            <a:ext cx="79200" cy="79200"/>
          </a:xfrm>
          <a:prstGeom prst="ellipse">
            <a:avLst/>
          </a:prstGeom>
          <a:solidFill>
            <a:srgbClr val="007c99"/>
          </a:solidFill>
          <a:ln w="0">
            <a:noFill/>
          </a:ln>
        </p:spPr>
      </p:sp>
      <p:sp>
        <p:nvSpPr>
          <p:cNvPr id="759" name=""/>
          <p:cNvSpPr txBox="1"/>
          <p:nvPr/>
        </p:nvSpPr>
        <p:spPr>
          <a:xfrm>
            <a:off x="756000" y="4014000"/>
            <a:ext cx="4716000" cy="32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39" spc="-1" strike="noStrike">
                <a:solidFill>
                  <a:srgbClr val="172731"/>
                </a:solidFill>
                <a:latin typeface="Arial"/>
              </a:rPr>
              <a:t>new_session_count = Σ arrivals in the 20 ticks</a:t>
            </a:r>
            <a:endParaRPr b="0" lang="en-US" sz="939" spc="-1" strike="noStrike">
              <a:latin typeface="Arial"/>
            </a:endParaRPr>
          </a:p>
        </p:txBody>
      </p:sp>
      <p:sp>
        <p:nvSpPr>
          <p:cNvPr id="760" name=""/>
          <p:cNvSpPr/>
          <p:nvPr/>
        </p:nvSpPr>
        <p:spPr>
          <a:xfrm>
            <a:off x="576000" y="4420800"/>
            <a:ext cx="79200" cy="79200"/>
          </a:xfrm>
          <a:prstGeom prst="ellipse">
            <a:avLst/>
          </a:prstGeom>
          <a:solidFill>
            <a:srgbClr val="007c99"/>
          </a:solidFill>
          <a:ln w="0">
            <a:noFill/>
          </a:ln>
        </p:spPr>
      </p:sp>
      <p:sp>
        <p:nvSpPr>
          <p:cNvPr id="761" name=""/>
          <p:cNvSpPr txBox="1"/>
          <p:nvPr/>
        </p:nvSpPr>
        <p:spPr>
          <a:xfrm>
            <a:off x="756000" y="4338000"/>
            <a:ext cx="4716000" cy="32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39" spc="-1" strike="noStrike">
                <a:solidFill>
                  <a:srgbClr val="172731"/>
                </a:solidFill>
                <a:latin typeface="Arial"/>
              </a:rPr>
              <a:t>new UL/DL = count × fixed class Mbps/session</a:t>
            </a:r>
            <a:endParaRPr b="0" lang="en-US" sz="939" spc="-1" strike="noStrike">
              <a:latin typeface="Arial"/>
            </a:endParaRPr>
          </a:p>
        </p:txBody>
      </p:sp>
      <p:sp>
        <p:nvSpPr>
          <p:cNvPr id="762" name=""/>
          <p:cNvSpPr/>
          <p:nvPr/>
        </p:nvSpPr>
        <p:spPr>
          <a:xfrm>
            <a:off x="576000" y="4744800"/>
            <a:ext cx="79200" cy="79200"/>
          </a:xfrm>
          <a:prstGeom prst="ellipse">
            <a:avLst/>
          </a:prstGeom>
          <a:solidFill>
            <a:srgbClr val="007c99"/>
          </a:solidFill>
          <a:ln w="0">
            <a:noFill/>
          </a:ln>
        </p:spPr>
      </p:sp>
      <p:sp>
        <p:nvSpPr>
          <p:cNvPr id="763" name=""/>
          <p:cNvSpPr txBox="1"/>
          <p:nvPr/>
        </p:nvSpPr>
        <p:spPr>
          <a:xfrm>
            <a:off x="756000" y="4662000"/>
            <a:ext cx="4716000" cy="32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39" spc="-1" strike="noStrike">
                <a:solidFill>
                  <a:srgbClr val="172731"/>
                </a:solidFill>
                <a:latin typeface="Arial"/>
              </a:rPr>
              <a:t>residual sessions and offered Mbps = duration mean across the bucket</a:t>
            </a:r>
            <a:endParaRPr b="0" lang="en-US" sz="939" spc="-1" strike="noStrike">
              <a:latin typeface="Arial"/>
            </a:endParaRPr>
          </a:p>
        </p:txBody>
      </p:sp>
      <p:sp>
        <p:nvSpPr>
          <p:cNvPr id="764" name=""/>
          <p:cNvSpPr/>
          <p:nvPr/>
        </p:nvSpPr>
        <p:spPr>
          <a:xfrm>
            <a:off x="576000" y="5068800"/>
            <a:ext cx="79200" cy="79200"/>
          </a:xfrm>
          <a:prstGeom prst="ellipse">
            <a:avLst/>
          </a:prstGeom>
          <a:solidFill>
            <a:srgbClr val="007c99"/>
          </a:solidFill>
          <a:ln w="0">
            <a:noFill/>
          </a:ln>
        </p:spPr>
      </p:sp>
      <p:sp>
        <p:nvSpPr>
          <p:cNvPr id="765" name=""/>
          <p:cNvSpPr txBox="1"/>
          <p:nvPr/>
        </p:nvSpPr>
        <p:spPr>
          <a:xfrm>
            <a:off x="756000" y="4986000"/>
            <a:ext cx="4716000" cy="32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39" spc="-1" strike="noStrike">
                <a:solidFill>
                  <a:srgbClr val="172731"/>
                </a:solidFill>
                <a:latin typeface="Arial"/>
              </a:rPr>
              <a:t>one DemandObservation emitted per controllable group</a:t>
            </a:r>
            <a:endParaRPr b="0" lang="en-US" sz="939" spc="-1" strike="noStrike">
              <a:latin typeface="Arial"/>
            </a:endParaRPr>
          </a:p>
        </p:txBody>
      </p:sp>
      <p:sp>
        <p:nvSpPr>
          <p:cNvPr id="766" name=""/>
          <p:cNvSpPr/>
          <p:nvPr/>
        </p:nvSpPr>
        <p:spPr>
          <a:xfrm>
            <a:off x="6084000" y="3348000"/>
            <a:ext cx="5652000" cy="2376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767" name=""/>
          <p:cNvSpPr/>
          <p:nvPr/>
        </p:nvSpPr>
        <p:spPr>
          <a:xfrm>
            <a:off x="6084000" y="3348000"/>
            <a:ext cx="64800" cy="2376000"/>
          </a:xfrm>
          <a:prstGeom prst="rect">
            <a:avLst/>
          </a:prstGeom>
          <a:solidFill>
            <a:srgbClr val="c77b0b"/>
          </a:solidFill>
          <a:ln w="0">
            <a:noFill/>
          </a:ln>
        </p:spPr>
      </p:sp>
      <p:sp>
        <p:nvSpPr>
          <p:cNvPr id="768" name=""/>
          <p:cNvSpPr txBox="1"/>
          <p:nvPr/>
        </p:nvSpPr>
        <p:spPr>
          <a:xfrm>
            <a:off x="6336000" y="3600000"/>
            <a:ext cx="5112000" cy="2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350" spc="-1" strike="noStrike">
                <a:solidFill>
                  <a:srgbClr val="172731"/>
                </a:solidFill>
                <a:latin typeface="Arial"/>
              </a:rPr>
              <a:t>What the v1 trainer does not consume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769" name=""/>
          <p:cNvSpPr/>
          <p:nvPr/>
        </p:nvSpPr>
        <p:spPr>
          <a:xfrm>
            <a:off x="6336000" y="4096800"/>
            <a:ext cx="79200" cy="79200"/>
          </a:xfrm>
          <a:prstGeom prst="ellipse">
            <a:avLst/>
          </a:prstGeom>
          <a:solidFill>
            <a:srgbClr val="c77b0b"/>
          </a:solidFill>
          <a:ln w="0">
            <a:noFill/>
          </a:ln>
        </p:spPr>
      </p:sp>
      <p:sp>
        <p:nvSpPr>
          <p:cNvPr id="770" name=""/>
          <p:cNvSpPr txBox="1"/>
          <p:nvPr/>
        </p:nvSpPr>
        <p:spPr>
          <a:xfrm>
            <a:off x="6516000" y="4014000"/>
            <a:ext cx="4932000" cy="32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39" spc="-1" strike="noStrike">
                <a:solidFill>
                  <a:srgbClr val="172731"/>
                </a:solidFill>
                <a:latin typeface="Arial"/>
              </a:rPr>
              <a:t>queue, drop or rejection fields as targets</a:t>
            </a:r>
            <a:endParaRPr b="0" lang="en-US" sz="939" spc="-1" strike="noStrike">
              <a:latin typeface="Arial"/>
            </a:endParaRPr>
          </a:p>
        </p:txBody>
      </p:sp>
      <p:sp>
        <p:nvSpPr>
          <p:cNvPr id="771" name=""/>
          <p:cNvSpPr/>
          <p:nvPr/>
        </p:nvSpPr>
        <p:spPr>
          <a:xfrm>
            <a:off x="6336000" y="4420800"/>
            <a:ext cx="79200" cy="79200"/>
          </a:xfrm>
          <a:prstGeom prst="ellipse">
            <a:avLst/>
          </a:prstGeom>
          <a:solidFill>
            <a:srgbClr val="c77b0b"/>
          </a:solidFill>
          <a:ln w="0">
            <a:noFill/>
          </a:ln>
        </p:spPr>
      </p:sp>
      <p:sp>
        <p:nvSpPr>
          <p:cNvPr id="772" name=""/>
          <p:cNvSpPr txBox="1"/>
          <p:nvPr/>
        </p:nvSpPr>
        <p:spPr>
          <a:xfrm>
            <a:off x="6516000" y="4338000"/>
            <a:ext cx="4932000" cy="32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39" spc="-1" strike="noStrike">
                <a:solidFill>
                  <a:srgbClr val="172731"/>
                </a:solidFill>
                <a:latin typeface="Arial"/>
              </a:rPr>
              <a:t>selection audits or explicit event IDs</a:t>
            </a:r>
            <a:endParaRPr b="0" lang="en-US" sz="939" spc="-1" strike="noStrike">
              <a:latin typeface="Arial"/>
            </a:endParaRPr>
          </a:p>
        </p:txBody>
      </p:sp>
      <p:sp>
        <p:nvSpPr>
          <p:cNvPr id="773" name=""/>
          <p:cNvSpPr/>
          <p:nvPr/>
        </p:nvSpPr>
        <p:spPr>
          <a:xfrm>
            <a:off x="6336000" y="4744800"/>
            <a:ext cx="79200" cy="79200"/>
          </a:xfrm>
          <a:prstGeom prst="ellipse">
            <a:avLst/>
          </a:prstGeom>
          <a:solidFill>
            <a:srgbClr val="c77b0b"/>
          </a:solidFill>
          <a:ln w="0">
            <a:noFill/>
          </a:ln>
        </p:spPr>
      </p:sp>
      <p:sp>
        <p:nvSpPr>
          <p:cNvPr id="774" name=""/>
          <p:cNvSpPr txBox="1"/>
          <p:nvPr/>
        </p:nvSpPr>
        <p:spPr>
          <a:xfrm>
            <a:off x="6516000" y="4662000"/>
            <a:ext cx="4932000" cy="32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39" spc="-1" strike="noStrike">
                <a:solidFill>
                  <a:srgbClr val="172731"/>
                </a:solidFill>
                <a:latin typeface="Arial"/>
              </a:rPr>
              <a:t>packet counters, CPU, memory or resets/gaps</a:t>
            </a:r>
            <a:endParaRPr b="0" lang="en-US" sz="939" spc="-1" strike="noStrike">
              <a:latin typeface="Arial"/>
            </a:endParaRPr>
          </a:p>
        </p:txBody>
      </p:sp>
      <p:sp>
        <p:nvSpPr>
          <p:cNvPr id="775" name=""/>
          <p:cNvSpPr/>
          <p:nvPr/>
        </p:nvSpPr>
        <p:spPr>
          <a:xfrm>
            <a:off x="6336000" y="5068800"/>
            <a:ext cx="79200" cy="79200"/>
          </a:xfrm>
          <a:prstGeom prst="ellipse">
            <a:avLst/>
          </a:prstGeom>
          <a:solidFill>
            <a:srgbClr val="c77b0b"/>
          </a:solidFill>
          <a:ln w="0">
            <a:noFill/>
          </a:ln>
        </p:spPr>
      </p:sp>
      <p:sp>
        <p:nvSpPr>
          <p:cNvPr id="776" name=""/>
          <p:cNvSpPr txBox="1"/>
          <p:nvPr/>
        </p:nvSpPr>
        <p:spPr>
          <a:xfrm>
            <a:off x="6516000" y="4986000"/>
            <a:ext cx="4932000" cy="32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39" spc="-1" strike="noStrike">
                <a:solidFill>
                  <a:srgbClr val="172731"/>
                </a:solidFill>
                <a:latin typeface="Arial"/>
              </a:rPr>
              <a:t>per-group measured carried throughput</a:t>
            </a:r>
            <a:endParaRPr b="0" lang="en-US" sz="939" spc="-1" strike="noStrike">
              <a:latin typeface="Arial"/>
            </a:endParaRPr>
          </a:p>
        </p:txBody>
      </p:sp>
      <p:sp>
        <p:nvSpPr>
          <p:cNvPr id="777" name=""/>
          <p:cNvSpPr/>
          <p:nvPr/>
        </p:nvSpPr>
        <p:spPr>
          <a:xfrm>
            <a:off x="324000" y="6616800"/>
            <a:ext cx="11088000" cy="0"/>
          </a:xfrm>
          <a:prstGeom prst="line">
            <a:avLst/>
          </a:prstGeom>
          <a:ln w="1080">
            <a:solidFill>
              <a:srgbClr val="cfdc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78" name=""/>
          <p:cNvSpPr txBox="1"/>
          <p:nvPr/>
        </p:nvSpPr>
        <p:spPr>
          <a:xfrm>
            <a:off x="324000" y="6660000"/>
            <a:ext cx="10368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80" spc="-1" strike="noStrike">
                <a:solidFill>
                  <a:srgbClr val="718592"/>
                </a:solidFill>
                <a:latin typeface="Courier New"/>
              </a:rPr>
              <a:t>experiments/train_forecaster.py::_bucket_sequence · forecasting/bundle.py</a:t>
            </a:r>
            <a:endParaRPr b="0" lang="en-US" sz="680" spc="-1" strike="noStrike">
              <a:latin typeface="Arial"/>
            </a:endParaRPr>
          </a:p>
        </p:txBody>
      </p:sp>
      <p:sp>
        <p:nvSpPr>
          <p:cNvPr id="779" name=""/>
          <p:cNvSpPr txBox="1"/>
          <p:nvPr/>
        </p:nvSpPr>
        <p:spPr>
          <a:xfrm>
            <a:off x="11052000" y="6660000"/>
            <a:ext cx="684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buNone/>
            </a:pPr>
            <a:r>
              <a:rPr b="1" lang="en-US" sz="750" spc="-1" strike="noStrike">
                <a:solidFill>
                  <a:srgbClr val="718592"/>
                </a:solidFill>
                <a:latin typeface="Courier New"/>
              </a:rPr>
              <a:t>12</a:t>
            </a:r>
            <a:endParaRPr b="0" lang="en-US" sz="7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3f7f8"/>
          </a:solidFill>
          <a:ln w="0">
            <a:noFill/>
          </a:ln>
        </p:spPr>
      </p:sp>
      <p:sp>
        <p:nvSpPr>
          <p:cNvPr id="781" name=""/>
          <p:cNvSpPr txBox="1"/>
          <p:nvPr/>
        </p:nvSpPr>
        <p:spPr>
          <a:xfrm>
            <a:off x="324000" y="158400"/>
            <a:ext cx="3096000" cy="23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00" spc="508" strike="noStrike">
                <a:solidFill>
                  <a:srgbClr val="007c99"/>
                </a:solidFill>
                <a:latin typeface="Courier New"/>
              </a:rPr>
              <a:t>STAGE 2 · MODEL AND TRAINING OPTIMIZATIONS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782" name=""/>
          <p:cNvSpPr txBox="1"/>
          <p:nvPr/>
        </p:nvSpPr>
        <p:spPr>
          <a:xfrm>
            <a:off x="324000" y="378000"/>
            <a:ext cx="10584000" cy="57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50" spc="-1" strike="noStrike">
                <a:solidFill>
                  <a:srgbClr val="172731"/>
                </a:solidFill>
                <a:latin typeface="Arial"/>
              </a:rPr>
              <a:t>The chosen forecaster favors transparency, speed and numerical stability</a:t>
            </a:r>
            <a:endParaRPr b="0" lang="en-US" sz="2150" spc="-1" strike="noStrike">
              <a:latin typeface="Arial"/>
            </a:endParaRPr>
          </a:p>
        </p:txBody>
      </p:sp>
      <p:sp>
        <p:nvSpPr>
          <p:cNvPr id="783" name=""/>
          <p:cNvSpPr/>
          <p:nvPr/>
        </p:nvSpPr>
        <p:spPr>
          <a:xfrm>
            <a:off x="10800000" y="180000"/>
            <a:ext cx="936000" cy="19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784" name=""/>
          <p:cNvSpPr txBox="1"/>
          <p:nvPr/>
        </p:nvSpPr>
        <p:spPr>
          <a:xfrm>
            <a:off x="10818000" y="219600"/>
            <a:ext cx="900000" cy="10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710" spc="-1" strike="noStrike">
                <a:solidFill>
                  <a:srgbClr val="c77b0b"/>
                </a:solidFill>
                <a:latin typeface="Courier New"/>
              </a:rPr>
              <a:t>SYNTHETIC DATA</a:t>
            </a:r>
            <a:endParaRPr b="0" lang="en-US" sz="710" spc="-1" strike="noStrike">
              <a:latin typeface="Arial"/>
            </a:endParaRPr>
          </a:p>
        </p:txBody>
      </p:sp>
      <p:sp>
        <p:nvSpPr>
          <p:cNvPr id="785" name=""/>
          <p:cNvSpPr/>
          <p:nvPr/>
        </p:nvSpPr>
        <p:spPr>
          <a:xfrm>
            <a:off x="324000" y="1404000"/>
            <a:ext cx="6120000" cy="4680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786" name=""/>
          <p:cNvSpPr/>
          <p:nvPr/>
        </p:nvSpPr>
        <p:spPr>
          <a:xfrm>
            <a:off x="324000" y="1404000"/>
            <a:ext cx="64800" cy="4680000"/>
          </a:xfrm>
          <a:prstGeom prst="rect">
            <a:avLst/>
          </a:prstGeom>
          <a:solidFill>
            <a:srgbClr val="6750a4"/>
          </a:solidFill>
          <a:ln w="0">
            <a:noFill/>
          </a:ln>
        </p:spPr>
      </p:sp>
      <p:sp>
        <p:nvSpPr>
          <p:cNvPr id="787" name=""/>
          <p:cNvSpPr txBox="1"/>
          <p:nvPr/>
        </p:nvSpPr>
        <p:spPr>
          <a:xfrm>
            <a:off x="576000" y="1656000"/>
            <a:ext cx="5616000" cy="2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500" spc="-1" strike="noStrike">
                <a:solidFill>
                  <a:srgbClr val="172731"/>
                </a:solidFill>
                <a:latin typeface="Arial"/>
              </a:rPr>
              <a:t>Calendar-ridge direct multi-horizon model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788" name=""/>
          <p:cNvSpPr/>
          <p:nvPr/>
        </p:nvSpPr>
        <p:spPr>
          <a:xfrm>
            <a:off x="576000" y="2124000"/>
            <a:ext cx="5580000" cy="374400"/>
          </a:xfrm>
          <a:prstGeom prst="rect">
            <a:avLst/>
          </a:prstGeom>
          <a:solidFill>
            <a:srgbClr val="193644"/>
          </a:solidFill>
          <a:ln w="6480">
            <a:solidFill>
              <a:srgbClr val="cfdce1"/>
            </a:solidFill>
            <a:round/>
          </a:ln>
        </p:spPr>
      </p:sp>
      <p:sp>
        <p:nvSpPr>
          <p:cNvPr id="789" name=""/>
          <p:cNvSpPr txBox="1"/>
          <p:nvPr/>
        </p:nvSpPr>
        <p:spPr>
          <a:xfrm>
            <a:off x="637200" y="2170800"/>
            <a:ext cx="2253600" cy="30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n-US" sz="830" spc="-1" strike="noStrike">
                <a:solidFill>
                  <a:srgbClr val="ffffff"/>
                </a:solidFill>
                <a:latin typeface="Arial"/>
              </a:rPr>
              <a:t>FEATURE</a:t>
            </a:r>
            <a:endParaRPr b="0" lang="en-US" sz="830" spc="-1" strike="noStrike">
              <a:latin typeface="Arial"/>
            </a:endParaRPr>
          </a:p>
        </p:txBody>
      </p:sp>
      <p:sp>
        <p:nvSpPr>
          <p:cNvPr id="790" name=""/>
          <p:cNvSpPr txBox="1"/>
          <p:nvPr/>
        </p:nvSpPr>
        <p:spPr>
          <a:xfrm>
            <a:off x="3013200" y="2170800"/>
            <a:ext cx="3081600" cy="30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n-US" sz="830" spc="-1" strike="noStrike">
                <a:solidFill>
                  <a:srgbClr val="ffffff"/>
                </a:solidFill>
                <a:latin typeface="Arial"/>
              </a:rPr>
              <a:t>ROLE</a:t>
            </a:r>
            <a:endParaRPr b="0" lang="en-US" sz="830" spc="-1" strike="noStrike">
              <a:latin typeface="Arial"/>
            </a:endParaRPr>
          </a:p>
        </p:txBody>
      </p:sp>
      <p:sp>
        <p:nvSpPr>
          <p:cNvPr id="791" name=""/>
          <p:cNvSpPr/>
          <p:nvPr/>
        </p:nvSpPr>
        <p:spPr>
          <a:xfrm>
            <a:off x="576000" y="2498400"/>
            <a:ext cx="5580000" cy="374400"/>
          </a:xfrm>
          <a:prstGeom prst="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792" name=""/>
          <p:cNvSpPr txBox="1"/>
          <p:nvPr/>
        </p:nvSpPr>
        <p:spPr>
          <a:xfrm>
            <a:off x="637200" y="2545200"/>
            <a:ext cx="2253600" cy="30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50" spc="-1" strike="noStrike">
                <a:solidFill>
                  <a:srgbClr val="172731"/>
                </a:solidFill>
                <a:latin typeface="Arial"/>
              </a:rPr>
              <a:t>last value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793" name=""/>
          <p:cNvSpPr txBox="1"/>
          <p:nvPr/>
        </p:nvSpPr>
        <p:spPr>
          <a:xfrm>
            <a:off x="3013200" y="2545200"/>
            <a:ext cx="3081600" cy="30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50" spc="-1" strike="noStrike">
                <a:solidFill>
                  <a:srgbClr val="172731"/>
                </a:solidFill>
                <a:latin typeface="Arial"/>
              </a:rPr>
              <a:t>autoregressive level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794" name=""/>
          <p:cNvSpPr/>
          <p:nvPr/>
        </p:nvSpPr>
        <p:spPr>
          <a:xfrm>
            <a:off x="576000" y="2872800"/>
            <a:ext cx="5580000" cy="374400"/>
          </a:xfrm>
          <a:prstGeom prst="rect">
            <a:avLst/>
          </a:prstGeom>
          <a:solidFill>
            <a:srgbClr val="f8fafb"/>
          </a:solidFill>
          <a:ln w="6480">
            <a:solidFill>
              <a:srgbClr val="cfdce1"/>
            </a:solidFill>
            <a:round/>
          </a:ln>
        </p:spPr>
      </p:sp>
      <p:sp>
        <p:nvSpPr>
          <p:cNvPr id="795" name=""/>
          <p:cNvSpPr txBox="1"/>
          <p:nvPr/>
        </p:nvSpPr>
        <p:spPr>
          <a:xfrm>
            <a:off x="637200" y="2919600"/>
            <a:ext cx="2253600" cy="30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50" spc="-1" strike="noStrike">
                <a:solidFill>
                  <a:srgbClr val="172731"/>
                </a:solidFill>
                <a:latin typeface="Arial"/>
              </a:rPr>
              <a:t>rolling mean (6)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796" name=""/>
          <p:cNvSpPr txBox="1"/>
          <p:nvPr/>
        </p:nvSpPr>
        <p:spPr>
          <a:xfrm>
            <a:off x="3013200" y="2919600"/>
            <a:ext cx="3081600" cy="30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50" spc="-1" strike="noStrike">
                <a:solidFill>
                  <a:srgbClr val="172731"/>
                </a:solidFill>
                <a:latin typeface="Arial"/>
              </a:rPr>
              <a:t>one-hour causal baseline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797" name=""/>
          <p:cNvSpPr/>
          <p:nvPr/>
        </p:nvSpPr>
        <p:spPr>
          <a:xfrm>
            <a:off x="576000" y="3247200"/>
            <a:ext cx="5580000" cy="374400"/>
          </a:xfrm>
          <a:prstGeom prst="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798" name=""/>
          <p:cNvSpPr txBox="1"/>
          <p:nvPr/>
        </p:nvSpPr>
        <p:spPr>
          <a:xfrm>
            <a:off x="637200" y="3294000"/>
            <a:ext cx="2253600" cy="30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50" spc="-1" strike="noStrike">
                <a:solidFill>
                  <a:srgbClr val="172731"/>
                </a:solidFill>
                <a:latin typeface="Arial"/>
              </a:rPr>
              <a:t>recent trend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799" name=""/>
          <p:cNvSpPr txBox="1"/>
          <p:nvPr/>
        </p:nvSpPr>
        <p:spPr>
          <a:xfrm>
            <a:off x="3013200" y="3294000"/>
            <a:ext cx="3081600" cy="30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50" spc="-1" strike="noStrike">
                <a:solidFill>
                  <a:srgbClr val="172731"/>
                </a:solidFill>
                <a:latin typeface="Arial"/>
              </a:rPr>
              <a:t>local direction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800" name=""/>
          <p:cNvSpPr/>
          <p:nvPr/>
        </p:nvSpPr>
        <p:spPr>
          <a:xfrm>
            <a:off x="576000" y="3621600"/>
            <a:ext cx="5580000" cy="374400"/>
          </a:xfrm>
          <a:prstGeom prst="rect">
            <a:avLst/>
          </a:prstGeom>
          <a:solidFill>
            <a:srgbClr val="f8fafb"/>
          </a:solidFill>
          <a:ln w="6480">
            <a:solidFill>
              <a:srgbClr val="cfdce1"/>
            </a:solidFill>
            <a:round/>
          </a:ln>
        </p:spPr>
      </p:sp>
      <p:sp>
        <p:nvSpPr>
          <p:cNvPr id="801" name=""/>
          <p:cNvSpPr txBox="1"/>
          <p:nvPr/>
        </p:nvSpPr>
        <p:spPr>
          <a:xfrm>
            <a:off x="637200" y="3668400"/>
            <a:ext cx="2253600" cy="30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50" spc="-1" strike="noStrike">
                <a:solidFill>
                  <a:srgbClr val="172731"/>
                </a:solidFill>
                <a:latin typeface="Arial"/>
              </a:rPr>
              <a:t>daily seasonal lag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802" name=""/>
          <p:cNvSpPr txBox="1"/>
          <p:nvPr/>
        </p:nvSpPr>
        <p:spPr>
          <a:xfrm>
            <a:off x="3013200" y="3668400"/>
            <a:ext cx="3081600" cy="30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50" spc="-1" strike="noStrike">
                <a:solidFill>
                  <a:srgbClr val="172731"/>
                </a:solidFill>
                <a:latin typeface="Arial"/>
              </a:rPr>
              <a:t>same-time prior-day structure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803" name=""/>
          <p:cNvSpPr/>
          <p:nvPr/>
        </p:nvSpPr>
        <p:spPr>
          <a:xfrm>
            <a:off x="576000" y="3996000"/>
            <a:ext cx="5580000" cy="374400"/>
          </a:xfrm>
          <a:prstGeom prst="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804" name=""/>
          <p:cNvSpPr txBox="1"/>
          <p:nvPr/>
        </p:nvSpPr>
        <p:spPr>
          <a:xfrm>
            <a:off x="637200" y="4042800"/>
            <a:ext cx="2253600" cy="30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50" spc="-1" strike="noStrike">
                <a:solidFill>
                  <a:srgbClr val="172731"/>
                </a:solidFill>
                <a:latin typeface="Arial"/>
              </a:rPr>
              <a:t>sin/cos time of day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805" name=""/>
          <p:cNvSpPr txBox="1"/>
          <p:nvPr/>
        </p:nvSpPr>
        <p:spPr>
          <a:xfrm>
            <a:off x="3013200" y="4042800"/>
            <a:ext cx="3081600" cy="30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50" spc="-1" strike="noStrike">
                <a:solidFill>
                  <a:srgbClr val="172731"/>
                </a:solidFill>
                <a:latin typeface="Arial"/>
              </a:rPr>
              <a:t>continuous daily phase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806" name=""/>
          <p:cNvSpPr/>
          <p:nvPr/>
        </p:nvSpPr>
        <p:spPr>
          <a:xfrm>
            <a:off x="576000" y="4370400"/>
            <a:ext cx="5580000" cy="374400"/>
          </a:xfrm>
          <a:prstGeom prst="rect">
            <a:avLst/>
          </a:prstGeom>
          <a:solidFill>
            <a:srgbClr val="f8fafb"/>
          </a:solidFill>
          <a:ln w="6480">
            <a:solidFill>
              <a:srgbClr val="cfdce1"/>
            </a:solidFill>
            <a:round/>
          </a:ln>
        </p:spPr>
      </p:sp>
      <p:sp>
        <p:nvSpPr>
          <p:cNvPr id="807" name=""/>
          <p:cNvSpPr txBox="1"/>
          <p:nvPr/>
        </p:nvSpPr>
        <p:spPr>
          <a:xfrm>
            <a:off x="637200" y="4417200"/>
            <a:ext cx="2253600" cy="30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50" spc="-1" strike="noStrike">
                <a:solidFill>
                  <a:srgbClr val="172731"/>
                </a:solidFill>
                <a:latin typeface="Arial"/>
              </a:rPr>
              <a:t>sin/cos day of week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808" name=""/>
          <p:cNvSpPr txBox="1"/>
          <p:nvPr/>
        </p:nvSpPr>
        <p:spPr>
          <a:xfrm>
            <a:off x="3013200" y="4417200"/>
            <a:ext cx="3081600" cy="30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50" spc="-1" strike="noStrike">
                <a:solidFill>
                  <a:srgbClr val="172731"/>
                </a:solidFill>
                <a:latin typeface="Arial"/>
              </a:rPr>
              <a:t>weekly calendar phase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809" name=""/>
          <p:cNvSpPr/>
          <p:nvPr/>
        </p:nvSpPr>
        <p:spPr>
          <a:xfrm>
            <a:off x="576000" y="4744800"/>
            <a:ext cx="5580000" cy="374400"/>
          </a:xfrm>
          <a:prstGeom prst="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810" name=""/>
          <p:cNvSpPr txBox="1"/>
          <p:nvPr/>
        </p:nvSpPr>
        <p:spPr>
          <a:xfrm>
            <a:off x="637200" y="4791600"/>
            <a:ext cx="2253600" cy="30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50" spc="-1" strike="noStrike">
                <a:solidFill>
                  <a:srgbClr val="172731"/>
                </a:solidFill>
                <a:latin typeface="Arial"/>
              </a:rPr>
              <a:t>intercept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811" name=""/>
          <p:cNvSpPr txBox="1"/>
          <p:nvPr/>
        </p:nvSpPr>
        <p:spPr>
          <a:xfrm>
            <a:off x="3013200" y="4791600"/>
            <a:ext cx="3081600" cy="30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50" spc="-1" strike="noStrike">
                <a:solidFill>
                  <a:srgbClr val="172731"/>
                </a:solidFill>
                <a:latin typeface="Arial"/>
              </a:rPr>
              <a:t>group/horizon baseline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812" name=""/>
          <p:cNvSpPr txBox="1"/>
          <p:nvPr/>
        </p:nvSpPr>
        <p:spPr>
          <a:xfrm>
            <a:off x="576000" y="5364000"/>
            <a:ext cx="5580000" cy="43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10" spc="-1" strike="noStrike">
                <a:solidFill>
                  <a:srgbClr val="6750a4"/>
                </a:solidFill>
                <a:latin typeface="Arial"/>
              </a:rPr>
              <a:t>96 groups × 3 targets × 8 horizons = 2,304 nine-feature ridge systems</a:t>
            </a:r>
            <a:endParaRPr b="0" lang="en-US" sz="1010" spc="-1" strike="noStrike">
              <a:latin typeface="Arial"/>
            </a:endParaRPr>
          </a:p>
        </p:txBody>
      </p:sp>
      <p:sp>
        <p:nvSpPr>
          <p:cNvPr id="813" name=""/>
          <p:cNvSpPr/>
          <p:nvPr/>
        </p:nvSpPr>
        <p:spPr>
          <a:xfrm>
            <a:off x="6768000" y="1404000"/>
            <a:ext cx="4968000" cy="4680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814" name=""/>
          <p:cNvSpPr/>
          <p:nvPr/>
        </p:nvSpPr>
        <p:spPr>
          <a:xfrm>
            <a:off x="6768000" y="1404000"/>
            <a:ext cx="64800" cy="4680000"/>
          </a:xfrm>
          <a:prstGeom prst="rect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815" name=""/>
          <p:cNvSpPr txBox="1"/>
          <p:nvPr/>
        </p:nvSpPr>
        <p:spPr>
          <a:xfrm>
            <a:off x="7020000" y="1656000"/>
            <a:ext cx="4464000" cy="2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500" spc="-1" strike="noStrike">
                <a:solidFill>
                  <a:srgbClr val="172731"/>
                </a:solidFill>
                <a:latin typeface="Arial"/>
              </a:rPr>
              <a:t>Engineering optimizations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816" name=""/>
          <p:cNvSpPr/>
          <p:nvPr/>
        </p:nvSpPr>
        <p:spPr>
          <a:xfrm>
            <a:off x="7020000" y="2188800"/>
            <a:ext cx="79200" cy="79200"/>
          </a:xfrm>
          <a:prstGeom prst="ellipse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817" name=""/>
          <p:cNvSpPr txBox="1"/>
          <p:nvPr/>
        </p:nvSpPr>
        <p:spPr>
          <a:xfrm>
            <a:off x="7200000" y="2124000"/>
            <a:ext cx="4284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89" spc="-1" strike="noStrike">
                <a:solidFill>
                  <a:srgbClr val="172731"/>
                </a:solidFill>
                <a:latin typeface="Arial"/>
              </a:rPr>
              <a:t>Vectorized row construction</a:t>
            </a:r>
            <a:endParaRPr b="0" lang="en-US" sz="889" spc="-1" strike="noStrike">
              <a:latin typeface="Arial"/>
            </a:endParaRPr>
          </a:p>
        </p:txBody>
      </p:sp>
      <p:sp>
        <p:nvSpPr>
          <p:cNvPr id="818" name=""/>
          <p:cNvSpPr txBox="1"/>
          <p:nvPr/>
        </p:nvSpPr>
        <p:spPr>
          <a:xfrm>
            <a:off x="7200000" y="2304000"/>
            <a:ext cx="4284000" cy="50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526875"/>
                </a:solidFill>
                <a:latin typeface="Arial"/>
              </a:rPr>
              <a:t>NumPy builds each sequence in O(n); the prior scalar path rebuilt full histories.</a:t>
            </a:r>
            <a:endParaRPr b="0" lang="en-US" sz="770" spc="-1" strike="noStrike">
              <a:latin typeface="Arial"/>
            </a:endParaRPr>
          </a:p>
        </p:txBody>
      </p:sp>
      <p:sp>
        <p:nvSpPr>
          <p:cNvPr id="819" name=""/>
          <p:cNvSpPr/>
          <p:nvPr/>
        </p:nvSpPr>
        <p:spPr>
          <a:xfrm>
            <a:off x="7020000" y="2800800"/>
            <a:ext cx="79200" cy="79200"/>
          </a:xfrm>
          <a:prstGeom prst="ellipse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820" name=""/>
          <p:cNvSpPr txBox="1"/>
          <p:nvPr/>
        </p:nvSpPr>
        <p:spPr>
          <a:xfrm>
            <a:off x="7200000" y="2736000"/>
            <a:ext cx="4284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89" spc="-1" strike="noStrike">
                <a:solidFill>
                  <a:srgbClr val="172731"/>
                </a:solidFill>
                <a:latin typeface="Arial"/>
              </a:rPr>
              <a:t>RMS feature scaling</a:t>
            </a:r>
            <a:endParaRPr b="0" lang="en-US" sz="889" spc="-1" strike="noStrike">
              <a:latin typeface="Arial"/>
            </a:endParaRPr>
          </a:p>
        </p:txBody>
      </p:sp>
      <p:sp>
        <p:nvSpPr>
          <p:cNvPr id="821" name=""/>
          <p:cNvSpPr txBox="1"/>
          <p:nvPr/>
        </p:nvSpPr>
        <p:spPr>
          <a:xfrm>
            <a:off x="7200000" y="2916000"/>
            <a:ext cx="4284000" cy="50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526875"/>
                </a:solidFill>
                <a:latin typeface="Arial"/>
              </a:rPr>
              <a:t>stabilizes national-scale normal equations while preserving the bundle coefficient contract.</a:t>
            </a:r>
            <a:endParaRPr b="0" lang="en-US" sz="770" spc="-1" strike="noStrike">
              <a:latin typeface="Arial"/>
            </a:endParaRPr>
          </a:p>
        </p:txBody>
      </p:sp>
      <p:sp>
        <p:nvSpPr>
          <p:cNvPr id="822" name=""/>
          <p:cNvSpPr/>
          <p:nvPr/>
        </p:nvSpPr>
        <p:spPr>
          <a:xfrm>
            <a:off x="7020000" y="3412800"/>
            <a:ext cx="79200" cy="79200"/>
          </a:xfrm>
          <a:prstGeom prst="ellipse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823" name=""/>
          <p:cNvSpPr txBox="1"/>
          <p:nvPr/>
        </p:nvSpPr>
        <p:spPr>
          <a:xfrm>
            <a:off x="7200000" y="3348000"/>
            <a:ext cx="4284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89" spc="-1" strike="noStrike">
                <a:solidFill>
                  <a:srgbClr val="172731"/>
                </a:solidFill>
                <a:latin typeface="Arial"/>
              </a:rPr>
              <a:t>Ordered split</a:t>
            </a:r>
            <a:endParaRPr b="0" lang="en-US" sz="889" spc="-1" strike="noStrike">
              <a:latin typeface="Arial"/>
            </a:endParaRPr>
          </a:p>
        </p:txBody>
      </p:sp>
      <p:sp>
        <p:nvSpPr>
          <p:cNvPr id="824" name=""/>
          <p:cNvSpPr txBox="1"/>
          <p:nvPr/>
        </p:nvSpPr>
        <p:spPr>
          <a:xfrm>
            <a:off x="7200000" y="3528000"/>
            <a:ext cx="4284000" cy="50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526875"/>
                </a:solidFill>
                <a:latin typeface="Arial"/>
              </a:rPr>
              <a:t>70% train / 15% calibration / 15% test; features never cross the forecast origin.</a:t>
            </a:r>
            <a:endParaRPr b="0" lang="en-US" sz="770" spc="-1" strike="noStrike">
              <a:latin typeface="Arial"/>
            </a:endParaRPr>
          </a:p>
        </p:txBody>
      </p:sp>
      <p:sp>
        <p:nvSpPr>
          <p:cNvPr id="825" name=""/>
          <p:cNvSpPr/>
          <p:nvPr/>
        </p:nvSpPr>
        <p:spPr>
          <a:xfrm>
            <a:off x="7020000" y="4024800"/>
            <a:ext cx="79200" cy="79200"/>
          </a:xfrm>
          <a:prstGeom prst="ellipse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826" name=""/>
          <p:cNvSpPr txBox="1"/>
          <p:nvPr/>
        </p:nvSpPr>
        <p:spPr>
          <a:xfrm>
            <a:off x="7200000" y="3960000"/>
            <a:ext cx="4284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89" spc="-1" strike="noStrike">
                <a:solidFill>
                  <a:srgbClr val="172731"/>
                </a:solidFill>
                <a:latin typeface="Arial"/>
              </a:rPr>
              <a:t>Median bias correction</a:t>
            </a:r>
            <a:endParaRPr b="0" lang="en-US" sz="889" spc="-1" strike="noStrike">
              <a:latin typeface="Arial"/>
            </a:endParaRPr>
          </a:p>
        </p:txBody>
      </p:sp>
      <p:sp>
        <p:nvSpPr>
          <p:cNvPr id="827" name=""/>
          <p:cNvSpPr txBox="1"/>
          <p:nvPr/>
        </p:nvSpPr>
        <p:spPr>
          <a:xfrm>
            <a:off x="7200000" y="4140000"/>
            <a:ext cx="4284000" cy="50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526875"/>
                </a:solidFill>
                <a:latin typeface="Arial"/>
              </a:rPr>
              <a:t>calibration residual median shifts the non-negative p50 point forecast.</a:t>
            </a:r>
            <a:endParaRPr b="0" lang="en-US" sz="770" spc="-1" strike="noStrike">
              <a:latin typeface="Arial"/>
            </a:endParaRPr>
          </a:p>
        </p:txBody>
      </p:sp>
      <p:sp>
        <p:nvSpPr>
          <p:cNvPr id="828" name=""/>
          <p:cNvSpPr/>
          <p:nvPr/>
        </p:nvSpPr>
        <p:spPr>
          <a:xfrm>
            <a:off x="7020000" y="4636800"/>
            <a:ext cx="79200" cy="79200"/>
          </a:xfrm>
          <a:prstGeom prst="ellipse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829" name=""/>
          <p:cNvSpPr txBox="1"/>
          <p:nvPr/>
        </p:nvSpPr>
        <p:spPr>
          <a:xfrm>
            <a:off x="7200000" y="4572000"/>
            <a:ext cx="4284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89" spc="-1" strike="noStrike">
                <a:solidFill>
                  <a:srgbClr val="172731"/>
                </a:solidFill>
                <a:latin typeface="Arial"/>
              </a:rPr>
              <a:t>Split conformal + ACI</a:t>
            </a:r>
            <a:endParaRPr b="0" lang="en-US" sz="889" spc="-1" strike="noStrike">
              <a:latin typeface="Arial"/>
            </a:endParaRPr>
          </a:p>
        </p:txBody>
      </p:sp>
      <p:sp>
        <p:nvSpPr>
          <p:cNvPr id="830" name=""/>
          <p:cNvSpPr txBox="1"/>
          <p:nvPr/>
        </p:nvSpPr>
        <p:spPr>
          <a:xfrm>
            <a:off x="7200000" y="4752000"/>
            <a:ext cx="4284000" cy="50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526875"/>
                </a:solidFill>
                <a:latin typeface="Arial"/>
              </a:rPr>
              <a:t>residual widths provide p90/p95; adaptive alpha reacts to realized coverage.</a:t>
            </a:r>
            <a:endParaRPr b="0" lang="en-US" sz="770" spc="-1" strike="noStrike">
              <a:latin typeface="Arial"/>
            </a:endParaRPr>
          </a:p>
        </p:txBody>
      </p:sp>
      <p:sp>
        <p:nvSpPr>
          <p:cNvPr id="831" name=""/>
          <p:cNvSpPr/>
          <p:nvPr/>
        </p:nvSpPr>
        <p:spPr>
          <a:xfrm>
            <a:off x="6768000" y="5220000"/>
            <a:ext cx="4968000" cy="612000"/>
          </a:xfrm>
          <a:prstGeom prst="roundRect">
            <a:avLst/>
          </a:prstGeom>
          <a:solidFill>
            <a:srgbClr val="e5f2ed"/>
          </a:solidFill>
          <a:ln w="0">
            <a:noFill/>
          </a:ln>
        </p:spPr>
      </p:sp>
      <p:sp>
        <p:nvSpPr>
          <p:cNvPr id="832" name=""/>
          <p:cNvSpPr/>
          <p:nvPr/>
        </p:nvSpPr>
        <p:spPr>
          <a:xfrm>
            <a:off x="6768000" y="5220000"/>
            <a:ext cx="64800" cy="612000"/>
          </a:xfrm>
          <a:prstGeom prst="rect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833" name=""/>
          <p:cNvSpPr txBox="1"/>
          <p:nvPr/>
        </p:nvSpPr>
        <p:spPr>
          <a:xfrm>
            <a:off x="7020000" y="5364000"/>
            <a:ext cx="4464000" cy="28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20" spc="-1" strike="noStrike">
                <a:solidFill>
                  <a:srgbClr val="172731"/>
                </a:solidFill>
                <a:latin typeface="Arial"/>
              </a:rPr>
              <a:t>3:03 total · ~13 s fitting · ~1.8 GiB peak RSS · GPU unnecessary for v1</a:t>
            </a:r>
            <a:endParaRPr b="0" lang="en-US" sz="920" spc="-1" strike="noStrike">
              <a:latin typeface="Arial"/>
            </a:endParaRPr>
          </a:p>
        </p:txBody>
      </p:sp>
      <p:sp>
        <p:nvSpPr>
          <p:cNvPr id="834" name=""/>
          <p:cNvSpPr/>
          <p:nvPr/>
        </p:nvSpPr>
        <p:spPr>
          <a:xfrm>
            <a:off x="324000" y="6616800"/>
            <a:ext cx="11088000" cy="0"/>
          </a:xfrm>
          <a:prstGeom prst="line">
            <a:avLst/>
          </a:prstGeom>
          <a:ln w="1080">
            <a:solidFill>
              <a:srgbClr val="cfdc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35" name=""/>
          <p:cNvSpPr txBox="1"/>
          <p:nvPr/>
        </p:nvSpPr>
        <p:spPr>
          <a:xfrm>
            <a:off x="324000" y="6660000"/>
            <a:ext cx="10368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80" spc="-1" strike="noStrike">
                <a:solidFill>
                  <a:srgbClr val="718592"/>
                </a:solidFill>
                <a:latin typeface="Courier New"/>
              </a:rPr>
              <a:t>forecasting/bundle.py::_sequence_training_rows/_fit_direct_model · logs/extreme-forecaster-training-optimized.log</a:t>
            </a:r>
            <a:endParaRPr b="0" lang="en-US" sz="680" spc="-1" strike="noStrike">
              <a:latin typeface="Arial"/>
            </a:endParaRPr>
          </a:p>
        </p:txBody>
      </p:sp>
      <p:sp>
        <p:nvSpPr>
          <p:cNvPr id="836" name=""/>
          <p:cNvSpPr txBox="1"/>
          <p:nvPr/>
        </p:nvSpPr>
        <p:spPr>
          <a:xfrm>
            <a:off x="11052000" y="6660000"/>
            <a:ext cx="684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buNone/>
            </a:pPr>
            <a:r>
              <a:rPr b="1" lang="en-US" sz="750" spc="-1" strike="noStrike">
                <a:solidFill>
                  <a:srgbClr val="718592"/>
                </a:solidFill>
                <a:latin typeface="Courier New"/>
              </a:rPr>
              <a:t>13</a:t>
            </a:r>
            <a:endParaRPr b="0" lang="en-US" sz="7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3f7f8"/>
          </a:solidFill>
          <a:ln w="0">
            <a:noFill/>
          </a:ln>
        </p:spPr>
      </p:sp>
      <p:sp>
        <p:nvSpPr>
          <p:cNvPr id="838" name=""/>
          <p:cNvSpPr txBox="1"/>
          <p:nvPr/>
        </p:nvSpPr>
        <p:spPr>
          <a:xfrm>
            <a:off x="324000" y="158400"/>
            <a:ext cx="3096000" cy="23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00" spc="508" strike="noStrike">
                <a:solidFill>
                  <a:srgbClr val="007c99"/>
                </a:solidFill>
                <a:latin typeface="Courier New"/>
              </a:rPr>
              <a:t>STAGE 2 · FORECAST RESULTS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839" name=""/>
          <p:cNvSpPr txBox="1"/>
          <p:nvPr/>
        </p:nvSpPr>
        <p:spPr>
          <a:xfrm>
            <a:off x="324000" y="378000"/>
            <a:ext cx="10584000" cy="61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50" spc="-1" strike="noStrike">
                <a:solidFill>
                  <a:srgbClr val="172731"/>
                </a:solidFill>
                <a:latin typeface="Arial"/>
              </a:rPr>
              <a:t>Held-out performance is strong at operational horizons and degrades predictably with lead time</a:t>
            </a:r>
            <a:endParaRPr b="0" lang="en-US" sz="2150" spc="-1" strike="noStrike">
              <a:latin typeface="Arial"/>
            </a:endParaRPr>
          </a:p>
        </p:txBody>
      </p:sp>
      <p:sp>
        <p:nvSpPr>
          <p:cNvPr id="840" name=""/>
          <p:cNvSpPr/>
          <p:nvPr/>
        </p:nvSpPr>
        <p:spPr>
          <a:xfrm>
            <a:off x="10800000" y="180000"/>
            <a:ext cx="936000" cy="19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841" name=""/>
          <p:cNvSpPr txBox="1"/>
          <p:nvPr/>
        </p:nvSpPr>
        <p:spPr>
          <a:xfrm>
            <a:off x="10818000" y="219600"/>
            <a:ext cx="900000" cy="10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710" spc="-1" strike="noStrike">
                <a:solidFill>
                  <a:srgbClr val="c77b0b"/>
                </a:solidFill>
                <a:latin typeface="Courier New"/>
              </a:rPr>
              <a:t>SYNTHETIC DATA</a:t>
            </a:r>
            <a:endParaRPr b="0" lang="en-US" sz="710" spc="-1" strike="noStrike">
              <a:latin typeface="Arial"/>
            </a:endParaRPr>
          </a:p>
        </p:txBody>
      </p:sp>
      <p:sp>
        <p:nvSpPr>
          <p:cNvPr id="842" name=""/>
          <p:cNvSpPr/>
          <p:nvPr/>
        </p:nvSpPr>
        <p:spPr>
          <a:xfrm>
            <a:off x="324000" y="1404000"/>
            <a:ext cx="7380000" cy="4176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843" name=""/>
          <p:cNvSpPr/>
          <p:nvPr/>
        </p:nvSpPr>
        <p:spPr>
          <a:xfrm>
            <a:off x="324000" y="1404000"/>
            <a:ext cx="64800" cy="4176000"/>
          </a:xfrm>
          <a:prstGeom prst="rect">
            <a:avLst/>
          </a:prstGeom>
          <a:solidFill>
            <a:srgbClr val="6750a4"/>
          </a:solidFill>
          <a:ln w="0">
            <a:noFill/>
          </a:ln>
        </p:spPr>
      </p:sp>
      <p:sp>
        <p:nvSpPr>
          <p:cNvPr id="844" name=""/>
          <p:cNvSpPr txBox="1"/>
          <p:nvPr/>
        </p:nvSpPr>
        <p:spPr>
          <a:xfrm>
            <a:off x="576000" y="1656000"/>
            <a:ext cx="6840000" cy="2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400" spc="-1" strike="noStrike">
                <a:solidFill>
                  <a:srgbClr val="172731"/>
                </a:solidFill>
                <a:latin typeface="Arial"/>
              </a:rPr>
              <a:t>Macro WAPE by horizon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845" name=""/>
          <p:cNvSpPr/>
          <p:nvPr/>
        </p:nvSpPr>
        <p:spPr>
          <a:xfrm>
            <a:off x="900000" y="4680000"/>
            <a:ext cx="6192000" cy="0"/>
          </a:xfrm>
          <a:prstGeom prst="line">
            <a:avLst/>
          </a:prstGeom>
          <a:ln w="720">
            <a:solidFill>
              <a:srgbClr val="dce6e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46" name=""/>
          <p:cNvSpPr txBox="1"/>
          <p:nvPr/>
        </p:nvSpPr>
        <p:spPr>
          <a:xfrm>
            <a:off x="468000" y="4608000"/>
            <a:ext cx="360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buNone/>
            </a:pPr>
            <a:r>
              <a:rPr b="0" lang="en-US" sz="700" spc="-1" strike="noStrike">
                <a:solidFill>
                  <a:srgbClr val="718592"/>
                </a:solidFill>
                <a:latin typeface="Courier New"/>
              </a:rPr>
              <a:t>0%</a:t>
            </a:r>
            <a:endParaRPr b="0" lang="en-US" sz="700" spc="-1" strike="noStrike">
              <a:latin typeface="Arial"/>
            </a:endParaRPr>
          </a:p>
        </p:txBody>
      </p:sp>
      <p:sp>
        <p:nvSpPr>
          <p:cNvPr id="847" name=""/>
          <p:cNvSpPr/>
          <p:nvPr/>
        </p:nvSpPr>
        <p:spPr>
          <a:xfrm>
            <a:off x="900000" y="4095000"/>
            <a:ext cx="6192000" cy="0"/>
          </a:xfrm>
          <a:prstGeom prst="line">
            <a:avLst/>
          </a:prstGeom>
          <a:ln w="720">
            <a:solidFill>
              <a:srgbClr val="dce6e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48" name=""/>
          <p:cNvSpPr txBox="1"/>
          <p:nvPr/>
        </p:nvSpPr>
        <p:spPr>
          <a:xfrm>
            <a:off x="468000" y="4023000"/>
            <a:ext cx="360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buNone/>
            </a:pPr>
            <a:r>
              <a:rPr b="0" lang="en-US" sz="700" spc="-1" strike="noStrike">
                <a:solidFill>
                  <a:srgbClr val="718592"/>
                </a:solidFill>
                <a:latin typeface="Courier New"/>
              </a:rPr>
              <a:t>3%</a:t>
            </a:r>
            <a:endParaRPr b="0" lang="en-US" sz="700" spc="-1" strike="noStrike">
              <a:latin typeface="Arial"/>
            </a:endParaRPr>
          </a:p>
        </p:txBody>
      </p:sp>
      <p:sp>
        <p:nvSpPr>
          <p:cNvPr id="849" name=""/>
          <p:cNvSpPr/>
          <p:nvPr/>
        </p:nvSpPr>
        <p:spPr>
          <a:xfrm>
            <a:off x="900000" y="3510000"/>
            <a:ext cx="6192000" cy="0"/>
          </a:xfrm>
          <a:prstGeom prst="line">
            <a:avLst/>
          </a:prstGeom>
          <a:ln w="720">
            <a:solidFill>
              <a:srgbClr val="dce6e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50" name=""/>
          <p:cNvSpPr txBox="1"/>
          <p:nvPr/>
        </p:nvSpPr>
        <p:spPr>
          <a:xfrm>
            <a:off x="468000" y="3438000"/>
            <a:ext cx="360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buNone/>
            </a:pPr>
            <a:r>
              <a:rPr b="0" lang="en-US" sz="700" spc="-1" strike="noStrike">
                <a:solidFill>
                  <a:srgbClr val="718592"/>
                </a:solidFill>
                <a:latin typeface="Courier New"/>
              </a:rPr>
              <a:t>6%</a:t>
            </a:r>
            <a:endParaRPr b="0" lang="en-US" sz="700" spc="-1" strike="noStrike">
              <a:latin typeface="Arial"/>
            </a:endParaRPr>
          </a:p>
        </p:txBody>
      </p:sp>
      <p:sp>
        <p:nvSpPr>
          <p:cNvPr id="851" name=""/>
          <p:cNvSpPr/>
          <p:nvPr/>
        </p:nvSpPr>
        <p:spPr>
          <a:xfrm>
            <a:off x="900000" y="2925000"/>
            <a:ext cx="6192000" cy="0"/>
          </a:xfrm>
          <a:prstGeom prst="line">
            <a:avLst/>
          </a:prstGeom>
          <a:ln w="720">
            <a:solidFill>
              <a:srgbClr val="dce6e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52" name=""/>
          <p:cNvSpPr txBox="1"/>
          <p:nvPr/>
        </p:nvSpPr>
        <p:spPr>
          <a:xfrm>
            <a:off x="468000" y="2853000"/>
            <a:ext cx="360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buNone/>
            </a:pPr>
            <a:r>
              <a:rPr b="0" lang="en-US" sz="700" spc="-1" strike="noStrike">
                <a:solidFill>
                  <a:srgbClr val="718592"/>
                </a:solidFill>
                <a:latin typeface="Courier New"/>
              </a:rPr>
              <a:t>9%</a:t>
            </a:r>
            <a:endParaRPr b="0" lang="en-US" sz="700" spc="-1" strike="noStrike">
              <a:latin typeface="Arial"/>
            </a:endParaRPr>
          </a:p>
        </p:txBody>
      </p:sp>
      <p:sp>
        <p:nvSpPr>
          <p:cNvPr id="853" name=""/>
          <p:cNvSpPr/>
          <p:nvPr/>
        </p:nvSpPr>
        <p:spPr>
          <a:xfrm>
            <a:off x="900000" y="2340000"/>
            <a:ext cx="6192000" cy="0"/>
          </a:xfrm>
          <a:prstGeom prst="line">
            <a:avLst/>
          </a:prstGeom>
          <a:ln w="720">
            <a:solidFill>
              <a:srgbClr val="dce6e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54" name=""/>
          <p:cNvSpPr txBox="1"/>
          <p:nvPr/>
        </p:nvSpPr>
        <p:spPr>
          <a:xfrm>
            <a:off x="468000" y="2268000"/>
            <a:ext cx="360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buNone/>
            </a:pPr>
            <a:r>
              <a:rPr b="0" lang="en-US" sz="700" spc="-1" strike="noStrike">
                <a:solidFill>
                  <a:srgbClr val="718592"/>
                </a:solidFill>
                <a:latin typeface="Courier New"/>
              </a:rPr>
              <a:t>12%</a:t>
            </a:r>
            <a:endParaRPr b="0" lang="en-US" sz="700" spc="-1" strike="noStrike">
              <a:latin typeface="Arial"/>
            </a:endParaRPr>
          </a:p>
        </p:txBody>
      </p:sp>
      <p:sp>
        <p:nvSpPr>
          <p:cNvPr id="855" name=""/>
          <p:cNvSpPr/>
          <p:nvPr/>
        </p:nvSpPr>
        <p:spPr>
          <a:xfrm>
            <a:off x="828000" y="3734280"/>
            <a:ext cx="144000" cy="144000"/>
          </a:xfrm>
          <a:prstGeom prst="ellipse">
            <a:avLst/>
          </a:prstGeom>
          <a:solidFill>
            <a:srgbClr val="6750a4"/>
          </a:solidFill>
          <a:ln w="0">
            <a:noFill/>
          </a:ln>
        </p:spPr>
      </p:sp>
      <p:sp>
        <p:nvSpPr>
          <p:cNvPr id="856" name=""/>
          <p:cNvSpPr txBox="1"/>
          <p:nvPr/>
        </p:nvSpPr>
        <p:spPr>
          <a:xfrm>
            <a:off x="612000" y="4824000"/>
            <a:ext cx="576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750" spc="-1" strike="noStrike">
                <a:solidFill>
                  <a:srgbClr val="718592"/>
                </a:solidFill>
                <a:latin typeface="Courier New"/>
              </a:rPr>
              <a:t>10m</a:t>
            </a:r>
            <a:endParaRPr b="0" lang="en-US" sz="750" spc="-1" strike="noStrike">
              <a:latin typeface="Arial"/>
            </a:endParaRPr>
          </a:p>
        </p:txBody>
      </p:sp>
      <p:sp>
        <p:nvSpPr>
          <p:cNvPr id="857" name=""/>
          <p:cNvSpPr txBox="1"/>
          <p:nvPr/>
        </p:nvSpPr>
        <p:spPr>
          <a:xfrm>
            <a:off x="612000" y="3554280"/>
            <a:ext cx="576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710" spc="-1" strike="noStrike">
                <a:solidFill>
                  <a:srgbClr val="6750a4"/>
                </a:solidFill>
                <a:latin typeface="Courier New"/>
              </a:rPr>
              <a:t>4.48</a:t>
            </a:r>
            <a:endParaRPr b="0" lang="en-US" sz="710" spc="-1" strike="noStrike">
              <a:latin typeface="Arial"/>
            </a:endParaRPr>
          </a:p>
        </p:txBody>
      </p:sp>
      <p:sp>
        <p:nvSpPr>
          <p:cNvPr id="858" name=""/>
          <p:cNvSpPr/>
          <p:nvPr/>
        </p:nvSpPr>
        <p:spPr>
          <a:xfrm flipV="1">
            <a:off x="900000" y="3492360"/>
            <a:ext cx="884520" cy="313920"/>
          </a:xfrm>
          <a:prstGeom prst="line">
            <a:avLst/>
          </a:prstGeom>
          <a:ln w="4320">
            <a:solidFill>
              <a:srgbClr val="6750a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59" name=""/>
          <p:cNvSpPr/>
          <p:nvPr/>
        </p:nvSpPr>
        <p:spPr>
          <a:xfrm>
            <a:off x="1712520" y="3420360"/>
            <a:ext cx="144000" cy="144000"/>
          </a:xfrm>
          <a:prstGeom prst="ellipse">
            <a:avLst/>
          </a:prstGeom>
          <a:solidFill>
            <a:srgbClr val="6750a4"/>
          </a:solidFill>
          <a:ln w="0">
            <a:noFill/>
          </a:ln>
        </p:spPr>
      </p:sp>
      <p:sp>
        <p:nvSpPr>
          <p:cNvPr id="860" name=""/>
          <p:cNvSpPr txBox="1"/>
          <p:nvPr/>
        </p:nvSpPr>
        <p:spPr>
          <a:xfrm>
            <a:off x="1496520" y="4824000"/>
            <a:ext cx="576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750" spc="-1" strike="noStrike">
                <a:solidFill>
                  <a:srgbClr val="718592"/>
                </a:solidFill>
                <a:latin typeface="Courier New"/>
              </a:rPr>
              <a:t>20m</a:t>
            </a:r>
            <a:endParaRPr b="0" lang="en-US" sz="750" spc="-1" strike="noStrike">
              <a:latin typeface="Arial"/>
            </a:endParaRPr>
          </a:p>
        </p:txBody>
      </p:sp>
      <p:sp>
        <p:nvSpPr>
          <p:cNvPr id="861" name=""/>
          <p:cNvSpPr txBox="1"/>
          <p:nvPr/>
        </p:nvSpPr>
        <p:spPr>
          <a:xfrm>
            <a:off x="1496520" y="3240360"/>
            <a:ext cx="576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710" spc="-1" strike="noStrike">
                <a:solidFill>
                  <a:srgbClr val="6750a4"/>
                </a:solidFill>
                <a:latin typeface="Courier New"/>
              </a:rPr>
              <a:t>6.09</a:t>
            </a:r>
            <a:endParaRPr b="0" lang="en-US" sz="710" spc="-1" strike="noStrike">
              <a:latin typeface="Arial"/>
            </a:endParaRPr>
          </a:p>
        </p:txBody>
      </p:sp>
      <p:sp>
        <p:nvSpPr>
          <p:cNvPr id="862" name=""/>
          <p:cNvSpPr/>
          <p:nvPr/>
        </p:nvSpPr>
        <p:spPr>
          <a:xfrm flipV="1">
            <a:off x="1784520" y="3246840"/>
            <a:ext cx="884520" cy="245520"/>
          </a:xfrm>
          <a:prstGeom prst="line">
            <a:avLst/>
          </a:prstGeom>
          <a:ln w="4320">
            <a:solidFill>
              <a:srgbClr val="6750a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63" name=""/>
          <p:cNvSpPr/>
          <p:nvPr/>
        </p:nvSpPr>
        <p:spPr>
          <a:xfrm>
            <a:off x="2597040" y="3174480"/>
            <a:ext cx="144000" cy="144000"/>
          </a:xfrm>
          <a:prstGeom prst="ellipse">
            <a:avLst/>
          </a:prstGeom>
          <a:solidFill>
            <a:srgbClr val="6750a4"/>
          </a:solidFill>
          <a:ln w="0">
            <a:noFill/>
          </a:ln>
        </p:spPr>
      </p:sp>
      <p:sp>
        <p:nvSpPr>
          <p:cNvPr id="864" name=""/>
          <p:cNvSpPr txBox="1"/>
          <p:nvPr/>
        </p:nvSpPr>
        <p:spPr>
          <a:xfrm>
            <a:off x="2381040" y="4824000"/>
            <a:ext cx="576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750" spc="-1" strike="noStrike">
                <a:solidFill>
                  <a:srgbClr val="718592"/>
                </a:solidFill>
                <a:latin typeface="Courier New"/>
              </a:rPr>
              <a:t>30m</a:t>
            </a:r>
            <a:endParaRPr b="0" lang="en-US" sz="750" spc="-1" strike="noStrike">
              <a:latin typeface="Arial"/>
            </a:endParaRPr>
          </a:p>
        </p:txBody>
      </p:sp>
      <p:sp>
        <p:nvSpPr>
          <p:cNvPr id="865" name=""/>
          <p:cNvSpPr txBox="1"/>
          <p:nvPr/>
        </p:nvSpPr>
        <p:spPr>
          <a:xfrm>
            <a:off x="2381040" y="2994480"/>
            <a:ext cx="576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710" spc="-1" strike="noStrike">
                <a:solidFill>
                  <a:srgbClr val="6750a4"/>
                </a:solidFill>
                <a:latin typeface="Courier New"/>
              </a:rPr>
              <a:t>7.35</a:t>
            </a:r>
            <a:endParaRPr b="0" lang="en-US" sz="710" spc="-1" strike="noStrike">
              <a:latin typeface="Arial"/>
            </a:endParaRPr>
          </a:p>
        </p:txBody>
      </p:sp>
      <p:sp>
        <p:nvSpPr>
          <p:cNvPr id="866" name=""/>
          <p:cNvSpPr/>
          <p:nvPr/>
        </p:nvSpPr>
        <p:spPr>
          <a:xfrm flipV="1">
            <a:off x="2669040" y="3129480"/>
            <a:ext cx="884520" cy="117000"/>
          </a:xfrm>
          <a:prstGeom prst="line">
            <a:avLst/>
          </a:prstGeom>
          <a:ln w="4320">
            <a:solidFill>
              <a:srgbClr val="6750a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67" name=""/>
          <p:cNvSpPr/>
          <p:nvPr/>
        </p:nvSpPr>
        <p:spPr>
          <a:xfrm>
            <a:off x="3481560" y="3057480"/>
            <a:ext cx="144000" cy="144000"/>
          </a:xfrm>
          <a:prstGeom prst="ellipse">
            <a:avLst/>
          </a:prstGeom>
          <a:solidFill>
            <a:srgbClr val="6750a4"/>
          </a:solidFill>
          <a:ln w="0">
            <a:noFill/>
          </a:ln>
        </p:spPr>
      </p:sp>
      <p:sp>
        <p:nvSpPr>
          <p:cNvPr id="868" name=""/>
          <p:cNvSpPr txBox="1"/>
          <p:nvPr/>
        </p:nvSpPr>
        <p:spPr>
          <a:xfrm>
            <a:off x="3265560" y="4824000"/>
            <a:ext cx="576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750" spc="-1" strike="noStrike">
                <a:solidFill>
                  <a:srgbClr val="718592"/>
                </a:solidFill>
                <a:latin typeface="Courier New"/>
              </a:rPr>
              <a:t>40m</a:t>
            </a:r>
            <a:endParaRPr b="0" lang="en-US" sz="750" spc="-1" strike="noStrike">
              <a:latin typeface="Arial"/>
            </a:endParaRPr>
          </a:p>
        </p:txBody>
      </p:sp>
      <p:sp>
        <p:nvSpPr>
          <p:cNvPr id="869" name=""/>
          <p:cNvSpPr txBox="1"/>
          <p:nvPr/>
        </p:nvSpPr>
        <p:spPr>
          <a:xfrm>
            <a:off x="3265560" y="2877480"/>
            <a:ext cx="576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710" spc="-1" strike="noStrike">
                <a:solidFill>
                  <a:srgbClr val="6750a4"/>
                </a:solidFill>
                <a:latin typeface="Courier New"/>
              </a:rPr>
              <a:t>7.95</a:t>
            </a:r>
            <a:endParaRPr b="0" lang="en-US" sz="710" spc="-1" strike="noStrike">
              <a:latin typeface="Arial"/>
            </a:endParaRPr>
          </a:p>
        </p:txBody>
      </p:sp>
      <p:sp>
        <p:nvSpPr>
          <p:cNvPr id="870" name=""/>
          <p:cNvSpPr/>
          <p:nvPr/>
        </p:nvSpPr>
        <p:spPr>
          <a:xfrm>
            <a:off x="3553560" y="3129480"/>
            <a:ext cx="884520" cy="103320"/>
          </a:xfrm>
          <a:prstGeom prst="line">
            <a:avLst/>
          </a:prstGeom>
          <a:ln w="4320">
            <a:solidFill>
              <a:srgbClr val="6750a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71" name=""/>
          <p:cNvSpPr/>
          <p:nvPr/>
        </p:nvSpPr>
        <p:spPr>
          <a:xfrm>
            <a:off x="4366080" y="3160800"/>
            <a:ext cx="144000" cy="144000"/>
          </a:xfrm>
          <a:prstGeom prst="ellipse">
            <a:avLst/>
          </a:prstGeom>
          <a:solidFill>
            <a:srgbClr val="6750a4"/>
          </a:solidFill>
          <a:ln w="0">
            <a:noFill/>
          </a:ln>
        </p:spPr>
      </p:sp>
      <p:sp>
        <p:nvSpPr>
          <p:cNvPr id="872" name=""/>
          <p:cNvSpPr txBox="1"/>
          <p:nvPr/>
        </p:nvSpPr>
        <p:spPr>
          <a:xfrm>
            <a:off x="4150080" y="4824000"/>
            <a:ext cx="576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750" spc="-1" strike="noStrike">
                <a:solidFill>
                  <a:srgbClr val="718592"/>
                </a:solidFill>
                <a:latin typeface="Courier New"/>
              </a:rPr>
              <a:t>50m</a:t>
            </a:r>
            <a:endParaRPr b="0" lang="en-US" sz="750" spc="-1" strike="noStrike">
              <a:latin typeface="Arial"/>
            </a:endParaRPr>
          </a:p>
        </p:txBody>
      </p:sp>
      <p:sp>
        <p:nvSpPr>
          <p:cNvPr id="873" name=""/>
          <p:cNvSpPr txBox="1"/>
          <p:nvPr/>
        </p:nvSpPr>
        <p:spPr>
          <a:xfrm>
            <a:off x="4150080" y="2980800"/>
            <a:ext cx="576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710" spc="-1" strike="noStrike">
                <a:solidFill>
                  <a:srgbClr val="6750a4"/>
                </a:solidFill>
                <a:latin typeface="Courier New"/>
              </a:rPr>
              <a:t>7.42</a:t>
            </a:r>
            <a:endParaRPr b="0" lang="en-US" sz="710" spc="-1" strike="noStrike">
              <a:latin typeface="Arial"/>
            </a:endParaRPr>
          </a:p>
        </p:txBody>
      </p:sp>
      <p:sp>
        <p:nvSpPr>
          <p:cNvPr id="874" name=""/>
          <p:cNvSpPr/>
          <p:nvPr/>
        </p:nvSpPr>
        <p:spPr>
          <a:xfrm flipV="1">
            <a:off x="4438080" y="3192120"/>
            <a:ext cx="884520" cy="40680"/>
          </a:xfrm>
          <a:prstGeom prst="line">
            <a:avLst/>
          </a:prstGeom>
          <a:ln w="4320">
            <a:solidFill>
              <a:srgbClr val="6750a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75" name=""/>
          <p:cNvSpPr/>
          <p:nvPr/>
        </p:nvSpPr>
        <p:spPr>
          <a:xfrm>
            <a:off x="5250600" y="3120120"/>
            <a:ext cx="144000" cy="144000"/>
          </a:xfrm>
          <a:prstGeom prst="ellipse">
            <a:avLst/>
          </a:prstGeom>
          <a:solidFill>
            <a:srgbClr val="6750a4"/>
          </a:solidFill>
          <a:ln w="0">
            <a:noFill/>
          </a:ln>
        </p:spPr>
      </p:sp>
      <p:sp>
        <p:nvSpPr>
          <p:cNvPr id="876" name=""/>
          <p:cNvSpPr txBox="1"/>
          <p:nvPr/>
        </p:nvSpPr>
        <p:spPr>
          <a:xfrm>
            <a:off x="5034600" y="4824000"/>
            <a:ext cx="576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750" spc="-1" strike="noStrike">
                <a:solidFill>
                  <a:srgbClr val="718592"/>
                </a:solidFill>
                <a:latin typeface="Courier New"/>
              </a:rPr>
              <a:t>60m</a:t>
            </a:r>
            <a:endParaRPr b="0" lang="en-US" sz="750" spc="-1" strike="noStrike">
              <a:latin typeface="Arial"/>
            </a:endParaRPr>
          </a:p>
        </p:txBody>
      </p:sp>
      <p:sp>
        <p:nvSpPr>
          <p:cNvPr id="877" name=""/>
          <p:cNvSpPr txBox="1"/>
          <p:nvPr/>
        </p:nvSpPr>
        <p:spPr>
          <a:xfrm>
            <a:off x="5034600" y="2940120"/>
            <a:ext cx="576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710" spc="-1" strike="noStrike">
                <a:solidFill>
                  <a:srgbClr val="6750a4"/>
                </a:solidFill>
                <a:latin typeface="Courier New"/>
              </a:rPr>
              <a:t>7.63</a:t>
            </a:r>
            <a:endParaRPr b="0" lang="en-US" sz="710" spc="-1" strike="noStrike">
              <a:latin typeface="Arial"/>
            </a:endParaRPr>
          </a:p>
        </p:txBody>
      </p:sp>
      <p:sp>
        <p:nvSpPr>
          <p:cNvPr id="878" name=""/>
          <p:cNvSpPr/>
          <p:nvPr/>
        </p:nvSpPr>
        <p:spPr>
          <a:xfrm flipV="1">
            <a:off x="5322600" y="2858760"/>
            <a:ext cx="884520" cy="333360"/>
          </a:xfrm>
          <a:prstGeom prst="line">
            <a:avLst/>
          </a:prstGeom>
          <a:ln w="4320">
            <a:solidFill>
              <a:srgbClr val="6750a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79" name=""/>
          <p:cNvSpPr/>
          <p:nvPr/>
        </p:nvSpPr>
        <p:spPr>
          <a:xfrm>
            <a:off x="6135120" y="2786400"/>
            <a:ext cx="144000" cy="144000"/>
          </a:xfrm>
          <a:prstGeom prst="ellipse">
            <a:avLst/>
          </a:prstGeom>
          <a:solidFill>
            <a:srgbClr val="6750a4"/>
          </a:solidFill>
          <a:ln w="0">
            <a:noFill/>
          </a:ln>
        </p:spPr>
      </p:sp>
      <p:sp>
        <p:nvSpPr>
          <p:cNvPr id="880" name=""/>
          <p:cNvSpPr txBox="1"/>
          <p:nvPr/>
        </p:nvSpPr>
        <p:spPr>
          <a:xfrm>
            <a:off x="5919120" y="4824000"/>
            <a:ext cx="576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750" spc="-1" strike="noStrike">
                <a:solidFill>
                  <a:srgbClr val="718592"/>
                </a:solidFill>
                <a:latin typeface="Courier New"/>
              </a:rPr>
              <a:t>70m</a:t>
            </a:r>
            <a:endParaRPr b="0" lang="en-US" sz="750" spc="-1" strike="noStrike">
              <a:latin typeface="Arial"/>
            </a:endParaRPr>
          </a:p>
        </p:txBody>
      </p:sp>
      <p:sp>
        <p:nvSpPr>
          <p:cNvPr id="881" name=""/>
          <p:cNvSpPr txBox="1"/>
          <p:nvPr/>
        </p:nvSpPr>
        <p:spPr>
          <a:xfrm>
            <a:off x="5919120" y="2606400"/>
            <a:ext cx="576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710" spc="-1" strike="noStrike">
                <a:solidFill>
                  <a:srgbClr val="6750a4"/>
                </a:solidFill>
                <a:latin typeface="Courier New"/>
              </a:rPr>
              <a:t>9.34</a:t>
            </a:r>
            <a:endParaRPr b="0" lang="en-US" sz="710" spc="-1" strike="noStrike">
              <a:latin typeface="Arial"/>
            </a:endParaRPr>
          </a:p>
        </p:txBody>
      </p:sp>
      <p:sp>
        <p:nvSpPr>
          <p:cNvPr id="882" name=""/>
          <p:cNvSpPr/>
          <p:nvPr/>
        </p:nvSpPr>
        <p:spPr>
          <a:xfrm flipV="1">
            <a:off x="6207120" y="2587680"/>
            <a:ext cx="884520" cy="270720"/>
          </a:xfrm>
          <a:prstGeom prst="line">
            <a:avLst/>
          </a:prstGeom>
          <a:ln w="4320">
            <a:solidFill>
              <a:srgbClr val="6750a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83" name=""/>
          <p:cNvSpPr/>
          <p:nvPr/>
        </p:nvSpPr>
        <p:spPr>
          <a:xfrm>
            <a:off x="7020000" y="2515320"/>
            <a:ext cx="144000" cy="144000"/>
          </a:xfrm>
          <a:prstGeom prst="ellipse">
            <a:avLst/>
          </a:prstGeom>
          <a:solidFill>
            <a:srgbClr val="6750a4"/>
          </a:solidFill>
          <a:ln w="0">
            <a:noFill/>
          </a:ln>
        </p:spPr>
      </p:sp>
      <p:sp>
        <p:nvSpPr>
          <p:cNvPr id="884" name=""/>
          <p:cNvSpPr txBox="1"/>
          <p:nvPr/>
        </p:nvSpPr>
        <p:spPr>
          <a:xfrm>
            <a:off x="6804000" y="4824000"/>
            <a:ext cx="576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750" spc="-1" strike="noStrike">
                <a:solidFill>
                  <a:srgbClr val="718592"/>
                </a:solidFill>
                <a:latin typeface="Courier New"/>
              </a:rPr>
              <a:t>80m</a:t>
            </a:r>
            <a:endParaRPr b="0" lang="en-US" sz="750" spc="-1" strike="noStrike">
              <a:latin typeface="Arial"/>
            </a:endParaRPr>
          </a:p>
        </p:txBody>
      </p:sp>
      <p:sp>
        <p:nvSpPr>
          <p:cNvPr id="885" name=""/>
          <p:cNvSpPr txBox="1"/>
          <p:nvPr/>
        </p:nvSpPr>
        <p:spPr>
          <a:xfrm>
            <a:off x="6804000" y="2335320"/>
            <a:ext cx="576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710" spc="-1" strike="noStrike">
                <a:solidFill>
                  <a:srgbClr val="6750a4"/>
                </a:solidFill>
                <a:latin typeface="Courier New"/>
              </a:rPr>
              <a:t>10.73</a:t>
            </a:r>
            <a:endParaRPr b="0" lang="en-US" sz="710" spc="-1" strike="noStrike">
              <a:latin typeface="Arial"/>
            </a:endParaRPr>
          </a:p>
        </p:txBody>
      </p:sp>
      <p:sp>
        <p:nvSpPr>
          <p:cNvPr id="886" name=""/>
          <p:cNvSpPr txBox="1"/>
          <p:nvPr/>
        </p:nvSpPr>
        <p:spPr>
          <a:xfrm>
            <a:off x="576000" y="5112000"/>
            <a:ext cx="6840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0" spc="-1" strike="noStrike">
                <a:solidFill>
                  <a:srgbClr val="526875"/>
                </a:solidFill>
                <a:latin typeface="Arial"/>
              </a:rPr>
              <a:t>p90 upper-bound coverage stays between 93.10% and 94.96% across all eight horizons.</a:t>
            </a:r>
            <a:endParaRPr b="0" lang="en-US" sz="880" spc="-1" strike="noStrike">
              <a:latin typeface="Arial"/>
            </a:endParaRPr>
          </a:p>
        </p:txBody>
      </p:sp>
      <p:sp>
        <p:nvSpPr>
          <p:cNvPr id="887" name=""/>
          <p:cNvSpPr/>
          <p:nvPr/>
        </p:nvSpPr>
        <p:spPr>
          <a:xfrm>
            <a:off x="8028000" y="1404000"/>
            <a:ext cx="3708000" cy="4176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888" name=""/>
          <p:cNvSpPr/>
          <p:nvPr/>
        </p:nvSpPr>
        <p:spPr>
          <a:xfrm>
            <a:off x="8028000" y="1404000"/>
            <a:ext cx="64800" cy="4176000"/>
          </a:xfrm>
          <a:prstGeom prst="rect">
            <a:avLst/>
          </a:prstGeom>
          <a:solidFill>
            <a:srgbClr val="007c99"/>
          </a:solidFill>
          <a:ln w="0">
            <a:noFill/>
          </a:ln>
        </p:spPr>
      </p:sp>
      <p:sp>
        <p:nvSpPr>
          <p:cNvPr id="889" name=""/>
          <p:cNvSpPr txBox="1"/>
          <p:nvPr/>
        </p:nvSpPr>
        <p:spPr>
          <a:xfrm>
            <a:off x="8280000" y="1656000"/>
            <a:ext cx="3204000" cy="2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400" spc="-1" strike="noStrike">
                <a:solidFill>
                  <a:srgbClr val="172731"/>
                </a:solidFill>
                <a:latin typeface="Arial"/>
              </a:rPr>
              <a:t>Fair baseline comparison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890" name=""/>
          <p:cNvSpPr txBox="1"/>
          <p:nvPr/>
        </p:nvSpPr>
        <p:spPr>
          <a:xfrm>
            <a:off x="8280000" y="2376000"/>
            <a:ext cx="2952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50" spc="-1" strike="noStrike">
                <a:solidFill>
                  <a:srgbClr val="172731"/>
                </a:solidFill>
                <a:latin typeface="Arial"/>
              </a:rPr>
              <a:t>Calendar ridge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891" name=""/>
          <p:cNvSpPr/>
          <p:nvPr/>
        </p:nvSpPr>
        <p:spPr>
          <a:xfrm>
            <a:off x="8280000" y="2628000"/>
            <a:ext cx="2268000" cy="180000"/>
          </a:xfrm>
          <a:prstGeom prst="roundRect">
            <a:avLst/>
          </a:prstGeom>
          <a:solidFill>
            <a:srgbClr val="eaf1f3"/>
          </a:solidFill>
          <a:ln w="0">
            <a:noFill/>
          </a:ln>
        </p:spPr>
      </p:sp>
      <p:sp>
        <p:nvSpPr>
          <p:cNvPr id="892" name=""/>
          <p:cNvSpPr/>
          <p:nvPr/>
        </p:nvSpPr>
        <p:spPr>
          <a:xfrm>
            <a:off x="8280000" y="2628000"/>
            <a:ext cx="1153440" cy="180000"/>
          </a:xfrm>
          <a:prstGeom prst="roundRect">
            <a:avLst/>
          </a:prstGeom>
          <a:solidFill>
            <a:srgbClr val="6750a4"/>
          </a:solidFill>
          <a:ln w="0">
            <a:noFill/>
          </a:ln>
        </p:spPr>
      </p:sp>
      <p:sp>
        <p:nvSpPr>
          <p:cNvPr id="893" name=""/>
          <p:cNvSpPr txBox="1"/>
          <p:nvPr/>
        </p:nvSpPr>
        <p:spPr>
          <a:xfrm>
            <a:off x="10620000" y="2599200"/>
            <a:ext cx="90000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n-US" sz="850" spc="-1" strike="noStrike">
                <a:solidFill>
                  <a:srgbClr val="172731"/>
                </a:solidFill>
                <a:latin typeface="Arial"/>
              </a:rPr>
              <a:t>7.63%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894" name=""/>
          <p:cNvSpPr txBox="1"/>
          <p:nvPr/>
        </p:nvSpPr>
        <p:spPr>
          <a:xfrm>
            <a:off x="8280000" y="3276000"/>
            <a:ext cx="2952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50" spc="-1" strike="noStrike">
                <a:solidFill>
                  <a:srgbClr val="172731"/>
                </a:solidFill>
                <a:latin typeface="Arial"/>
              </a:rPr>
              <a:t>Daily seasonal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895" name=""/>
          <p:cNvSpPr/>
          <p:nvPr/>
        </p:nvSpPr>
        <p:spPr>
          <a:xfrm>
            <a:off x="8280000" y="3528000"/>
            <a:ext cx="2268000" cy="180000"/>
          </a:xfrm>
          <a:prstGeom prst="roundRect">
            <a:avLst/>
          </a:prstGeom>
          <a:solidFill>
            <a:srgbClr val="eaf1f3"/>
          </a:solidFill>
          <a:ln w="0">
            <a:noFill/>
          </a:ln>
        </p:spPr>
      </p:sp>
      <p:sp>
        <p:nvSpPr>
          <p:cNvPr id="896" name=""/>
          <p:cNvSpPr/>
          <p:nvPr/>
        </p:nvSpPr>
        <p:spPr>
          <a:xfrm>
            <a:off x="8280000" y="3528000"/>
            <a:ext cx="2072880" cy="180000"/>
          </a:xfrm>
          <a:prstGeom prst="roundRect">
            <a:avLst/>
          </a:prstGeom>
          <a:solidFill>
            <a:srgbClr val="2f91a6"/>
          </a:solidFill>
          <a:ln w="0">
            <a:noFill/>
          </a:ln>
        </p:spPr>
      </p:sp>
      <p:sp>
        <p:nvSpPr>
          <p:cNvPr id="897" name=""/>
          <p:cNvSpPr txBox="1"/>
          <p:nvPr/>
        </p:nvSpPr>
        <p:spPr>
          <a:xfrm>
            <a:off x="10620000" y="3499200"/>
            <a:ext cx="90000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n-US" sz="850" spc="-1" strike="noStrike">
                <a:solidFill>
                  <a:srgbClr val="172731"/>
                </a:solidFill>
                <a:latin typeface="Arial"/>
              </a:rPr>
              <a:t>13.71%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898" name=""/>
          <p:cNvSpPr txBox="1"/>
          <p:nvPr/>
        </p:nvSpPr>
        <p:spPr>
          <a:xfrm>
            <a:off x="8280000" y="4176000"/>
            <a:ext cx="2952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50" spc="-1" strike="noStrike">
                <a:solidFill>
                  <a:srgbClr val="172731"/>
                </a:solidFill>
                <a:latin typeface="Arial"/>
              </a:rPr>
              <a:t>MA(6)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899" name=""/>
          <p:cNvSpPr/>
          <p:nvPr/>
        </p:nvSpPr>
        <p:spPr>
          <a:xfrm>
            <a:off x="8280000" y="4428000"/>
            <a:ext cx="2268000" cy="180000"/>
          </a:xfrm>
          <a:prstGeom prst="roundRect">
            <a:avLst/>
          </a:prstGeom>
          <a:solidFill>
            <a:srgbClr val="eaf1f3"/>
          </a:solidFill>
          <a:ln w="0">
            <a:noFill/>
          </a:ln>
        </p:spPr>
      </p:sp>
      <p:sp>
        <p:nvSpPr>
          <p:cNvPr id="900" name=""/>
          <p:cNvSpPr/>
          <p:nvPr/>
        </p:nvSpPr>
        <p:spPr>
          <a:xfrm>
            <a:off x="8280000" y="4428000"/>
            <a:ext cx="2162160" cy="180000"/>
          </a:xfrm>
          <a:prstGeom prst="roundRect">
            <a:avLst/>
          </a:prstGeom>
          <a:solidFill>
            <a:srgbClr val="c77b0b"/>
          </a:solidFill>
          <a:ln w="0">
            <a:noFill/>
          </a:ln>
        </p:spPr>
      </p:sp>
      <p:sp>
        <p:nvSpPr>
          <p:cNvPr id="901" name=""/>
          <p:cNvSpPr txBox="1"/>
          <p:nvPr/>
        </p:nvSpPr>
        <p:spPr>
          <a:xfrm>
            <a:off x="10620000" y="4399200"/>
            <a:ext cx="90000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n-US" sz="850" spc="-1" strike="noStrike">
                <a:solidFill>
                  <a:srgbClr val="172731"/>
                </a:solidFill>
                <a:latin typeface="Arial"/>
              </a:rPr>
              <a:t>14.30%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902" name=""/>
          <p:cNvSpPr txBox="1"/>
          <p:nvPr/>
        </p:nvSpPr>
        <p:spPr>
          <a:xfrm>
            <a:off x="8280000" y="5004000"/>
            <a:ext cx="3168000" cy="43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00" spc="-1" strike="noStrike">
                <a:solidFill>
                  <a:srgbClr val="16805f"/>
                </a:solidFill>
                <a:latin typeface="Arial"/>
              </a:rPr>
              <a:t>44.36% lower WAPE than daily seasonal naive.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903" name=""/>
          <p:cNvSpPr/>
          <p:nvPr/>
        </p:nvSpPr>
        <p:spPr>
          <a:xfrm>
            <a:off x="324000" y="6616800"/>
            <a:ext cx="11088000" cy="0"/>
          </a:xfrm>
          <a:prstGeom prst="line">
            <a:avLst/>
          </a:prstGeom>
          <a:ln w="1080">
            <a:solidFill>
              <a:srgbClr val="cfdc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04" name=""/>
          <p:cNvSpPr txBox="1"/>
          <p:nvPr/>
        </p:nvSpPr>
        <p:spPr>
          <a:xfrm>
            <a:off x="324000" y="6660000"/>
            <a:ext cx="10368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80" spc="-1" strike="noStrike">
                <a:solidFill>
                  <a:srgbClr val="718592"/>
                </a:solidFill>
                <a:latin typeface="Courier New"/>
              </a:rPr>
              <a:t>docs/extreme-forecaster-v1-results.md §§3–4 · output/models/extreme-forecaster-v1-baseline-evaluation.json</a:t>
            </a:r>
            <a:endParaRPr b="0" lang="en-US" sz="680" spc="-1" strike="noStrike">
              <a:latin typeface="Arial"/>
            </a:endParaRPr>
          </a:p>
        </p:txBody>
      </p:sp>
      <p:sp>
        <p:nvSpPr>
          <p:cNvPr id="905" name=""/>
          <p:cNvSpPr txBox="1"/>
          <p:nvPr/>
        </p:nvSpPr>
        <p:spPr>
          <a:xfrm>
            <a:off x="11052000" y="6660000"/>
            <a:ext cx="684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buNone/>
            </a:pPr>
            <a:r>
              <a:rPr b="1" lang="en-US" sz="750" spc="-1" strike="noStrike">
                <a:solidFill>
                  <a:srgbClr val="718592"/>
                </a:solidFill>
                <a:latin typeface="Courier New"/>
              </a:rPr>
              <a:t>14</a:t>
            </a:r>
            <a:endParaRPr b="0" lang="en-US" sz="7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3f7f8"/>
          </a:solidFill>
          <a:ln w="0">
            <a:noFill/>
          </a:ln>
        </p:spPr>
      </p:sp>
      <p:sp>
        <p:nvSpPr>
          <p:cNvPr id="907" name=""/>
          <p:cNvSpPr txBox="1"/>
          <p:nvPr/>
        </p:nvSpPr>
        <p:spPr>
          <a:xfrm>
            <a:off x="324000" y="158400"/>
            <a:ext cx="3096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00" spc="508" strike="noStrike">
                <a:solidFill>
                  <a:srgbClr val="007c99"/>
                </a:solidFill>
                <a:latin typeface="Courier New"/>
              </a:rPr>
              <a:t>STAGE 2 · REGIME ANALYSIS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908" name=""/>
          <p:cNvSpPr txBox="1"/>
          <p:nvPr/>
        </p:nvSpPr>
        <p:spPr>
          <a:xfrm>
            <a:off x="324000" y="378000"/>
            <a:ext cx="10584000" cy="57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50" spc="-1" strike="noStrike">
                <a:solidFill>
                  <a:srgbClr val="172731"/>
                </a:solidFill>
                <a:latin typeface="Arial"/>
              </a:rPr>
              <a:t>Surges—not brownouts—are the dominant forecast weakness</a:t>
            </a:r>
            <a:endParaRPr b="0" lang="en-US" sz="2150" spc="-1" strike="noStrike">
              <a:latin typeface="Arial"/>
            </a:endParaRPr>
          </a:p>
        </p:txBody>
      </p:sp>
      <p:sp>
        <p:nvSpPr>
          <p:cNvPr id="909" name=""/>
          <p:cNvSpPr/>
          <p:nvPr/>
        </p:nvSpPr>
        <p:spPr>
          <a:xfrm>
            <a:off x="10800000" y="180000"/>
            <a:ext cx="936000" cy="19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910" name=""/>
          <p:cNvSpPr txBox="1"/>
          <p:nvPr/>
        </p:nvSpPr>
        <p:spPr>
          <a:xfrm>
            <a:off x="10818000" y="219600"/>
            <a:ext cx="900000" cy="10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710" spc="-1" strike="noStrike">
                <a:solidFill>
                  <a:srgbClr val="c77b0b"/>
                </a:solidFill>
                <a:latin typeface="Courier New"/>
              </a:rPr>
              <a:t>SYNTHETIC DATA</a:t>
            </a:r>
            <a:endParaRPr b="0" lang="en-US" sz="710" spc="-1" strike="noStrike">
              <a:latin typeface="Arial"/>
            </a:endParaRPr>
          </a:p>
        </p:txBody>
      </p:sp>
      <p:sp>
        <p:nvSpPr>
          <p:cNvPr id="911" name=""/>
          <p:cNvSpPr/>
          <p:nvPr/>
        </p:nvSpPr>
        <p:spPr>
          <a:xfrm>
            <a:off x="324000" y="1512000"/>
            <a:ext cx="11412000" cy="547200"/>
          </a:xfrm>
          <a:prstGeom prst="rect">
            <a:avLst/>
          </a:prstGeom>
          <a:solidFill>
            <a:srgbClr val="193644"/>
          </a:solidFill>
          <a:ln w="6480">
            <a:solidFill>
              <a:srgbClr val="cfdce1"/>
            </a:solidFill>
            <a:round/>
          </a:ln>
        </p:spPr>
      </p:sp>
      <p:sp>
        <p:nvSpPr>
          <p:cNvPr id="912" name=""/>
          <p:cNvSpPr txBox="1"/>
          <p:nvPr/>
        </p:nvSpPr>
        <p:spPr>
          <a:xfrm>
            <a:off x="385200" y="1558800"/>
            <a:ext cx="2037600" cy="47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n-US" sz="900" spc="-1" strike="noStrike">
                <a:solidFill>
                  <a:srgbClr val="ffffff"/>
                </a:solidFill>
                <a:latin typeface="Arial"/>
              </a:rPr>
              <a:t>REGIME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913" name=""/>
          <p:cNvSpPr txBox="1"/>
          <p:nvPr/>
        </p:nvSpPr>
        <p:spPr>
          <a:xfrm>
            <a:off x="2545200" y="1558800"/>
            <a:ext cx="1245600" cy="47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r">
              <a:buNone/>
            </a:pPr>
            <a:r>
              <a:rPr b="1" lang="en-US" sz="900" spc="-1" strike="noStrike">
                <a:solidFill>
                  <a:srgbClr val="ffffff"/>
                </a:solidFill>
                <a:latin typeface="Arial"/>
              </a:rPr>
              <a:t>WAPE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914" name=""/>
          <p:cNvSpPr txBox="1"/>
          <p:nvPr/>
        </p:nvSpPr>
        <p:spPr>
          <a:xfrm>
            <a:off x="3913200" y="1558800"/>
            <a:ext cx="1605600" cy="47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r">
              <a:buNone/>
            </a:pPr>
            <a:r>
              <a:rPr b="1" lang="en-US" sz="900" spc="-1" strike="noStrike">
                <a:solidFill>
                  <a:srgbClr val="ffffff"/>
                </a:solidFill>
                <a:latin typeface="Arial"/>
              </a:rPr>
              <a:t>P90 COVERAGE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915" name=""/>
          <p:cNvSpPr txBox="1"/>
          <p:nvPr/>
        </p:nvSpPr>
        <p:spPr>
          <a:xfrm>
            <a:off x="5641200" y="1558800"/>
            <a:ext cx="6033600" cy="47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n-US" sz="900" spc="-1" strike="noStrike">
                <a:solidFill>
                  <a:srgbClr val="ffffff"/>
                </a:solidFill>
                <a:latin typeface="Arial"/>
              </a:rPr>
              <a:t>INTERPRETATION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916" name=""/>
          <p:cNvSpPr/>
          <p:nvPr/>
        </p:nvSpPr>
        <p:spPr>
          <a:xfrm>
            <a:off x="324000" y="2059200"/>
            <a:ext cx="11412000" cy="547200"/>
          </a:xfrm>
          <a:prstGeom prst="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917" name=""/>
          <p:cNvSpPr txBox="1"/>
          <p:nvPr/>
        </p:nvSpPr>
        <p:spPr>
          <a:xfrm>
            <a:off x="385200" y="2106000"/>
            <a:ext cx="2037600" cy="47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920" spc="-1" strike="noStrike">
                <a:solidFill>
                  <a:srgbClr val="172731"/>
                </a:solidFill>
                <a:latin typeface="Arial"/>
              </a:rPr>
              <a:t>Normal</a:t>
            </a:r>
            <a:endParaRPr b="0" lang="en-US" sz="920" spc="-1" strike="noStrike">
              <a:latin typeface="Arial"/>
            </a:endParaRPr>
          </a:p>
        </p:txBody>
      </p:sp>
      <p:sp>
        <p:nvSpPr>
          <p:cNvPr id="918" name=""/>
          <p:cNvSpPr txBox="1"/>
          <p:nvPr/>
        </p:nvSpPr>
        <p:spPr>
          <a:xfrm>
            <a:off x="2545200" y="2106000"/>
            <a:ext cx="1245600" cy="47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r">
              <a:buNone/>
            </a:pPr>
            <a:r>
              <a:rPr b="0" lang="en-US" sz="920" spc="-1" strike="noStrike">
                <a:solidFill>
                  <a:srgbClr val="172731"/>
                </a:solidFill>
                <a:latin typeface="Arial"/>
              </a:rPr>
              <a:t>6.51%</a:t>
            </a:r>
            <a:endParaRPr b="0" lang="en-US" sz="920" spc="-1" strike="noStrike">
              <a:latin typeface="Arial"/>
            </a:endParaRPr>
          </a:p>
        </p:txBody>
      </p:sp>
      <p:sp>
        <p:nvSpPr>
          <p:cNvPr id="919" name=""/>
          <p:cNvSpPr txBox="1"/>
          <p:nvPr/>
        </p:nvSpPr>
        <p:spPr>
          <a:xfrm>
            <a:off x="3913200" y="2106000"/>
            <a:ext cx="1605600" cy="47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r">
              <a:buNone/>
            </a:pPr>
            <a:r>
              <a:rPr b="0" lang="en-US" sz="920" spc="-1" strike="noStrike">
                <a:solidFill>
                  <a:srgbClr val="172731"/>
                </a:solidFill>
                <a:latin typeface="Arial"/>
              </a:rPr>
              <a:t>94.19%</a:t>
            </a:r>
            <a:endParaRPr b="0" lang="en-US" sz="920" spc="-1" strike="noStrike">
              <a:latin typeface="Arial"/>
            </a:endParaRPr>
          </a:p>
        </p:txBody>
      </p:sp>
      <p:sp>
        <p:nvSpPr>
          <p:cNvPr id="920" name=""/>
          <p:cNvSpPr txBox="1"/>
          <p:nvPr/>
        </p:nvSpPr>
        <p:spPr>
          <a:xfrm>
            <a:off x="5641200" y="2106000"/>
            <a:ext cx="6033600" cy="47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920" spc="-1" strike="noStrike">
                <a:solidFill>
                  <a:srgbClr val="172731"/>
                </a:solidFill>
                <a:latin typeface="Arial"/>
              </a:rPr>
              <a:t>well calibrated</a:t>
            </a:r>
            <a:endParaRPr b="0" lang="en-US" sz="920" spc="-1" strike="noStrike">
              <a:latin typeface="Arial"/>
            </a:endParaRPr>
          </a:p>
        </p:txBody>
      </p:sp>
      <p:sp>
        <p:nvSpPr>
          <p:cNvPr id="921" name=""/>
          <p:cNvSpPr/>
          <p:nvPr/>
        </p:nvSpPr>
        <p:spPr>
          <a:xfrm>
            <a:off x="324000" y="2606400"/>
            <a:ext cx="11412000" cy="547200"/>
          </a:xfrm>
          <a:prstGeom prst="rect">
            <a:avLst/>
          </a:prstGeom>
          <a:solidFill>
            <a:srgbClr val="fae8e6"/>
          </a:solidFill>
          <a:ln w="6480">
            <a:solidFill>
              <a:srgbClr val="cfdce1"/>
            </a:solidFill>
            <a:round/>
          </a:ln>
        </p:spPr>
      </p:sp>
      <p:sp>
        <p:nvSpPr>
          <p:cNvPr id="922" name=""/>
          <p:cNvSpPr txBox="1"/>
          <p:nvPr/>
        </p:nvSpPr>
        <p:spPr>
          <a:xfrm>
            <a:off x="385200" y="2653200"/>
            <a:ext cx="2037600" cy="47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920" spc="-1" strike="noStrike">
                <a:solidFill>
                  <a:srgbClr val="172731"/>
                </a:solidFill>
                <a:latin typeface="Arial"/>
              </a:rPr>
              <a:t>Surge</a:t>
            </a:r>
            <a:endParaRPr b="0" lang="en-US" sz="920" spc="-1" strike="noStrike">
              <a:latin typeface="Arial"/>
            </a:endParaRPr>
          </a:p>
        </p:txBody>
      </p:sp>
      <p:sp>
        <p:nvSpPr>
          <p:cNvPr id="923" name=""/>
          <p:cNvSpPr txBox="1"/>
          <p:nvPr/>
        </p:nvSpPr>
        <p:spPr>
          <a:xfrm>
            <a:off x="2545200" y="2653200"/>
            <a:ext cx="1245600" cy="47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r">
              <a:buNone/>
            </a:pPr>
            <a:r>
              <a:rPr b="0" lang="en-US" sz="920" spc="-1" strike="noStrike">
                <a:solidFill>
                  <a:srgbClr val="172731"/>
                </a:solidFill>
                <a:latin typeface="Arial"/>
              </a:rPr>
              <a:t>11.08%</a:t>
            </a:r>
            <a:endParaRPr b="0" lang="en-US" sz="920" spc="-1" strike="noStrike">
              <a:latin typeface="Arial"/>
            </a:endParaRPr>
          </a:p>
        </p:txBody>
      </p:sp>
      <p:sp>
        <p:nvSpPr>
          <p:cNvPr id="924" name=""/>
          <p:cNvSpPr txBox="1"/>
          <p:nvPr/>
        </p:nvSpPr>
        <p:spPr>
          <a:xfrm>
            <a:off x="3913200" y="2653200"/>
            <a:ext cx="1605600" cy="47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r">
              <a:buNone/>
            </a:pPr>
            <a:r>
              <a:rPr b="0" lang="en-US" sz="920" spc="-1" strike="noStrike">
                <a:solidFill>
                  <a:srgbClr val="172731"/>
                </a:solidFill>
                <a:latin typeface="Arial"/>
              </a:rPr>
              <a:t>30.73%</a:t>
            </a:r>
            <a:endParaRPr b="0" lang="en-US" sz="920" spc="-1" strike="noStrike">
              <a:latin typeface="Arial"/>
            </a:endParaRPr>
          </a:p>
        </p:txBody>
      </p:sp>
      <p:sp>
        <p:nvSpPr>
          <p:cNvPr id="925" name=""/>
          <p:cNvSpPr txBox="1"/>
          <p:nvPr/>
        </p:nvSpPr>
        <p:spPr>
          <a:xfrm>
            <a:off x="5641200" y="2653200"/>
            <a:ext cx="6033600" cy="47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920" spc="-1" strike="noStrike">
                <a:solidFill>
                  <a:srgbClr val="172731"/>
                </a:solidFill>
                <a:latin typeface="Arial"/>
              </a:rPr>
              <a:t>unannounced step-change is not predictable beforehand</a:t>
            </a:r>
            <a:endParaRPr b="0" lang="en-US" sz="920" spc="-1" strike="noStrike">
              <a:latin typeface="Arial"/>
            </a:endParaRPr>
          </a:p>
        </p:txBody>
      </p:sp>
      <p:sp>
        <p:nvSpPr>
          <p:cNvPr id="926" name=""/>
          <p:cNvSpPr/>
          <p:nvPr/>
        </p:nvSpPr>
        <p:spPr>
          <a:xfrm>
            <a:off x="324000" y="3153600"/>
            <a:ext cx="11412000" cy="547200"/>
          </a:xfrm>
          <a:prstGeom prst="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927" name=""/>
          <p:cNvSpPr txBox="1"/>
          <p:nvPr/>
        </p:nvSpPr>
        <p:spPr>
          <a:xfrm>
            <a:off x="385200" y="3200400"/>
            <a:ext cx="2037600" cy="47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920" spc="-1" strike="noStrike">
                <a:solidFill>
                  <a:srgbClr val="172731"/>
                </a:solidFill>
                <a:latin typeface="Arial"/>
              </a:rPr>
              <a:t>Brownout</a:t>
            </a:r>
            <a:endParaRPr b="0" lang="en-US" sz="920" spc="-1" strike="noStrike">
              <a:latin typeface="Arial"/>
            </a:endParaRPr>
          </a:p>
        </p:txBody>
      </p:sp>
      <p:sp>
        <p:nvSpPr>
          <p:cNvPr id="928" name=""/>
          <p:cNvSpPr txBox="1"/>
          <p:nvPr/>
        </p:nvSpPr>
        <p:spPr>
          <a:xfrm>
            <a:off x="2545200" y="3200400"/>
            <a:ext cx="1245600" cy="47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r">
              <a:buNone/>
            </a:pPr>
            <a:r>
              <a:rPr b="0" lang="en-US" sz="920" spc="-1" strike="noStrike">
                <a:solidFill>
                  <a:srgbClr val="172731"/>
                </a:solidFill>
                <a:latin typeface="Arial"/>
              </a:rPr>
              <a:t>5.09%</a:t>
            </a:r>
            <a:endParaRPr b="0" lang="en-US" sz="920" spc="-1" strike="noStrike">
              <a:latin typeface="Arial"/>
            </a:endParaRPr>
          </a:p>
        </p:txBody>
      </p:sp>
      <p:sp>
        <p:nvSpPr>
          <p:cNvPr id="929" name=""/>
          <p:cNvSpPr txBox="1"/>
          <p:nvPr/>
        </p:nvSpPr>
        <p:spPr>
          <a:xfrm>
            <a:off x="3913200" y="3200400"/>
            <a:ext cx="1605600" cy="47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r">
              <a:buNone/>
            </a:pPr>
            <a:r>
              <a:rPr b="0" lang="en-US" sz="920" spc="-1" strike="noStrike">
                <a:solidFill>
                  <a:srgbClr val="172731"/>
                </a:solidFill>
                <a:latin typeface="Arial"/>
              </a:rPr>
              <a:t>87.88%</a:t>
            </a:r>
            <a:endParaRPr b="0" lang="en-US" sz="920" spc="-1" strike="noStrike">
              <a:latin typeface="Arial"/>
            </a:endParaRPr>
          </a:p>
        </p:txBody>
      </p:sp>
      <p:sp>
        <p:nvSpPr>
          <p:cNvPr id="930" name=""/>
          <p:cNvSpPr txBox="1"/>
          <p:nvPr/>
        </p:nvSpPr>
        <p:spPr>
          <a:xfrm>
            <a:off x="5641200" y="3200400"/>
            <a:ext cx="6033600" cy="47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920" spc="-1" strike="noStrike">
                <a:solidFill>
                  <a:srgbClr val="172731"/>
                </a:solidFill>
                <a:latin typeface="Arial"/>
              </a:rPr>
              <a:t>network state changes; offered demand does not</a:t>
            </a:r>
            <a:endParaRPr b="0" lang="en-US" sz="920" spc="-1" strike="noStrike">
              <a:latin typeface="Arial"/>
            </a:endParaRPr>
          </a:p>
        </p:txBody>
      </p:sp>
      <p:sp>
        <p:nvSpPr>
          <p:cNvPr id="931" name=""/>
          <p:cNvSpPr/>
          <p:nvPr/>
        </p:nvSpPr>
        <p:spPr>
          <a:xfrm>
            <a:off x="324000" y="3700800"/>
            <a:ext cx="11412000" cy="547200"/>
          </a:xfrm>
          <a:prstGeom prst="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932" name=""/>
          <p:cNvSpPr txBox="1"/>
          <p:nvPr/>
        </p:nvSpPr>
        <p:spPr>
          <a:xfrm>
            <a:off x="385200" y="3747600"/>
            <a:ext cx="2037600" cy="47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920" spc="-1" strike="noStrike">
                <a:solidFill>
                  <a:srgbClr val="172731"/>
                </a:solidFill>
                <a:latin typeface="Arial"/>
              </a:rPr>
              <a:t>Near outage</a:t>
            </a:r>
            <a:endParaRPr b="0" lang="en-US" sz="920" spc="-1" strike="noStrike">
              <a:latin typeface="Arial"/>
            </a:endParaRPr>
          </a:p>
        </p:txBody>
      </p:sp>
      <p:sp>
        <p:nvSpPr>
          <p:cNvPr id="933" name=""/>
          <p:cNvSpPr txBox="1"/>
          <p:nvPr/>
        </p:nvSpPr>
        <p:spPr>
          <a:xfrm>
            <a:off x="2545200" y="3747600"/>
            <a:ext cx="1245600" cy="47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r">
              <a:buNone/>
            </a:pPr>
            <a:r>
              <a:rPr b="0" lang="en-US" sz="920" spc="-1" strike="noStrike">
                <a:solidFill>
                  <a:srgbClr val="172731"/>
                </a:solidFill>
                <a:latin typeface="Arial"/>
              </a:rPr>
              <a:t>5.29%</a:t>
            </a:r>
            <a:endParaRPr b="0" lang="en-US" sz="920" spc="-1" strike="noStrike">
              <a:latin typeface="Arial"/>
            </a:endParaRPr>
          </a:p>
        </p:txBody>
      </p:sp>
      <p:sp>
        <p:nvSpPr>
          <p:cNvPr id="934" name=""/>
          <p:cNvSpPr txBox="1"/>
          <p:nvPr/>
        </p:nvSpPr>
        <p:spPr>
          <a:xfrm>
            <a:off x="3913200" y="3747600"/>
            <a:ext cx="1605600" cy="47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r">
              <a:buNone/>
            </a:pPr>
            <a:r>
              <a:rPr b="0" lang="en-US" sz="920" spc="-1" strike="noStrike">
                <a:solidFill>
                  <a:srgbClr val="172731"/>
                </a:solidFill>
                <a:latin typeface="Arial"/>
              </a:rPr>
              <a:t>73.96%</a:t>
            </a:r>
            <a:endParaRPr b="0" lang="en-US" sz="920" spc="-1" strike="noStrike">
              <a:latin typeface="Arial"/>
            </a:endParaRPr>
          </a:p>
        </p:txBody>
      </p:sp>
      <p:sp>
        <p:nvSpPr>
          <p:cNvPr id="935" name=""/>
          <p:cNvSpPr txBox="1"/>
          <p:nvPr/>
        </p:nvSpPr>
        <p:spPr>
          <a:xfrm>
            <a:off x="5641200" y="3747600"/>
            <a:ext cx="6033600" cy="47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920" spc="-1" strike="noStrike">
                <a:solidFill>
                  <a:srgbClr val="172731"/>
                </a:solidFill>
                <a:latin typeface="Arial"/>
              </a:rPr>
              <a:t>demand accuracy stays normal; coverage weakens</a:t>
            </a:r>
            <a:endParaRPr b="0" lang="en-US" sz="920" spc="-1" strike="noStrike">
              <a:latin typeface="Arial"/>
            </a:endParaRPr>
          </a:p>
        </p:txBody>
      </p:sp>
      <p:sp>
        <p:nvSpPr>
          <p:cNvPr id="936" name=""/>
          <p:cNvSpPr/>
          <p:nvPr/>
        </p:nvSpPr>
        <p:spPr>
          <a:xfrm>
            <a:off x="324000" y="4248000"/>
            <a:ext cx="11412000" cy="547200"/>
          </a:xfrm>
          <a:prstGeom prst="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937" name=""/>
          <p:cNvSpPr txBox="1"/>
          <p:nvPr/>
        </p:nvSpPr>
        <p:spPr>
          <a:xfrm>
            <a:off x="385200" y="4294800"/>
            <a:ext cx="2037600" cy="47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920" spc="-1" strike="noStrike">
                <a:solidFill>
                  <a:srgbClr val="172731"/>
                </a:solidFill>
                <a:latin typeface="Arial"/>
              </a:rPr>
              <a:t>Latency incident</a:t>
            </a:r>
            <a:endParaRPr b="0" lang="en-US" sz="920" spc="-1" strike="noStrike">
              <a:latin typeface="Arial"/>
            </a:endParaRPr>
          </a:p>
        </p:txBody>
      </p:sp>
      <p:sp>
        <p:nvSpPr>
          <p:cNvPr id="938" name=""/>
          <p:cNvSpPr txBox="1"/>
          <p:nvPr/>
        </p:nvSpPr>
        <p:spPr>
          <a:xfrm>
            <a:off x="2545200" y="4294800"/>
            <a:ext cx="1245600" cy="47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r">
              <a:buNone/>
            </a:pPr>
            <a:r>
              <a:rPr b="0" lang="en-US" sz="920" spc="-1" strike="noStrike">
                <a:solidFill>
                  <a:srgbClr val="172731"/>
                </a:solidFill>
                <a:latin typeface="Arial"/>
              </a:rPr>
              <a:t>5.04%</a:t>
            </a:r>
            <a:endParaRPr b="0" lang="en-US" sz="920" spc="-1" strike="noStrike">
              <a:latin typeface="Arial"/>
            </a:endParaRPr>
          </a:p>
        </p:txBody>
      </p:sp>
      <p:sp>
        <p:nvSpPr>
          <p:cNvPr id="939" name=""/>
          <p:cNvSpPr txBox="1"/>
          <p:nvPr/>
        </p:nvSpPr>
        <p:spPr>
          <a:xfrm>
            <a:off x="3913200" y="4294800"/>
            <a:ext cx="1605600" cy="47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r">
              <a:buNone/>
            </a:pPr>
            <a:r>
              <a:rPr b="0" lang="en-US" sz="920" spc="-1" strike="noStrike">
                <a:solidFill>
                  <a:srgbClr val="172731"/>
                </a:solidFill>
                <a:latin typeface="Arial"/>
              </a:rPr>
              <a:t>92.36%</a:t>
            </a:r>
            <a:endParaRPr b="0" lang="en-US" sz="920" spc="-1" strike="noStrike">
              <a:latin typeface="Arial"/>
            </a:endParaRPr>
          </a:p>
        </p:txBody>
      </p:sp>
      <p:sp>
        <p:nvSpPr>
          <p:cNvPr id="940" name=""/>
          <p:cNvSpPr txBox="1"/>
          <p:nvPr/>
        </p:nvSpPr>
        <p:spPr>
          <a:xfrm>
            <a:off x="5641200" y="4294800"/>
            <a:ext cx="6033600" cy="47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920" spc="-1" strike="noStrike">
                <a:solidFill>
                  <a:srgbClr val="172731"/>
                </a:solidFill>
                <a:latin typeface="Arial"/>
              </a:rPr>
              <a:t>path state changes, not demand</a:t>
            </a:r>
            <a:endParaRPr b="0" lang="en-US" sz="920" spc="-1" strike="noStrike">
              <a:latin typeface="Arial"/>
            </a:endParaRPr>
          </a:p>
        </p:txBody>
      </p:sp>
      <p:sp>
        <p:nvSpPr>
          <p:cNvPr id="941" name=""/>
          <p:cNvSpPr/>
          <p:nvPr/>
        </p:nvSpPr>
        <p:spPr>
          <a:xfrm>
            <a:off x="324000" y="5076000"/>
            <a:ext cx="5472000" cy="1008000"/>
          </a:xfrm>
          <a:prstGeom prst="roundRect">
            <a:avLst/>
          </a:prstGeom>
          <a:solidFill>
            <a:srgbClr val="faf0de"/>
          </a:solidFill>
          <a:ln w="6480">
            <a:solidFill>
              <a:srgbClr val="e8ca99"/>
            </a:solidFill>
            <a:round/>
          </a:ln>
        </p:spPr>
      </p:sp>
      <p:sp>
        <p:nvSpPr>
          <p:cNvPr id="942" name=""/>
          <p:cNvSpPr/>
          <p:nvPr/>
        </p:nvSpPr>
        <p:spPr>
          <a:xfrm>
            <a:off x="324000" y="5076000"/>
            <a:ext cx="64800" cy="1008000"/>
          </a:xfrm>
          <a:prstGeom prst="rect">
            <a:avLst/>
          </a:prstGeom>
          <a:solidFill>
            <a:srgbClr val="c77b0b"/>
          </a:solidFill>
          <a:ln w="0">
            <a:noFill/>
          </a:ln>
        </p:spPr>
      </p:sp>
      <p:sp>
        <p:nvSpPr>
          <p:cNvPr id="943" name=""/>
          <p:cNvSpPr txBox="1"/>
          <p:nvPr/>
        </p:nvSpPr>
        <p:spPr>
          <a:xfrm>
            <a:off x="576000" y="5292000"/>
            <a:ext cx="4932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00" spc="-1" strike="noStrike">
                <a:solidFill>
                  <a:srgbClr val="c77b0b"/>
                </a:solidFill>
                <a:latin typeface="Courier New"/>
              </a:rPr>
              <a:t>Operational consequence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944" name=""/>
          <p:cNvSpPr txBox="1"/>
          <p:nvPr/>
        </p:nvSpPr>
        <p:spPr>
          <a:xfrm>
            <a:off x="576000" y="5580000"/>
            <a:ext cx="4932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39" spc="-1" strike="noStrike">
                <a:solidFill>
                  <a:srgbClr val="172731"/>
                </a:solidFill>
                <a:latin typeface="Arial"/>
              </a:rPr>
              <a:t>The controller needs robust fallback and static-relative certification; forecast accuracy alone cannot guarantee benefit.</a:t>
            </a:r>
            <a:endParaRPr b="0" lang="en-US" sz="939" spc="-1" strike="noStrike">
              <a:latin typeface="Arial"/>
            </a:endParaRPr>
          </a:p>
        </p:txBody>
      </p:sp>
      <p:sp>
        <p:nvSpPr>
          <p:cNvPr id="945" name=""/>
          <p:cNvSpPr/>
          <p:nvPr/>
        </p:nvSpPr>
        <p:spPr>
          <a:xfrm>
            <a:off x="6084000" y="5076000"/>
            <a:ext cx="5652000" cy="1008000"/>
          </a:xfrm>
          <a:prstGeom prst="roundRect">
            <a:avLst/>
          </a:prstGeom>
          <a:solidFill>
            <a:srgbClr val="e1f1f4"/>
          </a:solidFill>
          <a:ln w="6480">
            <a:solidFill>
              <a:srgbClr val="badce3"/>
            </a:solidFill>
            <a:round/>
          </a:ln>
        </p:spPr>
      </p:sp>
      <p:sp>
        <p:nvSpPr>
          <p:cNvPr id="946" name=""/>
          <p:cNvSpPr/>
          <p:nvPr/>
        </p:nvSpPr>
        <p:spPr>
          <a:xfrm>
            <a:off x="6084000" y="5076000"/>
            <a:ext cx="64800" cy="1008000"/>
          </a:xfrm>
          <a:prstGeom prst="rect">
            <a:avLst/>
          </a:prstGeom>
          <a:solidFill>
            <a:srgbClr val="007c99"/>
          </a:solidFill>
          <a:ln w="0">
            <a:noFill/>
          </a:ln>
        </p:spPr>
      </p:sp>
      <p:sp>
        <p:nvSpPr>
          <p:cNvPr id="947" name=""/>
          <p:cNvSpPr txBox="1"/>
          <p:nvPr/>
        </p:nvSpPr>
        <p:spPr>
          <a:xfrm>
            <a:off x="6336000" y="5292000"/>
            <a:ext cx="5112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00" spc="-1" strike="noStrike">
                <a:solidFill>
                  <a:srgbClr val="007c99"/>
                </a:solidFill>
                <a:latin typeface="Courier New"/>
              </a:rPr>
              <a:t>Evaluation caveat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948" name=""/>
          <p:cNvSpPr txBox="1"/>
          <p:nvPr/>
        </p:nvSpPr>
        <p:spPr>
          <a:xfrm>
            <a:off x="6336000" y="5580000"/>
            <a:ext cx="5112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00" spc="-1" strike="noStrike">
                <a:solidFill>
                  <a:srgbClr val="172731"/>
                </a:solidFill>
                <a:latin typeface="Arial"/>
              </a:rPr>
              <a:t>The v1 70/15/15 split differs slightly from the manifest’s explicit 11/2/3-week boundary; event-stratified release reporting remains incomplete.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949" name=""/>
          <p:cNvSpPr/>
          <p:nvPr/>
        </p:nvSpPr>
        <p:spPr>
          <a:xfrm>
            <a:off x="324000" y="6616800"/>
            <a:ext cx="11088000" cy="0"/>
          </a:xfrm>
          <a:prstGeom prst="line">
            <a:avLst/>
          </a:prstGeom>
          <a:ln w="1080">
            <a:solidFill>
              <a:srgbClr val="cfdc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50" name=""/>
          <p:cNvSpPr txBox="1"/>
          <p:nvPr/>
        </p:nvSpPr>
        <p:spPr>
          <a:xfrm>
            <a:off x="324000" y="6660000"/>
            <a:ext cx="10368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80" spc="-1" strike="noStrike">
                <a:solidFill>
                  <a:srgbClr val="718592"/>
                </a:solidFill>
                <a:latin typeface="Courier New"/>
              </a:rPr>
              <a:t>docs/extreme-optimizer-tuning-results.md §Forecast performance by regime · docs/extreme-forecaster-v1-results.md</a:t>
            </a:r>
            <a:endParaRPr b="0" lang="en-US" sz="680" spc="-1" strike="noStrike">
              <a:latin typeface="Arial"/>
            </a:endParaRPr>
          </a:p>
        </p:txBody>
      </p:sp>
      <p:sp>
        <p:nvSpPr>
          <p:cNvPr id="951" name=""/>
          <p:cNvSpPr txBox="1"/>
          <p:nvPr/>
        </p:nvSpPr>
        <p:spPr>
          <a:xfrm>
            <a:off x="11052000" y="6660000"/>
            <a:ext cx="684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buNone/>
            </a:pPr>
            <a:r>
              <a:rPr b="1" lang="en-US" sz="750" spc="-1" strike="noStrike">
                <a:solidFill>
                  <a:srgbClr val="718592"/>
                </a:solidFill>
                <a:latin typeface="Courier New"/>
              </a:rPr>
              <a:t>15</a:t>
            </a:r>
            <a:endParaRPr b="0" lang="en-US" sz="7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3f7f8"/>
          </a:solidFill>
          <a:ln w="0">
            <a:noFill/>
          </a:ln>
        </p:spPr>
      </p:sp>
      <p:sp>
        <p:nvSpPr>
          <p:cNvPr id="953" name=""/>
          <p:cNvSpPr txBox="1"/>
          <p:nvPr/>
        </p:nvSpPr>
        <p:spPr>
          <a:xfrm>
            <a:off x="324000" y="158400"/>
            <a:ext cx="3096000" cy="23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00" spc="508" strike="noStrike">
                <a:solidFill>
                  <a:srgbClr val="007c99"/>
                </a:solidFill>
                <a:latin typeface="Courier New"/>
              </a:rPr>
              <a:t>STAGE 3 · CONTROLLER EVOLUTION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954" name=""/>
          <p:cNvSpPr txBox="1"/>
          <p:nvPr/>
        </p:nvSpPr>
        <p:spPr>
          <a:xfrm>
            <a:off x="324000" y="378000"/>
            <a:ext cx="10584000" cy="57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50" spc="-1" strike="noStrike">
                <a:solidFill>
                  <a:srgbClr val="172731"/>
                </a:solidFill>
                <a:latin typeface="Arial"/>
              </a:rPr>
              <a:t>The optimizer evolved only after the evidence disproved the first design</a:t>
            </a:r>
            <a:endParaRPr b="0" lang="en-US" sz="2150" spc="-1" strike="noStrike">
              <a:latin typeface="Arial"/>
            </a:endParaRPr>
          </a:p>
        </p:txBody>
      </p:sp>
      <p:sp>
        <p:nvSpPr>
          <p:cNvPr id="955" name=""/>
          <p:cNvSpPr/>
          <p:nvPr/>
        </p:nvSpPr>
        <p:spPr>
          <a:xfrm>
            <a:off x="10800000" y="180000"/>
            <a:ext cx="936000" cy="19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956" name=""/>
          <p:cNvSpPr txBox="1"/>
          <p:nvPr/>
        </p:nvSpPr>
        <p:spPr>
          <a:xfrm>
            <a:off x="10818000" y="219600"/>
            <a:ext cx="900000" cy="10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710" spc="-1" strike="noStrike">
                <a:solidFill>
                  <a:srgbClr val="c77b0b"/>
                </a:solidFill>
                <a:latin typeface="Courier New"/>
              </a:rPr>
              <a:t>SYNTHETIC DATA</a:t>
            </a:r>
            <a:endParaRPr b="0" lang="en-US" sz="710" spc="-1" strike="noStrike">
              <a:latin typeface="Arial"/>
            </a:endParaRPr>
          </a:p>
        </p:txBody>
      </p:sp>
      <p:sp>
        <p:nvSpPr>
          <p:cNvPr id="957" name=""/>
          <p:cNvSpPr/>
          <p:nvPr/>
        </p:nvSpPr>
        <p:spPr>
          <a:xfrm>
            <a:off x="324000" y="1836000"/>
            <a:ext cx="2520000" cy="1944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958" name=""/>
          <p:cNvSpPr/>
          <p:nvPr/>
        </p:nvSpPr>
        <p:spPr>
          <a:xfrm>
            <a:off x="324000" y="1836000"/>
            <a:ext cx="64800" cy="1944000"/>
          </a:xfrm>
          <a:prstGeom prst="rect">
            <a:avLst/>
          </a:prstGeom>
          <a:solidFill>
            <a:srgbClr val="cd443b"/>
          </a:solidFill>
          <a:ln w="0">
            <a:noFill/>
          </a:ln>
        </p:spPr>
      </p:sp>
      <p:sp>
        <p:nvSpPr>
          <p:cNvPr id="959" name=""/>
          <p:cNvSpPr txBox="1"/>
          <p:nvPr/>
        </p:nvSpPr>
        <p:spPr>
          <a:xfrm>
            <a:off x="540000" y="2088000"/>
            <a:ext cx="2088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20" spc="-1" strike="noStrike">
                <a:solidFill>
                  <a:srgbClr val="cd443b"/>
                </a:solidFill>
                <a:latin typeface="Courier New"/>
              </a:rPr>
              <a:t>01 · ONE-WINDOW LP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960" name=""/>
          <p:cNvSpPr txBox="1"/>
          <p:nvPr/>
        </p:nvSpPr>
        <p:spPr>
          <a:xfrm>
            <a:off x="540000" y="2520000"/>
            <a:ext cx="2088000" cy="43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172731"/>
                </a:solidFill>
                <a:latin typeface="Arial"/>
              </a:rPr>
              <a:t>p95 forecast + residual load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61" name=""/>
          <p:cNvSpPr txBox="1"/>
          <p:nvPr/>
        </p:nvSpPr>
        <p:spPr>
          <a:xfrm>
            <a:off x="540000" y="3240000"/>
            <a:ext cx="2088000" cy="28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20" spc="-1" strike="noStrike">
                <a:solidFill>
                  <a:srgbClr val="cd443b"/>
                </a:solidFill>
                <a:latin typeface="Arial"/>
              </a:rPr>
              <a:t>Validation failed</a:t>
            </a:r>
            <a:endParaRPr b="0" lang="en-US" sz="920" spc="-1" strike="noStrike">
              <a:latin typeface="Arial"/>
            </a:endParaRPr>
          </a:p>
        </p:txBody>
      </p:sp>
      <p:sp>
        <p:nvSpPr>
          <p:cNvPr id="962" name=""/>
          <p:cNvSpPr/>
          <p:nvPr/>
        </p:nvSpPr>
        <p:spPr>
          <a:xfrm>
            <a:off x="2844000" y="2772000"/>
            <a:ext cx="248400" cy="0"/>
          </a:xfrm>
          <a:prstGeom prst="line">
            <a:avLst/>
          </a:prstGeom>
          <a:ln w="4680">
            <a:solidFill>
              <a:srgbClr val="5268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63" name=""/>
          <p:cNvSpPr txBox="1"/>
          <p:nvPr/>
        </p:nvSpPr>
        <p:spPr>
          <a:xfrm>
            <a:off x="3034800" y="2643840"/>
            <a:ext cx="144000" cy="2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US" sz="1800" spc="-1" strike="noStrike">
                <a:solidFill>
                  <a:srgbClr val="526875"/>
                </a:solidFill>
                <a:latin typeface="Arial"/>
              </a:rPr>
              <a:t>›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64" name=""/>
          <p:cNvSpPr/>
          <p:nvPr/>
        </p:nvSpPr>
        <p:spPr>
          <a:xfrm>
            <a:off x="3178800" y="1836000"/>
            <a:ext cx="2520000" cy="1944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965" name=""/>
          <p:cNvSpPr/>
          <p:nvPr/>
        </p:nvSpPr>
        <p:spPr>
          <a:xfrm>
            <a:off x="3178800" y="1836000"/>
            <a:ext cx="64800" cy="1944000"/>
          </a:xfrm>
          <a:prstGeom prst="rect">
            <a:avLst/>
          </a:prstGeom>
          <a:solidFill>
            <a:srgbClr val="cd443b"/>
          </a:solidFill>
          <a:ln w="0">
            <a:noFill/>
          </a:ln>
        </p:spPr>
      </p:sp>
      <p:sp>
        <p:nvSpPr>
          <p:cNvPr id="966" name=""/>
          <p:cNvSpPr txBox="1"/>
          <p:nvPr/>
        </p:nvSpPr>
        <p:spPr>
          <a:xfrm>
            <a:off x="3394800" y="2088000"/>
            <a:ext cx="2088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20" spc="-1" strike="noStrike">
                <a:solidFill>
                  <a:srgbClr val="cd443b"/>
                </a:solidFill>
                <a:latin typeface="Courier New"/>
              </a:rPr>
              <a:t>02 · MECHANISM TUNING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967" name=""/>
          <p:cNvSpPr txBox="1"/>
          <p:nvPr/>
        </p:nvSpPr>
        <p:spPr>
          <a:xfrm>
            <a:off x="3394800" y="2520000"/>
            <a:ext cx="2088000" cy="43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172731"/>
                </a:solidFill>
                <a:latin typeface="Arial"/>
              </a:rPr>
              <a:t>hints · anomaly · lifetime · caps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68" name=""/>
          <p:cNvSpPr txBox="1"/>
          <p:nvPr/>
        </p:nvSpPr>
        <p:spPr>
          <a:xfrm>
            <a:off x="3394800" y="3240000"/>
            <a:ext cx="2088000" cy="28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20" spc="-1" strike="noStrike">
                <a:solidFill>
                  <a:srgbClr val="cd443b"/>
                </a:solidFill>
                <a:latin typeface="Arial"/>
              </a:rPr>
              <a:t>Still worse than static</a:t>
            </a:r>
            <a:endParaRPr b="0" lang="en-US" sz="920" spc="-1" strike="noStrike">
              <a:latin typeface="Arial"/>
            </a:endParaRPr>
          </a:p>
        </p:txBody>
      </p:sp>
      <p:sp>
        <p:nvSpPr>
          <p:cNvPr id="969" name=""/>
          <p:cNvSpPr/>
          <p:nvPr/>
        </p:nvSpPr>
        <p:spPr>
          <a:xfrm>
            <a:off x="5698800" y="2772000"/>
            <a:ext cx="248400" cy="0"/>
          </a:xfrm>
          <a:prstGeom prst="line">
            <a:avLst/>
          </a:prstGeom>
          <a:ln w="4680">
            <a:solidFill>
              <a:srgbClr val="5268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70" name=""/>
          <p:cNvSpPr txBox="1"/>
          <p:nvPr/>
        </p:nvSpPr>
        <p:spPr>
          <a:xfrm>
            <a:off x="5889600" y="2643840"/>
            <a:ext cx="144000" cy="2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US" sz="1800" spc="-1" strike="noStrike">
                <a:solidFill>
                  <a:srgbClr val="526875"/>
                </a:solidFill>
                <a:latin typeface="Arial"/>
              </a:rPr>
              <a:t>›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71" name=""/>
          <p:cNvSpPr/>
          <p:nvPr/>
        </p:nvSpPr>
        <p:spPr>
          <a:xfrm>
            <a:off x="6033600" y="1836000"/>
            <a:ext cx="2520000" cy="1944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972" name=""/>
          <p:cNvSpPr/>
          <p:nvPr/>
        </p:nvSpPr>
        <p:spPr>
          <a:xfrm>
            <a:off x="6033600" y="1836000"/>
            <a:ext cx="64800" cy="1944000"/>
          </a:xfrm>
          <a:prstGeom prst="rect">
            <a:avLst/>
          </a:prstGeom>
          <a:solidFill>
            <a:srgbClr val="6750a4"/>
          </a:solidFill>
          <a:ln w="0">
            <a:noFill/>
          </a:ln>
        </p:spPr>
      </p:sp>
      <p:sp>
        <p:nvSpPr>
          <p:cNvPr id="973" name=""/>
          <p:cNvSpPr txBox="1"/>
          <p:nvPr/>
        </p:nvSpPr>
        <p:spPr>
          <a:xfrm>
            <a:off x="6249600" y="2088000"/>
            <a:ext cx="2088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20" spc="-1" strike="noStrike">
                <a:solidFill>
                  <a:srgbClr val="6750a4"/>
                </a:solidFill>
                <a:latin typeface="Courier New"/>
              </a:rPr>
              <a:t>03 · ORACLE BOUND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974" name=""/>
          <p:cNvSpPr txBox="1"/>
          <p:nvPr/>
        </p:nvSpPr>
        <p:spPr>
          <a:xfrm>
            <a:off x="6249600" y="2520000"/>
            <a:ext cx="2088000" cy="43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172731"/>
                </a:solidFill>
                <a:latin typeface="Arial"/>
              </a:rPr>
              <a:t>full-day cohort relaxation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75" name=""/>
          <p:cNvSpPr txBox="1"/>
          <p:nvPr/>
        </p:nvSpPr>
        <p:spPr>
          <a:xfrm>
            <a:off x="6249600" y="3240000"/>
            <a:ext cx="2088000" cy="28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20" spc="-1" strike="noStrike">
                <a:solidFill>
                  <a:srgbClr val="6750a4"/>
                </a:solidFill>
                <a:latin typeface="Arial"/>
              </a:rPr>
              <a:t>100% modeled UL reduction possible</a:t>
            </a:r>
            <a:endParaRPr b="0" lang="en-US" sz="920" spc="-1" strike="noStrike">
              <a:latin typeface="Arial"/>
            </a:endParaRPr>
          </a:p>
        </p:txBody>
      </p:sp>
      <p:sp>
        <p:nvSpPr>
          <p:cNvPr id="976" name=""/>
          <p:cNvSpPr/>
          <p:nvPr/>
        </p:nvSpPr>
        <p:spPr>
          <a:xfrm>
            <a:off x="8553600" y="2772000"/>
            <a:ext cx="248400" cy="0"/>
          </a:xfrm>
          <a:prstGeom prst="line">
            <a:avLst/>
          </a:prstGeom>
          <a:ln w="4680">
            <a:solidFill>
              <a:srgbClr val="5268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77" name=""/>
          <p:cNvSpPr txBox="1"/>
          <p:nvPr/>
        </p:nvSpPr>
        <p:spPr>
          <a:xfrm>
            <a:off x="8744400" y="2643840"/>
            <a:ext cx="144000" cy="2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US" sz="1800" spc="-1" strike="noStrike">
                <a:solidFill>
                  <a:srgbClr val="526875"/>
                </a:solidFill>
                <a:latin typeface="Arial"/>
              </a:rPr>
              <a:t>›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78" name=""/>
          <p:cNvSpPr/>
          <p:nvPr/>
        </p:nvSpPr>
        <p:spPr>
          <a:xfrm>
            <a:off x="8888400" y="1836000"/>
            <a:ext cx="2520000" cy="1944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979" name=""/>
          <p:cNvSpPr/>
          <p:nvPr/>
        </p:nvSpPr>
        <p:spPr>
          <a:xfrm>
            <a:off x="8888400" y="1836000"/>
            <a:ext cx="64800" cy="1944000"/>
          </a:xfrm>
          <a:prstGeom prst="rect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980" name=""/>
          <p:cNvSpPr txBox="1"/>
          <p:nvPr/>
        </p:nvSpPr>
        <p:spPr>
          <a:xfrm>
            <a:off x="9104400" y="2088000"/>
            <a:ext cx="2088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20" spc="-1" strike="noStrike">
                <a:solidFill>
                  <a:srgbClr val="16805f"/>
                </a:solidFill>
                <a:latin typeface="Courier New"/>
              </a:rPr>
              <a:t>04 · COHORT MPC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981" name=""/>
          <p:cNvSpPr txBox="1"/>
          <p:nvPr/>
        </p:nvSpPr>
        <p:spPr>
          <a:xfrm>
            <a:off x="9104400" y="2520000"/>
            <a:ext cx="2088000" cy="43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172731"/>
                </a:solidFill>
                <a:latin typeface="Arial"/>
              </a:rPr>
              <a:t>12-window state transition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82" name=""/>
          <p:cNvSpPr txBox="1"/>
          <p:nvPr/>
        </p:nvSpPr>
        <p:spPr>
          <a:xfrm>
            <a:off x="9104400" y="3240000"/>
            <a:ext cx="2088000" cy="28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20" spc="-1" strike="noStrike">
                <a:solidFill>
                  <a:srgbClr val="16805f"/>
                </a:solidFill>
                <a:latin typeface="Arial"/>
              </a:rPr>
              <a:t>10.52% mean-pair gain</a:t>
            </a:r>
            <a:endParaRPr b="0" lang="en-US" sz="920" spc="-1" strike="noStrike">
              <a:latin typeface="Arial"/>
            </a:endParaRPr>
          </a:p>
        </p:txBody>
      </p:sp>
      <p:sp>
        <p:nvSpPr>
          <p:cNvPr id="983" name=""/>
          <p:cNvSpPr/>
          <p:nvPr/>
        </p:nvSpPr>
        <p:spPr>
          <a:xfrm>
            <a:off x="324000" y="4284000"/>
            <a:ext cx="11412000" cy="1656000"/>
          </a:xfrm>
          <a:prstGeom prst="roundRect">
            <a:avLst/>
          </a:prstGeom>
          <a:solidFill>
            <a:srgbClr val="193644"/>
          </a:solidFill>
          <a:ln w="0">
            <a:noFill/>
          </a:ln>
        </p:spPr>
      </p:sp>
      <p:sp>
        <p:nvSpPr>
          <p:cNvPr id="984" name=""/>
          <p:cNvSpPr/>
          <p:nvPr/>
        </p:nvSpPr>
        <p:spPr>
          <a:xfrm>
            <a:off x="324000" y="4284000"/>
            <a:ext cx="64800" cy="1656000"/>
          </a:xfrm>
          <a:prstGeom prst="rect">
            <a:avLst/>
          </a:prstGeom>
          <a:solidFill>
            <a:srgbClr val="6750a4"/>
          </a:solidFill>
          <a:ln w="0">
            <a:noFill/>
          </a:ln>
        </p:spPr>
      </p:sp>
      <p:sp>
        <p:nvSpPr>
          <p:cNvPr id="985" name=""/>
          <p:cNvSpPr txBox="1"/>
          <p:nvPr/>
        </p:nvSpPr>
        <p:spPr>
          <a:xfrm>
            <a:off x="648000" y="4536000"/>
            <a:ext cx="10764000" cy="2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30" spc="-1" strike="noStrike">
                <a:solidFill>
                  <a:srgbClr val="77c6d4"/>
                </a:solidFill>
                <a:latin typeface="Courier New"/>
              </a:rPr>
              <a:t>Core lesson</a:t>
            </a:r>
            <a:endParaRPr b="0" lang="en-US" sz="930" spc="-1" strike="noStrike">
              <a:latin typeface="Arial"/>
            </a:endParaRPr>
          </a:p>
        </p:txBody>
      </p:sp>
      <p:sp>
        <p:nvSpPr>
          <p:cNvPr id="986" name=""/>
          <p:cNvSpPr txBox="1"/>
          <p:nvPr/>
        </p:nvSpPr>
        <p:spPr>
          <a:xfrm>
            <a:off x="648000" y="4968000"/>
            <a:ext cx="10764000" cy="46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1650" spc="-1" strike="noStrike">
                <a:solidFill>
                  <a:srgbClr val="ffffff"/>
                </a:solidFill>
                <a:latin typeface="Arial"/>
              </a:rPr>
              <a:t>New-session decisions persist for hours. A controller that optimizes only the next bucket can create residual concentrations that it cannot later undo.</a:t>
            </a:r>
            <a:endParaRPr b="0" lang="en-US" sz="1650" spc="-1" strike="noStrike">
              <a:latin typeface="Arial"/>
            </a:endParaRPr>
          </a:p>
        </p:txBody>
      </p:sp>
      <p:sp>
        <p:nvSpPr>
          <p:cNvPr id="987" name=""/>
          <p:cNvSpPr txBox="1"/>
          <p:nvPr/>
        </p:nvSpPr>
        <p:spPr>
          <a:xfrm>
            <a:off x="648000" y="5580000"/>
            <a:ext cx="10764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950" spc="-1" strike="noStrike">
                <a:solidFill>
                  <a:srgbClr val="c1d2d9"/>
                </a:solidFill>
                <a:latin typeface="Arial"/>
              </a:rPr>
              <a:t>The successful redesign carried cohort survival through a two-hour horizon and compared every candidate with static from the same state.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988" name=""/>
          <p:cNvSpPr/>
          <p:nvPr/>
        </p:nvSpPr>
        <p:spPr>
          <a:xfrm>
            <a:off x="324000" y="6616800"/>
            <a:ext cx="11088000" cy="0"/>
          </a:xfrm>
          <a:prstGeom prst="line">
            <a:avLst/>
          </a:prstGeom>
          <a:ln w="1080">
            <a:solidFill>
              <a:srgbClr val="cfdc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89" name=""/>
          <p:cNvSpPr txBox="1"/>
          <p:nvPr/>
        </p:nvSpPr>
        <p:spPr>
          <a:xfrm>
            <a:off x="324000" y="6660000"/>
            <a:ext cx="10368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80" spc="-1" strike="noStrike">
                <a:solidFill>
                  <a:srgbClr val="718592"/>
                </a:solidFill>
                <a:latin typeface="Courier New"/>
              </a:rPr>
              <a:t>docs/extreme-optimizer-tuning-results.md · docs/extreme-oracle-bound-results.md · docs/cohort-mpc-full-campaign-results.md</a:t>
            </a:r>
            <a:endParaRPr b="0" lang="en-US" sz="680" spc="-1" strike="noStrike">
              <a:latin typeface="Arial"/>
            </a:endParaRPr>
          </a:p>
        </p:txBody>
      </p:sp>
      <p:sp>
        <p:nvSpPr>
          <p:cNvPr id="990" name=""/>
          <p:cNvSpPr txBox="1"/>
          <p:nvPr/>
        </p:nvSpPr>
        <p:spPr>
          <a:xfrm>
            <a:off x="11052000" y="6660000"/>
            <a:ext cx="684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buNone/>
            </a:pPr>
            <a:r>
              <a:rPr b="1" lang="en-US" sz="750" spc="-1" strike="noStrike">
                <a:solidFill>
                  <a:srgbClr val="718592"/>
                </a:solidFill>
                <a:latin typeface="Courier New"/>
              </a:rPr>
              <a:t>16</a:t>
            </a:r>
            <a:endParaRPr b="0" lang="en-US" sz="7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3f7f8"/>
          </a:solidFill>
          <a:ln w="0">
            <a:noFill/>
          </a:ln>
        </p:spPr>
      </p:sp>
      <p:sp>
        <p:nvSpPr>
          <p:cNvPr id="992" name=""/>
          <p:cNvSpPr txBox="1"/>
          <p:nvPr/>
        </p:nvSpPr>
        <p:spPr>
          <a:xfrm>
            <a:off x="324000" y="158400"/>
            <a:ext cx="3096000" cy="23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00" spc="508" strike="noStrike">
                <a:solidFill>
                  <a:srgbClr val="007c99"/>
                </a:solidFill>
                <a:latin typeface="Courier New"/>
              </a:rPr>
              <a:t>STAGE 3 · FAILURE ANALYSIS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993" name=""/>
          <p:cNvSpPr txBox="1"/>
          <p:nvPr/>
        </p:nvSpPr>
        <p:spPr>
          <a:xfrm>
            <a:off x="324000" y="378000"/>
            <a:ext cx="10584000" cy="57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50" spc="-1" strike="noStrike">
                <a:solidFill>
                  <a:srgbClr val="172731"/>
                </a:solidFill>
                <a:latin typeface="Arial"/>
              </a:rPr>
              <a:t>Why the one-window HiGHS controller lost to a strong static baseline</a:t>
            </a:r>
            <a:endParaRPr b="0" lang="en-US" sz="2150" spc="-1" strike="noStrike">
              <a:latin typeface="Arial"/>
            </a:endParaRPr>
          </a:p>
        </p:txBody>
      </p:sp>
      <p:sp>
        <p:nvSpPr>
          <p:cNvPr id="994" name=""/>
          <p:cNvSpPr/>
          <p:nvPr/>
        </p:nvSpPr>
        <p:spPr>
          <a:xfrm>
            <a:off x="10800000" y="180000"/>
            <a:ext cx="936000" cy="19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995" name=""/>
          <p:cNvSpPr txBox="1"/>
          <p:nvPr/>
        </p:nvSpPr>
        <p:spPr>
          <a:xfrm>
            <a:off x="10818000" y="219600"/>
            <a:ext cx="900000" cy="10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710" spc="-1" strike="noStrike">
                <a:solidFill>
                  <a:srgbClr val="c77b0b"/>
                </a:solidFill>
                <a:latin typeface="Courier New"/>
              </a:rPr>
              <a:t>SYNTHETIC DATA</a:t>
            </a:r>
            <a:endParaRPr b="0" lang="en-US" sz="710" spc="-1" strike="noStrike">
              <a:latin typeface="Arial"/>
            </a:endParaRPr>
          </a:p>
        </p:txBody>
      </p:sp>
      <p:sp>
        <p:nvSpPr>
          <p:cNvPr id="996" name=""/>
          <p:cNvSpPr/>
          <p:nvPr/>
        </p:nvSpPr>
        <p:spPr>
          <a:xfrm>
            <a:off x="324000" y="1404000"/>
            <a:ext cx="5436000" cy="4644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997" name=""/>
          <p:cNvSpPr/>
          <p:nvPr/>
        </p:nvSpPr>
        <p:spPr>
          <a:xfrm>
            <a:off x="324000" y="1404000"/>
            <a:ext cx="64800" cy="4644000"/>
          </a:xfrm>
          <a:prstGeom prst="rect">
            <a:avLst/>
          </a:prstGeom>
          <a:solidFill>
            <a:srgbClr val="cd443b"/>
          </a:solidFill>
          <a:ln w="0">
            <a:noFill/>
          </a:ln>
        </p:spPr>
      </p:sp>
      <p:sp>
        <p:nvSpPr>
          <p:cNvPr id="998" name=""/>
          <p:cNvSpPr txBox="1"/>
          <p:nvPr/>
        </p:nvSpPr>
        <p:spPr>
          <a:xfrm>
            <a:off x="576000" y="1656000"/>
            <a:ext cx="4896000" cy="2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500" spc="-1" strike="noStrike">
                <a:solidFill>
                  <a:srgbClr val="172731"/>
                </a:solidFill>
                <a:latin typeface="Arial"/>
              </a:rPr>
              <a:t>Mechanism of failure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999" name=""/>
          <p:cNvSpPr/>
          <p:nvPr/>
        </p:nvSpPr>
        <p:spPr>
          <a:xfrm>
            <a:off x="576000" y="2224800"/>
            <a:ext cx="79200" cy="79200"/>
          </a:xfrm>
          <a:prstGeom prst="ellipse">
            <a:avLst/>
          </a:prstGeom>
          <a:solidFill>
            <a:srgbClr val="cd443b"/>
          </a:solidFill>
          <a:ln w="0">
            <a:noFill/>
          </a:ln>
        </p:spPr>
      </p:sp>
      <p:sp>
        <p:nvSpPr>
          <p:cNvPr id="1000" name=""/>
          <p:cNvSpPr txBox="1"/>
          <p:nvPr/>
        </p:nvSpPr>
        <p:spPr>
          <a:xfrm>
            <a:off x="756000" y="2160000"/>
            <a:ext cx="4716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39" spc="-1" strike="noStrike">
                <a:solidFill>
                  <a:srgbClr val="172731"/>
                </a:solidFill>
                <a:latin typeface="Arial"/>
              </a:rPr>
              <a:t>Myopic horizon</a:t>
            </a:r>
            <a:endParaRPr b="0" lang="en-US" sz="939" spc="-1" strike="noStrike">
              <a:latin typeface="Arial"/>
            </a:endParaRPr>
          </a:p>
        </p:txBody>
      </p:sp>
      <p:sp>
        <p:nvSpPr>
          <p:cNvPr id="1001" name=""/>
          <p:cNvSpPr txBox="1"/>
          <p:nvPr/>
        </p:nvSpPr>
        <p:spPr>
          <a:xfrm>
            <a:off x="756000" y="2340000"/>
            <a:ext cx="4716000" cy="61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20" spc="-1" strike="noStrike">
                <a:solidFill>
                  <a:srgbClr val="526875"/>
                </a:solidFill>
                <a:latin typeface="Arial"/>
              </a:rPr>
              <a:t>Minimizing next-window peak utilization ignores the future occupancy of long-lived cohorts.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1002" name=""/>
          <p:cNvSpPr/>
          <p:nvPr/>
        </p:nvSpPr>
        <p:spPr>
          <a:xfrm>
            <a:off x="576000" y="2944800"/>
            <a:ext cx="79200" cy="79200"/>
          </a:xfrm>
          <a:prstGeom prst="ellipse">
            <a:avLst/>
          </a:prstGeom>
          <a:solidFill>
            <a:srgbClr val="cd443b"/>
          </a:solidFill>
          <a:ln w="0">
            <a:noFill/>
          </a:ln>
        </p:spPr>
      </p:sp>
      <p:sp>
        <p:nvSpPr>
          <p:cNvPr id="1003" name=""/>
          <p:cNvSpPr txBox="1"/>
          <p:nvPr/>
        </p:nvSpPr>
        <p:spPr>
          <a:xfrm>
            <a:off x="756000" y="2880000"/>
            <a:ext cx="4716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39" spc="-1" strike="noStrike">
                <a:solidFill>
                  <a:srgbClr val="172731"/>
                </a:solidFill>
                <a:latin typeface="Arial"/>
              </a:rPr>
              <a:t>Persistent placement</a:t>
            </a:r>
            <a:endParaRPr b="0" lang="en-US" sz="939" spc="-1" strike="noStrike">
              <a:latin typeface="Arial"/>
            </a:endParaRPr>
          </a:p>
        </p:txBody>
      </p:sp>
      <p:sp>
        <p:nvSpPr>
          <p:cNvPr id="1004" name=""/>
          <p:cNvSpPr txBox="1"/>
          <p:nvPr/>
        </p:nvSpPr>
        <p:spPr>
          <a:xfrm>
            <a:off x="756000" y="3060000"/>
            <a:ext cx="4716000" cy="61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20" spc="-1" strike="noStrike">
                <a:solidFill>
                  <a:srgbClr val="526875"/>
                </a:solidFill>
                <a:latin typeface="Arial"/>
              </a:rPr>
              <a:t>Only future sessions are controllable; already placed sessions cannot be rebalanced.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1005" name=""/>
          <p:cNvSpPr/>
          <p:nvPr/>
        </p:nvSpPr>
        <p:spPr>
          <a:xfrm>
            <a:off x="576000" y="3664800"/>
            <a:ext cx="79200" cy="79200"/>
          </a:xfrm>
          <a:prstGeom prst="ellipse">
            <a:avLst/>
          </a:prstGeom>
          <a:solidFill>
            <a:srgbClr val="cd443b"/>
          </a:solidFill>
          <a:ln w="0">
            <a:noFill/>
          </a:ln>
        </p:spPr>
      </p:sp>
      <p:sp>
        <p:nvSpPr>
          <p:cNvPr id="1006" name=""/>
          <p:cNvSpPr txBox="1"/>
          <p:nvPr/>
        </p:nvSpPr>
        <p:spPr>
          <a:xfrm>
            <a:off x="756000" y="3600000"/>
            <a:ext cx="4716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39" spc="-1" strike="noStrike">
                <a:solidFill>
                  <a:srgbClr val="172731"/>
                </a:solidFill>
                <a:latin typeface="Arial"/>
              </a:rPr>
              <a:t>Correlated concentration</a:t>
            </a:r>
            <a:endParaRPr b="0" lang="en-US" sz="939" spc="-1" strike="noStrike">
              <a:latin typeface="Arial"/>
            </a:endParaRPr>
          </a:p>
        </p:txBody>
      </p:sp>
      <p:sp>
        <p:nvSpPr>
          <p:cNvPr id="1007" name=""/>
          <p:cNvSpPr txBox="1"/>
          <p:nvPr/>
        </p:nvSpPr>
        <p:spPr>
          <a:xfrm>
            <a:off x="756000" y="3780000"/>
            <a:ext cx="4716000" cy="61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20" spc="-1" strike="noStrike">
                <a:solidFill>
                  <a:srgbClr val="526875"/>
                </a:solidFill>
                <a:latin typeface="Arial"/>
              </a:rPr>
              <a:t>A per-group weight cap does not prevent many groups from choosing the same failure domain.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1008" name=""/>
          <p:cNvSpPr/>
          <p:nvPr/>
        </p:nvSpPr>
        <p:spPr>
          <a:xfrm>
            <a:off x="576000" y="4384800"/>
            <a:ext cx="79200" cy="79200"/>
          </a:xfrm>
          <a:prstGeom prst="ellipse">
            <a:avLst/>
          </a:prstGeom>
          <a:solidFill>
            <a:srgbClr val="cd443b"/>
          </a:solidFill>
          <a:ln w="0">
            <a:noFill/>
          </a:ln>
        </p:spPr>
      </p:sp>
      <p:sp>
        <p:nvSpPr>
          <p:cNvPr id="1009" name=""/>
          <p:cNvSpPr txBox="1"/>
          <p:nvPr/>
        </p:nvSpPr>
        <p:spPr>
          <a:xfrm>
            <a:off x="756000" y="4320000"/>
            <a:ext cx="4716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39" spc="-1" strike="noStrike">
                <a:solidFill>
                  <a:srgbClr val="172731"/>
                </a:solidFill>
                <a:latin typeface="Arial"/>
              </a:rPr>
              <a:t>Forecast step-changes</a:t>
            </a:r>
            <a:endParaRPr b="0" lang="en-US" sz="939" spc="-1" strike="noStrike">
              <a:latin typeface="Arial"/>
            </a:endParaRPr>
          </a:p>
        </p:txBody>
      </p:sp>
      <p:sp>
        <p:nvSpPr>
          <p:cNvPr id="1010" name=""/>
          <p:cNvSpPr txBox="1"/>
          <p:nvPr/>
        </p:nvSpPr>
        <p:spPr>
          <a:xfrm>
            <a:off x="756000" y="4500000"/>
            <a:ext cx="4716000" cy="61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20" spc="-1" strike="noStrike">
                <a:solidFill>
                  <a:srgbClr val="526875"/>
                </a:solidFill>
                <a:latin typeface="Arial"/>
              </a:rPr>
              <a:t>Surge p90 coverage collapses before an unannounced jump becomes observable.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1011" name=""/>
          <p:cNvSpPr/>
          <p:nvPr/>
        </p:nvSpPr>
        <p:spPr>
          <a:xfrm>
            <a:off x="576000" y="5104800"/>
            <a:ext cx="79200" cy="79200"/>
          </a:xfrm>
          <a:prstGeom prst="ellipse">
            <a:avLst/>
          </a:prstGeom>
          <a:solidFill>
            <a:srgbClr val="cd443b"/>
          </a:solidFill>
          <a:ln w="0">
            <a:noFill/>
          </a:ln>
        </p:spPr>
      </p:sp>
      <p:sp>
        <p:nvSpPr>
          <p:cNvPr id="1012" name=""/>
          <p:cNvSpPr txBox="1"/>
          <p:nvPr/>
        </p:nvSpPr>
        <p:spPr>
          <a:xfrm>
            <a:off x="756000" y="5040000"/>
            <a:ext cx="4716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39" spc="-1" strike="noStrike">
                <a:solidFill>
                  <a:srgbClr val="172731"/>
                </a:solidFill>
                <a:latin typeface="Arial"/>
              </a:rPr>
              <a:t>Static is robust</a:t>
            </a:r>
            <a:endParaRPr b="0" lang="en-US" sz="939" spc="-1" strike="noStrike">
              <a:latin typeface="Arial"/>
            </a:endParaRPr>
          </a:p>
        </p:txBody>
      </p:sp>
      <p:sp>
        <p:nvSpPr>
          <p:cNvPr id="1013" name=""/>
          <p:cNvSpPr txBox="1"/>
          <p:nvPr/>
        </p:nvSpPr>
        <p:spPr>
          <a:xfrm>
            <a:off x="756000" y="5220000"/>
            <a:ext cx="4716000" cy="61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20" spc="-1" strike="noStrike">
                <a:solidFill>
                  <a:srgbClr val="526875"/>
                </a:solidFill>
                <a:latin typeface="Arial"/>
              </a:rPr>
              <a:t>Capacity-weighted rendezvous spreads each group broadly and continuously.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1014" name=""/>
          <p:cNvSpPr/>
          <p:nvPr/>
        </p:nvSpPr>
        <p:spPr>
          <a:xfrm>
            <a:off x="6084000" y="1404000"/>
            <a:ext cx="5652000" cy="4644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1015" name=""/>
          <p:cNvSpPr/>
          <p:nvPr/>
        </p:nvSpPr>
        <p:spPr>
          <a:xfrm>
            <a:off x="6084000" y="1404000"/>
            <a:ext cx="64800" cy="4644000"/>
          </a:xfrm>
          <a:prstGeom prst="rect">
            <a:avLst/>
          </a:prstGeom>
          <a:solidFill>
            <a:srgbClr val="c77b0b"/>
          </a:solidFill>
          <a:ln w="0">
            <a:noFill/>
          </a:ln>
        </p:spPr>
      </p:sp>
      <p:sp>
        <p:nvSpPr>
          <p:cNvPr id="1016" name=""/>
          <p:cNvSpPr txBox="1"/>
          <p:nvPr/>
        </p:nvSpPr>
        <p:spPr>
          <a:xfrm>
            <a:off x="6336000" y="1656000"/>
            <a:ext cx="5112000" cy="2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500" spc="-1" strike="noStrike">
                <a:solidFill>
                  <a:srgbClr val="172731"/>
                </a:solidFill>
                <a:latin typeface="Arial"/>
              </a:rPr>
              <a:t>Validation outcome versus static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017" name=""/>
          <p:cNvSpPr txBox="1"/>
          <p:nvPr/>
        </p:nvSpPr>
        <p:spPr>
          <a:xfrm>
            <a:off x="6336000" y="2268000"/>
            <a:ext cx="2664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20" spc="-1" strike="noStrike">
                <a:solidFill>
                  <a:srgbClr val="172731"/>
                </a:solidFill>
                <a:latin typeface="Arial"/>
              </a:rPr>
              <a:t>Responsive gate p95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1018" name=""/>
          <p:cNvSpPr/>
          <p:nvPr/>
        </p:nvSpPr>
        <p:spPr>
          <a:xfrm>
            <a:off x="9072000" y="2304000"/>
            <a:ext cx="2088000" cy="180000"/>
          </a:xfrm>
          <a:prstGeom prst="roundRect">
            <a:avLst/>
          </a:prstGeom>
          <a:solidFill>
            <a:srgbClr val="eaf1f3"/>
          </a:solidFill>
          <a:ln w="0">
            <a:noFill/>
          </a:ln>
        </p:spPr>
      </p:sp>
      <p:sp>
        <p:nvSpPr>
          <p:cNvPr id="1019" name=""/>
          <p:cNvSpPr/>
          <p:nvPr/>
        </p:nvSpPr>
        <p:spPr>
          <a:xfrm>
            <a:off x="9072000" y="2304000"/>
            <a:ext cx="87120" cy="180000"/>
          </a:xfrm>
          <a:prstGeom prst="roundRect">
            <a:avLst/>
          </a:prstGeom>
          <a:solidFill>
            <a:srgbClr val="cd443b"/>
          </a:solidFill>
          <a:ln w="0">
            <a:noFill/>
          </a:ln>
        </p:spPr>
      </p:sp>
      <p:sp>
        <p:nvSpPr>
          <p:cNvPr id="1020" name=""/>
          <p:cNvSpPr txBox="1"/>
          <p:nvPr/>
        </p:nvSpPr>
        <p:spPr>
          <a:xfrm>
            <a:off x="11232000" y="2268000"/>
            <a:ext cx="324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buNone/>
            </a:pPr>
            <a:r>
              <a:rPr b="1" lang="en-US" sz="760" spc="-1" strike="noStrike">
                <a:solidFill>
                  <a:srgbClr val="cd443b"/>
                </a:solidFill>
                <a:latin typeface="Courier New"/>
              </a:rPr>
              <a:t>-7.1%</a:t>
            </a:r>
            <a:endParaRPr b="0" lang="en-US" sz="760" spc="-1" strike="noStrike">
              <a:latin typeface="Arial"/>
            </a:endParaRPr>
          </a:p>
        </p:txBody>
      </p:sp>
      <p:sp>
        <p:nvSpPr>
          <p:cNvPr id="1021" name=""/>
          <p:cNvSpPr txBox="1"/>
          <p:nvPr/>
        </p:nvSpPr>
        <p:spPr>
          <a:xfrm>
            <a:off x="6336000" y="2772000"/>
            <a:ext cx="2664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20" spc="-1" strike="noStrike">
                <a:solidFill>
                  <a:srgbClr val="172731"/>
                </a:solidFill>
                <a:latin typeface="Arial"/>
              </a:rPr>
              <a:t>Static anchor · 10%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1022" name=""/>
          <p:cNvSpPr/>
          <p:nvPr/>
        </p:nvSpPr>
        <p:spPr>
          <a:xfrm>
            <a:off x="9072000" y="2808000"/>
            <a:ext cx="2088000" cy="180000"/>
          </a:xfrm>
          <a:prstGeom prst="roundRect">
            <a:avLst/>
          </a:prstGeom>
          <a:solidFill>
            <a:srgbClr val="eaf1f3"/>
          </a:solidFill>
          <a:ln w="0">
            <a:noFill/>
          </a:ln>
        </p:spPr>
      </p:sp>
      <p:sp>
        <p:nvSpPr>
          <p:cNvPr id="1023" name=""/>
          <p:cNvSpPr/>
          <p:nvPr/>
        </p:nvSpPr>
        <p:spPr>
          <a:xfrm>
            <a:off x="9072000" y="2808000"/>
            <a:ext cx="111960" cy="180000"/>
          </a:xfrm>
          <a:prstGeom prst="roundRect">
            <a:avLst/>
          </a:prstGeom>
          <a:solidFill>
            <a:srgbClr val="cd443b"/>
          </a:solidFill>
          <a:ln w="0">
            <a:noFill/>
          </a:ln>
        </p:spPr>
      </p:sp>
      <p:sp>
        <p:nvSpPr>
          <p:cNvPr id="1024" name=""/>
          <p:cNvSpPr txBox="1"/>
          <p:nvPr/>
        </p:nvSpPr>
        <p:spPr>
          <a:xfrm>
            <a:off x="11232000" y="2772000"/>
            <a:ext cx="324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buNone/>
            </a:pPr>
            <a:r>
              <a:rPr b="1" lang="en-US" sz="760" spc="-1" strike="noStrike">
                <a:solidFill>
                  <a:srgbClr val="cd443b"/>
                </a:solidFill>
                <a:latin typeface="Courier New"/>
              </a:rPr>
              <a:t>-9.1%</a:t>
            </a:r>
            <a:endParaRPr b="0" lang="en-US" sz="760" spc="-1" strike="noStrike">
              <a:latin typeface="Arial"/>
            </a:endParaRPr>
          </a:p>
        </p:txBody>
      </p:sp>
      <p:sp>
        <p:nvSpPr>
          <p:cNvPr id="1025" name=""/>
          <p:cNvSpPr txBox="1"/>
          <p:nvPr/>
        </p:nvSpPr>
        <p:spPr>
          <a:xfrm>
            <a:off x="6336000" y="3276000"/>
            <a:ext cx="2664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20" spc="-1" strike="noStrike">
                <a:solidFill>
                  <a:srgbClr val="172731"/>
                </a:solidFill>
                <a:latin typeface="Arial"/>
              </a:rPr>
              <a:t>Default p95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1026" name=""/>
          <p:cNvSpPr/>
          <p:nvPr/>
        </p:nvSpPr>
        <p:spPr>
          <a:xfrm>
            <a:off x="9072000" y="3312000"/>
            <a:ext cx="2088000" cy="180000"/>
          </a:xfrm>
          <a:prstGeom prst="roundRect">
            <a:avLst/>
          </a:prstGeom>
          <a:solidFill>
            <a:srgbClr val="eaf1f3"/>
          </a:solidFill>
          <a:ln w="0">
            <a:noFill/>
          </a:ln>
        </p:spPr>
      </p:sp>
      <p:sp>
        <p:nvSpPr>
          <p:cNvPr id="1027" name=""/>
          <p:cNvSpPr/>
          <p:nvPr/>
        </p:nvSpPr>
        <p:spPr>
          <a:xfrm>
            <a:off x="9072000" y="3312000"/>
            <a:ext cx="478440" cy="180000"/>
          </a:xfrm>
          <a:prstGeom prst="roundRect">
            <a:avLst/>
          </a:prstGeom>
          <a:solidFill>
            <a:srgbClr val="cd443b"/>
          </a:solidFill>
          <a:ln w="0">
            <a:noFill/>
          </a:ln>
        </p:spPr>
      </p:sp>
      <p:sp>
        <p:nvSpPr>
          <p:cNvPr id="1028" name=""/>
          <p:cNvSpPr txBox="1"/>
          <p:nvPr/>
        </p:nvSpPr>
        <p:spPr>
          <a:xfrm>
            <a:off x="11232000" y="3276000"/>
            <a:ext cx="324000" cy="217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buNone/>
            </a:pPr>
            <a:r>
              <a:rPr b="1" lang="en-US" sz="760" spc="-1" strike="noStrike">
                <a:solidFill>
                  <a:srgbClr val="cd443b"/>
                </a:solidFill>
                <a:latin typeface="Courier New"/>
              </a:rPr>
              <a:t>-39.0%</a:t>
            </a:r>
            <a:endParaRPr b="0" lang="en-US" sz="760" spc="-1" strike="noStrike">
              <a:latin typeface="Arial"/>
            </a:endParaRPr>
          </a:p>
        </p:txBody>
      </p:sp>
      <p:sp>
        <p:nvSpPr>
          <p:cNvPr id="1029" name=""/>
          <p:cNvSpPr txBox="1"/>
          <p:nvPr/>
        </p:nvSpPr>
        <p:spPr>
          <a:xfrm>
            <a:off x="6336000" y="3780000"/>
            <a:ext cx="2664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20" spc="-1" strike="noStrike">
                <a:solidFill>
                  <a:srgbClr val="172731"/>
                </a:solidFill>
                <a:latin typeface="Arial"/>
              </a:rPr>
              <a:t>Load-only aggressive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1030" name=""/>
          <p:cNvSpPr/>
          <p:nvPr/>
        </p:nvSpPr>
        <p:spPr>
          <a:xfrm>
            <a:off x="9072000" y="3816000"/>
            <a:ext cx="2088000" cy="180000"/>
          </a:xfrm>
          <a:prstGeom prst="roundRect">
            <a:avLst/>
          </a:prstGeom>
          <a:solidFill>
            <a:srgbClr val="eaf1f3"/>
          </a:solidFill>
          <a:ln w="0">
            <a:noFill/>
          </a:ln>
        </p:spPr>
      </p:sp>
      <p:sp>
        <p:nvSpPr>
          <p:cNvPr id="1031" name=""/>
          <p:cNvSpPr/>
          <p:nvPr/>
        </p:nvSpPr>
        <p:spPr>
          <a:xfrm>
            <a:off x="9072000" y="3816000"/>
            <a:ext cx="939960" cy="180000"/>
          </a:xfrm>
          <a:prstGeom prst="roundRect">
            <a:avLst/>
          </a:prstGeom>
          <a:solidFill>
            <a:srgbClr val="cd443b"/>
          </a:solidFill>
          <a:ln w="0">
            <a:noFill/>
          </a:ln>
        </p:spPr>
      </p:sp>
      <p:sp>
        <p:nvSpPr>
          <p:cNvPr id="1032" name=""/>
          <p:cNvSpPr txBox="1"/>
          <p:nvPr/>
        </p:nvSpPr>
        <p:spPr>
          <a:xfrm>
            <a:off x="11232000" y="3780000"/>
            <a:ext cx="324000" cy="217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buNone/>
            </a:pPr>
            <a:r>
              <a:rPr b="1" lang="en-US" sz="760" spc="-1" strike="noStrike">
                <a:solidFill>
                  <a:srgbClr val="cd443b"/>
                </a:solidFill>
                <a:latin typeface="Courier New"/>
              </a:rPr>
              <a:t>-76.5%</a:t>
            </a:r>
            <a:endParaRPr b="0" lang="en-US" sz="760" spc="-1" strike="noStrike">
              <a:latin typeface="Arial"/>
            </a:endParaRPr>
          </a:p>
        </p:txBody>
      </p:sp>
      <p:sp>
        <p:nvSpPr>
          <p:cNvPr id="1033" name=""/>
          <p:cNvSpPr txBox="1"/>
          <p:nvPr/>
        </p:nvSpPr>
        <p:spPr>
          <a:xfrm>
            <a:off x="6336000" y="4284000"/>
            <a:ext cx="2664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20" spc="-1" strike="noStrike">
                <a:solidFill>
                  <a:srgbClr val="172731"/>
                </a:solidFill>
                <a:latin typeface="Arial"/>
              </a:rPr>
              <a:t>Load-first · +35% safety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1034" name=""/>
          <p:cNvSpPr/>
          <p:nvPr/>
        </p:nvSpPr>
        <p:spPr>
          <a:xfrm>
            <a:off x="9072000" y="4320000"/>
            <a:ext cx="2088000" cy="180000"/>
          </a:xfrm>
          <a:prstGeom prst="roundRect">
            <a:avLst/>
          </a:prstGeom>
          <a:solidFill>
            <a:srgbClr val="eaf1f3"/>
          </a:solidFill>
          <a:ln w="0">
            <a:noFill/>
          </a:ln>
        </p:spPr>
      </p:sp>
      <p:sp>
        <p:nvSpPr>
          <p:cNvPr id="1035" name=""/>
          <p:cNvSpPr/>
          <p:nvPr/>
        </p:nvSpPr>
        <p:spPr>
          <a:xfrm>
            <a:off x="9072000" y="4320000"/>
            <a:ext cx="1152000" cy="180000"/>
          </a:xfrm>
          <a:prstGeom prst="roundRect">
            <a:avLst/>
          </a:prstGeom>
          <a:solidFill>
            <a:srgbClr val="cd443b"/>
          </a:solidFill>
          <a:ln w="0">
            <a:noFill/>
          </a:ln>
        </p:spPr>
      </p:sp>
      <p:sp>
        <p:nvSpPr>
          <p:cNvPr id="1036" name=""/>
          <p:cNvSpPr txBox="1"/>
          <p:nvPr/>
        </p:nvSpPr>
        <p:spPr>
          <a:xfrm>
            <a:off x="11232000" y="4284000"/>
            <a:ext cx="324000" cy="217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buNone/>
            </a:pPr>
            <a:r>
              <a:rPr b="1" lang="en-US" sz="760" spc="-1" strike="noStrike">
                <a:solidFill>
                  <a:srgbClr val="cd443b"/>
                </a:solidFill>
                <a:latin typeface="Courier New"/>
              </a:rPr>
              <a:t>-93.8%</a:t>
            </a:r>
            <a:endParaRPr b="0" lang="en-US" sz="760" spc="-1" strike="noStrike">
              <a:latin typeface="Arial"/>
            </a:endParaRPr>
          </a:p>
        </p:txBody>
      </p:sp>
      <p:sp>
        <p:nvSpPr>
          <p:cNvPr id="1037" name=""/>
          <p:cNvSpPr txBox="1"/>
          <p:nvPr/>
        </p:nvSpPr>
        <p:spPr>
          <a:xfrm>
            <a:off x="6336000" y="4788000"/>
            <a:ext cx="2664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20" spc="-1" strike="noStrike">
                <a:solidFill>
                  <a:srgbClr val="172731"/>
                </a:solidFill>
                <a:latin typeface="Arial"/>
              </a:rPr>
              <a:t>Load-first · +15% safety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1038" name=""/>
          <p:cNvSpPr/>
          <p:nvPr/>
        </p:nvSpPr>
        <p:spPr>
          <a:xfrm>
            <a:off x="9072000" y="4824000"/>
            <a:ext cx="2088000" cy="180000"/>
          </a:xfrm>
          <a:prstGeom prst="roundRect">
            <a:avLst/>
          </a:prstGeom>
          <a:solidFill>
            <a:srgbClr val="eaf1f3"/>
          </a:solidFill>
          <a:ln w="0">
            <a:noFill/>
          </a:ln>
        </p:spPr>
      </p:sp>
      <p:sp>
        <p:nvSpPr>
          <p:cNvPr id="1039" name=""/>
          <p:cNvSpPr/>
          <p:nvPr/>
        </p:nvSpPr>
        <p:spPr>
          <a:xfrm>
            <a:off x="9072000" y="4824000"/>
            <a:ext cx="2063880" cy="180000"/>
          </a:xfrm>
          <a:prstGeom prst="roundRect">
            <a:avLst/>
          </a:prstGeom>
          <a:solidFill>
            <a:srgbClr val="cd443b"/>
          </a:solidFill>
          <a:ln w="0">
            <a:noFill/>
          </a:ln>
        </p:spPr>
      </p:sp>
      <p:sp>
        <p:nvSpPr>
          <p:cNvPr id="1040" name=""/>
          <p:cNvSpPr txBox="1"/>
          <p:nvPr/>
        </p:nvSpPr>
        <p:spPr>
          <a:xfrm>
            <a:off x="11232000" y="4788000"/>
            <a:ext cx="324000" cy="32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buNone/>
            </a:pPr>
            <a:r>
              <a:rPr b="1" lang="en-US" sz="760" spc="-1" strike="noStrike">
                <a:solidFill>
                  <a:srgbClr val="cd443b"/>
                </a:solidFill>
                <a:latin typeface="Courier New"/>
              </a:rPr>
              <a:t>-168.0%</a:t>
            </a:r>
            <a:endParaRPr b="0" lang="en-US" sz="760" spc="-1" strike="noStrike">
              <a:latin typeface="Arial"/>
            </a:endParaRPr>
          </a:p>
        </p:txBody>
      </p:sp>
      <p:sp>
        <p:nvSpPr>
          <p:cNvPr id="1041" name=""/>
          <p:cNvSpPr txBox="1"/>
          <p:nvPr/>
        </p:nvSpPr>
        <p:spPr>
          <a:xfrm>
            <a:off x="6336000" y="5436000"/>
            <a:ext cx="5112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30" spc="-1" strike="noStrike">
                <a:solidFill>
                  <a:srgbClr val="cd443b"/>
                </a:solidFill>
                <a:latin typeface="Arial"/>
              </a:rPr>
              <a:t>No profile passed guardrails; reserved fresh test seeds were preserved rather than used for selection.</a:t>
            </a:r>
            <a:endParaRPr b="0" lang="en-US" sz="930" spc="-1" strike="noStrike">
              <a:latin typeface="Arial"/>
            </a:endParaRPr>
          </a:p>
        </p:txBody>
      </p:sp>
      <p:sp>
        <p:nvSpPr>
          <p:cNvPr id="1042" name=""/>
          <p:cNvSpPr/>
          <p:nvPr/>
        </p:nvSpPr>
        <p:spPr>
          <a:xfrm>
            <a:off x="324000" y="6616800"/>
            <a:ext cx="11088000" cy="0"/>
          </a:xfrm>
          <a:prstGeom prst="line">
            <a:avLst/>
          </a:prstGeom>
          <a:ln w="1080">
            <a:solidFill>
              <a:srgbClr val="cfdc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43" name=""/>
          <p:cNvSpPr txBox="1"/>
          <p:nvPr/>
        </p:nvSpPr>
        <p:spPr>
          <a:xfrm>
            <a:off x="324000" y="6660000"/>
            <a:ext cx="10368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80" spc="-1" strike="noStrike">
                <a:solidFill>
                  <a:srgbClr val="718592"/>
                </a:solidFill>
                <a:latin typeface="Courier New"/>
              </a:rPr>
              <a:t>docs/static-controller-deep-research.md · docs/extreme-optimizer-tuning-results.md</a:t>
            </a:r>
            <a:endParaRPr b="0" lang="en-US" sz="680" spc="-1" strike="noStrike">
              <a:latin typeface="Arial"/>
            </a:endParaRPr>
          </a:p>
        </p:txBody>
      </p:sp>
      <p:sp>
        <p:nvSpPr>
          <p:cNvPr id="1044" name=""/>
          <p:cNvSpPr txBox="1"/>
          <p:nvPr/>
        </p:nvSpPr>
        <p:spPr>
          <a:xfrm>
            <a:off x="11052000" y="6660000"/>
            <a:ext cx="684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buNone/>
            </a:pPr>
            <a:r>
              <a:rPr b="1" lang="en-US" sz="750" spc="-1" strike="noStrike">
                <a:solidFill>
                  <a:srgbClr val="718592"/>
                </a:solidFill>
                <a:latin typeface="Courier New"/>
              </a:rPr>
              <a:t>17</a:t>
            </a:r>
            <a:endParaRPr b="0" lang="en-US" sz="7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3f7f8"/>
          </a:solidFill>
          <a:ln w="0">
            <a:noFill/>
          </a:ln>
        </p:spPr>
      </p:sp>
      <p:sp>
        <p:nvSpPr>
          <p:cNvPr id="1046" name=""/>
          <p:cNvSpPr txBox="1"/>
          <p:nvPr/>
        </p:nvSpPr>
        <p:spPr>
          <a:xfrm>
            <a:off x="324000" y="158400"/>
            <a:ext cx="3096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00" spc="508" strike="noStrike">
                <a:solidFill>
                  <a:srgbClr val="007c99"/>
                </a:solidFill>
                <a:latin typeface="Courier New"/>
              </a:rPr>
              <a:t>STAGE 3 · COHORT MPC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047" name=""/>
          <p:cNvSpPr txBox="1"/>
          <p:nvPr/>
        </p:nvSpPr>
        <p:spPr>
          <a:xfrm>
            <a:off x="324000" y="378000"/>
            <a:ext cx="10584000" cy="61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50" spc="-1" strike="noStrike">
                <a:solidFill>
                  <a:srgbClr val="172731"/>
                </a:solidFill>
                <a:latin typeface="Arial"/>
              </a:rPr>
              <a:t>Cohort-state MPC plans the consequences of today’s weights across twelve windows</a:t>
            </a:r>
            <a:endParaRPr b="0" lang="en-US" sz="2150" spc="-1" strike="noStrike">
              <a:latin typeface="Arial"/>
            </a:endParaRPr>
          </a:p>
        </p:txBody>
      </p:sp>
      <p:sp>
        <p:nvSpPr>
          <p:cNvPr id="1048" name=""/>
          <p:cNvSpPr/>
          <p:nvPr/>
        </p:nvSpPr>
        <p:spPr>
          <a:xfrm>
            <a:off x="10800000" y="180000"/>
            <a:ext cx="936000" cy="19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1049" name=""/>
          <p:cNvSpPr txBox="1"/>
          <p:nvPr/>
        </p:nvSpPr>
        <p:spPr>
          <a:xfrm>
            <a:off x="10818000" y="219600"/>
            <a:ext cx="900000" cy="10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710" spc="-1" strike="noStrike">
                <a:solidFill>
                  <a:srgbClr val="c77b0b"/>
                </a:solidFill>
                <a:latin typeface="Courier New"/>
              </a:rPr>
              <a:t>SYNTHETIC DATA</a:t>
            </a:r>
            <a:endParaRPr b="0" lang="en-US" sz="710" spc="-1" strike="noStrike">
              <a:latin typeface="Arial"/>
            </a:endParaRPr>
          </a:p>
        </p:txBody>
      </p:sp>
      <p:sp>
        <p:nvSpPr>
          <p:cNvPr id="1050" name=""/>
          <p:cNvSpPr/>
          <p:nvPr/>
        </p:nvSpPr>
        <p:spPr>
          <a:xfrm>
            <a:off x="324000" y="1404000"/>
            <a:ext cx="7380000" cy="460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1051" name=""/>
          <p:cNvSpPr/>
          <p:nvPr/>
        </p:nvSpPr>
        <p:spPr>
          <a:xfrm>
            <a:off x="324000" y="1404000"/>
            <a:ext cx="64800" cy="4608000"/>
          </a:xfrm>
          <a:prstGeom prst="rect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1052" name=""/>
          <p:cNvSpPr txBox="1"/>
          <p:nvPr/>
        </p:nvSpPr>
        <p:spPr>
          <a:xfrm>
            <a:off x="576000" y="1656000"/>
            <a:ext cx="6840000" cy="2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500" spc="-1" strike="noStrike">
                <a:solidFill>
                  <a:srgbClr val="172731"/>
                </a:solidFill>
                <a:latin typeface="Arial"/>
              </a:rPr>
              <a:t>State transition model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053" name=""/>
          <p:cNvSpPr txBox="1"/>
          <p:nvPr/>
        </p:nvSpPr>
        <p:spPr>
          <a:xfrm>
            <a:off x="576000" y="2124000"/>
            <a:ext cx="6840000" cy="46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1210" spc="-1" strike="noStrike">
                <a:solidFill>
                  <a:srgbClr val="193644"/>
                </a:solidFill>
                <a:latin typeface="Courier New"/>
              </a:rPr>
              <a:t>Projected load(u,t) = anchored cohorts(u,t) + Σg,τ≤t  x(g,τ,u) · demand(g,τ) · survival(g,t−τ)</a:t>
            </a:r>
            <a:endParaRPr b="0" lang="en-US" sz="1210" spc="-1" strike="noStrike">
              <a:latin typeface="Arial"/>
            </a:endParaRPr>
          </a:p>
        </p:txBody>
      </p:sp>
      <p:sp>
        <p:nvSpPr>
          <p:cNvPr id="1054" name=""/>
          <p:cNvSpPr txBox="1"/>
          <p:nvPr/>
        </p:nvSpPr>
        <p:spPr>
          <a:xfrm>
            <a:off x="576000" y="2988000"/>
            <a:ext cx="972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40" spc="-1" strike="noStrike">
                <a:solidFill>
                  <a:srgbClr val="16805f"/>
                </a:solidFill>
                <a:latin typeface="Courier New"/>
              </a:rPr>
              <a:t>HORIZON</a:t>
            </a:r>
            <a:endParaRPr b="0" lang="en-US" sz="740" spc="-1" strike="noStrike">
              <a:latin typeface="Arial"/>
            </a:endParaRPr>
          </a:p>
        </p:txBody>
      </p:sp>
      <p:sp>
        <p:nvSpPr>
          <p:cNvPr id="1055" name=""/>
          <p:cNvSpPr txBox="1"/>
          <p:nvPr/>
        </p:nvSpPr>
        <p:spPr>
          <a:xfrm>
            <a:off x="1620000" y="2952000"/>
            <a:ext cx="2160000" cy="3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70" spc="-1" strike="noStrike">
                <a:solidFill>
                  <a:srgbClr val="172731"/>
                </a:solidFill>
                <a:latin typeface="Arial"/>
              </a:rPr>
              <a:t>12 × 10 min = 2 hours</a:t>
            </a:r>
            <a:endParaRPr b="0" lang="en-US" sz="870" spc="-1" strike="noStrike">
              <a:latin typeface="Arial"/>
            </a:endParaRPr>
          </a:p>
        </p:txBody>
      </p:sp>
      <p:sp>
        <p:nvSpPr>
          <p:cNvPr id="1056" name=""/>
          <p:cNvSpPr txBox="1"/>
          <p:nvPr/>
        </p:nvSpPr>
        <p:spPr>
          <a:xfrm>
            <a:off x="3960000" y="2988000"/>
            <a:ext cx="972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40" spc="-1" strike="noStrike">
                <a:solidFill>
                  <a:srgbClr val="16805f"/>
                </a:solidFill>
                <a:latin typeface="Courier New"/>
              </a:rPr>
              <a:t>DEMAND</a:t>
            </a:r>
            <a:endParaRPr b="0" lang="en-US" sz="740" spc="-1" strike="noStrike">
              <a:latin typeface="Arial"/>
            </a:endParaRPr>
          </a:p>
        </p:txBody>
      </p:sp>
      <p:sp>
        <p:nvSpPr>
          <p:cNvPr id="1057" name=""/>
          <p:cNvSpPr txBox="1"/>
          <p:nvPr/>
        </p:nvSpPr>
        <p:spPr>
          <a:xfrm>
            <a:off x="5004000" y="2952000"/>
            <a:ext cx="2160000" cy="3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70" spc="-1" strike="noStrike">
                <a:solidFill>
                  <a:srgbClr val="172731"/>
                </a:solidFill>
                <a:latin typeface="Arial"/>
              </a:rPr>
              <a:t>causal MA(6) p95; scheduled multipliers only after known_at_step</a:t>
            </a:r>
            <a:endParaRPr b="0" lang="en-US" sz="870" spc="-1" strike="noStrike">
              <a:latin typeface="Arial"/>
            </a:endParaRPr>
          </a:p>
        </p:txBody>
      </p:sp>
      <p:sp>
        <p:nvSpPr>
          <p:cNvPr id="1058" name=""/>
          <p:cNvSpPr txBox="1"/>
          <p:nvPr/>
        </p:nvSpPr>
        <p:spPr>
          <a:xfrm>
            <a:off x="576000" y="3816000"/>
            <a:ext cx="972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40" spc="-1" strike="noStrike">
                <a:solidFill>
                  <a:srgbClr val="16805f"/>
                </a:solidFill>
                <a:latin typeface="Courier New"/>
              </a:rPr>
              <a:t>STATE</a:t>
            </a:r>
            <a:endParaRPr b="0" lang="en-US" sz="740" spc="-1" strike="noStrike">
              <a:latin typeface="Arial"/>
            </a:endParaRPr>
          </a:p>
        </p:txBody>
      </p:sp>
      <p:sp>
        <p:nvSpPr>
          <p:cNvPr id="1059" name=""/>
          <p:cNvSpPr txBox="1"/>
          <p:nvPr/>
        </p:nvSpPr>
        <p:spPr>
          <a:xfrm>
            <a:off x="1620000" y="3780000"/>
            <a:ext cx="2160000" cy="3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70" spc="-1" strike="noStrike">
                <a:solidFill>
                  <a:srgbClr val="172731"/>
                </a:solidFill>
                <a:latin typeface="Arial"/>
              </a:rPr>
              <a:t>exact active cohorts by group, UPF, remaining lifetime and directional rate</a:t>
            </a:r>
            <a:endParaRPr b="0" lang="en-US" sz="870" spc="-1" strike="noStrike">
              <a:latin typeface="Arial"/>
            </a:endParaRPr>
          </a:p>
        </p:txBody>
      </p:sp>
      <p:sp>
        <p:nvSpPr>
          <p:cNvPr id="1060" name=""/>
          <p:cNvSpPr txBox="1"/>
          <p:nvPr/>
        </p:nvSpPr>
        <p:spPr>
          <a:xfrm>
            <a:off x="3960000" y="3816000"/>
            <a:ext cx="972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40" spc="-1" strike="noStrike">
                <a:solidFill>
                  <a:srgbClr val="16805f"/>
                </a:solidFill>
                <a:latin typeface="Courier New"/>
              </a:rPr>
              <a:t>CAPACITY PATH</a:t>
            </a:r>
            <a:endParaRPr b="0" lang="en-US" sz="740" spc="-1" strike="noStrike">
              <a:latin typeface="Arial"/>
            </a:endParaRPr>
          </a:p>
        </p:txBody>
      </p:sp>
      <p:sp>
        <p:nvSpPr>
          <p:cNvPr id="1061" name=""/>
          <p:cNvSpPr txBox="1"/>
          <p:nvPr/>
        </p:nvSpPr>
        <p:spPr>
          <a:xfrm>
            <a:off x="5004000" y="3780000"/>
            <a:ext cx="2160000" cy="3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70" spc="-1" strike="noStrike">
                <a:solidFill>
                  <a:srgbClr val="172731"/>
                </a:solidFill>
                <a:latin typeface="Arial"/>
              </a:rPr>
              <a:t>current state + declared future health/capacity events</a:t>
            </a:r>
            <a:endParaRPr b="0" lang="en-US" sz="870" spc="-1" strike="noStrike">
              <a:latin typeface="Arial"/>
            </a:endParaRPr>
          </a:p>
        </p:txBody>
      </p:sp>
      <p:sp>
        <p:nvSpPr>
          <p:cNvPr id="1062" name=""/>
          <p:cNvSpPr txBox="1"/>
          <p:nvPr/>
        </p:nvSpPr>
        <p:spPr>
          <a:xfrm>
            <a:off x="576000" y="4644000"/>
            <a:ext cx="972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40" spc="-1" strike="noStrike">
                <a:solidFill>
                  <a:srgbClr val="16805f"/>
                </a:solidFill>
                <a:latin typeface="Courier New"/>
              </a:rPr>
              <a:t>DECISION</a:t>
            </a:r>
            <a:endParaRPr b="0" lang="en-US" sz="740" spc="-1" strike="noStrike">
              <a:latin typeface="Arial"/>
            </a:endParaRPr>
          </a:p>
        </p:txBody>
      </p:sp>
      <p:sp>
        <p:nvSpPr>
          <p:cNvPr id="1063" name=""/>
          <p:cNvSpPr txBox="1"/>
          <p:nvPr/>
        </p:nvSpPr>
        <p:spPr>
          <a:xfrm>
            <a:off x="1620000" y="4608000"/>
            <a:ext cx="2160000" cy="3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70" spc="-1" strike="noStrike">
                <a:solidFill>
                  <a:srgbClr val="172731"/>
                </a:solidFill>
                <a:latin typeface="Arial"/>
              </a:rPr>
              <a:t>continuous group→UPF weights for each horizon window</a:t>
            </a:r>
            <a:endParaRPr b="0" lang="en-US" sz="870" spc="-1" strike="noStrike">
              <a:latin typeface="Arial"/>
            </a:endParaRPr>
          </a:p>
        </p:txBody>
      </p:sp>
      <p:sp>
        <p:nvSpPr>
          <p:cNvPr id="1064" name=""/>
          <p:cNvSpPr txBox="1"/>
          <p:nvPr/>
        </p:nvSpPr>
        <p:spPr>
          <a:xfrm>
            <a:off x="3960000" y="4644000"/>
            <a:ext cx="972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40" spc="-1" strike="noStrike">
                <a:solidFill>
                  <a:srgbClr val="16805f"/>
                </a:solidFill>
                <a:latin typeface="Courier New"/>
              </a:rPr>
              <a:t>ACTION</a:t>
            </a:r>
            <a:endParaRPr b="0" lang="en-US" sz="740" spc="-1" strike="noStrike">
              <a:latin typeface="Arial"/>
            </a:endParaRPr>
          </a:p>
        </p:txBody>
      </p:sp>
      <p:sp>
        <p:nvSpPr>
          <p:cNvPr id="1065" name=""/>
          <p:cNvSpPr txBox="1"/>
          <p:nvPr/>
        </p:nvSpPr>
        <p:spPr>
          <a:xfrm>
            <a:off x="5004000" y="4608000"/>
            <a:ext cx="2160000" cy="3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70" spc="-1" strike="noStrike">
                <a:solidFill>
                  <a:srgbClr val="172731"/>
                </a:solidFill>
                <a:latin typeface="Arial"/>
              </a:rPr>
              <a:t>only the first window is published; replan every 10 minutes</a:t>
            </a:r>
            <a:endParaRPr b="0" lang="en-US" sz="870" spc="-1" strike="noStrike">
              <a:latin typeface="Arial"/>
            </a:endParaRPr>
          </a:p>
        </p:txBody>
      </p:sp>
      <p:sp>
        <p:nvSpPr>
          <p:cNvPr id="1066" name=""/>
          <p:cNvSpPr/>
          <p:nvPr/>
        </p:nvSpPr>
        <p:spPr>
          <a:xfrm>
            <a:off x="8028000" y="1404000"/>
            <a:ext cx="3708000" cy="4608000"/>
          </a:xfrm>
          <a:prstGeom prst="roundRect">
            <a:avLst/>
          </a:prstGeom>
          <a:solidFill>
            <a:srgbClr val="193644"/>
          </a:solidFill>
          <a:ln w="0">
            <a:noFill/>
          </a:ln>
        </p:spPr>
      </p:sp>
      <p:sp>
        <p:nvSpPr>
          <p:cNvPr id="1067" name=""/>
          <p:cNvSpPr/>
          <p:nvPr/>
        </p:nvSpPr>
        <p:spPr>
          <a:xfrm>
            <a:off x="8028000" y="1404000"/>
            <a:ext cx="64800" cy="4608000"/>
          </a:xfrm>
          <a:prstGeom prst="rect">
            <a:avLst/>
          </a:prstGeom>
          <a:solidFill>
            <a:srgbClr val="6750a4"/>
          </a:solidFill>
          <a:ln w="0">
            <a:noFill/>
          </a:ln>
        </p:spPr>
      </p:sp>
      <p:sp>
        <p:nvSpPr>
          <p:cNvPr id="1068" name=""/>
          <p:cNvSpPr txBox="1"/>
          <p:nvPr/>
        </p:nvSpPr>
        <p:spPr>
          <a:xfrm>
            <a:off x="8280000" y="1692000"/>
            <a:ext cx="3204000" cy="2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400" spc="-1" strike="noStrike">
                <a:solidFill>
                  <a:srgbClr val="ffffff"/>
                </a:solidFill>
                <a:latin typeface="Arial"/>
              </a:rPr>
              <a:t>Frozen demo profile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069" name=""/>
          <p:cNvSpPr txBox="1"/>
          <p:nvPr/>
        </p:nvSpPr>
        <p:spPr>
          <a:xfrm>
            <a:off x="8280000" y="2304000"/>
            <a:ext cx="1908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10" spc="-1" strike="noStrike">
                <a:solidFill>
                  <a:srgbClr val="9fb5bf"/>
                </a:solidFill>
                <a:latin typeface="Courier New"/>
              </a:rPr>
              <a:t>MAX UPF WEIGHT</a:t>
            </a:r>
            <a:endParaRPr b="0" lang="en-US" sz="710" spc="-1" strike="noStrike">
              <a:latin typeface="Arial"/>
            </a:endParaRPr>
          </a:p>
        </p:txBody>
      </p:sp>
      <p:sp>
        <p:nvSpPr>
          <p:cNvPr id="1070" name=""/>
          <p:cNvSpPr txBox="1"/>
          <p:nvPr/>
        </p:nvSpPr>
        <p:spPr>
          <a:xfrm>
            <a:off x="10224000" y="2268000"/>
            <a:ext cx="1260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buNone/>
            </a:pPr>
            <a:r>
              <a:rPr b="1" lang="en-US" sz="1000" spc="-1" strike="noStrike">
                <a:solidFill>
                  <a:srgbClr val="ffffff"/>
                </a:solidFill>
                <a:latin typeface="Arial"/>
              </a:rPr>
              <a:t>0.75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071" name=""/>
          <p:cNvSpPr/>
          <p:nvPr/>
        </p:nvSpPr>
        <p:spPr>
          <a:xfrm>
            <a:off x="8280000" y="2556000"/>
            <a:ext cx="3204000" cy="0"/>
          </a:xfrm>
          <a:prstGeom prst="line">
            <a:avLst/>
          </a:prstGeom>
          <a:ln w="720">
            <a:solidFill>
              <a:srgbClr val="39556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72" name=""/>
          <p:cNvSpPr txBox="1"/>
          <p:nvPr/>
        </p:nvSpPr>
        <p:spPr>
          <a:xfrm>
            <a:off x="8280000" y="2754000"/>
            <a:ext cx="1908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10" spc="-1" strike="noStrike">
                <a:solidFill>
                  <a:srgbClr val="9fb5bf"/>
                </a:solidFill>
                <a:latin typeface="Courier New"/>
              </a:rPr>
              <a:t>STATIC BLEND</a:t>
            </a:r>
            <a:endParaRPr b="0" lang="en-US" sz="710" spc="-1" strike="noStrike">
              <a:latin typeface="Arial"/>
            </a:endParaRPr>
          </a:p>
        </p:txBody>
      </p:sp>
      <p:sp>
        <p:nvSpPr>
          <p:cNvPr id="1073" name=""/>
          <p:cNvSpPr txBox="1"/>
          <p:nvPr/>
        </p:nvSpPr>
        <p:spPr>
          <a:xfrm>
            <a:off x="10224000" y="2718000"/>
            <a:ext cx="1260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buNone/>
            </a:pPr>
            <a:r>
              <a:rPr b="1" lang="en-US" sz="1000" spc="-1" strike="noStrike">
                <a:solidFill>
                  <a:srgbClr val="ffffff"/>
                </a:solidFill>
                <a:latin typeface="Arial"/>
              </a:rPr>
              <a:t>50%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074" name=""/>
          <p:cNvSpPr/>
          <p:nvPr/>
        </p:nvSpPr>
        <p:spPr>
          <a:xfrm>
            <a:off x="8280000" y="3006000"/>
            <a:ext cx="3204000" cy="0"/>
          </a:xfrm>
          <a:prstGeom prst="line">
            <a:avLst/>
          </a:prstGeom>
          <a:ln w="720">
            <a:solidFill>
              <a:srgbClr val="39556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75" name=""/>
          <p:cNvSpPr txBox="1"/>
          <p:nvPr/>
        </p:nvSpPr>
        <p:spPr>
          <a:xfrm>
            <a:off x="8280000" y="3204000"/>
            <a:ext cx="1908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10" spc="-1" strike="noStrike">
                <a:solidFill>
                  <a:srgbClr val="9fb5bf"/>
                </a:solidFill>
                <a:latin typeface="Courier New"/>
              </a:rPr>
              <a:t>SOLVER TIMEOUT</a:t>
            </a:r>
            <a:endParaRPr b="0" lang="en-US" sz="710" spc="-1" strike="noStrike">
              <a:latin typeface="Arial"/>
            </a:endParaRPr>
          </a:p>
        </p:txBody>
      </p:sp>
      <p:sp>
        <p:nvSpPr>
          <p:cNvPr id="1076" name=""/>
          <p:cNvSpPr txBox="1"/>
          <p:nvPr/>
        </p:nvSpPr>
        <p:spPr>
          <a:xfrm>
            <a:off x="10224000" y="3168000"/>
            <a:ext cx="1260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buNone/>
            </a:pPr>
            <a:r>
              <a:rPr b="1" lang="en-US" sz="1000" spc="-1" strike="noStrike">
                <a:solidFill>
                  <a:srgbClr val="ffffff"/>
                </a:solidFill>
                <a:latin typeface="Arial"/>
              </a:rPr>
              <a:t>2.0 s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077" name=""/>
          <p:cNvSpPr/>
          <p:nvPr/>
        </p:nvSpPr>
        <p:spPr>
          <a:xfrm>
            <a:off x="8280000" y="3456000"/>
            <a:ext cx="3204000" cy="0"/>
          </a:xfrm>
          <a:prstGeom prst="line">
            <a:avLst/>
          </a:prstGeom>
          <a:ln w="720">
            <a:solidFill>
              <a:srgbClr val="39556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78" name=""/>
          <p:cNvSpPr txBox="1"/>
          <p:nvPr/>
        </p:nvSpPr>
        <p:spPr>
          <a:xfrm>
            <a:off x="8280000" y="3654000"/>
            <a:ext cx="1908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10" spc="-1" strike="noStrike">
                <a:solidFill>
                  <a:srgbClr val="9fb5bf"/>
                </a:solidFill>
                <a:latin typeface="Courier New"/>
              </a:rPr>
              <a:t>OVERLOAD COST</a:t>
            </a:r>
            <a:endParaRPr b="0" lang="en-US" sz="710" spc="-1" strike="noStrike">
              <a:latin typeface="Arial"/>
            </a:endParaRPr>
          </a:p>
        </p:txBody>
      </p:sp>
      <p:sp>
        <p:nvSpPr>
          <p:cNvPr id="1079" name=""/>
          <p:cNvSpPr txBox="1"/>
          <p:nvPr/>
        </p:nvSpPr>
        <p:spPr>
          <a:xfrm>
            <a:off x="10224000" y="3618000"/>
            <a:ext cx="1260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buNone/>
            </a:pPr>
            <a:r>
              <a:rPr b="1" lang="en-US" sz="1000" spc="-1" strike="noStrike">
                <a:solidFill>
                  <a:srgbClr val="ffffff"/>
                </a:solidFill>
                <a:latin typeface="Arial"/>
              </a:rPr>
              <a:t>1×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080" name=""/>
          <p:cNvSpPr/>
          <p:nvPr/>
        </p:nvSpPr>
        <p:spPr>
          <a:xfrm>
            <a:off x="8280000" y="3906000"/>
            <a:ext cx="3204000" cy="0"/>
          </a:xfrm>
          <a:prstGeom prst="line">
            <a:avLst/>
          </a:prstGeom>
          <a:ln w="720">
            <a:solidFill>
              <a:srgbClr val="39556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81" name=""/>
          <p:cNvSpPr txBox="1"/>
          <p:nvPr/>
        </p:nvSpPr>
        <p:spPr>
          <a:xfrm>
            <a:off x="8280000" y="4104000"/>
            <a:ext cx="1908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10" spc="-1" strike="noStrike">
                <a:solidFill>
                  <a:srgbClr val="9fb5bf"/>
                </a:solidFill>
                <a:latin typeface="Courier New"/>
              </a:rPr>
              <a:t>PHYSICAL DROP COST</a:t>
            </a:r>
            <a:endParaRPr b="0" lang="en-US" sz="710" spc="-1" strike="noStrike">
              <a:latin typeface="Arial"/>
            </a:endParaRPr>
          </a:p>
        </p:txBody>
      </p:sp>
      <p:sp>
        <p:nvSpPr>
          <p:cNvPr id="1082" name=""/>
          <p:cNvSpPr txBox="1"/>
          <p:nvPr/>
        </p:nvSpPr>
        <p:spPr>
          <a:xfrm>
            <a:off x="10224000" y="4068000"/>
            <a:ext cx="1260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buNone/>
            </a:pPr>
            <a:r>
              <a:rPr b="1" lang="en-US" sz="1000" spc="-1" strike="noStrike">
                <a:solidFill>
                  <a:srgbClr val="ffffff"/>
                </a:solidFill>
                <a:latin typeface="Arial"/>
              </a:rPr>
              <a:t>10×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083" name=""/>
          <p:cNvSpPr/>
          <p:nvPr/>
        </p:nvSpPr>
        <p:spPr>
          <a:xfrm>
            <a:off x="8280000" y="4356000"/>
            <a:ext cx="3204000" cy="0"/>
          </a:xfrm>
          <a:prstGeom prst="line">
            <a:avLst/>
          </a:prstGeom>
          <a:ln w="720">
            <a:solidFill>
              <a:srgbClr val="39556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84" name=""/>
          <p:cNvSpPr txBox="1"/>
          <p:nvPr/>
        </p:nvSpPr>
        <p:spPr>
          <a:xfrm>
            <a:off x="8280000" y="4554000"/>
            <a:ext cx="1908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10" spc="-1" strike="noStrike">
                <a:solidFill>
                  <a:srgbClr val="9fb5bf"/>
                </a:solidFill>
                <a:latin typeface="Courier New"/>
              </a:rPr>
              <a:t>TERMINAL EXPOSURE</a:t>
            </a:r>
            <a:endParaRPr b="0" lang="en-US" sz="710" spc="-1" strike="noStrike">
              <a:latin typeface="Arial"/>
            </a:endParaRPr>
          </a:p>
        </p:txBody>
      </p:sp>
      <p:sp>
        <p:nvSpPr>
          <p:cNvPr id="1085" name=""/>
          <p:cNvSpPr txBox="1"/>
          <p:nvPr/>
        </p:nvSpPr>
        <p:spPr>
          <a:xfrm>
            <a:off x="10224000" y="4518000"/>
            <a:ext cx="1260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buNone/>
            </a:pPr>
            <a:r>
              <a:rPr b="1" lang="en-US" sz="1000" spc="-1" strike="noStrike">
                <a:solidFill>
                  <a:srgbClr val="ffffff"/>
                </a:solidFill>
                <a:latin typeface="Arial"/>
              </a:rPr>
              <a:t>1×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086" name=""/>
          <p:cNvSpPr/>
          <p:nvPr/>
        </p:nvSpPr>
        <p:spPr>
          <a:xfrm>
            <a:off x="8280000" y="4806000"/>
            <a:ext cx="3204000" cy="0"/>
          </a:xfrm>
          <a:prstGeom prst="line">
            <a:avLst/>
          </a:prstGeom>
          <a:ln w="720">
            <a:solidFill>
              <a:srgbClr val="39556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87" name=""/>
          <p:cNvSpPr txBox="1"/>
          <p:nvPr/>
        </p:nvSpPr>
        <p:spPr>
          <a:xfrm>
            <a:off x="8280000" y="5004000"/>
            <a:ext cx="1908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10" spc="-1" strike="noStrike">
                <a:solidFill>
                  <a:srgbClr val="9fb5bf"/>
                </a:solidFill>
                <a:latin typeface="Courier New"/>
              </a:rPr>
              <a:t>UNPLANNED CAPACITY</a:t>
            </a:r>
            <a:endParaRPr b="0" lang="en-US" sz="710" spc="-1" strike="noStrike">
              <a:latin typeface="Arial"/>
            </a:endParaRPr>
          </a:p>
        </p:txBody>
      </p:sp>
      <p:sp>
        <p:nvSpPr>
          <p:cNvPr id="1088" name=""/>
          <p:cNvSpPr txBox="1"/>
          <p:nvPr/>
        </p:nvSpPr>
        <p:spPr>
          <a:xfrm>
            <a:off x="10224000" y="4968000"/>
            <a:ext cx="1260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buNone/>
            </a:pPr>
            <a:r>
              <a:rPr b="1" lang="en-US" sz="1000" spc="-1" strike="noStrike">
                <a:solidFill>
                  <a:srgbClr val="ffffff"/>
                </a:solidFill>
                <a:latin typeface="Arial"/>
              </a:rPr>
              <a:t>fallback static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089" name=""/>
          <p:cNvSpPr/>
          <p:nvPr/>
        </p:nvSpPr>
        <p:spPr>
          <a:xfrm>
            <a:off x="8280000" y="5256000"/>
            <a:ext cx="3204000" cy="0"/>
          </a:xfrm>
          <a:prstGeom prst="line">
            <a:avLst/>
          </a:prstGeom>
          <a:ln w="720">
            <a:solidFill>
              <a:srgbClr val="39556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90" name=""/>
          <p:cNvSpPr/>
          <p:nvPr/>
        </p:nvSpPr>
        <p:spPr>
          <a:xfrm>
            <a:off x="324000" y="6616800"/>
            <a:ext cx="11088000" cy="0"/>
          </a:xfrm>
          <a:prstGeom prst="line">
            <a:avLst/>
          </a:prstGeom>
          <a:ln w="1080">
            <a:solidFill>
              <a:srgbClr val="cfdc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91" name=""/>
          <p:cNvSpPr txBox="1"/>
          <p:nvPr/>
        </p:nvSpPr>
        <p:spPr>
          <a:xfrm>
            <a:off x="324000" y="6660000"/>
            <a:ext cx="10368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80" spc="-1" strike="noStrike">
                <a:solidFill>
                  <a:srgbClr val="718592"/>
                </a:solidFill>
                <a:latin typeface="Courier New"/>
              </a:rPr>
              <a:t>optimization/cohort_mpc.py · simulator/macro/controllers.py::CohortMPCController · configs/cohort_mpc_pilot_10pct_v2.json</a:t>
            </a:r>
            <a:endParaRPr b="0" lang="en-US" sz="680" spc="-1" strike="noStrike">
              <a:latin typeface="Arial"/>
            </a:endParaRPr>
          </a:p>
        </p:txBody>
      </p:sp>
      <p:sp>
        <p:nvSpPr>
          <p:cNvPr id="1092" name=""/>
          <p:cNvSpPr txBox="1"/>
          <p:nvPr/>
        </p:nvSpPr>
        <p:spPr>
          <a:xfrm>
            <a:off x="11052000" y="6660000"/>
            <a:ext cx="684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buNone/>
            </a:pPr>
            <a:r>
              <a:rPr b="1" lang="en-US" sz="750" spc="-1" strike="noStrike">
                <a:solidFill>
                  <a:srgbClr val="718592"/>
                </a:solidFill>
                <a:latin typeface="Courier New"/>
              </a:rPr>
              <a:t>18</a:t>
            </a:r>
            <a:endParaRPr b="0" lang="en-US" sz="7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3f7f8"/>
          </a:solidFill>
          <a:ln w="0">
            <a:noFill/>
          </a:ln>
        </p:spPr>
      </p:sp>
      <p:sp>
        <p:nvSpPr>
          <p:cNvPr id="1094" name=""/>
          <p:cNvSpPr txBox="1"/>
          <p:nvPr/>
        </p:nvSpPr>
        <p:spPr>
          <a:xfrm>
            <a:off x="324000" y="158400"/>
            <a:ext cx="3096000" cy="23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00" spc="508" strike="noStrike">
                <a:solidFill>
                  <a:srgbClr val="007c99"/>
                </a:solidFill>
                <a:latin typeface="Courier New"/>
              </a:rPr>
              <a:t>STAGE 3 · SAFETY AND FALLBACK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095" name=""/>
          <p:cNvSpPr txBox="1"/>
          <p:nvPr/>
        </p:nvSpPr>
        <p:spPr>
          <a:xfrm>
            <a:off x="324000" y="378000"/>
            <a:ext cx="10584000" cy="57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50" spc="-1" strike="noStrike">
                <a:solidFill>
                  <a:srgbClr val="172731"/>
                </a:solidFill>
                <a:latin typeface="Arial"/>
              </a:rPr>
              <a:t>Every MPC action is guarded by a same-state static certificate</a:t>
            </a:r>
            <a:endParaRPr b="0" lang="en-US" sz="2150" spc="-1" strike="noStrike">
              <a:latin typeface="Arial"/>
            </a:endParaRPr>
          </a:p>
        </p:txBody>
      </p:sp>
      <p:sp>
        <p:nvSpPr>
          <p:cNvPr id="1096" name=""/>
          <p:cNvSpPr/>
          <p:nvPr/>
        </p:nvSpPr>
        <p:spPr>
          <a:xfrm>
            <a:off x="10800000" y="180000"/>
            <a:ext cx="936000" cy="19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1097" name=""/>
          <p:cNvSpPr txBox="1"/>
          <p:nvPr/>
        </p:nvSpPr>
        <p:spPr>
          <a:xfrm>
            <a:off x="10818000" y="219600"/>
            <a:ext cx="900000" cy="10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710" spc="-1" strike="noStrike">
                <a:solidFill>
                  <a:srgbClr val="c77b0b"/>
                </a:solidFill>
                <a:latin typeface="Courier New"/>
              </a:rPr>
              <a:t>SYNTHETIC DATA</a:t>
            </a:r>
            <a:endParaRPr b="0" lang="en-US" sz="710" spc="-1" strike="noStrike">
              <a:latin typeface="Arial"/>
            </a:endParaRPr>
          </a:p>
        </p:txBody>
      </p:sp>
      <p:sp>
        <p:nvSpPr>
          <p:cNvPr id="1098" name=""/>
          <p:cNvSpPr/>
          <p:nvPr/>
        </p:nvSpPr>
        <p:spPr>
          <a:xfrm>
            <a:off x="324000" y="1836000"/>
            <a:ext cx="648000" cy="648000"/>
          </a:xfrm>
          <a:prstGeom prst="ellipse">
            <a:avLst/>
          </a:prstGeom>
          <a:solidFill>
            <a:srgbClr val="6750a4"/>
          </a:solidFill>
          <a:ln w="0">
            <a:noFill/>
          </a:ln>
        </p:spPr>
      </p:sp>
      <p:sp>
        <p:nvSpPr>
          <p:cNvPr id="1099" name=""/>
          <p:cNvSpPr txBox="1"/>
          <p:nvPr/>
        </p:nvSpPr>
        <p:spPr>
          <a:xfrm>
            <a:off x="324000" y="2016000"/>
            <a:ext cx="648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1000" spc="-1" strike="noStrike">
                <a:solidFill>
                  <a:srgbClr val="ffffff"/>
                </a:solidFill>
                <a:latin typeface="Courier New"/>
              </a:rPr>
              <a:t>1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100" name=""/>
          <p:cNvSpPr txBox="1"/>
          <p:nvPr/>
        </p:nvSpPr>
        <p:spPr>
          <a:xfrm>
            <a:off x="180000" y="2628000"/>
            <a:ext cx="936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800" spc="-1" strike="noStrike">
                <a:solidFill>
                  <a:srgbClr val="6750a4"/>
                </a:solidFill>
                <a:latin typeface="Courier New"/>
              </a:rPr>
              <a:t>FORECAST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101" name=""/>
          <p:cNvSpPr txBox="1"/>
          <p:nvPr/>
        </p:nvSpPr>
        <p:spPr>
          <a:xfrm>
            <a:off x="-36000" y="2916000"/>
            <a:ext cx="1368000" cy="28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839" spc="-1" strike="noStrike">
                <a:solidFill>
                  <a:srgbClr val="172731"/>
                </a:solidFill>
                <a:latin typeface="Arial"/>
              </a:rPr>
              <a:t>12-window demand</a:t>
            </a:r>
            <a:endParaRPr b="0" lang="en-US" sz="839" spc="-1" strike="noStrike">
              <a:latin typeface="Arial"/>
            </a:endParaRPr>
          </a:p>
        </p:txBody>
      </p:sp>
      <p:sp>
        <p:nvSpPr>
          <p:cNvPr id="1102" name=""/>
          <p:cNvSpPr/>
          <p:nvPr/>
        </p:nvSpPr>
        <p:spPr>
          <a:xfrm>
            <a:off x="972000" y="2160000"/>
            <a:ext cx="1749600" cy="0"/>
          </a:xfrm>
          <a:prstGeom prst="line">
            <a:avLst/>
          </a:prstGeom>
          <a:ln w="4680">
            <a:solidFill>
              <a:srgbClr val="5268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03" name=""/>
          <p:cNvSpPr txBox="1"/>
          <p:nvPr/>
        </p:nvSpPr>
        <p:spPr>
          <a:xfrm>
            <a:off x="2664000" y="2031840"/>
            <a:ext cx="144000" cy="2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US" sz="1800" spc="-1" strike="noStrike">
                <a:solidFill>
                  <a:srgbClr val="526875"/>
                </a:solidFill>
                <a:latin typeface="Arial"/>
              </a:rPr>
              <a:t>›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104" name=""/>
          <p:cNvSpPr/>
          <p:nvPr/>
        </p:nvSpPr>
        <p:spPr>
          <a:xfrm>
            <a:off x="2808000" y="1836000"/>
            <a:ext cx="648000" cy="648000"/>
          </a:xfrm>
          <a:prstGeom prst="ellipse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1105" name=""/>
          <p:cNvSpPr txBox="1"/>
          <p:nvPr/>
        </p:nvSpPr>
        <p:spPr>
          <a:xfrm>
            <a:off x="2808000" y="2016000"/>
            <a:ext cx="648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1000" spc="-1" strike="noStrike">
                <a:solidFill>
                  <a:srgbClr val="ffffff"/>
                </a:solidFill>
                <a:latin typeface="Courier New"/>
              </a:rPr>
              <a:t>2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106" name=""/>
          <p:cNvSpPr txBox="1"/>
          <p:nvPr/>
        </p:nvSpPr>
        <p:spPr>
          <a:xfrm>
            <a:off x="2664000" y="2628000"/>
            <a:ext cx="936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800" spc="-1" strike="noStrike">
                <a:solidFill>
                  <a:srgbClr val="16805f"/>
                </a:solidFill>
                <a:latin typeface="Courier New"/>
              </a:rPr>
              <a:t>SOLVE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107" name=""/>
          <p:cNvSpPr txBox="1"/>
          <p:nvPr/>
        </p:nvSpPr>
        <p:spPr>
          <a:xfrm>
            <a:off x="2448000" y="2916000"/>
            <a:ext cx="1368000" cy="28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839" spc="-1" strike="noStrike">
                <a:solidFill>
                  <a:srgbClr val="172731"/>
                </a:solidFill>
                <a:latin typeface="Arial"/>
              </a:rPr>
              <a:t>HiGHS LP</a:t>
            </a:r>
            <a:endParaRPr b="0" lang="en-US" sz="839" spc="-1" strike="noStrike">
              <a:latin typeface="Arial"/>
            </a:endParaRPr>
          </a:p>
        </p:txBody>
      </p:sp>
      <p:sp>
        <p:nvSpPr>
          <p:cNvPr id="1108" name=""/>
          <p:cNvSpPr/>
          <p:nvPr/>
        </p:nvSpPr>
        <p:spPr>
          <a:xfrm>
            <a:off x="3456000" y="2160000"/>
            <a:ext cx="1749600" cy="0"/>
          </a:xfrm>
          <a:prstGeom prst="line">
            <a:avLst/>
          </a:prstGeom>
          <a:ln w="4680">
            <a:solidFill>
              <a:srgbClr val="5268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09" name=""/>
          <p:cNvSpPr txBox="1"/>
          <p:nvPr/>
        </p:nvSpPr>
        <p:spPr>
          <a:xfrm>
            <a:off x="5148000" y="2031840"/>
            <a:ext cx="144000" cy="2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US" sz="1800" spc="-1" strike="noStrike">
                <a:solidFill>
                  <a:srgbClr val="526875"/>
                </a:solidFill>
                <a:latin typeface="Arial"/>
              </a:rPr>
              <a:t>›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110" name=""/>
          <p:cNvSpPr/>
          <p:nvPr/>
        </p:nvSpPr>
        <p:spPr>
          <a:xfrm>
            <a:off x="5292000" y="1836000"/>
            <a:ext cx="648000" cy="648000"/>
          </a:xfrm>
          <a:prstGeom prst="ellipse">
            <a:avLst/>
          </a:prstGeom>
          <a:solidFill>
            <a:srgbClr val="007c99"/>
          </a:solidFill>
          <a:ln w="0">
            <a:noFill/>
          </a:ln>
        </p:spPr>
      </p:sp>
      <p:sp>
        <p:nvSpPr>
          <p:cNvPr id="1111" name=""/>
          <p:cNvSpPr txBox="1"/>
          <p:nvPr/>
        </p:nvSpPr>
        <p:spPr>
          <a:xfrm>
            <a:off x="5292000" y="2016000"/>
            <a:ext cx="648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1000" spc="-1" strike="noStrike">
                <a:solidFill>
                  <a:srgbClr val="ffffff"/>
                </a:solidFill>
                <a:latin typeface="Courier New"/>
              </a:rPr>
              <a:t>3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112" name=""/>
          <p:cNvSpPr txBox="1"/>
          <p:nvPr/>
        </p:nvSpPr>
        <p:spPr>
          <a:xfrm>
            <a:off x="5148000" y="2628000"/>
            <a:ext cx="936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800" spc="-1" strike="noStrike">
                <a:solidFill>
                  <a:srgbClr val="007c99"/>
                </a:solidFill>
                <a:latin typeface="Courier New"/>
              </a:rPr>
              <a:t>REPLAY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113" name=""/>
          <p:cNvSpPr txBox="1"/>
          <p:nvPr/>
        </p:nvSpPr>
        <p:spPr>
          <a:xfrm>
            <a:off x="4932000" y="2916000"/>
            <a:ext cx="1368000" cy="28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839" spc="-1" strike="noStrike">
                <a:solidFill>
                  <a:srgbClr val="172731"/>
                </a:solidFill>
                <a:latin typeface="Arial"/>
              </a:rPr>
              <a:t>static from same state</a:t>
            </a:r>
            <a:endParaRPr b="0" lang="en-US" sz="839" spc="-1" strike="noStrike">
              <a:latin typeface="Arial"/>
            </a:endParaRPr>
          </a:p>
        </p:txBody>
      </p:sp>
      <p:sp>
        <p:nvSpPr>
          <p:cNvPr id="1114" name=""/>
          <p:cNvSpPr/>
          <p:nvPr/>
        </p:nvSpPr>
        <p:spPr>
          <a:xfrm>
            <a:off x="5940000" y="2160000"/>
            <a:ext cx="1749600" cy="0"/>
          </a:xfrm>
          <a:prstGeom prst="line">
            <a:avLst/>
          </a:prstGeom>
          <a:ln w="4680">
            <a:solidFill>
              <a:srgbClr val="5268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15" name=""/>
          <p:cNvSpPr txBox="1"/>
          <p:nvPr/>
        </p:nvSpPr>
        <p:spPr>
          <a:xfrm>
            <a:off x="7632000" y="2031840"/>
            <a:ext cx="144000" cy="2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US" sz="1800" spc="-1" strike="noStrike">
                <a:solidFill>
                  <a:srgbClr val="526875"/>
                </a:solidFill>
                <a:latin typeface="Arial"/>
              </a:rPr>
              <a:t>›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116" name=""/>
          <p:cNvSpPr/>
          <p:nvPr/>
        </p:nvSpPr>
        <p:spPr>
          <a:xfrm>
            <a:off x="7776000" y="1836000"/>
            <a:ext cx="648000" cy="648000"/>
          </a:xfrm>
          <a:prstGeom prst="ellipse">
            <a:avLst/>
          </a:prstGeom>
          <a:solidFill>
            <a:srgbClr val="c77b0b"/>
          </a:solidFill>
          <a:ln w="0">
            <a:noFill/>
          </a:ln>
        </p:spPr>
      </p:sp>
      <p:sp>
        <p:nvSpPr>
          <p:cNvPr id="1117" name=""/>
          <p:cNvSpPr txBox="1"/>
          <p:nvPr/>
        </p:nvSpPr>
        <p:spPr>
          <a:xfrm>
            <a:off x="7776000" y="2016000"/>
            <a:ext cx="648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1000" spc="-1" strike="noStrike">
                <a:solidFill>
                  <a:srgbClr val="ffffff"/>
                </a:solidFill>
                <a:latin typeface="Courier New"/>
              </a:rPr>
              <a:t>4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118" name=""/>
          <p:cNvSpPr txBox="1"/>
          <p:nvPr/>
        </p:nvSpPr>
        <p:spPr>
          <a:xfrm>
            <a:off x="7632000" y="2628000"/>
            <a:ext cx="936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800" spc="-1" strike="noStrike">
                <a:solidFill>
                  <a:srgbClr val="c77b0b"/>
                </a:solidFill>
                <a:latin typeface="Courier New"/>
              </a:rPr>
              <a:t>CERTIFY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119" name=""/>
          <p:cNvSpPr txBox="1"/>
          <p:nvPr/>
        </p:nvSpPr>
        <p:spPr>
          <a:xfrm>
            <a:off x="7416000" y="2916000"/>
            <a:ext cx="1368000" cy="28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839" spc="-1" strike="noStrike">
                <a:solidFill>
                  <a:srgbClr val="172731"/>
                </a:solidFill>
                <a:latin typeface="Arial"/>
              </a:rPr>
              <a:t>guardrails + gain</a:t>
            </a:r>
            <a:endParaRPr b="0" lang="en-US" sz="839" spc="-1" strike="noStrike">
              <a:latin typeface="Arial"/>
            </a:endParaRPr>
          </a:p>
        </p:txBody>
      </p:sp>
      <p:sp>
        <p:nvSpPr>
          <p:cNvPr id="1120" name=""/>
          <p:cNvSpPr/>
          <p:nvPr/>
        </p:nvSpPr>
        <p:spPr>
          <a:xfrm>
            <a:off x="8424000" y="2160000"/>
            <a:ext cx="1749600" cy="0"/>
          </a:xfrm>
          <a:prstGeom prst="line">
            <a:avLst/>
          </a:prstGeom>
          <a:ln w="4680">
            <a:solidFill>
              <a:srgbClr val="5268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21" name=""/>
          <p:cNvSpPr txBox="1"/>
          <p:nvPr/>
        </p:nvSpPr>
        <p:spPr>
          <a:xfrm>
            <a:off x="10116000" y="2031840"/>
            <a:ext cx="144000" cy="2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US" sz="1800" spc="-1" strike="noStrike">
                <a:solidFill>
                  <a:srgbClr val="526875"/>
                </a:solidFill>
                <a:latin typeface="Arial"/>
              </a:rPr>
              <a:t>›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122" name=""/>
          <p:cNvSpPr/>
          <p:nvPr/>
        </p:nvSpPr>
        <p:spPr>
          <a:xfrm>
            <a:off x="10260000" y="1836000"/>
            <a:ext cx="648000" cy="648000"/>
          </a:xfrm>
          <a:prstGeom prst="ellipse">
            <a:avLst/>
          </a:prstGeom>
          <a:solidFill>
            <a:srgbClr val="cd443b"/>
          </a:solidFill>
          <a:ln w="0">
            <a:noFill/>
          </a:ln>
        </p:spPr>
      </p:sp>
      <p:sp>
        <p:nvSpPr>
          <p:cNvPr id="1123" name=""/>
          <p:cNvSpPr txBox="1"/>
          <p:nvPr/>
        </p:nvSpPr>
        <p:spPr>
          <a:xfrm>
            <a:off x="10260000" y="2016000"/>
            <a:ext cx="648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1000" spc="-1" strike="noStrike">
                <a:solidFill>
                  <a:srgbClr val="ffffff"/>
                </a:solidFill>
                <a:latin typeface="Courier New"/>
              </a:rPr>
              <a:t>5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124" name=""/>
          <p:cNvSpPr txBox="1"/>
          <p:nvPr/>
        </p:nvSpPr>
        <p:spPr>
          <a:xfrm>
            <a:off x="10116000" y="2628000"/>
            <a:ext cx="936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800" spc="-1" strike="noStrike">
                <a:solidFill>
                  <a:srgbClr val="cd443b"/>
                </a:solidFill>
                <a:latin typeface="Courier New"/>
              </a:rPr>
              <a:t>PUBLISH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125" name=""/>
          <p:cNvSpPr txBox="1"/>
          <p:nvPr/>
        </p:nvSpPr>
        <p:spPr>
          <a:xfrm>
            <a:off x="9900000" y="2916000"/>
            <a:ext cx="1368000" cy="28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839" spc="-1" strike="noStrike">
                <a:solidFill>
                  <a:srgbClr val="172731"/>
                </a:solidFill>
                <a:latin typeface="Arial"/>
              </a:rPr>
              <a:t>or exact static</a:t>
            </a:r>
            <a:endParaRPr b="0" lang="en-US" sz="839" spc="-1" strike="noStrike">
              <a:latin typeface="Arial"/>
            </a:endParaRPr>
          </a:p>
        </p:txBody>
      </p:sp>
      <p:sp>
        <p:nvSpPr>
          <p:cNvPr id="1126" name=""/>
          <p:cNvSpPr/>
          <p:nvPr/>
        </p:nvSpPr>
        <p:spPr>
          <a:xfrm>
            <a:off x="324000" y="3708000"/>
            <a:ext cx="5472000" cy="2232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1127" name=""/>
          <p:cNvSpPr/>
          <p:nvPr/>
        </p:nvSpPr>
        <p:spPr>
          <a:xfrm>
            <a:off x="324000" y="3708000"/>
            <a:ext cx="64800" cy="2232000"/>
          </a:xfrm>
          <a:prstGeom prst="rect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1128" name=""/>
          <p:cNvSpPr txBox="1"/>
          <p:nvPr/>
        </p:nvSpPr>
        <p:spPr>
          <a:xfrm>
            <a:off x="576000" y="3960000"/>
            <a:ext cx="4932000" cy="2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400" spc="-1" strike="noStrike">
                <a:solidFill>
                  <a:srgbClr val="172731"/>
                </a:solidFill>
                <a:latin typeface="Arial"/>
              </a:rPr>
              <a:t>Certificate requires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129" name=""/>
          <p:cNvSpPr/>
          <p:nvPr/>
        </p:nvSpPr>
        <p:spPr>
          <a:xfrm>
            <a:off x="576000" y="4492800"/>
            <a:ext cx="79200" cy="79200"/>
          </a:xfrm>
          <a:prstGeom prst="ellipse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1130" name=""/>
          <p:cNvSpPr txBox="1"/>
          <p:nvPr/>
        </p:nvSpPr>
        <p:spPr>
          <a:xfrm>
            <a:off x="756000" y="4410000"/>
            <a:ext cx="4752000" cy="27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172731"/>
                </a:solidFill>
                <a:latin typeface="Arial"/>
              </a:rPr>
              <a:t>UL overload area no worse than static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131" name=""/>
          <p:cNvSpPr/>
          <p:nvPr/>
        </p:nvSpPr>
        <p:spPr>
          <a:xfrm>
            <a:off x="576000" y="4766400"/>
            <a:ext cx="79200" cy="79200"/>
          </a:xfrm>
          <a:prstGeom prst="ellipse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1132" name=""/>
          <p:cNvSpPr txBox="1"/>
          <p:nvPr/>
        </p:nvSpPr>
        <p:spPr>
          <a:xfrm>
            <a:off x="756000" y="4683600"/>
            <a:ext cx="4752000" cy="27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172731"/>
                </a:solidFill>
                <a:latin typeface="Arial"/>
              </a:rPr>
              <a:t>DL overload area no worse than static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133" name=""/>
          <p:cNvSpPr/>
          <p:nvPr/>
        </p:nvSpPr>
        <p:spPr>
          <a:xfrm>
            <a:off x="576000" y="5040000"/>
            <a:ext cx="79200" cy="79200"/>
          </a:xfrm>
          <a:prstGeom prst="ellipse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1134" name=""/>
          <p:cNvSpPr txBox="1"/>
          <p:nvPr/>
        </p:nvSpPr>
        <p:spPr>
          <a:xfrm>
            <a:off x="756000" y="4957200"/>
            <a:ext cx="4752000" cy="27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172731"/>
                </a:solidFill>
                <a:latin typeface="Arial"/>
              </a:rPr>
              <a:t>session overload no worse than static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135" name=""/>
          <p:cNvSpPr/>
          <p:nvPr/>
        </p:nvSpPr>
        <p:spPr>
          <a:xfrm>
            <a:off x="576000" y="5313600"/>
            <a:ext cx="79200" cy="79200"/>
          </a:xfrm>
          <a:prstGeom prst="ellipse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1136" name=""/>
          <p:cNvSpPr txBox="1"/>
          <p:nvPr/>
        </p:nvSpPr>
        <p:spPr>
          <a:xfrm>
            <a:off x="756000" y="5230800"/>
            <a:ext cx="4752000" cy="27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172731"/>
                </a:solidFill>
                <a:latin typeface="Arial"/>
              </a:rPr>
              <a:t>UL and DL physical drops no worse than static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137" name=""/>
          <p:cNvSpPr/>
          <p:nvPr/>
        </p:nvSpPr>
        <p:spPr>
          <a:xfrm>
            <a:off x="576000" y="5587200"/>
            <a:ext cx="79200" cy="79200"/>
          </a:xfrm>
          <a:prstGeom prst="ellipse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1138" name=""/>
          <p:cNvSpPr txBox="1"/>
          <p:nvPr/>
        </p:nvSpPr>
        <p:spPr>
          <a:xfrm>
            <a:off x="756000" y="5504400"/>
            <a:ext cx="4752000" cy="27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172731"/>
                </a:solidFill>
                <a:latin typeface="Arial"/>
              </a:rPr>
              <a:t>minimum score and modeled UL improvement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139" name=""/>
          <p:cNvSpPr/>
          <p:nvPr/>
        </p:nvSpPr>
        <p:spPr>
          <a:xfrm>
            <a:off x="6120000" y="3708000"/>
            <a:ext cx="5616000" cy="2232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1140" name=""/>
          <p:cNvSpPr/>
          <p:nvPr/>
        </p:nvSpPr>
        <p:spPr>
          <a:xfrm>
            <a:off x="6120000" y="3708000"/>
            <a:ext cx="64800" cy="2232000"/>
          </a:xfrm>
          <a:prstGeom prst="rect">
            <a:avLst/>
          </a:prstGeom>
          <a:solidFill>
            <a:srgbClr val="cd443b"/>
          </a:solidFill>
          <a:ln w="0">
            <a:noFill/>
          </a:ln>
        </p:spPr>
      </p:sp>
      <p:sp>
        <p:nvSpPr>
          <p:cNvPr id="1141" name=""/>
          <p:cNvSpPr txBox="1"/>
          <p:nvPr/>
        </p:nvSpPr>
        <p:spPr>
          <a:xfrm>
            <a:off x="6372000" y="3960000"/>
            <a:ext cx="5076000" cy="2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400" spc="-1" strike="noStrike">
                <a:solidFill>
                  <a:srgbClr val="172731"/>
                </a:solidFill>
                <a:latin typeface="Arial"/>
              </a:rPr>
              <a:t>Fallback triggers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142" name=""/>
          <p:cNvSpPr/>
          <p:nvPr/>
        </p:nvSpPr>
        <p:spPr>
          <a:xfrm>
            <a:off x="6372000" y="4492800"/>
            <a:ext cx="79200" cy="79200"/>
          </a:xfrm>
          <a:prstGeom prst="ellipse">
            <a:avLst/>
          </a:prstGeom>
          <a:solidFill>
            <a:srgbClr val="cd443b"/>
          </a:solidFill>
          <a:ln w="0">
            <a:noFill/>
          </a:ln>
        </p:spPr>
      </p:sp>
      <p:sp>
        <p:nvSpPr>
          <p:cNvPr id="1143" name=""/>
          <p:cNvSpPr txBox="1"/>
          <p:nvPr/>
        </p:nvSpPr>
        <p:spPr>
          <a:xfrm>
            <a:off x="6552000" y="4410000"/>
            <a:ext cx="4896000" cy="27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172731"/>
                </a:solidFill>
                <a:latin typeface="Arial"/>
              </a:rPr>
              <a:t>insufficient history or forecast error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144" name=""/>
          <p:cNvSpPr/>
          <p:nvPr/>
        </p:nvSpPr>
        <p:spPr>
          <a:xfrm>
            <a:off x="6372000" y="4766400"/>
            <a:ext cx="79200" cy="79200"/>
          </a:xfrm>
          <a:prstGeom prst="ellipse">
            <a:avLst/>
          </a:prstGeom>
          <a:solidFill>
            <a:srgbClr val="cd443b"/>
          </a:solidFill>
          <a:ln w="0">
            <a:noFill/>
          </a:ln>
        </p:spPr>
      </p:sp>
      <p:sp>
        <p:nvSpPr>
          <p:cNvPr id="1145" name=""/>
          <p:cNvSpPr txBox="1"/>
          <p:nvPr/>
        </p:nvSpPr>
        <p:spPr>
          <a:xfrm>
            <a:off x="6552000" y="4683600"/>
            <a:ext cx="4896000" cy="27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172731"/>
                </a:solidFill>
                <a:latin typeface="Arial"/>
              </a:rPr>
              <a:t>solver infeasible / error / timeout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146" name=""/>
          <p:cNvSpPr/>
          <p:nvPr/>
        </p:nvSpPr>
        <p:spPr>
          <a:xfrm>
            <a:off x="6372000" y="5040000"/>
            <a:ext cx="79200" cy="79200"/>
          </a:xfrm>
          <a:prstGeom prst="ellipse">
            <a:avLst/>
          </a:prstGeom>
          <a:solidFill>
            <a:srgbClr val="cd443b"/>
          </a:solidFill>
          <a:ln w="0">
            <a:noFill/>
          </a:ln>
        </p:spPr>
      </p:sp>
      <p:sp>
        <p:nvSpPr>
          <p:cNvPr id="1147" name=""/>
          <p:cNvSpPr txBox="1"/>
          <p:nvPr/>
        </p:nvSpPr>
        <p:spPr>
          <a:xfrm>
            <a:off x="6552000" y="4957200"/>
            <a:ext cx="4896000" cy="27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172731"/>
                </a:solidFill>
                <a:latin typeface="Arial"/>
              </a:rPr>
              <a:t>certificate rejects the candidate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148" name=""/>
          <p:cNvSpPr/>
          <p:nvPr/>
        </p:nvSpPr>
        <p:spPr>
          <a:xfrm>
            <a:off x="6372000" y="5313600"/>
            <a:ext cx="79200" cy="79200"/>
          </a:xfrm>
          <a:prstGeom prst="ellipse">
            <a:avLst/>
          </a:prstGeom>
          <a:solidFill>
            <a:srgbClr val="cd443b"/>
          </a:solidFill>
          <a:ln w="0">
            <a:noFill/>
          </a:ln>
        </p:spPr>
      </p:sp>
      <p:sp>
        <p:nvSpPr>
          <p:cNvPr id="1149" name=""/>
          <p:cNvSpPr txBox="1"/>
          <p:nvPr/>
        </p:nvSpPr>
        <p:spPr>
          <a:xfrm>
            <a:off x="6552000" y="5230800"/>
            <a:ext cx="4896000" cy="27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172731"/>
                </a:solidFill>
                <a:latin typeface="Arial"/>
              </a:rPr>
              <a:t>observed unplanned capacity state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150" name=""/>
          <p:cNvSpPr/>
          <p:nvPr/>
        </p:nvSpPr>
        <p:spPr>
          <a:xfrm>
            <a:off x="6372000" y="5587200"/>
            <a:ext cx="79200" cy="79200"/>
          </a:xfrm>
          <a:prstGeom prst="ellipse">
            <a:avLst/>
          </a:prstGeom>
          <a:solidFill>
            <a:srgbClr val="cd443b"/>
          </a:solidFill>
          <a:ln w="0">
            <a:noFill/>
          </a:ln>
        </p:spPr>
      </p:sp>
      <p:sp>
        <p:nvSpPr>
          <p:cNvPr id="1151" name=""/>
          <p:cNvSpPr txBox="1"/>
          <p:nvPr/>
        </p:nvSpPr>
        <p:spPr>
          <a:xfrm>
            <a:off x="6552000" y="5504400"/>
            <a:ext cx="4896000" cy="27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172731"/>
                </a:solidFill>
                <a:latin typeface="Arial"/>
              </a:rPr>
              <a:t>no healthy eligible route exists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152" name=""/>
          <p:cNvSpPr/>
          <p:nvPr/>
        </p:nvSpPr>
        <p:spPr>
          <a:xfrm>
            <a:off x="324000" y="6616800"/>
            <a:ext cx="11088000" cy="0"/>
          </a:xfrm>
          <a:prstGeom prst="line">
            <a:avLst/>
          </a:prstGeom>
          <a:ln w="1080">
            <a:solidFill>
              <a:srgbClr val="cfdc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53" name=""/>
          <p:cNvSpPr txBox="1"/>
          <p:nvPr/>
        </p:nvSpPr>
        <p:spPr>
          <a:xfrm>
            <a:off x="324000" y="6660000"/>
            <a:ext cx="10368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80" spc="-1" strike="noStrike">
                <a:solidFill>
                  <a:srgbClr val="718592"/>
                </a:solidFill>
                <a:latin typeface="Courier New"/>
              </a:rPr>
              <a:t>optimization/cohort_mpc.py::_certificate · simulator/macro/controllers.py::_static_fallback · steering/policy.py</a:t>
            </a:r>
            <a:endParaRPr b="0" lang="en-US" sz="680" spc="-1" strike="noStrike">
              <a:latin typeface="Arial"/>
            </a:endParaRPr>
          </a:p>
        </p:txBody>
      </p:sp>
      <p:sp>
        <p:nvSpPr>
          <p:cNvPr id="1154" name=""/>
          <p:cNvSpPr txBox="1"/>
          <p:nvPr/>
        </p:nvSpPr>
        <p:spPr>
          <a:xfrm>
            <a:off x="11052000" y="6660000"/>
            <a:ext cx="684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buNone/>
            </a:pPr>
            <a:r>
              <a:rPr b="1" lang="en-US" sz="750" spc="-1" strike="noStrike">
                <a:solidFill>
                  <a:srgbClr val="718592"/>
                </a:solidFill>
                <a:latin typeface="Courier New"/>
              </a:rPr>
              <a:t>19</a:t>
            </a:r>
            <a:endParaRPr b="0" lang="en-US" sz="7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3f7f8"/>
          </a:solidFill>
          <a:ln w="0">
            <a:noFill/>
          </a:ln>
        </p:spPr>
      </p:sp>
      <p:sp>
        <p:nvSpPr>
          <p:cNvPr id="1156" name=""/>
          <p:cNvSpPr txBox="1"/>
          <p:nvPr/>
        </p:nvSpPr>
        <p:spPr>
          <a:xfrm>
            <a:off x="324000" y="158400"/>
            <a:ext cx="3096000" cy="23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00" spc="508" strike="noStrike">
                <a:solidFill>
                  <a:srgbClr val="007c99"/>
                </a:solidFill>
                <a:latin typeface="Courier New"/>
              </a:rPr>
              <a:t>STAGE 3 · EVALUATION RESULTS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157" name=""/>
          <p:cNvSpPr txBox="1"/>
          <p:nvPr/>
        </p:nvSpPr>
        <p:spPr>
          <a:xfrm>
            <a:off x="324000" y="378000"/>
            <a:ext cx="10584000" cy="57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50" spc="-1" strike="noStrike">
                <a:solidFill>
                  <a:srgbClr val="172731"/>
                </a:solidFill>
                <a:latin typeface="Arial"/>
              </a:rPr>
              <a:t>The frozen 30-pair campaign passes the working-demo gate</a:t>
            </a:r>
            <a:endParaRPr b="0" lang="en-US" sz="2150" spc="-1" strike="noStrike">
              <a:latin typeface="Arial"/>
            </a:endParaRPr>
          </a:p>
        </p:txBody>
      </p:sp>
      <p:sp>
        <p:nvSpPr>
          <p:cNvPr id="1158" name=""/>
          <p:cNvSpPr/>
          <p:nvPr/>
        </p:nvSpPr>
        <p:spPr>
          <a:xfrm>
            <a:off x="10800000" y="180000"/>
            <a:ext cx="936000" cy="19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1159" name=""/>
          <p:cNvSpPr txBox="1"/>
          <p:nvPr/>
        </p:nvSpPr>
        <p:spPr>
          <a:xfrm>
            <a:off x="10818000" y="219600"/>
            <a:ext cx="900000" cy="10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710" spc="-1" strike="noStrike">
                <a:solidFill>
                  <a:srgbClr val="c77b0b"/>
                </a:solidFill>
                <a:latin typeface="Courier New"/>
              </a:rPr>
              <a:t>SYNTHETIC DATA</a:t>
            </a:r>
            <a:endParaRPr b="0" lang="en-US" sz="710" spc="-1" strike="noStrike">
              <a:latin typeface="Arial"/>
            </a:endParaRPr>
          </a:p>
        </p:txBody>
      </p:sp>
      <p:sp>
        <p:nvSpPr>
          <p:cNvPr id="1160" name=""/>
          <p:cNvSpPr/>
          <p:nvPr/>
        </p:nvSpPr>
        <p:spPr>
          <a:xfrm>
            <a:off x="324000" y="1404000"/>
            <a:ext cx="2700000" cy="100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1161" name=""/>
          <p:cNvSpPr/>
          <p:nvPr/>
        </p:nvSpPr>
        <p:spPr>
          <a:xfrm>
            <a:off x="324000" y="1404000"/>
            <a:ext cx="64800" cy="1008000"/>
          </a:xfrm>
          <a:prstGeom prst="rect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1162" name=""/>
          <p:cNvSpPr txBox="1"/>
          <p:nvPr/>
        </p:nvSpPr>
        <p:spPr>
          <a:xfrm>
            <a:off x="504000" y="1548000"/>
            <a:ext cx="2376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20" spc="-1" strike="noStrike">
                <a:solidFill>
                  <a:srgbClr val="718592"/>
                </a:solidFill>
                <a:latin typeface="Courier New"/>
              </a:rPr>
              <a:t>MEAN-PAIR UL</a:t>
            </a:r>
            <a:endParaRPr b="0" lang="en-US" sz="720" spc="-1" strike="noStrike">
              <a:latin typeface="Arial"/>
            </a:endParaRPr>
          </a:p>
        </p:txBody>
      </p:sp>
      <p:sp>
        <p:nvSpPr>
          <p:cNvPr id="1163" name=""/>
          <p:cNvSpPr txBox="1"/>
          <p:nvPr/>
        </p:nvSpPr>
        <p:spPr>
          <a:xfrm>
            <a:off x="504000" y="1728000"/>
            <a:ext cx="2376000" cy="34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400" spc="-1" strike="noStrike">
                <a:solidFill>
                  <a:srgbClr val="16805f"/>
                </a:solidFill>
                <a:latin typeface="Arial"/>
              </a:rPr>
              <a:t>+10.52%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164" name=""/>
          <p:cNvSpPr txBox="1"/>
          <p:nvPr/>
        </p:nvSpPr>
        <p:spPr>
          <a:xfrm>
            <a:off x="504000" y="2124000"/>
            <a:ext cx="2376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20" spc="-1" strike="noStrike">
                <a:solidFill>
                  <a:srgbClr val="526875"/>
                </a:solidFill>
                <a:latin typeface="Arial"/>
              </a:rPr>
              <a:t>bootstrap 95% CI: 4.81–16.93%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1165" name=""/>
          <p:cNvSpPr/>
          <p:nvPr/>
        </p:nvSpPr>
        <p:spPr>
          <a:xfrm>
            <a:off x="3276000" y="1404000"/>
            <a:ext cx="2700000" cy="100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1166" name=""/>
          <p:cNvSpPr/>
          <p:nvPr/>
        </p:nvSpPr>
        <p:spPr>
          <a:xfrm>
            <a:off x="3276000" y="1404000"/>
            <a:ext cx="64800" cy="1008000"/>
          </a:xfrm>
          <a:prstGeom prst="rect">
            <a:avLst/>
          </a:prstGeom>
          <a:solidFill>
            <a:srgbClr val="c77b0b"/>
          </a:solidFill>
          <a:ln w="0">
            <a:noFill/>
          </a:ln>
        </p:spPr>
      </p:sp>
      <p:sp>
        <p:nvSpPr>
          <p:cNvPr id="1167" name=""/>
          <p:cNvSpPr txBox="1"/>
          <p:nvPr/>
        </p:nvSpPr>
        <p:spPr>
          <a:xfrm>
            <a:off x="3456000" y="1548000"/>
            <a:ext cx="2376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20" spc="-1" strike="noStrike">
                <a:solidFill>
                  <a:srgbClr val="718592"/>
                </a:solidFill>
                <a:latin typeface="Courier New"/>
              </a:rPr>
              <a:t>SEVERITY-WEIGHTED UL</a:t>
            </a:r>
            <a:endParaRPr b="0" lang="en-US" sz="720" spc="-1" strike="noStrike">
              <a:latin typeface="Arial"/>
            </a:endParaRPr>
          </a:p>
        </p:txBody>
      </p:sp>
      <p:sp>
        <p:nvSpPr>
          <p:cNvPr id="1168" name=""/>
          <p:cNvSpPr txBox="1"/>
          <p:nvPr/>
        </p:nvSpPr>
        <p:spPr>
          <a:xfrm>
            <a:off x="3456000" y="1728000"/>
            <a:ext cx="2376000" cy="34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400" spc="-1" strike="noStrike">
                <a:solidFill>
                  <a:srgbClr val="c77b0b"/>
                </a:solidFill>
                <a:latin typeface="Arial"/>
              </a:rPr>
              <a:t>+2.84%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169" name=""/>
          <p:cNvSpPr txBox="1"/>
          <p:nvPr/>
        </p:nvSpPr>
        <p:spPr>
          <a:xfrm>
            <a:off x="3456000" y="2124000"/>
            <a:ext cx="2376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20" spc="-1" strike="noStrike">
                <a:solidFill>
                  <a:srgbClr val="526875"/>
                </a:solidFill>
                <a:latin typeface="Arial"/>
              </a:rPr>
              <a:t>dominated by highest-overload days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1170" name=""/>
          <p:cNvSpPr/>
          <p:nvPr/>
        </p:nvSpPr>
        <p:spPr>
          <a:xfrm>
            <a:off x="6228000" y="1404000"/>
            <a:ext cx="2700000" cy="100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1171" name=""/>
          <p:cNvSpPr/>
          <p:nvPr/>
        </p:nvSpPr>
        <p:spPr>
          <a:xfrm>
            <a:off x="6228000" y="1404000"/>
            <a:ext cx="64800" cy="1008000"/>
          </a:xfrm>
          <a:prstGeom prst="rect">
            <a:avLst/>
          </a:prstGeom>
          <a:solidFill>
            <a:srgbClr val="007c99"/>
          </a:solidFill>
          <a:ln w="0">
            <a:noFill/>
          </a:ln>
        </p:spPr>
      </p:sp>
      <p:sp>
        <p:nvSpPr>
          <p:cNvPr id="1172" name=""/>
          <p:cNvSpPr txBox="1"/>
          <p:nvPr/>
        </p:nvSpPr>
        <p:spPr>
          <a:xfrm>
            <a:off x="6408000" y="1548000"/>
            <a:ext cx="2376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20" spc="-1" strike="noStrike">
                <a:solidFill>
                  <a:srgbClr val="718592"/>
                </a:solidFill>
                <a:latin typeface="Courier New"/>
              </a:rPr>
              <a:t>UL DROPPED BYTES</a:t>
            </a:r>
            <a:endParaRPr b="0" lang="en-US" sz="720" spc="-1" strike="noStrike">
              <a:latin typeface="Arial"/>
            </a:endParaRPr>
          </a:p>
        </p:txBody>
      </p:sp>
      <p:sp>
        <p:nvSpPr>
          <p:cNvPr id="1173" name=""/>
          <p:cNvSpPr txBox="1"/>
          <p:nvPr/>
        </p:nvSpPr>
        <p:spPr>
          <a:xfrm>
            <a:off x="6408000" y="1728000"/>
            <a:ext cx="2376000" cy="34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400" spc="-1" strike="noStrike">
                <a:solidFill>
                  <a:srgbClr val="007c99"/>
                </a:solidFill>
                <a:latin typeface="Arial"/>
              </a:rPr>
              <a:t>+12.42%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174" name=""/>
          <p:cNvSpPr txBox="1"/>
          <p:nvPr/>
        </p:nvSpPr>
        <p:spPr>
          <a:xfrm>
            <a:off x="6408000" y="2124000"/>
            <a:ext cx="2376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20" spc="-1" strike="noStrike">
                <a:solidFill>
                  <a:srgbClr val="526875"/>
                </a:solidFill>
                <a:latin typeface="Arial"/>
              </a:rPr>
              <a:t>aggregate reduction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1175" name=""/>
          <p:cNvSpPr/>
          <p:nvPr/>
        </p:nvSpPr>
        <p:spPr>
          <a:xfrm>
            <a:off x="9180000" y="1404000"/>
            <a:ext cx="2556000" cy="100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1176" name=""/>
          <p:cNvSpPr/>
          <p:nvPr/>
        </p:nvSpPr>
        <p:spPr>
          <a:xfrm>
            <a:off x="9180000" y="1404000"/>
            <a:ext cx="64800" cy="1008000"/>
          </a:xfrm>
          <a:prstGeom prst="rect">
            <a:avLst/>
          </a:prstGeom>
          <a:solidFill>
            <a:srgbClr val="6750a4"/>
          </a:solidFill>
          <a:ln w="0">
            <a:noFill/>
          </a:ln>
        </p:spPr>
      </p:sp>
      <p:sp>
        <p:nvSpPr>
          <p:cNvPr id="1177" name=""/>
          <p:cNvSpPr txBox="1"/>
          <p:nvPr/>
        </p:nvSpPr>
        <p:spPr>
          <a:xfrm>
            <a:off x="9360000" y="1548000"/>
            <a:ext cx="2232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20" spc="-1" strike="noStrike">
                <a:solidFill>
                  <a:srgbClr val="718592"/>
                </a:solidFill>
                <a:latin typeface="Courier New"/>
              </a:rPr>
              <a:t>DL DROPPED BYTES</a:t>
            </a:r>
            <a:endParaRPr b="0" lang="en-US" sz="720" spc="-1" strike="noStrike">
              <a:latin typeface="Arial"/>
            </a:endParaRPr>
          </a:p>
        </p:txBody>
      </p:sp>
      <p:sp>
        <p:nvSpPr>
          <p:cNvPr id="1178" name=""/>
          <p:cNvSpPr txBox="1"/>
          <p:nvPr/>
        </p:nvSpPr>
        <p:spPr>
          <a:xfrm>
            <a:off x="9360000" y="1728000"/>
            <a:ext cx="2232000" cy="34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400" spc="-1" strike="noStrike">
                <a:solidFill>
                  <a:srgbClr val="6750a4"/>
                </a:solidFill>
                <a:latin typeface="Arial"/>
              </a:rPr>
              <a:t>+9.34%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179" name=""/>
          <p:cNvSpPr txBox="1"/>
          <p:nvPr/>
        </p:nvSpPr>
        <p:spPr>
          <a:xfrm>
            <a:off x="9360000" y="2124000"/>
            <a:ext cx="2232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20" spc="-1" strike="noStrike">
                <a:solidFill>
                  <a:srgbClr val="526875"/>
                </a:solidFill>
                <a:latin typeface="Arial"/>
              </a:rPr>
              <a:t>aggregate reduction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1180" name=""/>
          <p:cNvSpPr/>
          <p:nvPr/>
        </p:nvSpPr>
        <p:spPr>
          <a:xfrm>
            <a:off x="324000" y="2880000"/>
            <a:ext cx="6984000" cy="2880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1181" name=""/>
          <p:cNvSpPr/>
          <p:nvPr/>
        </p:nvSpPr>
        <p:spPr>
          <a:xfrm>
            <a:off x="324000" y="2880000"/>
            <a:ext cx="64800" cy="2880000"/>
          </a:xfrm>
          <a:prstGeom prst="rect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1182" name=""/>
          <p:cNvSpPr txBox="1"/>
          <p:nvPr/>
        </p:nvSpPr>
        <p:spPr>
          <a:xfrm>
            <a:off x="576000" y="3132000"/>
            <a:ext cx="6480000" cy="2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400" spc="-1" strike="noStrike">
                <a:solidFill>
                  <a:srgbClr val="172731"/>
                </a:solidFill>
                <a:latin typeface="Arial"/>
              </a:rPr>
              <a:t>Exactly paired experiment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183" name=""/>
          <p:cNvSpPr/>
          <p:nvPr/>
        </p:nvSpPr>
        <p:spPr>
          <a:xfrm>
            <a:off x="576000" y="3664800"/>
            <a:ext cx="79200" cy="79200"/>
          </a:xfrm>
          <a:prstGeom prst="ellipse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1184" name=""/>
          <p:cNvSpPr txBox="1"/>
          <p:nvPr/>
        </p:nvSpPr>
        <p:spPr>
          <a:xfrm>
            <a:off x="756000" y="3600000"/>
            <a:ext cx="6300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39" spc="-1" strike="noStrike">
                <a:solidFill>
                  <a:srgbClr val="172731"/>
                </a:solidFill>
                <a:latin typeface="Arial"/>
              </a:rPr>
              <a:t>30 fresh seeds</a:t>
            </a:r>
            <a:endParaRPr b="0" lang="en-US" sz="939" spc="-1" strike="noStrike">
              <a:latin typeface="Arial"/>
            </a:endParaRPr>
          </a:p>
        </p:txBody>
      </p:sp>
      <p:sp>
        <p:nvSpPr>
          <p:cNvPr id="1185" name=""/>
          <p:cNvSpPr txBox="1"/>
          <p:nvPr/>
        </p:nvSpPr>
        <p:spPr>
          <a:xfrm>
            <a:off x="756000" y="3780000"/>
            <a:ext cx="6300000" cy="43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20" spc="-1" strike="noStrike">
                <a:solidFill>
                  <a:srgbClr val="526875"/>
                </a:solidFill>
                <a:latin typeface="Arial"/>
              </a:rPr>
              <a:t>34001–34030; one simulated day per pair.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1186" name=""/>
          <p:cNvSpPr/>
          <p:nvPr/>
        </p:nvSpPr>
        <p:spPr>
          <a:xfrm>
            <a:off x="576000" y="4204800"/>
            <a:ext cx="79200" cy="79200"/>
          </a:xfrm>
          <a:prstGeom prst="ellipse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1187" name=""/>
          <p:cNvSpPr txBox="1"/>
          <p:nvPr/>
        </p:nvSpPr>
        <p:spPr>
          <a:xfrm>
            <a:off x="756000" y="4140000"/>
            <a:ext cx="6300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39" spc="-1" strike="noStrike">
                <a:solidFill>
                  <a:srgbClr val="172731"/>
                </a:solidFill>
                <a:latin typeface="Arial"/>
              </a:rPr>
              <a:t>Common random numbers</a:t>
            </a:r>
            <a:endParaRPr b="0" lang="en-US" sz="939" spc="-1" strike="noStrike">
              <a:latin typeface="Arial"/>
            </a:endParaRPr>
          </a:p>
        </p:txBody>
      </p:sp>
      <p:sp>
        <p:nvSpPr>
          <p:cNvPr id="1188" name=""/>
          <p:cNvSpPr txBox="1"/>
          <p:nvPr/>
        </p:nvSpPr>
        <p:spPr>
          <a:xfrm>
            <a:off x="756000" y="4320000"/>
            <a:ext cx="6300000" cy="43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20" spc="-1" strike="noStrike">
                <a:solidFill>
                  <a:srgbClr val="526875"/>
                </a:solidFill>
                <a:latin typeface="Arial"/>
              </a:rPr>
              <a:t>same scenario, arrivals, lifetimes, event schedule and rendezvous namespace.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1189" name=""/>
          <p:cNvSpPr/>
          <p:nvPr/>
        </p:nvSpPr>
        <p:spPr>
          <a:xfrm>
            <a:off x="576000" y="4744800"/>
            <a:ext cx="79200" cy="79200"/>
          </a:xfrm>
          <a:prstGeom prst="ellipse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1190" name=""/>
          <p:cNvSpPr txBox="1"/>
          <p:nvPr/>
        </p:nvSpPr>
        <p:spPr>
          <a:xfrm>
            <a:off x="756000" y="4680000"/>
            <a:ext cx="6300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39" spc="-1" strike="noStrike">
                <a:solidFill>
                  <a:srgbClr val="172731"/>
                </a:solidFill>
                <a:latin typeface="Arial"/>
              </a:rPr>
              <a:t>Four stress families</a:t>
            </a:r>
            <a:endParaRPr b="0" lang="en-US" sz="939" spc="-1" strike="noStrike">
              <a:latin typeface="Arial"/>
            </a:endParaRPr>
          </a:p>
        </p:txBody>
      </p:sp>
      <p:sp>
        <p:nvSpPr>
          <p:cNvPr id="1191" name=""/>
          <p:cNvSpPr txBox="1"/>
          <p:nvPr/>
        </p:nvSpPr>
        <p:spPr>
          <a:xfrm>
            <a:off x="756000" y="4860000"/>
            <a:ext cx="6300000" cy="43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20" spc="-1" strike="noStrike">
                <a:solidFill>
                  <a:srgbClr val="526875"/>
                </a:solidFill>
                <a:latin typeface="Arial"/>
              </a:rPr>
              <a:t>8 surge · 8 scheduled fault · 7 unannounced outage · 7 mixed.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1192" name=""/>
          <p:cNvSpPr/>
          <p:nvPr/>
        </p:nvSpPr>
        <p:spPr>
          <a:xfrm>
            <a:off x="576000" y="5284800"/>
            <a:ext cx="79200" cy="79200"/>
          </a:xfrm>
          <a:prstGeom prst="ellipse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1193" name=""/>
          <p:cNvSpPr txBox="1"/>
          <p:nvPr/>
        </p:nvSpPr>
        <p:spPr>
          <a:xfrm>
            <a:off x="756000" y="5220000"/>
            <a:ext cx="6300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39" spc="-1" strike="noStrike">
                <a:solidFill>
                  <a:srgbClr val="172731"/>
                </a:solidFill>
                <a:latin typeface="Arial"/>
              </a:rPr>
              <a:t>Aggregate guardrails</a:t>
            </a:r>
            <a:endParaRPr b="0" lang="en-US" sz="939" spc="-1" strike="noStrike">
              <a:latin typeface="Arial"/>
            </a:endParaRPr>
          </a:p>
        </p:txBody>
      </p:sp>
      <p:sp>
        <p:nvSpPr>
          <p:cNvPr id="1194" name=""/>
          <p:cNvSpPr txBox="1"/>
          <p:nvPr/>
        </p:nvSpPr>
        <p:spPr>
          <a:xfrm>
            <a:off x="756000" y="5400000"/>
            <a:ext cx="6300000" cy="43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20" spc="-1" strike="noStrike">
                <a:solidFill>
                  <a:srgbClr val="526875"/>
                </a:solidFill>
                <a:latin typeface="Arial"/>
              </a:rPr>
              <a:t>DL overload, both directional drops and establishment failures all pass.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1195" name=""/>
          <p:cNvSpPr/>
          <p:nvPr/>
        </p:nvSpPr>
        <p:spPr>
          <a:xfrm>
            <a:off x="7632000" y="2880000"/>
            <a:ext cx="4104000" cy="2880000"/>
          </a:xfrm>
          <a:prstGeom prst="roundRect">
            <a:avLst/>
          </a:prstGeom>
          <a:solidFill>
            <a:srgbClr val="fae8e6"/>
          </a:solidFill>
          <a:ln w="6480">
            <a:solidFill>
              <a:srgbClr val="ecc3bf"/>
            </a:solidFill>
            <a:round/>
          </a:ln>
        </p:spPr>
      </p:sp>
      <p:sp>
        <p:nvSpPr>
          <p:cNvPr id="1196" name=""/>
          <p:cNvSpPr/>
          <p:nvPr/>
        </p:nvSpPr>
        <p:spPr>
          <a:xfrm>
            <a:off x="7632000" y="2880000"/>
            <a:ext cx="64800" cy="2880000"/>
          </a:xfrm>
          <a:prstGeom prst="rect">
            <a:avLst/>
          </a:prstGeom>
          <a:solidFill>
            <a:srgbClr val="cd443b"/>
          </a:solidFill>
          <a:ln w="0">
            <a:noFill/>
          </a:ln>
        </p:spPr>
      </p:sp>
      <p:sp>
        <p:nvSpPr>
          <p:cNvPr id="1197" name=""/>
          <p:cNvSpPr txBox="1"/>
          <p:nvPr/>
        </p:nvSpPr>
        <p:spPr>
          <a:xfrm>
            <a:off x="7884000" y="3132000"/>
            <a:ext cx="3600000" cy="2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400" spc="-1" strike="noStrike">
                <a:solidFill>
                  <a:srgbClr val="cd443b"/>
                </a:solidFill>
                <a:latin typeface="Arial"/>
              </a:rPr>
              <a:t>Release decision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198" name=""/>
          <p:cNvSpPr txBox="1"/>
          <p:nvPr/>
        </p:nvSpPr>
        <p:spPr>
          <a:xfrm>
            <a:off x="7884000" y="3672000"/>
            <a:ext cx="3600000" cy="64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550" spc="-1" strike="noStrike">
                <a:solidFill>
                  <a:srgbClr val="172731"/>
                </a:solidFill>
                <a:latin typeface="Arial"/>
              </a:rPr>
              <a:t>Working demo candidate—not production-ready.</a:t>
            </a:r>
            <a:endParaRPr b="0" lang="en-US" sz="1550" spc="-1" strike="noStrike">
              <a:latin typeface="Arial"/>
            </a:endParaRPr>
          </a:p>
        </p:txBody>
      </p:sp>
      <p:sp>
        <p:nvSpPr>
          <p:cNvPr id="1199" name=""/>
          <p:cNvSpPr/>
          <p:nvPr/>
        </p:nvSpPr>
        <p:spPr>
          <a:xfrm>
            <a:off x="7884000" y="4536000"/>
            <a:ext cx="3600000" cy="100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1200" name=""/>
          <p:cNvSpPr/>
          <p:nvPr/>
        </p:nvSpPr>
        <p:spPr>
          <a:xfrm>
            <a:off x="7884000" y="4536000"/>
            <a:ext cx="64800" cy="1008000"/>
          </a:xfrm>
          <a:prstGeom prst="rect">
            <a:avLst/>
          </a:prstGeom>
          <a:solidFill>
            <a:srgbClr val="cd443b"/>
          </a:solidFill>
          <a:ln w="0">
            <a:noFill/>
          </a:ln>
        </p:spPr>
      </p:sp>
      <p:sp>
        <p:nvSpPr>
          <p:cNvPr id="1201" name=""/>
          <p:cNvSpPr txBox="1"/>
          <p:nvPr/>
        </p:nvSpPr>
        <p:spPr>
          <a:xfrm>
            <a:off x="8064000" y="4680000"/>
            <a:ext cx="3276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20" spc="-1" strike="noStrike">
                <a:solidFill>
                  <a:srgbClr val="718592"/>
                </a:solidFill>
                <a:latin typeface="Courier New"/>
              </a:rPr>
              <a:t>WORST MATCHED PAIR</a:t>
            </a:r>
            <a:endParaRPr b="0" lang="en-US" sz="720" spc="-1" strike="noStrike">
              <a:latin typeface="Arial"/>
            </a:endParaRPr>
          </a:p>
        </p:txBody>
      </p:sp>
      <p:sp>
        <p:nvSpPr>
          <p:cNvPr id="1202" name=""/>
          <p:cNvSpPr txBox="1"/>
          <p:nvPr/>
        </p:nvSpPr>
        <p:spPr>
          <a:xfrm>
            <a:off x="8064000" y="4860000"/>
            <a:ext cx="3276000" cy="34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400" spc="-1" strike="noStrike">
                <a:solidFill>
                  <a:srgbClr val="cd443b"/>
                </a:solidFill>
                <a:latin typeface="Arial"/>
              </a:rPr>
              <a:t>−</a:t>
            </a:r>
            <a:r>
              <a:rPr b="1" lang="en-US" sz="2400" spc="-1" strike="noStrike">
                <a:solidFill>
                  <a:srgbClr val="cd443b"/>
                </a:solidFill>
                <a:latin typeface="Arial"/>
              </a:rPr>
              <a:t>23.50%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203" name=""/>
          <p:cNvSpPr txBox="1"/>
          <p:nvPr/>
        </p:nvSpPr>
        <p:spPr>
          <a:xfrm>
            <a:off x="8064000" y="5256000"/>
            <a:ext cx="3276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20" spc="-1" strike="noStrike">
                <a:solidFill>
                  <a:srgbClr val="526875"/>
                </a:solidFill>
                <a:latin typeface="Arial"/>
              </a:rPr>
              <a:t>scheduled-fault tail regression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1204" name=""/>
          <p:cNvSpPr/>
          <p:nvPr/>
        </p:nvSpPr>
        <p:spPr>
          <a:xfrm>
            <a:off x="324000" y="6616800"/>
            <a:ext cx="11088000" cy="0"/>
          </a:xfrm>
          <a:prstGeom prst="line">
            <a:avLst/>
          </a:prstGeom>
          <a:ln w="1080">
            <a:solidFill>
              <a:srgbClr val="cfdc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05" name=""/>
          <p:cNvSpPr txBox="1"/>
          <p:nvPr/>
        </p:nvSpPr>
        <p:spPr>
          <a:xfrm>
            <a:off x="324000" y="6660000"/>
            <a:ext cx="10368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80" spc="-1" strike="noStrike">
                <a:solidFill>
                  <a:srgbClr val="718592"/>
                </a:solidFill>
                <a:latin typeface="Courier New"/>
              </a:rPr>
              <a:t>docs/cohort-mpc-full-campaign-results.md · demo_api/data/cohort_mpc_full_campaign_evidence_v1.json</a:t>
            </a:r>
            <a:endParaRPr b="0" lang="en-US" sz="680" spc="-1" strike="noStrike">
              <a:latin typeface="Arial"/>
            </a:endParaRPr>
          </a:p>
        </p:txBody>
      </p:sp>
      <p:sp>
        <p:nvSpPr>
          <p:cNvPr id="1206" name=""/>
          <p:cNvSpPr txBox="1"/>
          <p:nvPr/>
        </p:nvSpPr>
        <p:spPr>
          <a:xfrm>
            <a:off x="11052000" y="6660000"/>
            <a:ext cx="684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buNone/>
            </a:pPr>
            <a:r>
              <a:rPr b="1" lang="en-US" sz="750" spc="-1" strike="noStrike">
                <a:solidFill>
                  <a:srgbClr val="718592"/>
                </a:solidFill>
                <a:latin typeface="Courier New"/>
              </a:rPr>
              <a:t>20</a:t>
            </a:r>
            <a:endParaRPr b="0" lang="en-US" sz="7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3f7f8"/>
          </a:solidFill>
          <a:ln w="0">
            <a:noFill/>
          </a:ln>
        </p:spPr>
      </p:sp>
      <p:sp>
        <p:nvSpPr>
          <p:cNvPr id="1208" name=""/>
          <p:cNvSpPr txBox="1"/>
          <p:nvPr/>
        </p:nvSpPr>
        <p:spPr>
          <a:xfrm>
            <a:off x="324000" y="158400"/>
            <a:ext cx="3096000" cy="23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00" spc="508" strike="noStrike">
                <a:solidFill>
                  <a:srgbClr val="007c99"/>
                </a:solidFill>
                <a:latin typeface="Courier New"/>
              </a:rPr>
              <a:t>STAGE 3 · SCENARIO BREAKDOWN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209" name=""/>
          <p:cNvSpPr txBox="1"/>
          <p:nvPr/>
        </p:nvSpPr>
        <p:spPr>
          <a:xfrm>
            <a:off x="324000" y="378000"/>
            <a:ext cx="10584000" cy="57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50" spc="-1" strike="noStrike">
                <a:solidFill>
                  <a:srgbClr val="172731"/>
                </a:solidFill>
                <a:latin typeface="Arial"/>
              </a:rPr>
              <a:t>Average gains are broad, but robustness is weakest under surprise and fault tails</a:t>
            </a:r>
            <a:endParaRPr b="0" lang="en-US" sz="2150" spc="-1" strike="noStrike">
              <a:latin typeface="Arial"/>
            </a:endParaRPr>
          </a:p>
        </p:txBody>
      </p:sp>
      <p:sp>
        <p:nvSpPr>
          <p:cNvPr id="1210" name=""/>
          <p:cNvSpPr/>
          <p:nvPr/>
        </p:nvSpPr>
        <p:spPr>
          <a:xfrm>
            <a:off x="10800000" y="180000"/>
            <a:ext cx="936000" cy="19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1211" name=""/>
          <p:cNvSpPr txBox="1"/>
          <p:nvPr/>
        </p:nvSpPr>
        <p:spPr>
          <a:xfrm>
            <a:off x="10818000" y="219600"/>
            <a:ext cx="900000" cy="10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710" spc="-1" strike="noStrike">
                <a:solidFill>
                  <a:srgbClr val="c77b0b"/>
                </a:solidFill>
                <a:latin typeface="Courier New"/>
              </a:rPr>
              <a:t>SYNTHETIC DATA</a:t>
            </a:r>
            <a:endParaRPr b="0" lang="en-US" sz="710" spc="-1" strike="noStrike">
              <a:latin typeface="Arial"/>
            </a:endParaRPr>
          </a:p>
        </p:txBody>
      </p:sp>
      <p:sp>
        <p:nvSpPr>
          <p:cNvPr id="1212" name=""/>
          <p:cNvSpPr txBox="1"/>
          <p:nvPr/>
        </p:nvSpPr>
        <p:spPr>
          <a:xfrm>
            <a:off x="504000" y="1584000"/>
            <a:ext cx="4284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00" spc="-1" strike="noStrike">
                <a:solidFill>
                  <a:srgbClr val="718592"/>
                </a:solidFill>
                <a:latin typeface="Courier New"/>
              </a:rPr>
              <a:t>AGGREGATE UL OVERLOAD-AREA REDUCTION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213" name=""/>
          <p:cNvSpPr txBox="1"/>
          <p:nvPr/>
        </p:nvSpPr>
        <p:spPr>
          <a:xfrm>
            <a:off x="504000" y="2088000"/>
            <a:ext cx="2304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50" spc="-1" strike="noStrike">
                <a:solidFill>
                  <a:srgbClr val="172731"/>
                </a:solidFill>
                <a:latin typeface="Arial"/>
              </a:rPr>
              <a:t>Demand surge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1214" name=""/>
          <p:cNvSpPr txBox="1"/>
          <p:nvPr/>
        </p:nvSpPr>
        <p:spPr>
          <a:xfrm>
            <a:off x="2880000" y="2088000"/>
            <a:ext cx="576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80" spc="-1" strike="noStrike">
                <a:solidFill>
                  <a:srgbClr val="718592"/>
                </a:solidFill>
                <a:latin typeface="Courier New"/>
              </a:rPr>
              <a:t>n=8</a:t>
            </a:r>
            <a:endParaRPr b="0" lang="en-US" sz="780" spc="-1" strike="noStrike">
              <a:latin typeface="Arial"/>
            </a:endParaRPr>
          </a:p>
        </p:txBody>
      </p:sp>
      <p:sp>
        <p:nvSpPr>
          <p:cNvPr id="1215" name=""/>
          <p:cNvSpPr/>
          <p:nvPr/>
        </p:nvSpPr>
        <p:spPr>
          <a:xfrm>
            <a:off x="3672000" y="2124000"/>
            <a:ext cx="3276000" cy="252000"/>
          </a:xfrm>
          <a:prstGeom prst="roundRect">
            <a:avLst/>
          </a:prstGeom>
          <a:solidFill>
            <a:srgbClr val="eaf1f3"/>
          </a:solidFill>
          <a:ln w="0">
            <a:noFill/>
          </a:ln>
        </p:spPr>
      </p:sp>
      <p:sp>
        <p:nvSpPr>
          <p:cNvPr id="1216" name=""/>
          <p:cNvSpPr/>
          <p:nvPr/>
        </p:nvSpPr>
        <p:spPr>
          <a:xfrm>
            <a:off x="3672000" y="2124000"/>
            <a:ext cx="1706760" cy="252000"/>
          </a:xfrm>
          <a:prstGeom prst="roundRect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1217" name=""/>
          <p:cNvSpPr txBox="1"/>
          <p:nvPr/>
        </p:nvSpPr>
        <p:spPr>
          <a:xfrm>
            <a:off x="7020000" y="2095200"/>
            <a:ext cx="900000" cy="32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n-US" sz="850" spc="-1" strike="noStrike">
                <a:solidFill>
                  <a:srgbClr val="172731"/>
                </a:solidFill>
                <a:latin typeface="Arial"/>
              </a:rPr>
              <a:t>+10.42%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1218" name=""/>
          <p:cNvSpPr txBox="1"/>
          <p:nvPr/>
        </p:nvSpPr>
        <p:spPr>
          <a:xfrm>
            <a:off x="504000" y="2988000"/>
            <a:ext cx="2304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50" spc="-1" strike="noStrike">
                <a:solidFill>
                  <a:srgbClr val="172731"/>
                </a:solidFill>
                <a:latin typeface="Arial"/>
              </a:rPr>
              <a:t>Scheduled fault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1219" name=""/>
          <p:cNvSpPr txBox="1"/>
          <p:nvPr/>
        </p:nvSpPr>
        <p:spPr>
          <a:xfrm>
            <a:off x="2880000" y="2988000"/>
            <a:ext cx="576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80" spc="-1" strike="noStrike">
                <a:solidFill>
                  <a:srgbClr val="718592"/>
                </a:solidFill>
                <a:latin typeface="Courier New"/>
              </a:rPr>
              <a:t>n=8</a:t>
            </a:r>
            <a:endParaRPr b="0" lang="en-US" sz="780" spc="-1" strike="noStrike">
              <a:latin typeface="Arial"/>
            </a:endParaRPr>
          </a:p>
        </p:txBody>
      </p:sp>
      <p:sp>
        <p:nvSpPr>
          <p:cNvPr id="1220" name=""/>
          <p:cNvSpPr/>
          <p:nvPr/>
        </p:nvSpPr>
        <p:spPr>
          <a:xfrm>
            <a:off x="3672000" y="3024000"/>
            <a:ext cx="3276000" cy="252000"/>
          </a:xfrm>
          <a:prstGeom prst="roundRect">
            <a:avLst/>
          </a:prstGeom>
          <a:solidFill>
            <a:srgbClr val="eaf1f3"/>
          </a:solidFill>
          <a:ln w="0">
            <a:noFill/>
          </a:ln>
        </p:spPr>
      </p:sp>
      <p:sp>
        <p:nvSpPr>
          <p:cNvPr id="1221" name=""/>
          <p:cNvSpPr/>
          <p:nvPr/>
        </p:nvSpPr>
        <p:spPr>
          <a:xfrm>
            <a:off x="3672000" y="3024000"/>
            <a:ext cx="3113640" cy="252000"/>
          </a:xfrm>
          <a:prstGeom prst="roundRect">
            <a:avLst/>
          </a:prstGeom>
          <a:solidFill>
            <a:srgbClr val="c77b0b"/>
          </a:solidFill>
          <a:ln w="0">
            <a:noFill/>
          </a:ln>
        </p:spPr>
      </p:sp>
      <p:sp>
        <p:nvSpPr>
          <p:cNvPr id="1222" name=""/>
          <p:cNvSpPr txBox="1"/>
          <p:nvPr/>
        </p:nvSpPr>
        <p:spPr>
          <a:xfrm>
            <a:off x="7020000" y="2995200"/>
            <a:ext cx="900000" cy="32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n-US" sz="850" spc="-1" strike="noStrike">
                <a:solidFill>
                  <a:srgbClr val="172731"/>
                </a:solidFill>
                <a:latin typeface="Arial"/>
              </a:rPr>
              <a:t>+19.01%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1223" name=""/>
          <p:cNvSpPr txBox="1"/>
          <p:nvPr/>
        </p:nvSpPr>
        <p:spPr>
          <a:xfrm>
            <a:off x="504000" y="3888000"/>
            <a:ext cx="2304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50" spc="-1" strike="noStrike">
                <a:solidFill>
                  <a:srgbClr val="172731"/>
                </a:solidFill>
                <a:latin typeface="Arial"/>
              </a:rPr>
              <a:t>Unannounced outage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1224" name=""/>
          <p:cNvSpPr txBox="1"/>
          <p:nvPr/>
        </p:nvSpPr>
        <p:spPr>
          <a:xfrm>
            <a:off x="2880000" y="3888000"/>
            <a:ext cx="576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80" spc="-1" strike="noStrike">
                <a:solidFill>
                  <a:srgbClr val="718592"/>
                </a:solidFill>
                <a:latin typeface="Courier New"/>
              </a:rPr>
              <a:t>n=7</a:t>
            </a:r>
            <a:endParaRPr b="0" lang="en-US" sz="780" spc="-1" strike="noStrike">
              <a:latin typeface="Arial"/>
            </a:endParaRPr>
          </a:p>
        </p:txBody>
      </p:sp>
      <p:sp>
        <p:nvSpPr>
          <p:cNvPr id="1225" name=""/>
          <p:cNvSpPr/>
          <p:nvPr/>
        </p:nvSpPr>
        <p:spPr>
          <a:xfrm>
            <a:off x="3672000" y="3924000"/>
            <a:ext cx="3276000" cy="252000"/>
          </a:xfrm>
          <a:prstGeom prst="roundRect">
            <a:avLst/>
          </a:prstGeom>
          <a:solidFill>
            <a:srgbClr val="eaf1f3"/>
          </a:solidFill>
          <a:ln w="0">
            <a:noFill/>
          </a:ln>
        </p:spPr>
      </p:sp>
      <p:sp>
        <p:nvSpPr>
          <p:cNvPr id="1226" name=""/>
          <p:cNvSpPr/>
          <p:nvPr/>
        </p:nvSpPr>
        <p:spPr>
          <a:xfrm>
            <a:off x="3672000" y="3924000"/>
            <a:ext cx="116280" cy="252000"/>
          </a:xfrm>
          <a:prstGeom prst="roundRect">
            <a:avLst/>
          </a:prstGeom>
          <a:solidFill>
            <a:srgbClr val="cd443b"/>
          </a:solidFill>
          <a:ln w="0">
            <a:noFill/>
          </a:ln>
        </p:spPr>
      </p:sp>
      <p:sp>
        <p:nvSpPr>
          <p:cNvPr id="1227" name=""/>
          <p:cNvSpPr txBox="1"/>
          <p:nvPr/>
        </p:nvSpPr>
        <p:spPr>
          <a:xfrm>
            <a:off x="7020000" y="3895200"/>
            <a:ext cx="900000" cy="32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n-US" sz="850" spc="-1" strike="noStrike">
                <a:solidFill>
                  <a:srgbClr val="172731"/>
                </a:solidFill>
                <a:latin typeface="Arial"/>
              </a:rPr>
              <a:t>+0.71%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1228" name=""/>
          <p:cNvSpPr txBox="1"/>
          <p:nvPr/>
        </p:nvSpPr>
        <p:spPr>
          <a:xfrm>
            <a:off x="504000" y="4788000"/>
            <a:ext cx="2304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50" spc="-1" strike="noStrike">
                <a:solidFill>
                  <a:srgbClr val="172731"/>
                </a:solidFill>
                <a:latin typeface="Arial"/>
              </a:rPr>
              <a:t>Mixed stress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1229" name=""/>
          <p:cNvSpPr txBox="1"/>
          <p:nvPr/>
        </p:nvSpPr>
        <p:spPr>
          <a:xfrm>
            <a:off x="2880000" y="4788000"/>
            <a:ext cx="576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80" spc="-1" strike="noStrike">
                <a:solidFill>
                  <a:srgbClr val="718592"/>
                </a:solidFill>
                <a:latin typeface="Courier New"/>
              </a:rPr>
              <a:t>n=7</a:t>
            </a:r>
            <a:endParaRPr b="0" lang="en-US" sz="780" spc="-1" strike="noStrike">
              <a:latin typeface="Arial"/>
            </a:endParaRPr>
          </a:p>
        </p:txBody>
      </p:sp>
      <p:sp>
        <p:nvSpPr>
          <p:cNvPr id="1230" name=""/>
          <p:cNvSpPr/>
          <p:nvPr/>
        </p:nvSpPr>
        <p:spPr>
          <a:xfrm>
            <a:off x="3672000" y="4824000"/>
            <a:ext cx="3276000" cy="252000"/>
          </a:xfrm>
          <a:prstGeom prst="roundRect">
            <a:avLst/>
          </a:prstGeom>
          <a:solidFill>
            <a:srgbClr val="eaf1f3"/>
          </a:solidFill>
          <a:ln w="0">
            <a:noFill/>
          </a:ln>
        </p:spPr>
      </p:sp>
      <p:sp>
        <p:nvSpPr>
          <p:cNvPr id="1231" name=""/>
          <p:cNvSpPr/>
          <p:nvPr/>
        </p:nvSpPr>
        <p:spPr>
          <a:xfrm>
            <a:off x="3672000" y="4824000"/>
            <a:ext cx="314280" cy="252000"/>
          </a:xfrm>
          <a:prstGeom prst="roundRect">
            <a:avLst/>
          </a:prstGeom>
          <a:solidFill>
            <a:srgbClr val="6750a4"/>
          </a:solidFill>
          <a:ln w="0">
            <a:noFill/>
          </a:ln>
        </p:spPr>
      </p:sp>
      <p:sp>
        <p:nvSpPr>
          <p:cNvPr id="1232" name=""/>
          <p:cNvSpPr txBox="1"/>
          <p:nvPr/>
        </p:nvSpPr>
        <p:spPr>
          <a:xfrm>
            <a:off x="7020000" y="4795200"/>
            <a:ext cx="900000" cy="32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n-US" sz="850" spc="-1" strike="noStrike">
                <a:solidFill>
                  <a:srgbClr val="172731"/>
                </a:solidFill>
                <a:latin typeface="Arial"/>
              </a:rPr>
              <a:t>+1.92%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1233" name=""/>
          <p:cNvSpPr/>
          <p:nvPr/>
        </p:nvSpPr>
        <p:spPr>
          <a:xfrm>
            <a:off x="7704000" y="1512000"/>
            <a:ext cx="4032000" cy="4032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1234" name=""/>
          <p:cNvSpPr/>
          <p:nvPr/>
        </p:nvSpPr>
        <p:spPr>
          <a:xfrm>
            <a:off x="7704000" y="1512000"/>
            <a:ext cx="64800" cy="4032000"/>
          </a:xfrm>
          <a:prstGeom prst="rect">
            <a:avLst/>
          </a:prstGeom>
          <a:solidFill>
            <a:srgbClr val="cd443b"/>
          </a:solidFill>
          <a:ln w="0">
            <a:noFill/>
          </a:ln>
        </p:spPr>
      </p:sp>
      <p:sp>
        <p:nvSpPr>
          <p:cNvPr id="1235" name=""/>
          <p:cNvSpPr txBox="1"/>
          <p:nvPr/>
        </p:nvSpPr>
        <p:spPr>
          <a:xfrm>
            <a:off x="7956000" y="1764000"/>
            <a:ext cx="3528000" cy="2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400" spc="-1" strike="noStrike">
                <a:solidFill>
                  <a:srgbClr val="172731"/>
                </a:solidFill>
                <a:latin typeface="Arial"/>
              </a:rPr>
              <a:t>Worst pair by scenario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236" name=""/>
          <p:cNvSpPr txBox="1"/>
          <p:nvPr/>
        </p:nvSpPr>
        <p:spPr>
          <a:xfrm>
            <a:off x="7956000" y="2448000"/>
            <a:ext cx="2160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89" spc="-1" strike="noStrike">
                <a:solidFill>
                  <a:srgbClr val="172731"/>
                </a:solidFill>
                <a:latin typeface="Arial"/>
              </a:rPr>
              <a:t>Demand surge</a:t>
            </a:r>
            <a:endParaRPr b="0" lang="en-US" sz="889" spc="-1" strike="noStrike">
              <a:latin typeface="Arial"/>
            </a:endParaRPr>
          </a:p>
        </p:txBody>
      </p:sp>
      <p:sp>
        <p:nvSpPr>
          <p:cNvPr id="1237" name=""/>
          <p:cNvSpPr txBox="1"/>
          <p:nvPr/>
        </p:nvSpPr>
        <p:spPr>
          <a:xfrm>
            <a:off x="10260000" y="2412000"/>
            <a:ext cx="1188000" cy="2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buNone/>
            </a:pPr>
            <a:r>
              <a:rPr b="1" lang="en-US" sz="1100" spc="-1" strike="noStrike">
                <a:solidFill>
                  <a:srgbClr val="16805f"/>
                </a:solidFill>
                <a:latin typeface="Courier New"/>
              </a:rPr>
              <a:t>+2.57%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238" name=""/>
          <p:cNvSpPr/>
          <p:nvPr/>
        </p:nvSpPr>
        <p:spPr>
          <a:xfrm>
            <a:off x="7956000" y="2736000"/>
            <a:ext cx="3492000" cy="0"/>
          </a:xfrm>
          <a:prstGeom prst="line">
            <a:avLst/>
          </a:prstGeom>
          <a:ln w="720">
            <a:solidFill>
              <a:srgbClr val="cfdc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39" name=""/>
          <p:cNvSpPr txBox="1"/>
          <p:nvPr/>
        </p:nvSpPr>
        <p:spPr>
          <a:xfrm>
            <a:off x="7956000" y="3096000"/>
            <a:ext cx="2160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89" spc="-1" strike="noStrike">
                <a:solidFill>
                  <a:srgbClr val="172731"/>
                </a:solidFill>
                <a:latin typeface="Arial"/>
              </a:rPr>
              <a:t>Scheduled fault</a:t>
            </a:r>
            <a:endParaRPr b="0" lang="en-US" sz="889" spc="-1" strike="noStrike">
              <a:latin typeface="Arial"/>
            </a:endParaRPr>
          </a:p>
        </p:txBody>
      </p:sp>
      <p:sp>
        <p:nvSpPr>
          <p:cNvPr id="1240" name=""/>
          <p:cNvSpPr txBox="1"/>
          <p:nvPr/>
        </p:nvSpPr>
        <p:spPr>
          <a:xfrm>
            <a:off x="10260000" y="3060000"/>
            <a:ext cx="1188000" cy="2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buNone/>
            </a:pPr>
            <a:r>
              <a:rPr b="1" lang="en-US" sz="1100" spc="-1" strike="noStrike">
                <a:solidFill>
                  <a:srgbClr val="cd443b"/>
                </a:solidFill>
                <a:latin typeface="Courier New"/>
              </a:rPr>
              <a:t>-23.50%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241" name=""/>
          <p:cNvSpPr/>
          <p:nvPr/>
        </p:nvSpPr>
        <p:spPr>
          <a:xfrm>
            <a:off x="7956000" y="3384000"/>
            <a:ext cx="3492000" cy="0"/>
          </a:xfrm>
          <a:prstGeom prst="line">
            <a:avLst/>
          </a:prstGeom>
          <a:ln w="720">
            <a:solidFill>
              <a:srgbClr val="cfdc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42" name=""/>
          <p:cNvSpPr txBox="1"/>
          <p:nvPr/>
        </p:nvSpPr>
        <p:spPr>
          <a:xfrm>
            <a:off x="7956000" y="3744000"/>
            <a:ext cx="2160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89" spc="-1" strike="noStrike">
                <a:solidFill>
                  <a:srgbClr val="172731"/>
                </a:solidFill>
                <a:latin typeface="Arial"/>
              </a:rPr>
              <a:t>Unannounced outage</a:t>
            </a:r>
            <a:endParaRPr b="0" lang="en-US" sz="889" spc="-1" strike="noStrike">
              <a:latin typeface="Arial"/>
            </a:endParaRPr>
          </a:p>
        </p:txBody>
      </p:sp>
      <p:sp>
        <p:nvSpPr>
          <p:cNvPr id="1243" name=""/>
          <p:cNvSpPr txBox="1"/>
          <p:nvPr/>
        </p:nvSpPr>
        <p:spPr>
          <a:xfrm>
            <a:off x="10260000" y="3708000"/>
            <a:ext cx="1188000" cy="2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buNone/>
            </a:pPr>
            <a:r>
              <a:rPr b="1" lang="en-US" sz="1100" spc="-1" strike="noStrike">
                <a:solidFill>
                  <a:srgbClr val="cd443b"/>
                </a:solidFill>
                <a:latin typeface="Courier New"/>
              </a:rPr>
              <a:t>-9.84%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244" name=""/>
          <p:cNvSpPr/>
          <p:nvPr/>
        </p:nvSpPr>
        <p:spPr>
          <a:xfrm>
            <a:off x="7956000" y="4032000"/>
            <a:ext cx="3492000" cy="0"/>
          </a:xfrm>
          <a:prstGeom prst="line">
            <a:avLst/>
          </a:prstGeom>
          <a:ln w="720">
            <a:solidFill>
              <a:srgbClr val="cfdc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45" name=""/>
          <p:cNvSpPr txBox="1"/>
          <p:nvPr/>
        </p:nvSpPr>
        <p:spPr>
          <a:xfrm>
            <a:off x="7956000" y="4392000"/>
            <a:ext cx="2160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89" spc="-1" strike="noStrike">
                <a:solidFill>
                  <a:srgbClr val="172731"/>
                </a:solidFill>
                <a:latin typeface="Arial"/>
              </a:rPr>
              <a:t>Mixed stress</a:t>
            </a:r>
            <a:endParaRPr b="0" lang="en-US" sz="889" spc="-1" strike="noStrike">
              <a:latin typeface="Arial"/>
            </a:endParaRPr>
          </a:p>
        </p:txBody>
      </p:sp>
      <p:sp>
        <p:nvSpPr>
          <p:cNvPr id="1246" name=""/>
          <p:cNvSpPr txBox="1"/>
          <p:nvPr/>
        </p:nvSpPr>
        <p:spPr>
          <a:xfrm>
            <a:off x="10260000" y="4356000"/>
            <a:ext cx="1188000" cy="2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buNone/>
            </a:pPr>
            <a:r>
              <a:rPr b="1" lang="en-US" sz="1100" spc="-1" strike="noStrike">
                <a:solidFill>
                  <a:srgbClr val="cd443b"/>
                </a:solidFill>
                <a:latin typeface="Courier New"/>
              </a:rPr>
              <a:t>-8.28%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247" name=""/>
          <p:cNvSpPr/>
          <p:nvPr/>
        </p:nvSpPr>
        <p:spPr>
          <a:xfrm>
            <a:off x="7956000" y="4680000"/>
            <a:ext cx="3492000" cy="0"/>
          </a:xfrm>
          <a:prstGeom prst="line">
            <a:avLst/>
          </a:prstGeom>
          <a:ln w="720">
            <a:solidFill>
              <a:srgbClr val="cfdc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48" name=""/>
          <p:cNvSpPr/>
          <p:nvPr/>
        </p:nvSpPr>
        <p:spPr>
          <a:xfrm>
            <a:off x="324000" y="5796000"/>
            <a:ext cx="11412000" cy="468000"/>
          </a:xfrm>
          <a:prstGeom prst="roundRect">
            <a:avLst/>
          </a:prstGeom>
          <a:solidFill>
            <a:srgbClr val="faf0de"/>
          </a:solidFill>
          <a:ln w="0">
            <a:noFill/>
          </a:ln>
        </p:spPr>
      </p:sp>
      <p:sp>
        <p:nvSpPr>
          <p:cNvPr id="1249" name=""/>
          <p:cNvSpPr/>
          <p:nvPr/>
        </p:nvSpPr>
        <p:spPr>
          <a:xfrm>
            <a:off x="324000" y="5796000"/>
            <a:ext cx="64800" cy="468000"/>
          </a:xfrm>
          <a:prstGeom prst="rect">
            <a:avLst/>
          </a:prstGeom>
          <a:solidFill>
            <a:srgbClr val="c77b0b"/>
          </a:solidFill>
          <a:ln w="0">
            <a:noFill/>
          </a:ln>
        </p:spPr>
      </p:sp>
      <p:sp>
        <p:nvSpPr>
          <p:cNvPr id="1250" name=""/>
          <p:cNvSpPr txBox="1"/>
          <p:nvPr/>
        </p:nvSpPr>
        <p:spPr>
          <a:xfrm>
            <a:off x="576000" y="5904000"/>
            <a:ext cx="1090800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20" spc="-1" strike="noStrike">
                <a:solidFill>
                  <a:srgbClr val="172731"/>
                </a:solidFill>
                <a:latin typeface="Arial"/>
              </a:rPr>
              <a:t>Next release gate: positive severity-weighted confidence bounds on untouched seeds, plus materially reduced unannounced-outage and scheduled-fault tails.</a:t>
            </a:r>
            <a:endParaRPr b="0" lang="en-US" sz="920" spc="-1" strike="noStrike">
              <a:latin typeface="Arial"/>
            </a:endParaRPr>
          </a:p>
        </p:txBody>
      </p:sp>
      <p:sp>
        <p:nvSpPr>
          <p:cNvPr id="1251" name=""/>
          <p:cNvSpPr/>
          <p:nvPr/>
        </p:nvSpPr>
        <p:spPr>
          <a:xfrm>
            <a:off x="324000" y="6616800"/>
            <a:ext cx="11088000" cy="0"/>
          </a:xfrm>
          <a:prstGeom prst="line">
            <a:avLst/>
          </a:prstGeom>
          <a:ln w="1080">
            <a:solidFill>
              <a:srgbClr val="cfdc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52" name=""/>
          <p:cNvSpPr txBox="1"/>
          <p:nvPr/>
        </p:nvSpPr>
        <p:spPr>
          <a:xfrm>
            <a:off x="324000" y="6660000"/>
            <a:ext cx="10368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80" spc="-1" strike="noStrike">
                <a:solidFill>
                  <a:srgbClr val="718592"/>
                </a:solidFill>
                <a:latin typeface="Courier New"/>
              </a:rPr>
              <a:t>demo_api/data/cohort_mpc_full_campaign_evidence_v1.json · docs/cohort-mpc-full-campaign-results.md</a:t>
            </a:r>
            <a:endParaRPr b="0" lang="en-US" sz="680" spc="-1" strike="noStrike">
              <a:latin typeface="Arial"/>
            </a:endParaRPr>
          </a:p>
        </p:txBody>
      </p:sp>
      <p:sp>
        <p:nvSpPr>
          <p:cNvPr id="1253" name=""/>
          <p:cNvSpPr txBox="1"/>
          <p:nvPr/>
        </p:nvSpPr>
        <p:spPr>
          <a:xfrm>
            <a:off x="11052000" y="6660000"/>
            <a:ext cx="684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buNone/>
            </a:pPr>
            <a:r>
              <a:rPr b="1" lang="en-US" sz="750" spc="-1" strike="noStrike">
                <a:solidFill>
                  <a:srgbClr val="718592"/>
                </a:solidFill>
                <a:latin typeface="Courier New"/>
              </a:rPr>
              <a:t>21</a:t>
            </a:r>
            <a:endParaRPr b="0" lang="en-US" sz="7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3f7f8"/>
          </a:solidFill>
          <a:ln w="0">
            <a:noFill/>
          </a:ln>
        </p:spPr>
      </p:sp>
      <p:sp>
        <p:nvSpPr>
          <p:cNvPr id="1255" name=""/>
          <p:cNvSpPr txBox="1"/>
          <p:nvPr/>
        </p:nvSpPr>
        <p:spPr>
          <a:xfrm>
            <a:off x="324000" y="158400"/>
            <a:ext cx="3096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00" spc="508" strike="noStrike">
                <a:solidFill>
                  <a:srgbClr val="007c99"/>
                </a:solidFill>
                <a:latin typeface="Courier New"/>
              </a:rPr>
              <a:t>STAGE 4 · WORKING DEMO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256" name=""/>
          <p:cNvSpPr txBox="1"/>
          <p:nvPr/>
        </p:nvSpPr>
        <p:spPr>
          <a:xfrm>
            <a:off x="324000" y="378000"/>
            <a:ext cx="10584000" cy="57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50" spc="-1" strike="noStrike">
                <a:solidFill>
                  <a:srgbClr val="172731"/>
                </a:solidFill>
                <a:latin typeface="Arial"/>
              </a:rPr>
              <a:t>The dashboard is a real causal runtime—not a prerecorded animation</a:t>
            </a:r>
            <a:endParaRPr b="0" lang="en-US" sz="2150" spc="-1" strike="noStrike">
              <a:latin typeface="Arial"/>
            </a:endParaRPr>
          </a:p>
        </p:txBody>
      </p:sp>
      <p:sp>
        <p:nvSpPr>
          <p:cNvPr id="1257" name=""/>
          <p:cNvSpPr/>
          <p:nvPr/>
        </p:nvSpPr>
        <p:spPr>
          <a:xfrm>
            <a:off x="10800000" y="180000"/>
            <a:ext cx="936000" cy="19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1258" name=""/>
          <p:cNvSpPr txBox="1"/>
          <p:nvPr/>
        </p:nvSpPr>
        <p:spPr>
          <a:xfrm>
            <a:off x="10818000" y="219600"/>
            <a:ext cx="900000" cy="10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710" spc="-1" strike="noStrike">
                <a:solidFill>
                  <a:srgbClr val="c77b0b"/>
                </a:solidFill>
                <a:latin typeface="Courier New"/>
              </a:rPr>
              <a:t>SYNTHETIC DATA</a:t>
            </a:r>
            <a:endParaRPr b="0" lang="en-US" sz="710" spc="-1" strike="noStrike">
              <a:latin typeface="Arial"/>
            </a:endParaRPr>
          </a:p>
        </p:txBody>
      </p:sp>
      <p:sp>
        <p:nvSpPr>
          <p:cNvPr id="1259" name=""/>
          <p:cNvSpPr/>
          <p:nvPr/>
        </p:nvSpPr>
        <p:spPr>
          <a:xfrm>
            <a:off x="324000" y="1476000"/>
            <a:ext cx="11412000" cy="684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1260" name=""/>
          <p:cNvSpPr/>
          <p:nvPr/>
        </p:nvSpPr>
        <p:spPr>
          <a:xfrm>
            <a:off x="324000" y="1476000"/>
            <a:ext cx="64800" cy="684000"/>
          </a:xfrm>
          <a:prstGeom prst="rect">
            <a:avLst/>
          </a:prstGeom>
          <a:solidFill>
            <a:srgbClr val="007c99"/>
          </a:solidFill>
          <a:ln w="0">
            <a:noFill/>
          </a:ln>
        </p:spPr>
      </p:sp>
      <p:sp>
        <p:nvSpPr>
          <p:cNvPr id="1261" name=""/>
          <p:cNvSpPr txBox="1"/>
          <p:nvPr/>
        </p:nvSpPr>
        <p:spPr>
          <a:xfrm>
            <a:off x="612000" y="1620000"/>
            <a:ext cx="2556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39" spc="-1" strike="noStrike">
                <a:solidFill>
                  <a:srgbClr val="007c99"/>
                </a:solidFill>
                <a:latin typeface="Courier New"/>
              </a:rPr>
              <a:t>REACT OPERATOR CONSOLE</a:t>
            </a:r>
            <a:endParaRPr b="0" lang="en-US" sz="839" spc="-1" strike="noStrike">
              <a:latin typeface="Arial"/>
            </a:endParaRPr>
          </a:p>
        </p:txBody>
      </p:sp>
      <p:sp>
        <p:nvSpPr>
          <p:cNvPr id="1262" name=""/>
          <p:cNvSpPr txBox="1"/>
          <p:nvPr/>
        </p:nvSpPr>
        <p:spPr>
          <a:xfrm>
            <a:off x="3312000" y="1584000"/>
            <a:ext cx="781200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1000" spc="-1" strike="noStrike">
                <a:solidFill>
                  <a:srgbClr val="172731"/>
                </a:solidFill>
                <a:latin typeface="Arial"/>
              </a:rPr>
              <a:t>Live Dashboard · Evidence · Technical Detail · Expert mode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263" name=""/>
          <p:cNvSpPr/>
          <p:nvPr/>
        </p:nvSpPr>
        <p:spPr>
          <a:xfrm>
            <a:off x="612000" y="2376000"/>
            <a:ext cx="10836000" cy="684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1264" name=""/>
          <p:cNvSpPr/>
          <p:nvPr/>
        </p:nvSpPr>
        <p:spPr>
          <a:xfrm>
            <a:off x="612000" y="2376000"/>
            <a:ext cx="64800" cy="684000"/>
          </a:xfrm>
          <a:prstGeom prst="rect">
            <a:avLst/>
          </a:prstGeom>
          <a:solidFill>
            <a:srgbClr val="6750a4"/>
          </a:solidFill>
          <a:ln w="0">
            <a:noFill/>
          </a:ln>
        </p:spPr>
      </p:sp>
      <p:sp>
        <p:nvSpPr>
          <p:cNvPr id="1265" name=""/>
          <p:cNvSpPr txBox="1"/>
          <p:nvPr/>
        </p:nvSpPr>
        <p:spPr>
          <a:xfrm>
            <a:off x="900000" y="2520000"/>
            <a:ext cx="2556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39" spc="-1" strike="noStrike">
                <a:solidFill>
                  <a:srgbClr val="6750a4"/>
                </a:solidFill>
                <a:latin typeface="Courier New"/>
              </a:rPr>
              <a:t>REST + WEBSOCKET</a:t>
            </a:r>
            <a:endParaRPr b="0" lang="en-US" sz="839" spc="-1" strike="noStrike">
              <a:latin typeface="Arial"/>
            </a:endParaRPr>
          </a:p>
        </p:txBody>
      </p:sp>
      <p:sp>
        <p:nvSpPr>
          <p:cNvPr id="1266" name=""/>
          <p:cNvSpPr txBox="1"/>
          <p:nvPr/>
        </p:nvSpPr>
        <p:spPr>
          <a:xfrm>
            <a:off x="3600000" y="2484000"/>
            <a:ext cx="723600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1000" spc="-1" strike="noStrike">
                <a:solidFill>
                  <a:srgbClr val="172731"/>
                </a:solidFill>
                <a:latin typeface="Arial"/>
              </a:rPr>
              <a:t>commands and snapshots · ordered versioned deltas · reconnect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267" name=""/>
          <p:cNvSpPr/>
          <p:nvPr/>
        </p:nvSpPr>
        <p:spPr>
          <a:xfrm>
            <a:off x="900000" y="3276000"/>
            <a:ext cx="10260000" cy="684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1268" name=""/>
          <p:cNvSpPr/>
          <p:nvPr/>
        </p:nvSpPr>
        <p:spPr>
          <a:xfrm>
            <a:off x="900000" y="3276000"/>
            <a:ext cx="64800" cy="684000"/>
          </a:xfrm>
          <a:prstGeom prst="rect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1269" name=""/>
          <p:cNvSpPr txBox="1"/>
          <p:nvPr/>
        </p:nvSpPr>
        <p:spPr>
          <a:xfrm>
            <a:off x="1188000" y="3420000"/>
            <a:ext cx="2556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39" spc="-1" strike="noStrike">
                <a:solidFill>
                  <a:srgbClr val="16805f"/>
                </a:solidFill>
                <a:latin typeface="Courier New"/>
              </a:rPr>
              <a:t>FASTAPI ORCHESTRATOR</a:t>
            </a:r>
            <a:endParaRPr b="0" lang="en-US" sz="839" spc="-1" strike="noStrike">
              <a:latin typeface="Arial"/>
            </a:endParaRPr>
          </a:p>
        </p:txBody>
      </p:sp>
      <p:sp>
        <p:nvSpPr>
          <p:cNvPr id="1270" name=""/>
          <p:cNvSpPr txBox="1"/>
          <p:nvPr/>
        </p:nvSpPr>
        <p:spPr>
          <a:xfrm>
            <a:off x="3888000" y="3384000"/>
            <a:ext cx="666000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1000" spc="-1" strike="noStrike">
                <a:solidFill>
                  <a:srgbClr val="172731"/>
                </a:solidFill>
                <a:latin typeface="Arial"/>
              </a:rPr>
              <a:t>run lifecycle · auth roles · audit · story checkpoints · analytics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271" name=""/>
          <p:cNvSpPr/>
          <p:nvPr/>
        </p:nvSpPr>
        <p:spPr>
          <a:xfrm>
            <a:off x="1188000" y="4176000"/>
            <a:ext cx="9684000" cy="684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1272" name=""/>
          <p:cNvSpPr/>
          <p:nvPr/>
        </p:nvSpPr>
        <p:spPr>
          <a:xfrm>
            <a:off x="1188000" y="4176000"/>
            <a:ext cx="64800" cy="684000"/>
          </a:xfrm>
          <a:prstGeom prst="rect">
            <a:avLst/>
          </a:prstGeom>
          <a:solidFill>
            <a:srgbClr val="c77b0b"/>
          </a:solidFill>
          <a:ln w="0">
            <a:noFill/>
          </a:ln>
        </p:spPr>
      </p:sp>
      <p:sp>
        <p:nvSpPr>
          <p:cNvPr id="1273" name=""/>
          <p:cNvSpPr txBox="1"/>
          <p:nvPr/>
        </p:nvSpPr>
        <p:spPr>
          <a:xfrm>
            <a:off x="1476000" y="4320000"/>
            <a:ext cx="2556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39" spc="-1" strike="noStrike">
                <a:solidFill>
                  <a:srgbClr val="c77b0b"/>
                </a:solidFill>
                <a:latin typeface="Courier New"/>
              </a:rPr>
              <a:t>CAUSAL SIMULATION LOOP</a:t>
            </a:r>
            <a:endParaRPr b="0" lang="en-US" sz="839" spc="-1" strike="noStrike">
              <a:latin typeface="Arial"/>
            </a:endParaRPr>
          </a:p>
        </p:txBody>
      </p:sp>
      <p:sp>
        <p:nvSpPr>
          <p:cNvPr id="1274" name=""/>
          <p:cNvSpPr txBox="1"/>
          <p:nvPr/>
        </p:nvSpPr>
        <p:spPr>
          <a:xfrm>
            <a:off x="4176000" y="4284000"/>
            <a:ext cx="608400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1000" spc="-1" strike="noStrike">
                <a:solidFill>
                  <a:srgbClr val="172731"/>
                </a:solidFill>
                <a:latin typeface="Arial"/>
              </a:rPr>
              <a:t>30 s tick · 10 min control · forecast · MPC · actuator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275" name=""/>
          <p:cNvSpPr/>
          <p:nvPr/>
        </p:nvSpPr>
        <p:spPr>
          <a:xfrm>
            <a:off x="1476000" y="5076000"/>
            <a:ext cx="9108000" cy="684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1276" name=""/>
          <p:cNvSpPr/>
          <p:nvPr/>
        </p:nvSpPr>
        <p:spPr>
          <a:xfrm>
            <a:off x="1476000" y="5076000"/>
            <a:ext cx="64800" cy="684000"/>
          </a:xfrm>
          <a:prstGeom prst="rect">
            <a:avLst/>
          </a:prstGeom>
          <a:solidFill>
            <a:srgbClr val="cd443b"/>
          </a:solidFill>
          <a:ln w="0">
            <a:noFill/>
          </a:ln>
        </p:spPr>
      </p:sp>
      <p:sp>
        <p:nvSpPr>
          <p:cNvPr id="1277" name=""/>
          <p:cNvSpPr txBox="1"/>
          <p:nvPr/>
        </p:nvSpPr>
        <p:spPr>
          <a:xfrm>
            <a:off x="1764000" y="5220000"/>
            <a:ext cx="2556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39" spc="-1" strike="noStrike">
                <a:solidFill>
                  <a:srgbClr val="cd443b"/>
                </a:solidFill>
                <a:latin typeface="Courier New"/>
              </a:rPr>
              <a:t>FROZEN ARTIFACTS</a:t>
            </a:r>
            <a:endParaRPr b="0" lang="en-US" sz="839" spc="-1" strike="noStrike">
              <a:latin typeface="Arial"/>
            </a:endParaRPr>
          </a:p>
        </p:txBody>
      </p:sp>
      <p:sp>
        <p:nvSpPr>
          <p:cNvPr id="1278" name=""/>
          <p:cNvSpPr txBox="1"/>
          <p:nvPr/>
        </p:nvSpPr>
        <p:spPr>
          <a:xfrm>
            <a:off x="4464000" y="5184000"/>
            <a:ext cx="550800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1000" spc="-1" strike="noStrike">
                <a:solidFill>
                  <a:srgbClr val="172731"/>
                </a:solidFill>
                <a:latin typeface="Arial"/>
              </a:rPr>
              <a:t>scenario · forecast bundle · MPC profile · 30-pair evidence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279" name=""/>
          <p:cNvSpPr/>
          <p:nvPr/>
        </p:nvSpPr>
        <p:spPr>
          <a:xfrm>
            <a:off x="324000" y="6084000"/>
            <a:ext cx="11412000" cy="252000"/>
          </a:xfrm>
          <a:prstGeom prst="roundRect">
            <a:avLst/>
          </a:prstGeom>
          <a:solidFill>
            <a:srgbClr val="e1f1f4"/>
          </a:solidFill>
          <a:ln w="0">
            <a:noFill/>
          </a:ln>
        </p:spPr>
      </p:sp>
      <p:sp>
        <p:nvSpPr>
          <p:cNvPr id="1280" name=""/>
          <p:cNvSpPr/>
          <p:nvPr/>
        </p:nvSpPr>
        <p:spPr>
          <a:xfrm>
            <a:off x="324000" y="6084000"/>
            <a:ext cx="64800" cy="252000"/>
          </a:xfrm>
          <a:prstGeom prst="rect">
            <a:avLst/>
          </a:prstGeom>
          <a:solidFill>
            <a:srgbClr val="007c99"/>
          </a:solidFill>
          <a:ln w="0">
            <a:noFill/>
          </a:ln>
        </p:spPr>
      </p:sp>
      <p:sp>
        <p:nvSpPr>
          <p:cNvPr id="1281" name=""/>
          <p:cNvSpPr txBox="1"/>
          <p:nvPr/>
        </p:nvSpPr>
        <p:spPr>
          <a:xfrm>
            <a:off x="576000" y="6130800"/>
            <a:ext cx="10908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90" spc="-1" strike="noStrike">
                <a:solidFill>
                  <a:srgbClr val="172731"/>
                </a:solidFill>
                <a:latin typeface="Arial"/>
              </a:rPr>
              <a:t>The server chooses the policy before realizing the tick; event injection never rewrites prior telemetry. Rewind restores complete runtime state.</a:t>
            </a:r>
            <a:endParaRPr b="0" lang="en-US" sz="790" spc="-1" strike="noStrike">
              <a:latin typeface="Arial"/>
            </a:endParaRPr>
          </a:p>
        </p:txBody>
      </p:sp>
      <p:sp>
        <p:nvSpPr>
          <p:cNvPr id="1282" name=""/>
          <p:cNvSpPr/>
          <p:nvPr/>
        </p:nvSpPr>
        <p:spPr>
          <a:xfrm>
            <a:off x="324000" y="6616800"/>
            <a:ext cx="11088000" cy="0"/>
          </a:xfrm>
          <a:prstGeom prst="line">
            <a:avLst/>
          </a:prstGeom>
          <a:ln w="1080">
            <a:solidFill>
              <a:srgbClr val="cfdc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83" name=""/>
          <p:cNvSpPr txBox="1"/>
          <p:nvPr/>
        </p:nvSpPr>
        <p:spPr>
          <a:xfrm>
            <a:off x="324000" y="6660000"/>
            <a:ext cx="10368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80" spc="-1" strike="noStrike">
                <a:solidFill>
                  <a:srgbClr val="718592"/>
                </a:solidFill>
                <a:latin typeface="Courier New"/>
              </a:rPr>
              <a:t>demo_api/main.py · demo_api/runtime.py · frontend/src/App.tsx · docs/system-architecture-decisions.md ADR-021–023</a:t>
            </a:r>
            <a:endParaRPr b="0" lang="en-US" sz="680" spc="-1" strike="noStrike">
              <a:latin typeface="Arial"/>
            </a:endParaRPr>
          </a:p>
        </p:txBody>
      </p:sp>
      <p:sp>
        <p:nvSpPr>
          <p:cNvPr id="1284" name=""/>
          <p:cNvSpPr txBox="1"/>
          <p:nvPr/>
        </p:nvSpPr>
        <p:spPr>
          <a:xfrm>
            <a:off x="11052000" y="6660000"/>
            <a:ext cx="684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buNone/>
            </a:pPr>
            <a:r>
              <a:rPr b="1" lang="en-US" sz="750" spc="-1" strike="noStrike">
                <a:solidFill>
                  <a:srgbClr val="718592"/>
                </a:solidFill>
                <a:latin typeface="Courier New"/>
              </a:rPr>
              <a:t>22</a:t>
            </a:r>
            <a:endParaRPr b="0" lang="en-US" sz="7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5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3f7f8"/>
          </a:solidFill>
          <a:ln w="0">
            <a:noFill/>
          </a:ln>
        </p:spPr>
      </p:sp>
      <p:sp>
        <p:nvSpPr>
          <p:cNvPr id="1286" name=""/>
          <p:cNvSpPr txBox="1"/>
          <p:nvPr/>
        </p:nvSpPr>
        <p:spPr>
          <a:xfrm>
            <a:off x="324000" y="158400"/>
            <a:ext cx="3096000" cy="23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00" spc="508" strike="noStrike">
                <a:solidFill>
                  <a:srgbClr val="007c99"/>
                </a:solidFill>
                <a:latin typeface="Courier New"/>
              </a:rPr>
              <a:t>STAGE 4 · DASHBOARD DATA AND FEATURES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287" name=""/>
          <p:cNvSpPr txBox="1"/>
          <p:nvPr/>
        </p:nvSpPr>
        <p:spPr>
          <a:xfrm>
            <a:off x="324000" y="378000"/>
            <a:ext cx="10584000" cy="57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50" spc="-1" strike="noStrike">
                <a:solidFill>
                  <a:srgbClr val="172731"/>
                </a:solidFill>
                <a:latin typeface="Arial"/>
              </a:rPr>
              <a:t>The operator sees both the decision and the evidence behind it</a:t>
            </a:r>
            <a:endParaRPr b="0" lang="en-US" sz="2150" spc="-1" strike="noStrike">
              <a:latin typeface="Arial"/>
            </a:endParaRPr>
          </a:p>
        </p:txBody>
      </p:sp>
      <p:sp>
        <p:nvSpPr>
          <p:cNvPr id="1288" name=""/>
          <p:cNvSpPr/>
          <p:nvPr/>
        </p:nvSpPr>
        <p:spPr>
          <a:xfrm>
            <a:off x="10800000" y="180000"/>
            <a:ext cx="936000" cy="19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1289" name=""/>
          <p:cNvSpPr txBox="1"/>
          <p:nvPr/>
        </p:nvSpPr>
        <p:spPr>
          <a:xfrm>
            <a:off x="10818000" y="219600"/>
            <a:ext cx="900000" cy="10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710" spc="-1" strike="noStrike">
                <a:solidFill>
                  <a:srgbClr val="c77b0b"/>
                </a:solidFill>
                <a:latin typeface="Courier New"/>
              </a:rPr>
              <a:t>SYNTHETIC DATA</a:t>
            </a:r>
            <a:endParaRPr b="0" lang="en-US" sz="710" spc="-1" strike="noStrike">
              <a:latin typeface="Arial"/>
            </a:endParaRPr>
          </a:p>
        </p:txBody>
      </p:sp>
      <p:sp>
        <p:nvSpPr>
          <p:cNvPr id="1290" name=""/>
          <p:cNvSpPr/>
          <p:nvPr/>
        </p:nvSpPr>
        <p:spPr>
          <a:xfrm>
            <a:off x="324000" y="1548000"/>
            <a:ext cx="3528000" cy="3744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1291" name=""/>
          <p:cNvSpPr/>
          <p:nvPr/>
        </p:nvSpPr>
        <p:spPr>
          <a:xfrm>
            <a:off x="324000" y="1548000"/>
            <a:ext cx="64800" cy="3744000"/>
          </a:xfrm>
          <a:prstGeom prst="rect">
            <a:avLst/>
          </a:prstGeom>
          <a:solidFill>
            <a:srgbClr val="007c99"/>
          </a:solidFill>
          <a:ln w="0">
            <a:noFill/>
          </a:ln>
        </p:spPr>
      </p:sp>
      <p:sp>
        <p:nvSpPr>
          <p:cNvPr id="1292" name=""/>
          <p:cNvSpPr txBox="1"/>
          <p:nvPr/>
        </p:nvSpPr>
        <p:spPr>
          <a:xfrm>
            <a:off x="576000" y="1800000"/>
            <a:ext cx="3024000" cy="2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00" spc="-1" strike="noStrike">
                <a:solidFill>
                  <a:srgbClr val="007c99"/>
                </a:solidFill>
                <a:latin typeface="Courier New"/>
              </a:rPr>
              <a:t>LIVE DASHBOARD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293" name=""/>
          <p:cNvSpPr/>
          <p:nvPr/>
        </p:nvSpPr>
        <p:spPr>
          <a:xfrm>
            <a:off x="576000" y="2404800"/>
            <a:ext cx="79200" cy="79200"/>
          </a:xfrm>
          <a:prstGeom prst="ellipse">
            <a:avLst/>
          </a:prstGeom>
          <a:solidFill>
            <a:srgbClr val="007c99"/>
          </a:solidFill>
          <a:ln w="0">
            <a:noFill/>
          </a:ln>
        </p:spPr>
      </p:sp>
      <p:sp>
        <p:nvSpPr>
          <p:cNvPr id="1294" name=""/>
          <p:cNvSpPr txBox="1"/>
          <p:nvPr/>
        </p:nvSpPr>
        <p:spPr>
          <a:xfrm>
            <a:off x="756000" y="2322000"/>
            <a:ext cx="2844000" cy="61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20" spc="-1" strike="noStrike">
                <a:solidFill>
                  <a:srgbClr val="172731"/>
                </a:solidFill>
                <a:latin typeface="Arial"/>
              </a:rPr>
              <a:t>per-UPF capacity, load, headroom and health</a:t>
            </a:r>
            <a:endParaRPr b="0" lang="en-US" sz="920" spc="-1" strike="noStrike">
              <a:latin typeface="Arial"/>
            </a:endParaRPr>
          </a:p>
        </p:txBody>
      </p:sp>
      <p:sp>
        <p:nvSpPr>
          <p:cNvPr id="1295" name=""/>
          <p:cNvSpPr/>
          <p:nvPr/>
        </p:nvSpPr>
        <p:spPr>
          <a:xfrm>
            <a:off x="576000" y="3016800"/>
            <a:ext cx="79200" cy="79200"/>
          </a:xfrm>
          <a:prstGeom prst="ellipse">
            <a:avLst/>
          </a:prstGeom>
          <a:solidFill>
            <a:srgbClr val="007c99"/>
          </a:solidFill>
          <a:ln w="0">
            <a:noFill/>
          </a:ln>
        </p:spPr>
      </p:sp>
      <p:sp>
        <p:nvSpPr>
          <p:cNvPr id="1296" name=""/>
          <p:cNvSpPr txBox="1"/>
          <p:nvPr/>
        </p:nvSpPr>
        <p:spPr>
          <a:xfrm>
            <a:off x="756000" y="2934000"/>
            <a:ext cx="2844000" cy="61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20" spc="-1" strike="noStrike">
                <a:solidFill>
                  <a:srgbClr val="172731"/>
                </a:solidFill>
                <a:latin typeface="Arial"/>
              </a:rPr>
              <a:t>new-session route widths and weight deltas</a:t>
            </a:r>
            <a:endParaRPr b="0" lang="en-US" sz="920" spc="-1" strike="noStrike">
              <a:latin typeface="Arial"/>
            </a:endParaRPr>
          </a:p>
        </p:txBody>
      </p:sp>
      <p:sp>
        <p:nvSpPr>
          <p:cNvPr id="1297" name=""/>
          <p:cNvSpPr/>
          <p:nvPr/>
        </p:nvSpPr>
        <p:spPr>
          <a:xfrm>
            <a:off x="576000" y="3628800"/>
            <a:ext cx="79200" cy="79200"/>
          </a:xfrm>
          <a:prstGeom prst="ellipse">
            <a:avLst/>
          </a:prstGeom>
          <a:solidFill>
            <a:srgbClr val="007c99"/>
          </a:solidFill>
          <a:ln w="0">
            <a:noFill/>
          </a:ln>
        </p:spPr>
      </p:sp>
      <p:sp>
        <p:nvSpPr>
          <p:cNvPr id="1298" name=""/>
          <p:cNvSpPr txBox="1"/>
          <p:nvPr/>
        </p:nvSpPr>
        <p:spPr>
          <a:xfrm>
            <a:off x="756000" y="3546000"/>
            <a:ext cx="2844000" cy="61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20" spc="-1" strike="noStrike">
                <a:solidFill>
                  <a:srgbClr val="172731"/>
                </a:solidFill>
                <a:latin typeface="Arial"/>
              </a:rPr>
              <a:t>forecast → certificate → apply/hold trace</a:t>
            </a:r>
            <a:endParaRPr b="0" lang="en-US" sz="920" spc="-1" strike="noStrike">
              <a:latin typeface="Arial"/>
            </a:endParaRPr>
          </a:p>
        </p:txBody>
      </p:sp>
      <p:sp>
        <p:nvSpPr>
          <p:cNvPr id="1299" name=""/>
          <p:cNvSpPr/>
          <p:nvPr/>
        </p:nvSpPr>
        <p:spPr>
          <a:xfrm>
            <a:off x="576000" y="4240800"/>
            <a:ext cx="79200" cy="79200"/>
          </a:xfrm>
          <a:prstGeom prst="ellipse">
            <a:avLst/>
          </a:prstGeom>
          <a:solidFill>
            <a:srgbClr val="007c99"/>
          </a:solidFill>
          <a:ln w="0">
            <a:noFill/>
          </a:ln>
        </p:spPr>
      </p:sp>
      <p:sp>
        <p:nvSpPr>
          <p:cNvPr id="1300" name=""/>
          <p:cNvSpPr txBox="1"/>
          <p:nvPr/>
        </p:nvSpPr>
        <p:spPr>
          <a:xfrm>
            <a:off x="756000" y="4158000"/>
            <a:ext cx="2844000" cy="61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20" spc="-1" strike="noStrike">
                <a:solidFill>
                  <a:srgbClr val="172731"/>
                </a:solidFill>
                <a:latin typeface="Arial"/>
              </a:rPr>
              <a:t>completed surge debrief and iteration ledger</a:t>
            </a:r>
            <a:endParaRPr b="0" lang="en-US" sz="920" spc="-1" strike="noStrike">
              <a:latin typeface="Arial"/>
            </a:endParaRPr>
          </a:p>
        </p:txBody>
      </p:sp>
      <p:sp>
        <p:nvSpPr>
          <p:cNvPr id="1301" name=""/>
          <p:cNvSpPr/>
          <p:nvPr/>
        </p:nvSpPr>
        <p:spPr>
          <a:xfrm>
            <a:off x="4140000" y="1548000"/>
            <a:ext cx="3528000" cy="3744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1302" name=""/>
          <p:cNvSpPr/>
          <p:nvPr/>
        </p:nvSpPr>
        <p:spPr>
          <a:xfrm>
            <a:off x="4140000" y="1548000"/>
            <a:ext cx="64800" cy="3744000"/>
          </a:xfrm>
          <a:prstGeom prst="rect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1303" name=""/>
          <p:cNvSpPr txBox="1"/>
          <p:nvPr/>
        </p:nvSpPr>
        <p:spPr>
          <a:xfrm>
            <a:off x="4392000" y="1800000"/>
            <a:ext cx="3024000" cy="2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00" spc="-1" strike="noStrike">
                <a:solidFill>
                  <a:srgbClr val="16805f"/>
                </a:solidFill>
                <a:latin typeface="Courier New"/>
              </a:rPr>
              <a:t>EVIDENCE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304" name=""/>
          <p:cNvSpPr/>
          <p:nvPr/>
        </p:nvSpPr>
        <p:spPr>
          <a:xfrm>
            <a:off x="4392000" y="2404800"/>
            <a:ext cx="79200" cy="79200"/>
          </a:xfrm>
          <a:prstGeom prst="ellipse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1305" name=""/>
          <p:cNvSpPr txBox="1"/>
          <p:nvPr/>
        </p:nvSpPr>
        <p:spPr>
          <a:xfrm>
            <a:off x="4572000" y="2322000"/>
            <a:ext cx="2844000" cy="61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20" spc="-1" strike="noStrike">
                <a:solidFill>
                  <a:srgbClr val="172731"/>
                </a:solidFill>
                <a:latin typeface="Arial"/>
              </a:rPr>
              <a:t>30 matched-pair frozen campaign</a:t>
            </a:r>
            <a:endParaRPr b="0" lang="en-US" sz="920" spc="-1" strike="noStrike">
              <a:latin typeface="Arial"/>
            </a:endParaRPr>
          </a:p>
        </p:txBody>
      </p:sp>
      <p:sp>
        <p:nvSpPr>
          <p:cNvPr id="1306" name=""/>
          <p:cNvSpPr/>
          <p:nvPr/>
        </p:nvSpPr>
        <p:spPr>
          <a:xfrm>
            <a:off x="4392000" y="3016800"/>
            <a:ext cx="79200" cy="79200"/>
          </a:xfrm>
          <a:prstGeom prst="ellipse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1307" name=""/>
          <p:cNvSpPr txBox="1"/>
          <p:nvPr/>
        </p:nvSpPr>
        <p:spPr>
          <a:xfrm>
            <a:off x="4572000" y="2934000"/>
            <a:ext cx="2844000" cy="61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20" spc="-1" strike="noStrike">
                <a:solidFill>
                  <a:srgbClr val="172731"/>
                </a:solidFill>
                <a:latin typeface="Arial"/>
              </a:rPr>
              <a:t>mean-pair CI and severity-weighted total</a:t>
            </a:r>
            <a:endParaRPr b="0" lang="en-US" sz="920" spc="-1" strike="noStrike">
              <a:latin typeface="Arial"/>
            </a:endParaRPr>
          </a:p>
        </p:txBody>
      </p:sp>
      <p:sp>
        <p:nvSpPr>
          <p:cNvPr id="1308" name=""/>
          <p:cNvSpPr/>
          <p:nvPr/>
        </p:nvSpPr>
        <p:spPr>
          <a:xfrm>
            <a:off x="4392000" y="3628800"/>
            <a:ext cx="79200" cy="79200"/>
          </a:xfrm>
          <a:prstGeom prst="ellipse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1309" name=""/>
          <p:cNvSpPr txBox="1"/>
          <p:nvPr/>
        </p:nvSpPr>
        <p:spPr>
          <a:xfrm>
            <a:off x="4572000" y="3546000"/>
            <a:ext cx="2844000" cy="61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20" spc="-1" strike="noStrike">
                <a:solidFill>
                  <a:srgbClr val="172731"/>
                </a:solidFill>
                <a:latin typeface="Arial"/>
              </a:rPr>
              <a:t>scenario-level aggregate and worst pair</a:t>
            </a:r>
            <a:endParaRPr b="0" lang="en-US" sz="920" spc="-1" strike="noStrike">
              <a:latin typeface="Arial"/>
            </a:endParaRPr>
          </a:p>
        </p:txBody>
      </p:sp>
      <p:sp>
        <p:nvSpPr>
          <p:cNvPr id="1310" name=""/>
          <p:cNvSpPr/>
          <p:nvPr/>
        </p:nvSpPr>
        <p:spPr>
          <a:xfrm>
            <a:off x="4392000" y="4240800"/>
            <a:ext cx="79200" cy="79200"/>
          </a:xfrm>
          <a:prstGeom prst="ellipse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1311" name=""/>
          <p:cNvSpPr txBox="1"/>
          <p:nvPr/>
        </p:nvSpPr>
        <p:spPr>
          <a:xfrm>
            <a:off x="4572000" y="4158000"/>
            <a:ext cx="2844000" cy="61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20" spc="-1" strike="noStrike">
                <a:solidFill>
                  <a:srgbClr val="172731"/>
                </a:solidFill>
                <a:latin typeface="Arial"/>
              </a:rPr>
              <a:t>artifact identity and production boundary</a:t>
            </a:r>
            <a:endParaRPr b="0" lang="en-US" sz="920" spc="-1" strike="noStrike">
              <a:latin typeface="Arial"/>
            </a:endParaRPr>
          </a:p>
        </p:txBody>
      </p:sp>
      <p:sp>
        <p:nvSpPr>
          <p:cNvPr id="1312" name=""/>
          <p:cNvSpPr/>
          <p:nvPr/>
        </p:nvSpPr>
        <p:spPr>
          <a:xfrm>
            <a:off x="7956000" y="1548000"/>
            <a:ext cx="3528000" cy="3744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1313" name=""/>
          <p:cNvSpPr/>
          <p:nvPr/>
        </p:nvSpPr>
        <p:spPr>
          <a:xfrm>
            <a:off x="7956000" y="1548000"/>
            <a:ext cx="64800" cy="3744000"/>
          </a:xfrm>
          <a:prstGeom prst="rect">
            <a:avLst/>
          </a:prstGeom>
          <a:solidFill>
            <a:srgbClr val="6750a4"/>
          </a:solidFill>
          <a:ln w="0">
            <a:noFill/>
          </a:ln>
        </p:spPr>
      </p:sp>
      <p:sp>
        <p:nvSpPr>
          <p:cNvPr id="1314" name=""/>
          <p:cNvSpPr txBox="1"/>
          <p:nvPr/>
        </p:nvSpPr>
        <p:spPr>
          <a:xfrm>
            <a:off x="8208000" y="1800000"/>
            <a:ext cx="3024000" cy="2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00" spc="-1" strike="noStrike">
                <a:solidFill>
                  <a:srgbClr val="6750a4"/>
                </a:solidFill>
                <a:latin typeface="Courier New"/>
              </a:rPr>
              <a:t>TECHNICAL DETAIL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315" name=""/>
          <p:cNvSpPr/>
          <p:nvPr/>
        </p:nvSpPr>
        <p:spPr>
          <a:xfrm>
            <a:off x="8208000" y="2404800"/>
            <a:ext cx="79200" cy="79200"/>
          </a:xfrm>
          <a:prstGeom prst="ellipse">
            <a:avLst/>
          </a:prstGeom>
          <a:solidFill>
            <a:srgbClr val="6750a4"/>
          </a:solidFill>
          <a:ln w="0">
            <a:noFill/>
          </a:ln>
        </p:spPr>
      </p:sp>
      <p:sp>
        <p:nvSpPr>
          <p:cNvPr id="1316" name=""/>
          <p:cNvSpPr txBox="1"/>
          <p:nvPr/>
        </p:nvSpPr>
        <p:spPr>
          <a:xfrm>
            <a:off x="8388000" y="2322000"/>
            <a:ext cx="2844000" cy="61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20" spc="-1" strike="noStrike">
                <a:solidFill>
                  <a:srgbClr val="172731"/>
                </a:solidFill>
                <a:latin typeface="Arial"/>
              </a:rPr>
              <a:t>class arrivals, admissions and rejections</a:t>
            </a:r>
            <a:endParaRPr b="0" lang="en-US" sz="920" spc="-1" strike="noStrike">
              <a:latin typeface="Arial"/>
            </a:endParaRPr>
          </a:p>
        </p:txBody>
      </p:sp>
      <p:sp>
        <p:nvSpPr>
          <p:cNvPr id="1317" name=""/>
          <p:cNvSpPr/>
          <p:nvPr/>
        </p:nvSpPr>
        <p:spPr>
          <a:xfrm>
            <a:off x="8208000" y="3016800"/>
            <a:ext cx="79200" cy="79200"/>
          </a:xfrm>
          <a:prstGeom prst="ellipse">
            <a:avLst/>
          </a:prstGeom>
          <a:solidFill>
            <a:srgbClr val="6750a4"/>
          </a:solidFill>
          <a:ln w="0">
            <a:noFill/>
          </a:ln>
        </p:spPr>
      </p:sp>
      <p:sp>
        <p:nvSpPr>
          <p:cNvPr id="1318" name=""/>
          <p:cNvSpPr txBox="1"/>
          <p:nvPr/>
        </p:nvSpPr>
        <p:spPr>
          <a:xfrm>
            <a:off x="8388000" y="2934000"/>
            <a:ext cx="2844000" cy="61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20" spc="-1" strike="noStrike">
                <a:solidFill>
                  <a:srgbClr val="172731"/>
                </a:solidFill>
                <a:latin typeface="Arial"/>
              </a:rPr>
              <a:t>p50/p90/actual forecast table</a:t>
            </a:r>
            <a:endParaRPr b="0" lang="en-US" sz="920" spc="-1" strike="noStrike">
              <a:latin typeface="Arial"/>
            </a:endParaRPr>
          </a:p>
        </p:txBody>
      </p:sp>
      <p:sp>
        <p:nvSpPr>
          <p:cNvPr id="1319" name=""/>
          <p:cNvSpPr/>
          <p:nvPr/>
        </p:nvSpPr>
        <p:spPr>
          <a:xfrm>
            <a:off x="8208000" y="3628800"/>
            <a:ext cx="79200" cy="79200"/>
          </a:xfrm>
          <a:prstGeom prst="ellipse">
            <a:avLst/>
          </a:prstGeom>
          <a:solidFill>
            <a:srgbClr val="6750a4"/>
          </a:solidFill>
          <a:ln w="0">
            <a:noFill/>
          </a:ln>
        </p:spPr>
      </p:sp>
      <p:sp>
        <p:nvSpPr>
          <p:cNvPr id="1320" name=""/>
          <p:cNvSpPr txBox="1"/>
          <p:nvPr/>
        </p:nvSpPr>
        <p:spPr>
          <a:xfrm>
            <a:off x="8388000" y="3546000"/>
            <a:ext cx="2844000" cy="61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20" spc="-1" strike="noStrike">
                <a:solidFill>
                  <a:srgbClr val="172731"/>
                </a:solidFill>
                <a:latin typeface="Arial"/>
              </a:rPr>
              <a:t>static vs MPC certificate metrics</a:t>
            </a:r>
            <a:endParaRPr b="0" lang="en-US" sz="920" spc="-1" strike="noStrike">
              <a:latin typeface="Arial"/>
            </a:endParaRPr>
          </a:p>
        </p:txBody>
      </p:sp>
      <p:sp>
        <p:nvSpPr>
          <p:cNvPr id="1321" name=""/>
          <p:cNvSpPr/>
          <p:nvPr/>
        </p:nvSpPr>
        <p:spPr>
          <a:xfrm>
            <a:off x="8208000" y="4240800"/>
            <a:ext cx="79200" cy="79200"/>
          </a:xfrm>
          <a:prstGeom prst="ellipse">
            <a:avLst/>
          </a:prstGeom>
          <a:solidFill>
            <a:srgbClr val="6750a4"/>
          </a:solidFill>
          <a:ln w="0">
            <a:noFill/>
          </a:ln>
        </p:spPr>
      </p:sp>
      <p:sp>
        <p:nvSpPr>
          <p:cNvPr id="1322" name=""/>
          <p:cNvSpPr txBox="1"/>
          <p:nvPr/>
        </p:nvSpPr>
        <p:spPr>
          <a:xfrm>
            <a:off x="8388000" y="4158000"/>
            <a:ext cx="2844000" cy="61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20" spc="-1" strike="noStrike">
                <a:solidFill>
                  <a:srgbClr val="172731"/>
                </a:solidFill>
                <a:latin typeface="Arial"/>
              </a:rPr>
              <a:t>raw trace, deployment boundary and expert controls</a:t>
            </a:r>
            <a:endParaRPr b="0" lang="en-US" sz="920" spc="-1" strike="noStrike">
              <a:latin typeface="Arial"/>
            </a:endParaRPr>
          </a:p>
        </p:txBody>
      </p:sp>
      <p:sp>
        <p:nvSpPr>
          <p:cNvPr id="1323" name=""/>
          <p:cNvSpPr/>
          <p:nvPr/>
        </p:nvSpPr>
        <p:spPr>
          <a:xfrm>
            <a:off x="324000" y="5580000"/>
            <a:ext cx="11412000" cy="648000"/>
          </a:xfrm>
          <a:prstGeom prst="roundRect">
            <a:avLst/>
          </a:prstGeom>
          <a:solidFill>
            <a:srgbClr val="193644"/>
          </a:solidFill>
          <a:ln w="0">
            <a:noFill/>
          </a:ln>
        </p:spPr>
      </p:sp>
      <p:sp>
        <p:nvSpPr>
          <p:cNvPr id="1324" name=""/>
          <p:cNvSpPr/>
          <p:nvPr/>
        </p:nvSpPr>
        <p:spPr>
          <a:xfrm>
            <a:off x="324000" y="5580000"/>
            <a:ext cx="64800" cy="648000"/>
          </a:xfrm>
          <a:prstGeom prst="rect">
            <a:avLst/>
          </a:prstGeom>
          <a:solidFill>
            <a:srgbClr val="c77b0b"/>
          </a:solidFill>
          <a:ln w="0">
            <a:noFill/>
          </a:ln>
        </p:spPr>
      </p:sp>
      <p:sp>
        <p:nvSpPr>
          <p:cNvPr id="1325" name=""/>
          <p:cNvSpPr txBox="1"/>
          <p:nvPr/>
        </p:nvSpPr>
        <p:spPr>
          <a:xfrm>
            <a:off x="576000" y="5760000"/>
            <a:ext cx="3312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10" spc="-1" strike="noStrike">
                <a:solidFill>
                  <a:srgbClr val="77c6d4"/>
                </a:solidFill>
                <a:latin typeface="Courier New"/>
              </a:rPr>
              <a:t>DISPLAYED DATA SOURCES</a:t>
            </a:r>
            <a:endParaRPr b="0" lang="en-US" sz="810" spc="-1" strike="noStrike">
              <a:latin typeface="Arial"/>
            </a:endParaRPr>
          </a:p>
        </p:txBody>
      </p:sp>
      <p:sp>
        <p:nvSpPr>
          <p:cNvPr id="1326" name=""/>
          <p:cNvSpPr txBox="1"/>
          <p:nvPr/>
        </p:nvSpPr>
        <p:spPr>
          <a:xfrm>
            <a:off x="3924000" y="5724000"/>
            <a:ext cx="7524000" cy="28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39" spc="-1" strike="noStrike">
                <a:solidFill>
                  <a:srgbClr val="ffffff"/>
                </a:solidFill>
                <a:latin typeface="Arial"/>
              </a:rPr>
              <a:t>simulator StepResult · canonical group/UPF buckets · Forecast · Policy · certificate · frozen campaign JSON</a:t>
            </a:r>
            <a:endParaRPr b="0" lang="en-US" sz="939" spc="-1" strike="noStrike">
              <a:latin typeface="Arial"/>
            </a:endParaRPr>
          </a:p>
        </p:txBody>
      </p:sp>
      <p:sp>
        <p:nvSpPr>
          <p:cNvPr id="1327" name=""/>
          <p:cNvSpPr/>
          <p:nvPr/>
        </p:nvSpPr>
        <p:spPr>
          <a:xfrm>
            <a:off x="324000" y="6616800"/>
            <a:ext cx="11088000" cy="0"/>
          </a:xfrm>
          <a:prstGeom prst="line">
            <a:avLst/>
          </a:prstGeom>
          <a:ln w="1080">
            <a:solidFill>
              <a:srgbClr val="cfdc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28" name=""/>
          <p:cNvSpPr txBox="1"/>
          <p:nvPr/>
        </p:nvSpPr>
        <p:spPr>
          <a:xfrm>
            <a:off x="324000" y="6660000"/>
            <a:ext cx="10368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80" spc="-1" strike="noStrike">
                <a:solidFill>
                  <a:srgbClr val="718592"/>
                </a:solidFill>
                <a:latin typeface="Courier New"/>
              </a:rPr>
              <a:t>frontend/src/views.tsx · frontend/src/types.ts · demo_api/runtime.py::snapshot/comparison</a:t>
            </a:r>
            <a:endParaRPr b="0" lang="en-US" sz="680" spc="-1" strike="noStrike">
              <a:latin typeface="Arial"/>
            </a:endParaRPr>
          </a:p>
        </p:txBody>
      </p:sp>
      <p:sp>
        <p:nvSpPr>
          <p:cNvPr id="1329" name=""/>
          <p:cNvSpPr txBox="1"/>
          <p:nvPr/>
        </p:nvSpPr>
        <p:spPr>
          <a:xfrm>
            <a:off x="11052000" y="6660000"/>
            <a:ext cx="684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buNone/>
            </a:pPr>
            <a:r>
              <a:rPr b="1" lang="en-US" sz="750" spc="-1" strike="noStrike">
                <a:solidFill>
                  <a:srgbClr val="718592"/>
                </a:solidFill>
                <a:latin typeface="Courier New"/>
              </a:rPr>
              <a:t>23</a:t>
            </a:r>
            <a:endParaRPr b="0" lang="en-US" sz="7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0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3f7f8"/>
          </a:solidFill>
          <a:ln w="0">
            <a:noFill/>
          </a:ln>
        </p:spPr>
      </p:sp>
      <p:sp>
        <p:nvSpPr>
          <p:cNvPr id="1331" name=""/>
          <p:cNvSpPr txBox="1"/>
          <p:nvPr/>
        </p:nvSpPr>
        <p:spPr>
          <a:xfrm>
            <a:off x="324000" y="158400"/>
            <a:ext cx="3096000" cy="23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00" spc="508" strike="noStrike">
                <a:solidFill>
                  <a:srgbClr val="007c99"/>
                </a:solidFill>
                <a:latin typeface="Courier New"/>
              </a:rPr>
              <a:t>STAGE 4 · DASHBOARD EXPERIENCE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332" name=""/>
          <p:cNvSpPr txBox="1"/>
          <p:nvPr/>
        </p:nvSpPr>
        <p:spPr>
          <a:xfrm>
            <a:off x="324000" y="378000"/>
            <a:ext cx="10584000" cy="57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50" spc="-1" strike="noStrike">
                <a:solidFill>
                  <a:srgbClr val="172731"/>
                </a:solidFill>
                <a:latin typeface="Arial"/>
              </a:rPr>
              <a:t>The actual console keeps routing, evidence and caveats visible</a:t>
            </a:r>
            <a:endParaRPr b="0" lang="en-US" sz="2150" spc="-1" strike="noStrike">
              <a:latin typeface="Arial"/>
            </a:endParaRPr>
          </a:p>
        </p:txBody>
      </p:sp>
      <p:sp>
        <p:nvSpPr>
          <p:cNvPr id="1333" name=""/>
          <p:cNvSpPr/>
          <p:nvPr/>
        </p:nvSpPr>
        <p:spPr>
          <a:xfrm>
            <a:off x="10800000" y="180000"/>
            <a:ext cx="936000" cy="19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1334" name=""/>
          <p:cNvSpPr txBox="1"/>
          <p:nvPr/>
        </p:nvSpPr>
        <p:spPr>
          <a:xfrm>
            <a:off x="10818000" y="219600"/>
            <a:ext cx="900000" cy="10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710" spc="-1" strike="noStrike">
                <a:solidFill>
                  <a:srgbClr val="c77b0b"/>
                </a:solidFill>
                <a:latin typeface="Courier New"/>
              </a:rPr>
              <a:t>SYNTHETIC DATA</a:t>
            </a:r>
            <a:endParaRPr b="0" lang="en-US" sz="710" spc="-1" strike="noStrike">
              <a:latin typeface="Arial"/>
            </a:endParaRPr>
          </a:p>
        </p:txBody>
      </p:sp>
      <p:pic>
        <p:nvPicPr>
          <p:cNvPr id="1335" name="" descr=""/>
          <p:cNvPicPr/>
          <p:nvPr/>
        </p:nvPicPr>
        <p:blipFill>
          <a:blip r:embed="rId1"/>
          <a:stretch/>
        </p:blipFill>
        <p:spPr>
          <a:xfrm>
            <a:off x="324000" y="1512000"/>
            <a:ext cx="5544000" cy="3204000"/>
          </a:xfrm>
          <a:prstGeom prst="rect">
            <a:avLst/>
          </a:prstGeom>
          <a:ln w="0">
            <a:noFill/>
          </a:ln>
        </p:spPr>
      </p:pic>
      <p:sp>
        <p:nvSpPr>
          <p:cNvPr id="1336" name=""/>
          <p:cNvSpPr/>
          <p:nvPr/>
        </p:nvSpPr>
        <p:spPr>
          <a:xfrm>
            <a:off x="324000" y="1512000"/>
            <a:ext cx="5544000" cy="3204000"/>
          </a:xfrm>
          <a:prstGeom prst="rect">
            <a:avLst/>
          </a:prstGeom>
          <a:noFill/>
          <a:ln w="6480">
            <a:solidFill>
              <a:srgbClr val="cfdce1"/>
            </a:solidFill>
            <a:round/>
          </a:ln>
        </p:spPr>
      </p:sp>
      <p:pic>
        <p:nvPicPr>
          <p:cNvPr id="1337" name="" descr=""/>
          <p:cNvPicPr/>
          <p:nvPr/>
        </p:nvPicPr>
        <p:blipFill>
          <a:blip r:embed="rId2"/>
          <a:stretch/>
        </p:blipFill>
        <p:spPr>
          <a:xfrm>
            <a:off x="6192000" y="1512000"/>
            <a:ext cx="5544000" cy="3204000"/>
          </a:xfrm>
          <a:prstGeom prst="rect">
            <a:avLst/>
          </a:prstGeom>
          <a:ln w="0">
            <a:noFill/>
          </a:ln>
        </p:spPr>
      </p:pic>
      <p:sp>
        <p:nvSpPr>
          <p:cNvPr id="1338" name=""/>
          <p:cNvSpPr/>
          <p:nvPr/>
        </p:nvSpPr>
        <p:spPr>
          <a:xfrm>
            <a:off x="6192000" y="1512000"/>
            <a:ext cx="5544000" cy="3204000"/>
          </a:xfrm>
          <a:prstGeom prst="rect">
            <a:avLst/>
          </a:prstGeom>
          <a:noFill/>
          <a:ln w="6480">
            <a:solidFill>
              <a:srgbClr val="cfdce1"/>
            </a:solidFill>
            <a:round/>
          </a:ln>
        </p:spPr>
      </p:sp>
      <p:sp>
        <p:nvSpPr>
          <p:cNvPr id="1339" name=""/>
          <p:cNvSpPr txBox="1"/>
          <p:nvPr/>
        </p:nvSpPr>
        <p:spPr>
          <a:xfrm>
            <a:off x="324000" y="4860000"/>
            <a:ext cx="5544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50" spc="-1" strike="noStrike">
                <a:solidFill>
                  <a:srgbClr val="007c99"/>
                </a:solidFill>
                <a:latin typeface="Arial"/>
              </a:rPr>
              <a:t>Predict + compare checkpoint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1340" name=""/>
          <p:cNvSpPr txBox="1"/>
          <p:nvPr/>
        </p:nvSpPr>
        <p:spPr>
          <a:xfrm>
            <a:off x="324000" y="5148000"/>
            <a:ext cx="5544000" cy="5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0" spc="-1" strike="noStrike">
                <a:solidFill>
                  <a:srgbClr val="526875"/>
                </a:solidFill>
                <a:latin typeface="Arial"/>
              </a:rPr>
              <a:t>Route widths encode future-session allocation; the side rail exposes the same-state static comparison and the no-migration caveat.</a:t>
            </a:r>
            <a:endParaRPr b="0" lang="en-US" sz="880" spc="-1" strike="noStrike">
              <a:latin typeface="Arial"/>
            </a:endParaRPr>
          </a:p>
        </p:txBody>
      </p:sp>
      <p:sp>
        <p:nvSpPr>
          <p:cNvPr id="1341" name=""/>
          <p:cNvSpPr txBox="1"/>
          <p:nvPr/>
        </p:nvSpPr>
        <p:spPr>
          <a:xfrm>
            <a:off x="6192000" y="4860000"/>
            <a:ext cx="5544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50" spc="-1" strike="noStrike">
                <a:solidFill>
                  <a:srgbClr val="16805f"/>
                </a:solidFill>
                <a:latin typeface="Arial"/>
              </a:rPr>
              <a:t>Frozen campaign evidence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1342" name=""/>
          <p:cNvSpPr txBox="1"/>
          <p:nvPr/>
        </p:nvSpPr>
        <p:spPr>
          <a:xfrm>
            <a:off x="6192000" y="5148000"/>
            <a:ext cx="5544000" cy="5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0" spc="-1" strike="noStrike">
                <a:solidFill>
                  <a:srgbClr val="526875"/>
                </a:solidFill>
                <a:latin typeface="Arial"/>
              </a:rPr>
              <a:t>The evidence view leads with the 10.52% average but places severity weighting, worst pair and release status beside it.</a:t>
            </a:r>
            <a:endParaRPr b="0" lang="en-US" sz="880" spc="-1" strike="noStrike">
              <a:latin typeface="Arial"/>
            </a:endParaRPr>
          </a:p>
        </p:txBody>
      </p:sp>
      <p:sp>
        <p:nvSpPr>
          <p:cNvPr id="1343" name=""/>
          <p:cNvSpPr/>
          <p:nvPr/>
        </p:nvSpPr>
        <p:spPr>
          <a:xfrm>
            <a:off x="324000" y="6616800"/>
            <a:ext cx="11088000" cy="0"/>
          </a:xfrm>
          <a:prstGeom prst="line">
            <a:avLst/>
          </a:prstGeom>
          <a:ln w="1080">
            <a:solidFill>
              <a:srgbClr val="cfdc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44" name=""/>
          <p:cNvSpPr txBox="1"/>
          <p:nvPr/>
        </p:nvSpPr>
        <p:spPr>
          <a:xfrm>
            <a:off x="324000" y="6660000"/>
            <a:ext cx="10368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80" spc="-1" strike="noStrike">
                <a:solidFill>
                  <a:srgbClr val="718592"/>
                </a:solidFill>
                <a:latin typeface="Courier New"/>
              </a:rPr>
              <a:t>frontend/tests/demo.spec.ts-snapshots/prediction-checkpoint-linux.png · evidence-ending-linux.png</a:t>
            </a:r>
            <a:endParaRPr b="0" lang="en-US" sz="680" spc="-1" strike="noStrike">
              <a:latin typeface="Arial"/>
            </a:endParaRPr>
          </a:p>
        </p:txBody>
      </p:sp>
      <p:sp>
        <p:nvSpPr>
          <p:cNvPr id="1345" name=""/>
          <p:cNvSpPr txBox="1"/>
          <p:nvPr/>
        </p:nvSpPr>
        <p:spPr>
          <a:xfrm>
            <a:off x="11052000" y="6660000"/>
            <a:ext cx="684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buNone/>
            </a:pPr>
            <a:r>
              <a:rPr b="1" lang="en-US" sz="750" spc="-1" strike="noStrike">
                <a:solidFill>
                  <a:srgbClr val="718592"/>
                </a:solidFill>
                <a:latin typeface="Courier New"/>
              </a:rPr>
              <a:t>24</a:t>
            </a:r>
            <a:endParaRPr b="0" lang="en-US" sz="7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3f7f8"/>
          </a:solidFill>
          <a:ln w="0">
            <a:noFill/>
          </a:ln>
        </p:spPr>
      </p:sp>
      <p:sp>
        <p:nvSpPr>
          <p:cNvPr id="1347" name=""/>
          <p:cNvSpPr txBox="1"/>
          <p:nvPr/>
        </p:nvSpPr>
        <p:spPr>
          <a:xfrm>
            <a:off x="324000" y="158400"/>
            <a:ext cx="3096000" cy="23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00" spc="508" strike="noStrike">
                <a:solidFill>
                  <a:srgbClr val="007c99"/>
                </a:solidFill>
                <a:latin typeface="Courier New"/>
              </a:rPr>
              <a:t>STAGE 4 · HOW DIVERSION WORKS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348" name=""/>
          <p:cNvSpPr txBox="1"/>
          <p:nvPr/>
        </p:nvSpPr>
        <p:spPr>
          <a:xfrm>
            <a:off x="324000" y="378000"/>
            <a:ext cx="10584000" cy="57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50" spc="-1" strike="noStrike">
                <a:solidFill>
                  <a:srgbClr val="172731"/>
                </a:solidFill>
                <a:latin typeface="Arial"/>
              </a:rPr>
              <a:t>Traffic diversion is deterministic weighted placement for newly arriving sessions</a:t>
            </a:r>
            <a:endParaRPr b="0" lang="en-US" sz="2150" spc="-1" strike="noStrike">
              <a:latin typeface="Arial"/>
            </a:endParaRPr>
          </a:p>
        </p:txBody>
      </p:sp>
      <p:sp>
        <p:nvSpPr>
          <p:cNvPr id="1349" name=""/>
          <p:cNvSpPr/>
          <p:nvPr/>
        </p:nvSpPr>
        <p:spPr>
          <a:xfrm>
            <a:off x="10800000" y="180000"/>
            <a:ext cx="936000" cy="19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1350" name=""/>
          <p:cNvSpPr txBox="1"/>
          <p:nvPr/>
        </p:nvSpPr>
        <p:spPr>
          <a:xfrm>
            <a:off x="10818000" y="219600"/>
            <a:ext cx="900000" cy="10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710" spc="-1" strike="noStrike">
                <a:solidFill>
                  <a:srgbClr val="c77b0b"/>
                </a:solidFill>
                <a:latin typeface="Courier New"/>
              </a:rPr>
              <a:t>SYNTHETIC DATA</a:t>
            </a:r>
            <a:endParaRPr b="0" lang="en-US" sz="710" spc="-1" strike="noStrike">
              <a:latin typeface="Arial"/>
            </a:endParaRPr>
          </a:p>
        </p:txBody>
      </p:sp>
      <p:sp>
        <p:nvSpPr>
          <p:cNvPr id="1351" name=""/>
          <p:cNvSpPr/>
          <p:nvPr/>
        </p:nvSpPr>
        <p:spPr>
          <a:xfrm>
            <a:off x="324000" y="1404000"/>
            <a:ext cx="7128000" cy="4680000"/>
          </a:xfrm>
          <a:prstGeom prst="roundRect">
            <a:avLst/>
          </a:prstGeom>
          <a:solidFill>
            <a:srgbClr val="193644"/>
          </a:solidFill>
          <a:ln w="0">
            <a:noFill/>
          </a:ln>
        </p:spPr>
      </p:sp>
      <p:sp>
        <p:nvSpPr>
          <p:cNvPr id="1352" name=""/>
          <p:cNvSpPr/>
          <p:nvPr/>
        </p:nvSpPr>
        <p:spPr>
          <a:xfrm>
            <a:off x="324000" y="1404000"/>
            <a:ext cx="64800" cy="4680000"/>
          </a:xfrm>
          <a:prstGeom prst="rect">
            <a:avLst/>
          </a:prstGeom>
          <a:solidFill>
            <a:srgbClr val="007c99"/>
          </a:solidFill>
          <a:ln w="0">
            <a:noFill/>
          </a:ln>
        </p:spPr>
      </p:sp>
      <p:sp>
        <p:nvSpPr>
          <p:cNvPr id="1353" name=""/>
          <p:cNvSpPr txBox="1"/>
          <p:nvPr/>
        </p:nvSpPr>
        <p:spPr>
          <a:xfrm>
            <a:off x="612000" y="1656000"/>
            <a:ext cx="6552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39" spc="-1" strike="noStrike">
                <a:solidFill>
                  <a:srgbClr val="77c6d4"/>
                </a:solidFill>
                <a:latin typeface="Courier New"/>
              </a:rPr>
              <a:t>SIMULATOR PLACEMENT PATH</a:t>
            </a:r>
            <a:endParaRPr b="0" lang="en-US" sz="839" spc="-1" strike="noStrike">
              <a:latin typeface="Arial"/>
            </a:endParaRPr>
          </a:p>
        </p:txBody>
      </p:sp>
      <p:sp>
        <p:nvSpPr>
          <p:cNvPr id="1354" name=""/>
          <p:cNvSpPr txBox="1"/>
          <p:nvPr/>
        </p:nvSpPr>
        <p:spPr>
          <a:xfrm>
            <a:off x="612000" y="2088000"/>
            <a:ext cx="6552000" cy="345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20" spc="-1" strike="noStrike">
                <a:solidFill>
                  <a:srgbClr val="e8f3f6"/>
                </a:solidFill>
                <a:latin typeface="Courier New"/>
              </a:rPr>
              <a:t>requested = policy_weights[group_id]</a:t>
            </a:r>
            <a:endParaRPr b="0" lang="en-US" sz="1020" spc="-1" strike="noStrike">
              <a:latin typeface="Arial"/>
            </a:endParaRPr>
          </a:p>
          <a:p>
            <a:r>
              <a:rPr b="0" lang="en-US" sz="1020" spc="-1" strike="noStrike">
                <a:solidFill>
                  <a:srgbClr val="e8f3f6"/>
                </a:solidFill>
                <a:latin typeface="Courier New"/>
              </a:rPr>
              <a:t>allowed = {u:w for u,w in requested.items()</a:t>
            </a:r>
            <a:endParaRPr b="0" lang="en-US" sz="1020" spc="-1" strike="noStrike">
              <a:latin typeface="Arial"/>
            </a:endParaRPr>
          </a:p>
          <a:p>
            <a:r>
              <a:rPr b="0" lang="en-US" sz="1020" spc="-1" strike="noStrike">
                <a:solidFill>
                  <a:srgbClr val="e8f3f6"/>
                </a:solidFill>
                <a:latin typeface="Courier New"/>
              </a:rPr>
              <a:t>           </a:t>
            </a:r>
            <a:r>
              <a:rPr b="0" lang="en-US" sz="1020" spc="-1" strike="noStrike">
                <a:solidFill>
                  <a:srgbClr val="e8f3f6"/>
                </a:solidFill>
                <a:latin typeface="Courier New"/>
              </a:rPr>
              <a:t>if u in eligible_upfs</a:t>
            </a:r>
            <a:endParaRPr b="0" lang="en-US" sz="1020" spc="-1" strike="noStrike">
              <a:latin typeface="Arial"/>
            </a:endParaRPr>
          </a:p>
          <a:p>
            <a:r>
              <a:rPr b="0" lang="en-US" sz="1020" spc="-1" strike="noStrike">
                <a:solidFill>
                  <a:srgbClr val="e8f3f6"/>
                </a:solidFill>
                <a:latin typeface="Courier New"/>
              </a:rPr>
              <a:t>           </a:t>
            </a:r>
            <a:r>
              <a:rPr b="0" lang="en-US" sz="1020" spc="-1" strike="noStrike">
                <a:solidFill>
                  <a:srgbClr val="e8f3f6"/>
                </a:solidFill>
                <a:latin typeface="Courier New"/>
              </a:rPr>
              <a:t>and state[u].health in {healthy,degraded}}</a:t>
            </a:r>
            <a:endParaRPr b="0" lang="en-US" sz="1020" spc="-1" strike="noStrike">
              <a:latin typeface="Arial"/>
            </a:endParaRPr>
          </a:p>
          <a:p>
            <a:r>
              <a:rPr b="0" lang="en-US" sz="1020" spc="-1" strike="noStrike">
                <a:solidFill>
                  <a:srgbClr val="e8f3f6"/>
                </a:solidFill>
                <a:latin typeface="Courier New"/>
              </a:rPr>
              <a:t>weights = normalize(allowed)</a:t>
            </a:r>
            <a:endParaRPr b="0" lang="en-US" sz="1020" spc="-1" strike="noStrike">
              <a:latin typeface="Arial"/>
            </a:endParaRPr>
          </a:p>
          <a:p>
            <a:endParaRPr b="0" lang="en-US" sz="1020" spc="-1" strike="noStrike">
              <a:latin typeface="Arial"/>
            </a:endParaRPr>
          </a:p>
          <a:p>
            <a:r>
              <a:rPr b="0" lang="en-US" sz="1020" spc="-1" strike="noStrike">
                <a:solidFill>
                  <a:srgbClr val="e8f3f6"/>
                </a:solidFill>
                <a:latin typeface="Courier New"/>
              </a:rPr>
              <a:t>selected = rendezvous_select(</a:t>
            </a:r>
            <a:endParaRPr b="0" lang="en-US" sz="1020" spc="-1" strike="noStrike">
              <a:latin typeface="Arial"/>
            </a:endParaRPr>
          </a:p>
          <a:p>
            <a:r>
              <a:rPr b="0" lang="en-US" sz="1020" spc="-1" strike="noStrike">
                <a:solidFill>
                  <a:srgbClr val="e8f3f6"/>
                </a:solidFill>
                <a:latin typeface="Courier New"/>
              </a:rPr>
              <a:t>    </a:t>
            </a:r>
            <a:r>
              <a:rPr b="0" lang="en-US" sz="1020" spc="-1" strike="noStrike">
                <a:solidFill>
                  <a:srgbClr val="e8f3f6"/>
                </a:solidFill>
                <a:latin typeface="Courier New"/>
              </a:rPr>
              <a:t>session_key, stable_namespace, weights)</a:t>
            </a:r>
            <a:endParaRPr b="0" lang="en-US" sz="1020" spc="-1" strike="noStrike">
              <a:latin typeface="Arial"/>
            </a:endParaRPr>
          </a:p>
          <a:p>
            <a:endParaRPr b="0" lang="en-US" sz="1020" spc="-1" strike="noStrike">
              <a:latin typeface="Arial"/>
            </a:endParaRPr>
          </a:p>
          <a:p>
            <a:r>
              <a:rPr b="0" lang="en-US" sz="1020" spc="-1" strike="noStrike">
                <a:solidFill>
                  <a:srgbClr val="e8f3f6"/>
                </a:solidFill>
                <a:latin typeface="Courier New"/>
              </a:rPr>
              <a:t>if active[selected] &gt;= session_capacity:</a:t>
            </a:r>
            <a:endParaRPr b="0" lang="en-US" sz="1020" spc="-1" strike="noStrike">
              <a:latin typeface="Arial"/>
            </a:endParaRPr>
          </a:p>
          <a:p>
            <a:r>
              <a:rPr b="0" lang="en-US" sz="1020" spc="-1" strike="noStrike">
                <a:solidFill>
                  <a:srgbClr val="e8f3f6"/>
                </a:solidFill>
                <a:latin typeface="Courier New"/>
              </a:rPr>
              <a:t>    </a:t>
            </a:r>
            <a:r>
              <a:rPr b="0" lang="en-US" sz="1020" spc="-1" strike="noStrike">
                <a:solidFill>
                  <a:srgbClr val="e8f3f6"/>
                </a:solidFill>
                <a:latin typeface="Courier New"/>
              </a:rPr>
              <a:t>reject()</a:t>
            </a:r>
            <a:endParaRPr b="0" lang="en-US" sz="1020" spc="-1" strike="noStrike">
              <a:latin typeface="Arial"/>
            </a:endParaRPr>
          </a:p>
          <a:p>
            <a:r>
              <a:rPr b="0" lang="en-US" sz="1020" spc="-1" strike="noStrike">
                <a:solidFill>
                  <a:srgbClr val="e8f3f6"/>
                </a:solidFill>
                <a:latin typeface="Courier New"/>
              </a:rPr>
              <a:t>else:</a:t>
            </a:r>
            <a:endParaRPr b="0" lang="en-US" sz="1020" spc="-1" strike="noStrike">
              <a:latin typeface="Arial"/>
            </a:endParaRPr>
          </a:p>
          <a:p>
            <a:r>
              <a:rPr b="0" lang="en-US" sz="1020" spc="-1" strike="noStrike">
                <a:solidFill>
                  <a:srgbClr val="e8f3f6"/>
                </a:solidFill>
                <a:latin typeface="Courier New"/>
              </a:rPr>
              <a:t>    </a:t>
            </a:r>
            <a:r>
              <a:rPr b="0" lang="en-US" sz="1020" spc="-1" strike="noStrike">
                <a:solidFill>
                  <a:srgbClr val="e8f3f6"/>
                </a:solidFill>
                <a:latin typeface="Courier New"/>
              </a:rPr>
              <a:t>lifetime = randint(min_steps, max_steps)</a:t>
            </a:r>
            <a:endParaRPr b="0" lang="en-US" sz="1020" spc="-1" strike="noStrike">
              <a:latin typeface="Arial"/>
            </a:endParaRPr>
          </a:p>
          <a:p>
            <a:r>
              <a:rPr b="0" lang="en-US" sz="1020" spc="-1" strike="noStrike">
                <a:solidFill>
                  <a:srgbClr val="e8f3f6"/>
                </a:solidFill>
                <a:latin typeface="Courier New"/>
              </a:rPr>
              <a:t>    </a:t>
            </a:r>
            <a:r>
              <a:rPr b="0" lang="en-US" sz="1020" spc="-1" strike="noStrike">
                <a:solidFill>
                  <a:srgbClr val="e8f3f6"/>
                </a:solidFill>
                <a:latin typeface="Courier New"/>
              </a:rPr>
              <a:t>create_anchored_cohort(selected, lifetime)</a:t>
            </a:r>
            <a:endParaRPr b="0" lang="en-US" sz="1020" spc="-1" strike="noStrike">
              <a:latin typeface="Arial"/>
            </a:endParaRPr>
          </a:p>
        </p:txBody>
      </p:sp>
      <p:sp>
        <p:nvSpPr>
          <p:cNvPr id="1355" name=""/>
          <p:cNvSpPr txBox="1"/>
          <p:nvPr/>
        </p:nvSpPr>
        <p:spPr>
          <a:xfrm>
            <a:off x="612000" y="5652000"/>
            <a:ext cx="6552000" cy="2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20" spc="-1" strike="noStrike">
                <a:solidFill>
                  <a:srgbClr val="afc3cb"/>
                </a:solidFill>
                <a:latin typeface="Arial"/>
              </a:rPr>
              <a:t>The policy ID does not re-salt the hash namespace; paired runs share the selection randomization.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1356" name=""/>
          <p:cNvSpPr/>
          <p:nvPr/>
        </p:nvSpPr>
        <p:spPr>
          <a:xfrm>
            <a:off x="7776000" y="1404000"/>
            <a:ext cx="3960000" cy="4680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1357" name=""/>
          <p:cNvSpPr/>
          <p:nvPr/>
        </p:nvSpPr>
        <p:spPr>
          <a:xfrm>
            <a:off x="7776000" y="1404000"/>
            <a:ext cx="64800" cy="4680000"/>
          </a:xfrm>
          <a:prstGeom prst="rect">
            <a:avLst/>
          </a:prstGeom>
          <a:solidFill>
            <a:srgbClr val="c77b0b"/>
          </a:solidFill>
          <a:ln w="0">
            <a:noFill/>
          </a:ln>
        </p:spPr>
      </p:sp>
      <p:sp>
        <p:nvSpPr>
          <p:cNvPr id="1358" name=""/>
          <p:cNvSpPr txBox="1"/>
          <p:nvPr/>
        </p:nvSpPr>
        <p:spPr>
          <a:xfrm>
            <a:off x="8028000" y="1656000"/>
            <a:ext cx="3456000" cy="2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400" spc="-1" strike="noStrike">
                <a:solidFill>
                  <a:srgbClr val="172731"/>
                </a:solidFill>
                <a:latin typeface="Arial"/>
              </a:rPr>
              <a:t>What a weight change means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359" name=""/>
          <p:cNvSpPr/>
          <p:nvPr/>
        </p:nvSpPr>
        <p:spPr>
          <a:xfrm>
            <a:off x="8028000" y="2260800"/>
            <a:ext cx="79200" cy="79200"/>
          </a:xfrm>
          <a:prstGeom prst="ellipse">
            <a:avLst/>
          </a:prstGeom>
          <a:solidFill>
            <a:srgbClr val="c77b0b"/>
          </a:solidFill>
          <a:ln w="0">
            <a:noFill/>
          </a:ln>
        </p:spPr>
      </p:sp>
      <p:sp>
        <p:nvSpPr>
          <p:cNvPr id="1360" name=""/>
          <p:cNvSpPr txBox="1"/>
          <p:nvPr/>
        </p:nvSpPr>
        <p:spPr>
          <a:xfrm>
            <a:off x="8208000" y="2196000"/>
            <a:ext cx="3276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20" spc="-1" strike="noStrike">
                <a:solidFill>
                  <a:srgbClr val="172731"/>
                </a:solidFill>
                <a:latin typeface="Arial"/>
              </a:rPr>
              <a:t>Before</a:t>
            </a:r>
            <a:endParaRPr b="0" lang="en-US" sz="920" spc="-1" strike="noStrike">
              <a:latin typeface="Arial"/>
            </a:endParaRPr>
          </a:p>
        </p:txBody>
      </p:sp>
      <p:sp>
        <p:nvSpPr>
          <p:cNvPr id="1361" name=""/>
          <p:cNvSpPr txBox="1"/>
          <p:nvPr/>
        </p:nvSpPr>
        <p:spPr>
          <a:xfrm>
            <a:off x="8208000" y="2376000"/>
            <a:ext cx="3276000" cy="58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00" spc="-1" strike="noStrike">
                <a:solidFill>
                  <a:srgbClr val="526875"/>
                </a:solidFill>
                <a:latin typeface="Arial"/>
              </a:rPr>
              <a:t>Each new session hashes across the current eligible weighted set.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362" name=""/>
          <p:cNvSpPr/>
          <p:nvPr/>
        </p:nvSpPr>
        <p:spPr>
          <a:xfrm>
            <a:off x="8028000" y="2952000"/>
            <a:ext cx="79200" cy="79200"/>
          </a:xfrm>
          <a:prstGeom prst="ellipse">
            <a:avLst/>
          </a:prstGeom>
          <a:solidFill>
            <a:srgbClr val="c77b0b"/>
          </a:solidFill>
          <a:ln w="0">
            <a:noFill/>
          </a:ln>
        </p:spPr>
      </p:sp>
      <p:sp>
        <p:nvSpPr>
          <p:cNvPr id="1363" name=""/>
          <p:cNvSpPr txBox="1"/>
          <p:nvPr/>
        </p:nvSpPr>
        <p:spPr>
          <a:xfrm>
            <a:off x="8208000" y="2887200"/>
            <a:ext cx="3276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20" spc="-1" strike="noStrike">
                <a:solidFill>
                  <a:srgbClr val="172731"/>
                </a:solidFill>
                <a:latin typeface="Arial"/>
              </a:rPr>
              <a:t>Policy epoch</a:t>
            </a:r>
            <a:endParaRPr b="0" lang="en-US" sz="920" spc="-1" strike="noStrike">
              <a:latin typeface="Arial"/>
            </a:endParaRPr>
          </a:p>
        </p:txBody>
      </p:sp>
      <p:sp>
        <p:nvSpPr>
          <p:cNvPr id="1364" name=""/>
          <p:cNvSpPr txBox="1"/>
          <p:nvPr/>
        </p:nvSpPr>
        <p:spPr>
          <a:xfrm>
            <a:off x="8208000" y="3067200"/>
            <a:ext cx="3276000" cy="58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00" spc="-1" strike="noStrike">
                <a:solidFill>
                  <a:srgbClr val="526875"/>
                </a:solidFill>
                <a:latin typeface="Arial"/>
              </a:rPr>
              <a:t>MPC publishes new normalized weights after certification.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365" name=""/>
          <p:cNvSpPr/>
          <p:nvPr/>
        </p:nvSpPr>
        <p:spPr>
          <a:xfrm>
            <a:off x="8028000" y="3643200"/>
            <a:ext cx="79200" cy="79200"/>
          </a:xfrm>
          <a:prstGeom prst="ellipse">
            <a:avLst/>
          </a:prstGeom>
          <a:solidFill>
            <a:srgbClr val="c77b0b"/>
          </a:solidFill>
          <a:ln w="0">
            <a:noFill/>
          </a:ln>
        </p:spPr>
      </p:sp>
      <p:sp>
        <p:nvSpPr>
          <p:cNvPr id="1366" name=""/>
          <p:cNvSpPr txBox="1"/>
          <p:nvPr/>
        </p:nvSpPr>
        <p:spPr>
          <a:xfrm>
            <a:off x="8208000" y="3578400"/>
            <a:ext cx="3276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20" spc="-1" strike="noStrike">
                <a:solidFill>
                  <a:srgbClr val="172731"/>
                </a:solidFill>
                <a:latin typeface="Arial"/>
              </a:rPr>
              <a:t>After</a:t>
            </a:r>
            <a:endParaRPr b="0" lang="en-US" sz="920" spc="-1" strike="noStrike">
              <a:latin typeface="Arial"/>
            </a:endParaRPr>
          </a:p>
        </p:txBody>
      </p:sp>
      <p:sp>
        <p:nvSpPr>
          <p:cNvPr id="1367" name=""/>
          <p:cNvSpPr txBox="1"/>
          <p:nvPr/>
        </p:nvSpPr>
        <p:spPr>
          <a:xfrm>
            <a:off x="8208000" y="3758400"/>
            <a:ext cx="3276000" cy="58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00" spc="-1" strike="noStrike">
                <a:solidFill>
                  <a:srgbClr val="526875"/>
                </a:solidFill>
                <a:latin typeface="Arial"/>
              </a:rPr>
              <a:t>Only later arrivals use the new weighted scores.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368" name=""/>
          <p:cNvSpPr/>
          <p:nvPr/>
        </p:nvSpPr>
        <p:spPr>
          <a:xfrm>
            <a:off x="8028000" y="4334400"/>
            <a:ext cx="79200" cy="79200"/>
          </a:xfrm>
          <a:prstGeom prst="ellipse">
            <a:avLst/>
          </a:prstGeom>
          <a:solidFill>
            <a:srgbClr val="c77b0b"/>
          </a:solidFill>
          <a:ln w="0">
            <a:noFill/>
          </a:ln>
        </p:spPr>
      </p:sp>
      <p:sp>
        <p:nvSpPr>
          <p:cNvPr id="1369" name=""/>
          <p:cNvSpPr txBox="1"/>
          <p:nvPr/>
        </p:nvSpPr>
        <p:spPr>
          <a:xfrm>
            <a:off x="8208000" y="4269600"/>
            <a:ext cx="3276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20" spc="-1" strike="noStrike">
                <a:solidFill>
                  <a:srgbClr val="172731"/>
                </a:solidFill>
                <a:latin typeface="Arial"/>
              </a:rPr>
              <a:t>Persistence</a:t>
            </a:r>
            <a:endParaRPr b="0" lang="en-US" sz="920" spc="-1" strike="noStrike">
              <a:latin typeface="Arial"/>
            </a:endParaRPr>
          </a:p>
        </p:txBody>
      </p:sp>
      <p:sp>
        <p:nvSpPr>
          <p:cNvPr id="1370" name=""/>
          <p:cNvSpPr txBox="1"/>
          <p:nvPr/>
        </p:nvSpPr>
        <p:spPr>
          <a:xfrm>
            <a:off x="8208000" y="4449600"/>
            <a:ext cx="3276000" cy="58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00" spc="-1" strike="noStrike">
                <a:solidFill>
                  <a:srgbClr val="526875"/>
                </a:solidFill>
                <a:latin typeface="Arial"/>
              </a:rPr>
              <a:t>Admitted sessions stay on the selected UPF until their lifetime ends.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371" name=""/>
          <p:cNvSpPr/>
          <p:nvPr/>
        </p:nvSpPr>
        <p:spPr>
          <a:xfrm>
            <a:off x="8028000" y="5025600"/>
            <a:ext cx="79200" cy="79200"/>
          </a:xfrm>
          <a:prstGeom prst="ellipse">
            <a:avLst/>
          </a:prstGeom>
          <a:solidFill>
            <a:srgbClr val="c77b0b"/>
          </a:solidFill>
          <a:ln w="0">
            <a:noFill/>
          </a:ln>
        </p:spPr>
      </p:sp>
      <p:sp>
        <p:nvSpPr>
          <p:cNvPr id="1372" name=""/>
          <p:cNvSpPr txBox="1"/>
          <p:nvPr/>
        </p:nvSpPr>
        <p:spPr>
          <a:xfrm>
            <a:off x="8208000" y="4960800"/>
            <a:ext cx="3276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20" spc="-1" strike="noStrike">
                <a:solidFill>
                  <a:srgbClr val="172731"/>
                </a:solidFill>
                <a:latin typeface="Arial"/>
              </a:rPr>
              <a:t>No migration</a:t>
            </a:r>
            <a:endParaRPr b="0" lang="en-US" sz="920" spc="-1" strike="noStrike">
              <a:latin typeface="Arial"/>
            </a:endParaRPr>
          </a:p>
        </p:txBody>
      </p:sp>
      <p:sp>
        <p:nvSpPr>
          <p:cNvPr id="1373" name=""/>
          <p:cNvSpPr txBox="1"/>
          <p:nvPr/>
        </p:nvSpPr>
        <p:spPr>
          <a:xfrm>
            <a:off x="8208000" y="5140800"/>
            <a:ext cx="3276000" cy="58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00" spc="-1" strike="noStrike">
                <a:solidFill>
                  <a:srgbClr val="526875"/>
                </a:solidFill>
                <a:latin typeface="Arial"/>
              </a:rPr>
              <a:t>Existing TEIDs/sessions are never moved by this code.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374" name=""/>
          <p:cNvSpPr/>
          <p:nvPr/>
        </p:nvSpPr>
        <p:spPr>
          <a:xfrm>
            <a:off x="324000" y="6616800"/>
            <a:ext cx="11088000" cy="0"/>
          </a:xfrm>
          <a:prstGeom prst="line">
            <a:avLst/>
          </a:prstGeom>
          <a:ln w="1080">
            <a:solidFill>
              <a:srgbClr val="cfdc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75" name=""/>
          <p:cNvSpPr txBox="1"/>
          <p:nvPr/>
        </p:nvSpPr>
        <p:spPr>
          <a:xfrm>
            <a:off x="324000" y="6660000"/>
            <a:ext cx="10368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80" spc="-1" strike="noStrike">
                <a:solidFill>
                  <a:srgbClr val="718592"/>
                </a:solidFill>
                <a:latin typeface="Courier New"/>
              </a:rPr>
              <a:t>simulator/macro/engine.py::advance · steering/hashing.py::rendezvous_select · docs/cdot-session-migration-decision.md</a:t>
            </a:r>
            <a:endParaRPr b="0" lang="en-US" sz="680" spc="-1" strike="noStrike">
              <a:latin typeface="Arial"/>
            </a:endParaRPr>
          </a:p>
        </p:txBody>
      </p:sp>
      <p:sp>
        <p:nvSpPr>
          <p:cNvPr id="1376" name=""/>
          <p:cNvSpPr txBox="1"/>
          <p:nvPr/>
        </p:nvSpPr>
        <p:spPr>
          <a:xfrm>
            <a:off x="11052000" y="6660000"/>
            <a:ext cx="684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buNone/>
            </a:pPr>
            <a:r>
              <a:rPr b="1" lang="en-US" sz="750" spc="-1" strike="noStrike">
                <a:solidFill>
                  <a:srgbClr val="718592"/>
                </a:solidFill>
                <a:latin typeface="Courier New"/>
              </a:rPr>
              <a:t>25</a:t>
            </a:r>
            <a:endParaRPr b="0" lang="en-US" sz="7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7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3f7f8"/>
          </a:solidFill>
          <a:ln w="0">
            <a:noFill/>
          </a:ln>
        </p:spPr>
      </p:sp>
      <p:sp>
        <p:nvSpPr>
          <p:cNvPr id="1378" name=""/>
          <p:cNvSpPr txBox="1"/>
          <p:nvPr/>
        </p:nvSpPr>
        <p:spPr>
          <a:xfrm>
            <a:off x="324000" y="158400"/>
            <a:ext cx="3096000" cy="23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00" spc="508" strike="noStrike">
                <a:solidFill>
                  <a:srgbClr val="007c99"/>
                </a:solidFill>
                <a:latin typeface="Courier New"/>
              </a:rPr>
              <a:t>STAGE 4 · PRESENTER WALKTHROUGH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379" name=""/>
          <p:cNvSpPr txBox="1"/>
          <p:nvPr/>
        </p:nvSpPr>
        <p:spPr>
          <a:xfrm>
            <a:off x="324000" y="378000"/>
            <a:ext cx="10584000" cy="57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50" spc="-1" strike="noStrike">
                <a:solidFill>
                  <a:srgbClr val="172731"/>
                </a:solidFill>
                <a:latin typeface="Arial"/>
              </a:rPr>
              <a:t>A five-minute guided story makes the control loop explainable</a:t>
            </a:r>
            <a:endParaRPr b="0" lang="en-US" sz="2150" spc="-1" strike="noStrike">
              <a:latin typeface="Arial"/>
            </a:endParaRPr>
          </a:p>
        </p:txBody>
      </p:sp>
      <p:sp>
        <p:nvSpPr>
          <p:cNvPr id="1380" name=""/>
          <p:cNvSpPr/>
          <p:nvPr/>
        </p:nvSpPr>
        <p:spPr>
          <a:xfrm>
            <a:off x="10800000" y="180000"/>
            <a:ext cx="936000" cy="19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1381" name=""/>
          <p:cNvSpPr txBox="1"/>
          <p:nvPr/>
        </p:nvSpPr>
        <p:spPr>
          <a:xfrm>
            <a:off x="10818000" y="219600"/>
            <a:ext cx="900000" cy="10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710" spc="-1" strike="noStrike">
                <a:solidFill>
                  <a:srgbClr val="c77b0b"/>
                </a:solidFill>
                <a:latin typeface="Courier New"/>
              </a:rPr>
              <a:t>SYNTHETIC DATA</a:t>
            </a:r>
            <a:endParaRPr b="0" lang="en-US" sz="710" spc="-1" strike="noStrike">
              <a:latin typeface="Arial"/>
            </a:endParaRPr>
          </a:p>
        </p:txBody>
      </p:sp>
      <p:sp>
        <p:nvSpPr>
          <p:cNvPr id="1382" name=""/>
          <p:cNvSpPr/>
          <p:nvPr/>
        </p:nvSpPr>
        <p:spPr>
          <a:xfrm>
            <a:off x="324000" y="1548000"/>
            <a:ext cx="11412000" cy="666000"/>
          </a:xfrm>
          <a:prstGeom prst="rect">
            <a:avLst/>
          </a:prstGeom>
          <a:solidFill>
            <a:srgbClr val="193644"/>
          </a:solidFill>
          <a:ln w="6480">
            <a:solidFill>
              <a:srgbClr val="cfdce1"/>
            </a:solidFill>
            <a:round/>
          </a:ln>
        </p:spPr>
      </p:sp>
      <p:sp>
        <p:nvSpPr>
          <p:cNvPr id="1383" name=""/>
          <p:cNvSpPr txBox="1"/>
          <p:nvPr/>
        </p:nvSpPr>
        <p:spPr>
          <a:xfrm>
            <a:off x="385200" y="1594800"/>
            <a:ext cx="885600" cy="59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n-US" sz="839" spc="-1" strike="noStrike">
                <a:solidFill>
                  <a:srgbClr val="ffffff"/>
                </a:solidFill>
                <a:latin typeface="Arial"/>
              </a:rPr>
              <a:t>TIME</a:t>
            </a:r>
            <a:endParaRPr b="0" lang="en-US" sz="839" spc="-1" strike="noStrike">
              <a:latin typeface="Arial"/>
            </a:endParaRPr>
          </a:p>
        </p:txBody>
      </p:sp>
      <p:sp>
        <p:nvSpPr>
          <p:cNvPr id="1384" name=""/>
          <p:cNvSpPr txBox="1"/>
          <p:nvPr/>
        </p:nvSpPr>
        <p:spPr>
          <a:xfrm>
            <a:off x="1393200" y="1594800"/>
            <a:ext cx="2073600" cy="59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n-US" sz="839" spc="-1" strike="noStrike">
                <a:solidFill>
                  <a:srgbClr val="ffffff"/>
                </a:solidFill>
                <a:latin typeface="Arial"/>
              </a:rPr>
              <a:t>CHECKPOINT</a:t>
            </a:r>
            <a:endParaRPr b="0" lang="en-US" sz="839" spc="-1" strike="noStrike">
              <a:latin typeface="Arial"/>
            </a:endParaRPr>
          </a:p>
        </p:txBody>
      </p:sp>
      <p:sp>
        <p:nvSpPr>
          <p:cNvPr id="1385" name=""/>
          <p:cNvSpPr txBox="1"/>
          <p:nvPr/>
        </p:nvSpPr>
        <p:spPr>
          <a:xfrm>
            <a:off x="3589200" y="1594800"/>
            <a:ext cx="4341600" cy="59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n-US" sz="839" spc="-1" strike="noStrike">
                <a:solidFill>
                  <a:srgbClr val="ffffff"/>
                </a:solidFill>
                <a:latin typeface="Arial"/>
              </a:rPr>
              <a:t>WHAT THE AUDIENCE SEES</a:t>
            </a:r>
            <a:endParaRPr b="0" lang="en-US" sz="839" spc="-1" strike="noStrike">
              <a:latin typeface="Arial"/>
            </a:endParaRPr>
          </a:p>
        </p:txBody>
      </p:sp>
      <p:sp>
        <p:nvSpPr>
          <p:cNvPr id="1386" name=""/>
          <p:cNvSpPr txBox="1"/>
          <p:nvPr/>
        </p:nvSpPr>
        <p:spPr>
          <a:xfrm>
            <a:off x="8053200" y="1594800"/>
            <a:ext cx="3621600" cy="59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n-US" sz="839" spc="-1" strike="noStrike">
                <a:solidFill>
                  <a:srgbClr val="ffffff"/>
                </a:solidFill>
                <a:latin typeface="Arial"/>
              </a:rPr>
              <a:t>DEFENSIBLE CLAIM</a:t>
            </a:r>
            <a:endParaRPr b="0" lang="en-US" sz="839" spc="-1" strike="noStrike">
              <a:latin typeface="Arial"/>
            </a:endParaRPr>
          </a:p>
        </p:txBody>
      </p:sp>
      <p:sp>
        <p:nvSpPr>
          <p:cNvPr id="1387" name=""/>
          <p:cNvSpPr/>
          <p:nvPr/>
        </p:nvSpPr>
        <p:spPr>
          <a:xfrm>
            <a:off x="324000" y="2214000"/>
            <a:ext cx="11412000" cy="666000"/>
          </a:xfrm>
          <a:prstGeom prst="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1388" name=""/>
          <p:cNvSpPr txBox="1"/>
          <p:nvPr/>
        </p:nvSpPr>
        <p:spPr>
          <a:xfrm>
            <a:off x="385200" y="2260800"/>
            <a:ext cx="885600" cy="59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60" spc="-1" strike="noStrike">
                <a:solidFill>
                  <a:srgbClr val="172731"/>
                </a:solidFill>
                <a:latin typeface="Arial"/>
              </a:rPr>
              <a:t>0:00</a:t>
            </a:r>
            <a:endParaRPr b="0" lang="en-US" sz="860" spc="-1" strike="noStrike">
              <a:latin typeface="Arial"/>
            </a:endParaRPr>
          </a:p>
        </p:txBody>
      </p:sp>
      <p:sp>
        <p:nvSpPr>
          <p:cNvPr id="1389" name=""/>
          <p:cNvSpPr txBox="1"/>
          <p:nvPr/>
        </p:nvSpPr>
        <p:spPr>
          <a:xfrm>
            <a:off x="1393200" y="2260800"/>
            <a:ext cx="2073600" cy="59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60" spc="-1" strike="noStrike">
                <a:solidFill>
                  <a:srgbClr val="172731"/>
                </a:solidFill>
                <a:latin typeface="Arial"/>
              </a:rPr>
              <a:t>Normal network</a:t>
            </a:r>
            <a:endParaRPr b="0" lang="en-US" sz="860" spc="-1" strike="noStrike">
              <a:latin typeface="Arial"/>
            </a:endParaRPr>
          </a:p>
        </p:txBody>
      </p:sp>
      <p:sp>
        <p:nvSpPr>
          <p:cNvPr id="1390" name=""/>
          <p:cNvSpPr txBox="1"/>
          <p:nvPr/>
        </p:nvSpPr>
        <p:spPr>
          <a:xfrm>
            <a:off x="3589200" y="2260800"/>
            <a:ext cx="4341600" cy="59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60" spc="-1" strike="noStrike">
                <a:solidFill>
                  <a:srgbClr val="172731"/>
                </a:solidFill>
                <a:latin typeface="Arial"/>
              </a:rPr>
              <a:t>three UPFs inside safe envelopes</a:t>
            </a:r>
            <a:endParaRPr b="0" lang="en-US" sz="860" spc="-1" strike="noStrike">
              <a:latin typeface="Arial"/>
            </a:endParaRPr>
          </a:p>
        </p:txBody>
      </p:sp>
      <p:sp>
        <p:nvSpPr>
          <p:cNvPr id="1391" name=""/>
          <p:cNvSpPr txBox="1"/>
          <p:nvPr/>
        </p:nvSpPr>
        <p:spPr>
          <a:xfrm>
            <a:off x="8053200" y="2260800"/>
            <a:ext cx="3621600" cy="59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60" spc="-1" strike="noStrike">
                <a:solidFill>
                  <a:srgbClr val="172731"/>
                </a:solidFill>
                <a:latin typeface="Arial"/>
              </a:rPr>
              <a:t>established sessions remain anchored</a:t>
            </a:r>
            <a:endParaRPr b="0" lang="en-US" sz="860" spc="-1" strike="noStrike">
              <a:latin typeface="Arial"/>
            </a:endParaRPr>
          </a:p>
        </p:txBody>
      </p:sp>
      <p:sp>
        <p:nvSpPr>
          <p:cNvPr id="1392" name=""/>
          <p:cNvSpPr/>
          <p:nvPr/>
        </p:nvSpPr>
        <p:spPr>
          <a:xfrm>
            <a:off x="324000" y="2880000"/>
            <a:ext cx="11412000" cy="666000"/>
          </a:xfrm>
          <a:prstGeom prst="rect">
            <a:avLst/>
          </a:prstGeom>
          <a:solidFill>
            <a:srgbClr val="f8fafb"/>
          </a:solidFill>
          <a:ln w="6480">
            <a:solidFill>
              <a:srgbClr val="cfdce1"/>
            </a:solidFill>
            <a:round/>
          </a:ln>
        </p:spPr>
      </p:sp>
      <p:sp>
        <p:nvSpPr>
          <p:cNvPr id="1393" name=""/>
          <p:cNvSpPr txBox="1"/>
          <p:nvPr/>
        </p:nvSpPr>
        <p:spPr>
          <a:xfrm>
            <a:off x="385200" y="2926800"/>
            <a:ext cx="885600" cy="59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60" spc="-1" strike="noStrike">
                <a:solidFill>
                  <a:srgbClr val="172731"/>
                </a:solidFill>
                <a:latin typeface="Arial"/>
              </a:rPr>
              <a:t>0:35</a:t>
            </a:r>
            <a:endParaRPr b="0" lang="en-US" sz="860" spc="-1" strike="noStrike">
              <a:latin typeface="Arial"/>
            </a:endParaRPr>
          </a:p>
        </p:txBody>
      </p:sp>
      <p:sp>
        <p:nvSpPr>
          <p:cNvPr id="1394" name=""/>
          <p:cNvSpPr txBox="1"/>
          <p:nvPr/>
        </p:nvSpPr>
        <p:spPr>
          <a:xfrm>
            <a:off x="1393200" y="2926800"/>
            <a:ext cx="2073600" cy="59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60" spc="-1" strike="noStrike">
                <a:solidFill>
                  <a:srgbClr val="172731"/>
                </a:solidFill>
                <a:latin typeface="Arial"/>
              </a:rPr>
              <a:t>Problem appears</a:t>
            </a:r>
            <a:endParaRPr b="0" lang="en-US" sz="860" spc="-1" strike="noStrike">
              <a:latin typeface="Arial"/>
            </a:endParaRPr>
          </a:p>
        </p:txBody>
      </p:sp>
      <p:sp>
        <p:nvSpPr>
          <p:cNvPr id="1395" name=""/>
          <p:cNvSpPr txBox="1"/>
          <p:nvPr/>
        </p:nvSpPr>
        <p:spPr>
          <a:xfrm>
            <a:off x="3589200" y="2926800"/>
            <a:ext cx="4341600" cy="59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60" spc="-1" strike="noStrike">
                <a:solidFill>
                  <a:srgbClr val="172731"/>
                </a:solidFill>
                <a:latin typeface="Arial"/>
              </a:rPr>
              <a:t>stadium demand rises; known UPF-A UL reduction</a:t>
            </a:r>
            <a:endParaRPr b="0" lang="en-US" sz="860" spc="-1" strike="noStrike">
              <a:latin typeface="Arial"/>
            </a:endParaRPr>
          </a:p>
        </p:txBody>
      </p:sp>
      <p:sp>
        <p:nvSpPr>
          <p:cNvPr id="1396" name=""/>
          <p:cNvSpPr txBox="1"/>
          <p:nvPr/>
        </p:nvSpPr>
        <p:spPr>
          <a:xfrm>
            <a:off x="8053200" y="2926800"/>
            <a:ext cx="3621600" cy="59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60" spc="-1" strike="noStrike">
                <a:solidFill>
                  <a:srgbClr val="172731"/>
                </a:solidFill>
                <a:latin typeface="Arial"/>
              </a:rPr>
              <a:t>pressure is visible before the route changes</a:t>
            </a:r>
            <a:endParaRPr b="0" lang="en-US" sz="860" spc="-1" strike="noStrike">
              <a:latin typeface="Arial"/>
            </a:endParaRPr>
          </a:p>
        </p:txBody>
      </p:sp>
      <p:sp>
        <p:nvSpPr>
          <p:cNvPr id="1397" name=""/>
          <p:cNvSpPr/>
          <p:nvPr/>
        </p:nvSpPr>
        <p:spPr>
          <a:xfrm>
            <a:off x="324000" y="3546000"/>
            <a:ext cx="11412000" cy="666000"/>
          </a:xfrm>
          <a:prstGeom prst="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1398" name=""/>
          <p:cNvSpPr txBox="1"/>
          <p:nvPr/>
        </p:nvSpPr>
        <p:spPr>
          <a:xfrm>
            <a:off x="385200" y="3592800"/>
            <a:ext cx="885600" cy="59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60" spc="-1" strike="noStrike">
                <a:solidFill>
                  <a:srgbClr val="172731"/>
                </a:solidFill>
                <a:latin typeface="Arial"/>
              </a:rPr>
              <a:t>1:20</a:t>
            </a:r>
            <a:endParaRPr b="0" lang="en-US" sz="860" spc="-1" strike="noStrike">
              <a:latin typeface="Arial"/>
            </a:endParaRPr>
          </a:p>
        </p:txBody>
      </p:sp>
      <p:sp>
        <p:nvSpPr>
          <p:cNvPr id="1399" name=""/>
          <p:cNvSpPr txBox="1"/>
          <p:nvPr/>
        </p:nvSpPr>
        <p:spPr>
          <a:xfrm>
            <a:off x="1393200" y="3592800"/>
            <a:ext cx="2073600" cy="59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60" spc="-1" strike="noStrike">
                <a:solidFill>
                  <a:srgbClr val="172731"/>
                </a:solidFill>
                <a:latin typeface="Arial"/>
              </a:rPr>
              <a:t>Predict + compare</a:t>
            </a:r>
            <a:endParaRPr b="0" lang="en-US" sz="860" spc="-1" strike="noStrike">
              <a:latin typeface="Arial"/>
            </a:endParaRPr>
          </a:p>
        </p:txBody>
      </p:sp>
      <p:sp>
        <p:nvSpPr>
          <p:cNvPr id="1400" name=""/>
          <p:cNvSpPr txBox="1"/>
          <p:nvPr/>
        </p:nvSpPr>
        <p:spPr>
          <a:xfrm>
            <a:off x="3589200" y="3592800"/>
            <a:ext cx="4341600" cy="59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60" spc="-1" strike="noStrike">
                <a:solidFill>
                  <a:srgbClr val="172731"/>
                </a:solidFill>
                <a:latin typeface="Arial"/>
              </a:rPr>
              <a:t>causal MA6 forecast + same-state certificate</a:t>
            </a:r>
            <a:endParaRPr b="0" lang="en-US" sz="860" spc="-1" strike="noStrike">
              <a:latin typeface="Arial"/>
            </a:endParaRPr>
          </a:p>
        </p:txBody>
      </p:sp>
      <p:sp>
        <p:nvSpPr>
          <p:cNvPr id="1401" name=""/>
          <p:cNvSpPr txBox="1"/>
          <p:nvPr/>
        </p:nvSpPr>
        <p:spPr>
          <a:xfrm>
            <a:off x="8053200" y="3592800"/>
            <a:ext cx="3621600" cy="59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60" spc="-1" strike="noStrike">
                <a:solidFill>
                  <a:srgbClr val="172731"/>
                </a:solidFill>
                <a:latin typeface="Arial"/>
              </a:rPr>
              <a:t>forecast does not steer traffic by itself</a:t>
            </a:r>
            <a:endParaRPr b="0" lang="en-US" sz="860" spc="-1" strike="noStrike">
              <a:latin typeface="Arial"/>
            </a:endParaRPr>
          </a:p>
        </p:txBody>
      </p:sp>
      <p:sp>
        <p:nvSpPr>
          <p:cNvPr id="1402" name=""/>
          <p:cNvSpPr/>
          <p:nvPr/>
        </p:nvSpPr>
        <p:spPr>
          <a:xfrm>
            <a:off x="324000" y="4212000"/>
            <a:ext cx="11412000" cy="666000"/>
          </a:xfrm>
          <a:prstGeom prst="rect">
            <a:avLst/>
          </a:prstGeom>
          <a:solidFill>
            <a:srgbClr val="f8fafb"/>
          </a:solidFill>
          <a:ln w="6480">
            <a:solidFill>
              <a:srgbClr val="cfdce1"/>
            </a:solidFill>
            <a:round/>
          </a:ln>
        </p:spPr>
      </p:sp>
      <p:sp>
        <p:nvSpPr>
          <p:cNvPr id="1403" name=""/>
          <p:cNvSpPr txBox="1"/>
          <p:nvPr/>
        </p:nvSpPr>
        <p:spPr>
          <a:xfrm>
            <a:off x="385200" y="4258800"/>
            <a:ext cx="885600" cy="59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60" spc="-1" strike="noStrike">
                <a:solidFill>
                  <a:srgbClr val="172731"/>
                </a:solidFill>
                <a:latin typeface="Arial"/>
              </a:rPr>
              <a:t>2:35</a:t>
            </a:r>
            <a:endParaRPr b="0" lang="en-US" sz="860" spc="-1" strike="noStrike">
              <a:latin typeface="Arial"/>
            </a:endParaRPr>
          </a:p>
        </p:txBody>
      </p:sp>
      <p:sp>
        <p:nvSpPr>
          <p:cNvPr id="1404" name=""/>
          <p:cNvSpPr txBox="1"/>
          <p:nvPr/>
        </p:nvSpPr>
        <p:spPr>
          <a:xfrm>
            <a:off x="1393200" y="4258800"/>
            <a:ext cx="2073600" cy="59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60" spc="-1" strike="noStrike">
                <a:solidFill>
                  <a:srgbClr val="172731"/>
                </a:solidFill>
                <a:latin typeface="Arial"/>
              </a:rPr>
              <a:t>Divert new sessions</a:t>
            </a:r>
            <a:endParaRPr b="0" lang="en-US" sz="860" spc="-1" strike="noStrike">
              <a:latin typeface="Arial"/>
            </a:endParaRPr>
          </a:p>
        </p:txBody>
      </p:sp>
      <p:sp>
        <p:nvSpPr>
          <p:cNvPr id="1405" name=""/>
          <p:cNvSpPr txBox="1"/>
          <p:nvPr/>
        </p:nvSpPr>
        <p:spPr>
          <a:xfrm>
            <a:off x="3589200" y="4258800"/>
            <a:ext cx="4341600" cy="59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60" spc="-1" strike="noStrike">
                <a:solidFill>
                  <a:srgbClr val="172731"/>
                </a:solidFill>
                <a:latin typeface="Arial"/>
              </a:rPr>
              <a:t>new route widths and per-UPF weight deltas</a:t>
            </a:r>
            <a:endParaRPr b="0" lang="en-US" sz="860" spc="-1" strike="noStrike">
              <a:latin typeface="Arial"/>
            </a:endParaRPr>
          </a:p>
        </p:txBody>
      </p:sp>
      <p:sp>
        <p:nvSpPr>
          <p:cNvPr id="1406" name=""/>
          <p:cNvSpPr txBox="1"/>
          <p:nvPr/>
        </p:nvSpPr>
        <p:spPr>
          <a:xfrm>
            <a:off x="8053200" y="4258800"/>
            <a:ext cx="3621600" cy="59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60" spc="-1" strike="noStrike">
                <a:solidFill>
                  <a:srgbClr val="172731"/>
                </a:solidFill>
                <a:latin typeface="Arial"/>
              </a:rPr>
              <a:t>future arrivals shift; existing sessions do not</a:t>
            </a:r>
            <a:endParaRPr b="0" lang="en-US" sz="860" spc="-1" strike="noStrike">
              <a:latin typeface="Arial"/>
            </a:endParaRPr>
          </a:p>
        </p:txBody>
      </p:sp>
      <p:sp>
        <p:nvSpPr>
          <p:cNvPr id="1407" name=""/>
          <p:cNvSpPr/>
          <p:nvPr/>
        </p:nvSpPr>
        <p:spPr>
          <a:xfrm>
            <a:off x="324000" y="4878000"/>
            <a:ext cx="11412000" cy="666000"/>
          </a:xfrm>
          <a:prstGeom prst="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1408" name=""/>
          <p:cNvSpPr txBox="1"/>
          <p:nvPr/>
        </p:nvSpPr>
        <p:spPr>
          <a:xfrm>
            <a:off x="385200" y="4924800"/>
            <a:ext cx="885600" cy="59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60" spc="-1" strike="noStrike">
                <a:solidFill>
                  <a:srgbClr val="172731"/>
                </a:solidFill>
                <a:latin typeface="Arial"/>
              </a:rPr>
              <a:t>3:40</a:t>
            </a:r>
            <a:endParaRPr b="0" lang="en-US" sz="860" spc="-1" strike="noStrike">
              <a:latin typeface="Arial"/>
            </a:endParaRPr>
          </a:p>
        </p:txBody>
      </p:sp>
      <p:sp>
        <p:nvSpPr>
          <p:cNvPr id="1409" name=""/>
          <p:cNvSpPr txBox="1"/>
          <p:nvPr/>
        </p:nvSpPr>
        <p:spPr>
          <a:xfrm>
            <a:off x="1393200" y="4924800"/>
            <a:ext cx="2073600" cy="59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60" spc="-1" strike="noStrike">
                <a:solidFill>
                  <a:srgbClr val="172731"/>
                </a:solidFill>
                <a:latin typeface="Arial"/>
              </a:rPr>
              <a:t>Result + evidence</a:t>
            </a:r>
            <a:endParaRPr b="0" lang="en-US" sz="860" spc="-1" strike="noStrike">
              <a:latin typeface="Arial"/>
            </a:endParaRPr>
          </a:p>
        </p:txBody>
      </p:sp>
      <p:sp>
        <p:nvSpPr>
          <p:cNvPr id="1410" name=""/>
          <p:cNvSpPr txBox="1"/>
          <p:nvPr/>
        </p:nvSpPr>
        <p:spPr>
          <a:xfrm>
            <a:off x="3589200" y="4924800"/>
            <a:ext cx="4341600" cy="59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60" spc="-1" strike="noStrike">
                <a:solidFill>
                  <a:srgbClr val="172731"/>
                </a:solidFill>
                <a:latin typeface="Arial"/>
              </a:rPr>
              <a:t>realized outcome, loss and frozen 30-pair evidence</a:t>
            </a:r>
            <a:endParaRPr b="0" lang="en-US" sz="860" spc="-1" strike="noStrike">
              <a:latin typeface="Arial"/>
            </a:endParaRPr>
          </a:p>
        </p:txBody>
      </p:sp>
      <p:sp>
        <p:nvSpPr>
          <p:cNvPr id="1411" name=""/>
          <p:cNvSpPr txBox="1"/>
          <p:nvPr/>
        </p:nvSpPr>
        <p:spPr>
          <a:xfrm>
            <a:off x="8053200" y="4924800"/>
            <a:ext cx="3621600" cy="59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60" spc="-1" strike="noStrike">
                <a:solidFill>
                  <a:srgbClr val="172731"/>
                </a:solidFill>
                <a:latin typeface="Arial"/>
              </a:rPr>
              <a:t>modeled exposure is reduced, not eliminated</a:t>
            </a:r>
            <a:endParaRPr b="0" lang="en-US" sz="860" spc="-1" strike="noStrike">
              <a:latin typeface="Arial"/>
            </a:endParaRPr>
          </a:p>
        </p:txBody>
      </p:sp>
      <p:sp>
        <p:nvSpPr>
          <p:cNvPr id="1412" name=""/>
          <p:cNvSpPr/>
          <p:nvPr/>
        </p:nvSpPr>
        <p:spPr>
          <a:xfrm>
            <a:off x="324000" y="5796000"/>
            <a:ext cx="11412000" cy="468000"/>
          </a:xfrm>
          <a:prstGeom prst="roundRect">
            <a:avLst/>
          </a:prstGeom>
          <a:solidFill>
            <a:srgbClr val="e1f1f4"/>
          </a:solidFill>
          <a:ln w="0">
            <a:noFill/>
          </a:ln>
        </p:spPr>
      </p:sp>
      <p:sp>
        <p:nvSpPr>
          <p:cNvPr id="1413" name=""/>
          <p:cNvSpPr/>
          <p:nvPr/>
        </p:nvSpPr>
        <p:spPr>
          <a:xfrm>
            <a:off x="324000" y="5796000"/>
            <a:ext cx="64800" cy="468000"/>
          </a:xfrm>
          <a:prstGeom prst="rect">
            <a:avLst/>
          </a:prstGeom>
          <a:solidFill>
            <a:srgbClr val="007c99"/>
          </a:solidFill>
          <a:ln w="0">
            <a:noFill/>
          </a:ln>
        </p:spPr>
      </p:sp>
      <p:sp>
        <p:nvSpPr>
          <p:cNvPr id="1414" name=""/>
          <p:cNvSpPr txBox="1"/>
          <p:nvPr/>
        </p:nvSpPr>
        <p:spPr>
          <a:xfrm>
            <a:off x="576000" y="5904000"/>
            <a:ext cx="1090800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89" spc="-1" strike="noStrike">
                <a:solidFill>
                  <a:srgbClr val="172731"/>
                </a:solidFill>
                <a:latin typeface="Arial"/>
              </a:rPr>
              <a:t>Deterministic checkpoints are server-side state: browser reload, brief disconnect and rewind do not invent or recompute realized history.</a:t>
            </a:r>
            <a:endParaRPr b="0" lang="en-US" sz="889" spc="-1" strike="noStrike">
              <a:latin typeface="Arial"/>
            </a:endParaRPr>
          </a:p>
        </p:txBody>
      </p:sp>
      <p:sp>
        <p:nvSpPr>
          <p:cNvPr id="1415" name=""/>
          <p:cNvSpPr/>
          <p:nvPr/>
        </p:nvSpPr>
        <p:spPr>
          <a:xfrm>
            <a:off x="324000" y="6616800"/>
            <a:ext cx="11088000" cy="0"/>
          </a:xfrm>
          <a:prstGeom prst="line">
            <a:avLst/>
          </a:prstGeom>
          <a:ln w="1080">
            <a:solidFill>
              <a:srgbClr val="cfdc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16" name=""/>
          <p:cNvSpPr txBox="1"/>
          <p:nvPr/>
        </p:nvSpPr>
        <p:spPr>
          <a:xfrm>
            <a:off x="324000" y="6660000"/>
            <a:ext cx="10368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80" spc="-1" strike="noStrike">
                <a:solidFill>
                  <a:srgbClr val="718592"/>
                </a:solidFill>
                <a:latin typeface="Courier New"/>
              </a:rPr>
              <a:t>docs/presenter-guide.md · demo_api/story.py · demo_api/runtime.py::_guided_story/rewind</a:t>
            </a:r>
            <a:endParaRPr b="0" lang="en-US" sz="680" spc="-1" strike="noStrike">
              <a:latin typeface="Arial"/>
            </a:endParaRPr>
          </a:p>
        </p:txBody>
      </p:sp>
      <p:sp>
        <p:nvSpPr>
          <p:cNvPr id="1417" name=""/>
          <p:cNvSpPr txBox="1"/>
          <p:nvPr/>
        </p:nvSpPr>
        <p:spPr>
          <a:xfrm>
            <a:off x="11052000" y="6660000"/>
            <a:ext cx="684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buNone/>
            </a:pPr>
            <a:r>
              <a:rPr b="1" lang="en-US" sz="750" spc="-1" strike="noStrike">
                <a:solidFill>
                  <a:srgbClr val="718592"/>
                </a:solidFill>
                <a:latin typeface="Courier New"/>
              </a:rPr>
              <a:t>26</a:t>
            </a:r>
            <a:endParaRPr b="0" lang="en-US" sz="7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3f7f8"/>
          </a:solidFill>
          <a:ln w="0">
            <a:noFill/>
          </a:ln>
        </p:spPr>
      </p:sp>
      <p:sp>
        <p:nvSpPr>
          <p:cNvPr id="1419" name=""/>
          <p:cNvSpPr txBox="1"/>
          <p:nvPr/>
        </p:nvSpPr>
        <p:spPr>
          <a:xfrm>
            <a:off x="324000" y="158400"/>
            <a:ext cx="3096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00" spc="508" strike="noStrike">
                <a:solidFill>
                  <a:srgbClr val="007c99"/>
                </a:solidFill>
                <a:latin typeface="Courier New"/>
              </a:rPr>
              <a:t>QUALITY ASSURANCE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420" name=""/>
          <p:cNvSpPr txBox="1"/>
          <p:nvPr/>
        </p:nvSpPr>
        <p:spPr>
          <a:xfrm>
            <a:off x="324000" y="378000"/>
            <a:ext cx="10584000" cy="57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50" spc="-1" strike="noStrike">
                <a:solidFill>
                  <a:srgbClr val="172731"/>
                </a:solidFill>
                <a:latin typeface="Arial"/>
              </a:rPr>
              <a:t>Verification spans contracts, causality, optimization and the presentation surface</a:t>
            </a:r>
            <a:endParaRPr b="0" lang="en-US" sz="2150" spc="-1" strike="noStrike">
              <a:latin typeface="Arial"/>
            </a:endParaRPr>
          </a:p>
        </p:txBody>
      </p:sp>
      <p:sp>
        <p:nvSpPr>
          <p:cNvPr id="1421" name=""/>
          <p:cNvSpPr/>
          <p:nvPr/>
        </p:nvSpPr>
        <p:spPr>
          <a:xfrm>
            <a:off x="10800000" y="180000"/>
            <a:ext cx="936000" cy="19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1422" name=""/>
          <p:cNvSpPr txBox="1"/>
          <p:nvPr/>
        </p:nvSpPr>
        <p:spPr>
          <a:xfrm>
            <a:off x="10818000" y="219600"/>
            <a:ext cx="900000" cy="10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710" spc="-1" strike="noStrike">
                <a:solidFill>
                  <a:srgbClr val="c77b0b"/>
                </a:solidFill>
                <a:latin typeface="Courier New"/>
              </a:rPr>
              <a:t>SYNTHETIC DATA</a:t>
            </a:r>
            <a:endParaRPr b="0" lang="en-US" sz="710" spc="-1" strike="noStrike">
              <a:latin typeface="Arial"/>
            </a:endParaRPr>
          </a:p>
        </p:txBody>
      </p:sp>
      <p:sp>
        <p:nvSpPr>
          <p:cNvPr id="1423" name=""/>
          <p:cNvSpPr/>
          <p:nvPr/>
        </p:nvSpPr>
        <p:spPr>
          <a:xfrm>
            <a:off x="324000" y="1512000"/>
            <a:ext cx="5436000" cy="1116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1424" name=""/>
          <p:cNvSpPr/>
          <p:nvPr/>
        </p:nvSpPr>
        <p:spPr>
          <a:xfrm>
            <a:off x="324000" y="1512000"/>
            <a:ext cx="64800" cy="1116000"/>
          </a:xfrm>
          <a:prstGeom prst="rect">
            <a:avLst/>
          </a:prstGeom>
          <a:solidFill>
            <a:srgbClr val="007c99"/>
          </a:solidFill>
          <a:ln w="0">
            <a:noFill/>
          </a:ln>
        </p:spPr>
      </p:sp>
      <p:sp>
        <p:nvSpPr>
          <p:cNvPr id="1425" name=""/>
          <p:cNvSpPr txBox="1"/>
          <p:nvPr/>
        </p:nvSpPr>
        <p:spPr>
          <a:xfrm>
            <a:off x="576000" y="1728000"/>
            <a:ext cx="1584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20" spc="-1" strike="noStrike">
                <a:solidFill>
                  <a:srgbClr val="007c99"/>
                </a:solidFill>
                <a:latin typeface="Courier New"/>
              </a:rPr>
              <a:t>CONTRACTS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1426" name=""/>
          <p:cNvSpPr txBox="1"/>
          <p:nvPr/>
        </p:nvSpPr>
        <p:spPr>
          <a:xfrm>
            <a:off x="2232000" y="1692000"/>
            <a:ext cx="3240000" cy="61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20" spc="-1" strike="noStrike">
                <a:solidFill>
                  <a:srgbClr val="172731"/>
                </a:solidFill>
                <a:latin typeface="Arial"/>
              </a:rPr>
              <a:t>versioned schemas · round-trip fixtures · normalized policies</a:t>
            </a:r>
            <a:endParaRPr b="0" lang="en-US" sz="920" spc="-1" strike="noStrike">
              <a:latin typeface="Arial"/>
            </a:endParaRPr>
          </a:p>
        </p:txBody>
      </p:sp>
      <p:sp>
        <p:nvSpPr>
          <p:cNvPr id="1427" name=""/>
          <p:cNvSpPr/>
          <p:nvPr/>
        </p:nvSpPr>
        <p:spPr>
          <a:xfrm>
            <a:off x="6102000" y="1512000"/>
            <a:ext cx="5436000" cy="1116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1428" name=""/>
          <p:cNvSpPr/>
          <p:nvPr/>
        </p:nvSpPr>
        <p:spPr>
          <a:xfrm>
            <a:off x="6102000" y="1512000"/>
            <a:ext cx="64800" cy="1116000"/>
          </a:xfrm>
          <a:prstGeom prst="rect">
            <a:avLst/>
          </a:prstGeom>
          <a:solidFill>
            <a:srgbClr val="6750a4"/>
          </a:solidFill>
          <a:ln w="0">
            <a:noFill/>
          </a:ln>
        </p:spPr>
      </p:sp>
      <p:sp>
        <p:nvSpPr>
          <p:cNvPr id="1429" name=""/>
          <p:cNvSpPr txBox="1"/>
          <p:nvPr/>
        </p:nvSpPr>
        <p:spPr>
          <a:xfrm>
            <a:off x="6354000" y="1728000"/>
            <a:ext cx="1584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20" spc="-1" strike="noStrike">
                <a:solidFill>
                  <a:srgbClr val="6750a4"/>
                </a:solidFill>
                <a:latin typeface="Courier New"/>
              </a:rPr>
              <a:t>CAUSALITY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1430" name=""/>
          <p:cNvSpPr txBox="1"/>
          <p:nvPr/>
        </p:nvSpPr>
        <p:spPr>
          <a:xfrm>
            <a:off x="8010000" y="1692000"/>
            <a:ext cx="3240000" cy="61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20" spc="-1" strike="noStrike">
                <a:solidFill>
                  <a:srgbClr val="172731"/>
                </a:solidFill>
                <a:latin typeface="Arial"/>
              </a:rPr>
              <a:t>no future observations · known_at_step enforcement · append-only history</a:t>
            </a:r>
            <a:endParaRPr b="0" lang="en-US" sz="920" spc="-1" strike="noStrike">
              <a:latin typeface="Arial"/>
            </a:endParaRPr>
          </a:p>
        </p:txBody>
      </p:sp>
      <p:sp>
        <p:nvSpPr>
          <p:cNvPr id="1431" name=""/>
          <p:cNvSpPr/>
          <p:nvPr/>
        </p:nvSpPr>
        <p:spPr>
          <a:xfrm>
            <a:off x="324000" y="2880000"/>
            <a:ext cx="5436000" cy="1116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1432" name=""/>
          <p:cNvSpPr/>
          <p:nvPr/>
        </p:nvSpPr>
        <p:spPr>
          <a:xfrm>
            <a:off x="324000" y="2880000"/>
            <a:ext cx="64800" cy="1116000"/>
          </a:xfrm>
          <a:prstGeom prst="rect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1433" name=""/>
          <p:cNvSpPr txBox="1"/>
          <p:nvPr/>
        </p:nvSpPr>
        <p:spPr>
          <a:xfrm>
            <a:off x="576000" y="3096000"/>
            <a:ext cx="1584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20" spc="-1" strike="noStrike">
                <a:solidFill>
                  <a:srgbClr val="16805f"/>
                </a:solidFill>
                <a:latin typeface="Courier New"/>
              </a:rPr>
              <a:t>SIMULATOR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1434" name=""/>
          <p:cNvSpPr txBox="1"/>
          <p:nvPr/>
        </p:nvSpPr>
        <p:spPr>
          <a:xfrm>
            <a:off x="2232000" y="3060000"/>
            <a:ext cx="3240000" cy="61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20" spc="-1" strike="noStrike">
                <a:solidFill>
                  <a:srgbClr val="172731"/>
                </a:solidFill>
                <a:latin typeface="Arial"/>
              </a:rPr>
              <a:t>deterministic streams · queues/drops · Parquet schema · audit sampling</a:t>
            </a:r>
            <a:endParaRPr b="0" lang="en-US" sz="920" spc="-1" strike="noStrike">
              <a:latin typeface="Arial"/>
            </a:endParaRPr>
          </a:p>
        </p:txBody>
      </p:sp>
      <p:sp>
        <p:nvSpPr>
          <p:cNvPr id="1435" name=""/>
          <p:cNvSpPr/>
          <p:nvPr/>
        </p:nvSpPr>
        <p:spPr>
          <a:xfrm>
            <a:off x="6102000" y="2880000"/>
            <a:ext cx="5436000" cy="1116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1436" name=""/>
          <p:cNvSpPr/>
          <p:nvPr/>
        </p:nvSpPr>
        <p:spPr>
          <a:xfrm>
            <a:off x="6102000" y="2880000"/>
            <a:ext cx="64800" cy="1116000"/>
          </a:xfrm>
          <a:prstGeom prst="rect">
            <a:avLst/>
          </a:prstGeom>
          <a:solidFill>
            <a:srgbClr val="c77b0b"/>
          </a:solidFill>
          <a:ln w="0">
            <a:noFill/>
          </a:ln>
        </p:spPr>
      </p:sp>
      <p:sp>
        <p:nvSpPr>
          <p:cNvPr id="1437" name=""/>
          <p:cNvSpPr txBox="1"/>
          <p:nvPr/>
        </p:nvSpPr>
        <p:spPr>
          <a:xfrm>
            <a:off x="6354000" y="3096000"/>
            <a:ext cx="1584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20" spc="-1" strike="noStrike">
                <a:solidFill>
                  <a:srgbClr val="c77b0b"/>
                </a:solidFill>
                <a:latin typeface="Courier New"/>
              </a:rPr>
              <a:t>OPTIMIZER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1438" name=""/>
          <p:cNvSpPr txBox="1"/>
          <p:nvPr/>
        </p:nvSpPr>
        <p:spPr>
          <a:xfrm>
            <a:off x="8010000" y="3060000"/>
            <a:ext cx="3240000" cy="61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20" spc="-1" strike="noStrike">
                <a:solidFill>
                  <a:srgbClr val="172731"/>
                </a:solidFill>
                <a:latin typeface="Arial"/>
              </a:rPr>
              <a:t>hand-solvable LPs · eligibility · diversification · same-state certificate</a:t>
            </a:r>
            <a:endParaRPr b="0" lang="en-US" sz="920" spc="-1" strike="noStrike">
              <a:latin typeface="Arial"/>
            </a:endParaRPr>
          </a:p>
        </p:txBody>
      </p:sp>
      <p:sp>
        <p:nvSpPr>
          <p:cNvPr id="1439" name=""/>
          <p:cNvSpPr/>
          <p:nvPr/>
        </p:nvSpPr>
        <p:spPr>
          <a:xfrm>
            <a:off x="324000" y="4248000"/>
            <a:ext cx="5436000" cy="1116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1440" name=""/>
          <p:cNvSpPr/>
          <p:nvPr/>
        </p:nvSpPr>
        <p:spPr>
          <a:xfrm>
            <a:off x="324000" y="4248000"/>
            <a:ext cx="64800" cy="1116000"/>
          </a:xfrm>
          <a:prstGeom prst="rect">
            <a:avLst/>
          </a:prstGeom>
          <a:solidFill>
            <a:srgbClr val="cd443b"/>
          </a:solidFill>
          <a:ln w="0">
            <a:noFill/>
          </a:ln>
        </p:spPr>
      </p:sp>
      <p:sp>
        <p:nvSpPr>
          <p:cNvPr id="1441" name=""/>
          <p:cNvSpPr txBox="1"/>
          <p:nvPr/>
        </p:nvSpPr>
        <p:spPr>
          <a:xfrm>
            <a:off x="576000" y="4464000"/>
            <a:ext cx="1584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20" spc="-1" strike="noStrike">
                <a:solidFill>
                  <a:srgbClr val="cd443b"/>
                </a:solidFill>
                <a:latin typeface="Courier New"/>
              </a:rPr>
              <a:t>EXPERIMENTS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1442" name=""/>
          <p:cNvSpPr txBox="1"/>
          <p:nvPr/>
        </p:nvSpPr>
        <p:spPr>
          <a:xfrm>
            <a:off x="2232000" y="4428000"/>
            <a:ext cx="3240000" cy="61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20" spc="-1" strike="noStrike">
                <a:solidFill>
                  <a:srgbClr val="172731"/>
                </a:solidFill>
                <a:latin typeface="Arial"/>
              </a:rPr>
              <a:t>exact pairing · reserved seeds · immutable outputs · bootstrap interval</a:t>
            </a:r>
            <a:endParaRPr b="0" lang="en-US" sz="920" spc="-1" strike="noStrike">
              <a:latin typeface="Arial"/>
            </a:endParaRPr>
          </a:p>
        </p:txBody>
      </p:sp>
      <p:sp>
        <p:nvSpPr>
          <p:cNvPr id="1443" name=""/>
          <p:cNvSpPr/>
          <p:nvPr/>
        </p:nvSpPr>
        <p:spPr>
          <a:xfrm>
            <a:off x="6102000" y="4248000"/>
            <a:ext cx="5436000" cy="1116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1444" name=""/>
          <p:cNvSpPr/>
          <p:nvPr/>
        </p:nvSpPr>
        <p:spPr>
          <a:xfrm>
            <a:off x="6102000" y="4248000"/>
            <a:ext cx="64800" cy="1116000"/>
          </a:xfrm>
          <a:prstGeom prst="rect">
            <a:avLst/>
          </a:prstGeom>
          <a:solidFill>
            <a:srgbClr val="2f91a6"/>
          </a:solidFill>
          <a:ln w="0">
            <a:noFill/>
          </a:ln>
        </p:spPr>
      </p:sp>
      <p:sp>
        <p:nvSpPr>
          <p:cNvPr id="1445" name=""/>
          <p:cNvSpPr txBox="1"/>
          <p:nvPr/>
        </p:nvSpPr>
        <p:spPr>
          <a:xfrm>
            <a:off x="6354000" y="4464000"/>
            <a:ext cx="1584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20" spc="-1" strike="noStrike">
                <a:solidFill>
                  <a:srgbClr val="2f91a6"/>
                </a:solidFill>
                <a:latin typeface="Courier New"/>
              </a:rPr>
              <a:t>DEMO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1446" name=""/>
          <p:cNvSpPr txBox="1"/>
          <p:nvPr/>
        </p:nvSpPr>
        <p:spPr>
          <a:xfrm>
            <a:off x="8010000" y="4428000"/>
            <a:ext cx="3240000" cy="61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20" spc="-1" strike="noStrike">
                <a:solidFill>
                  <a:srgbClr val="172731"/>
                </a:solidFill>
                <a:latin typeface="Arial"/>
              </a:rPr>
              <a:t>auth roles · OpenAPI · WebSocket order · rewind exactness · visual snapshots</a:t>
            </a:r>
            <a:endParaRPr b="0" lang="en-US" sz="920" spc="-1" strike="noStrike">
              <a:latin typeface="Arial"/>
            </a:endParaRPr>
          </a:p>
        </p:txBody>
      </p:sp>
      <p:sp>
        <p:nvSpPr>
          <p:cNvPr id="1447" name=""/>
          <p:cNvSpPr/>
          <p:nvPr/>
        </p:nvSpPr>
        <p:spPr>
          <a:xfrm>
            <a:off x="324000" y="5904000"/>
            <a:ext cx="2664000" cy="100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1448" name=""/>
          <p:cNvSpPr/>
          <p:nvPr/>
        </p:nvSpPr>
        <p:spPr>
          <a:xfrm>
            <a:off x="324000" y="5904000"/>
            <a:ext cx="64800" cy="1008000"/>
          </a:xfrm>
          <a:prstGeom prst="rect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1449" name=""/>
          <p:cNvSpPr txBox="1"/>
          <p:nvPr/>
        </p:nvSpPr>
        <p:spPr>
          <a:xfrm>
            <a:off x="504000" y="6048000"/>
            <a:ext cx="2340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20" spc="-1" strike="noStrike">
                <a:solidFill>
                  <a:srgbClr val="718592"/>
                </a:solidFill>
                <a:latin typeface="Courier New"/>
              </a:rPr>
              <a:t>BACKEND TESTS</a:t>
            </a:r>
            <a:endParaRPr b="0" lang="en-US" sz="720" spc="-1" strike="noStrike">
              <a:latin typeface="Arial"/>
            </a:endParaRPr>
          </a:p>
        </p:txBody>
      </p:sp>
      <p:sp>
        <p:nvSpPr>
          <p:cNvPr id="1450" name=""/>
          <p:cNvSpPr txBox="1"/>
          <p:nvPr/>
        </p:nvSpPr>
        <p:spPr>
          <a:xfrm>
            <a:off x="504000" y="6228000"/>
            <a:ext cx="2340000" cy="34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400" spc="-1" strike="noStrike">
                <a:solidFill>
                  <a:srgbClr val="16805f"/>
                </a:solidFill>
                <a:latin typeface="Arial"/>
              </a:rPr>
              <a:t>90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451" name=""/>
          <p:cNvSpPr txBox="1"/>
          <p:nvPr/>
        </p:nvSpPr>
        <p:spPr>
          <a:xfrm>
            <a:off x="504000" y="6624000"/>
            <a:ext cx="2340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20" spc="-1" strike="noStrike">
                <a:solidFill>
                  <a:srgbClr val="526875"/>
                </a:solidFill>
                <a:latin typeface="Arial"/>
              </a:rPr>
              <a:t>all passed in 4.56 s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1452" name=""/>
          <p:cNvSpPr/>
          <p:nvPr/>
        </p:nvSpPr>
        <p:spPr>
          <a:xfrm>
            <a:off x="3204000" y="5904000"/>
            <a:ext cx="2664000" cy="100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1453" name=""/>
          <p:cNvSpPr/>
          <p:nvPr/>
        </p:nvSpPr>
        <p:spPr>
          <a:xfrm>
            <a:off x="3204000" y="5904000"/>
            <a:ext cx="64800" cy="1008000"/>
          </a:xfrm>
          <a:prstGeom prst="rect">
            <a:avLst/>
          </a:prstGeom>
          <a:solidFill>
            <a:srgbClr val="007c99"/>
          </a:solidFill>
          <a:ln w="0">
            <a:noFill/>
          </a:ln>
        </p:spPr>
      </p:sp>
      <p:sp>
        <p:nvSpPr>
          <p:cNvPr id="1454" name=""/>
          <p:cNvSpPr txBox="1"/>
          <p:nvPr/>
        </p:nvSpPr>
        <p:spPr>
          <a:xfrm>
            <a:off x="3384000" y="6048000"/>
            <a:ext cx="2340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20" spc="-1" strike="noStrike">
                <a:solidFill>
                  <a:srgbClr val="718592"/>
                </a:solidFill>
                <a:latin typeface="Courier New"/>
              </a:rPr>
              <a:t>API PATHS</a:t>
            </a:r>
            <a:endParaRPr b="0" lang="en-US" sz="720" spc="-1" strike="noStrike">
              <a:latin typeface="Arial"/>
            </a:endParaRPr>
          </a:p>
        </p:txBody>
      </p:sp>
      <p:sp>
        <p:nvSpPr>
          <p:cNvPr id="1455" name=""/>
          <p:cNvSpPr txBox="1"/>
          <p:nvPr/>
        </p:nvSpPr>
        <p:spPr>
          <a:xfrm>
            <a:off x="3384000" y="6228000"/>
            <a:ext cx="2340000" cy="34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400" spc="-1" strike="noStrike">
                <a:solidFill>
                  <a:srgbClr val="007c99"/>
                </a:solidFill>
                <a:latin typeface="Arial"/>
              </a:rPr>
              <a:t>20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456" name=""/>
          <p:cNvSpPr txBox="1"/>
          <p:nvPr/>
        </p:nvSpPr>
        <p:spPr>
          <a:xfrm>
            <a:off x="3384000" y="6624000"/>
            <a:ext cx="2340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20" spc="-1" strike="noStrike">
                <a:solidFill>
                  <a:srgbClr val="526875"/>
                </a:solidFill>
                <a:latin typeface="Arial"/>
              </a:rPr>
              <a:t>FastAPI preflight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1457" name=""/>
          <p:cNvSpPr/>
          <p:nvPr/>
        </p:nvSpPr>
        <p:spPr>
          <a:xfrm>
            <a:off x="6084000" y="5904000"/>
            <a:ext cx="2664000" cy="100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1458" name=""/>
          <p:cNvSpPr/>
          <p:nvPr/>
        </p:nvSpPr>
        <p:spPr>
          <a:xfrm>
            <a:off x="6084000" y="5904000"/>
            <a:ext cx="64800" cy="1008000"/>
          </a:xfrm>
          <a:prstGeom prst="rect">
            <a:avLst/>
          </a:prstGeom>
          <a:solidFill>
            <a:srgbClr val="6750a4"/>
          </a:solidFill>
          <a:ln w="0">
            <a:noFill/>
          </a:ln>
        </p:spPr>
      </p:sp>
      <p:sp>
        <p:nvSpPr>
          <p:cNvPr id="1459" name=""/>
          <p:cNvSpPr txBox="1"/>
          <p:nvPr/>
        </p:nvSpPr>
        <p:spPr>
          <a:xfrm>
            <a:off x="6264000" y="6048000"/>
            <a:ext cx="2340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20" spc="-1" strike="noStrike">
                <a:solidFill>
                  <a:srgbClr val="718592"/>
                </a:solidFill>
                <a:latin typeface="Courier New"/>
              </a:rPr>
              <a:t>VISUAL BASELINES</a:t>
            </a:r>
            <a:endParaRPr b="0" lang="en-US" sz="720" spc="-1" strike="noStrike">
              <a:latin typeface="Arial"/>
            </a:endParaRPr>
          </a:p>
        </p:txBody>
      </p:sp>
      <p:sp>
        <p:nvSpPr>
          <p:cNvPr id="1460" name=""/>
          <p:cNvSpPr txBox="1"/>
          <p:nvPr/>
        </p:nvSpPr>
        <p:spPr>
          <a:xfrm>
            <a:off x="6264000" y="6228000"/>
            <a:ext cx="2340000" cy="34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400" spc="-1" strike="noStrike">
                <a:solidFill>
                  <a:srgbClr val="6750a4"/>
                </a:solidFill>
                <a:latin typeface="Arial"/>
              </a:rPr>
              <a:t>13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461" name=""/>
          <p:cNvSpPr txBox="1"/>
          <p:nvPr/>
        </p:nvSpPr>
        <p:spPr>
          <a:xfrm>
            <a:off x="6264000" y="6624000"/>
            <a:ext cx="2340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20" spc="-1" strike="noStrike">
                <a:solidFill>
                  <a:srgbClr val="526875"/>
                </a:solidFill>
                <a:latin typeface="Arial"/>
              </a:rPr>
              <a:t>desktop, tablet and mobile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1462" name=""/>
          <p:cNvSpPr/>
          <p:nvPr/>
        </p:nvSpPr>
        <p:spPr>
          <a:xfrm>
            <a:off x="8964000" y="5904000"/>
            <a:ext cx="2772000" cy="100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1463" name=""/>
          <p:cNvSpPr/>
          <p:nvPr/>
        </p:nvSpPr>
        <p:spPr>
          <a:xfrm>
            <a:off x="8964000" y="5904000"/>
            <a:ext cx="64800" cy="1008000"/>
          </a:xfrm>
          <a:prstGeom prst="rect">
            <a:avLst/>
          </a:prstGeom>
          <a:solidFill>
            <a:srgbClr val="c77b0b"/>
          </a:solidFill>
          <a:ln w="0">
            <a:noFill/>
          </a:ln>
        </p:spPr>
      </p:sp>
      <p:sp>
        <p:nvSpPr>
          <p:cNvPr id="1464" name=""/>
          <p:cNvSpPr txBox="1"/>
          <p:nvPr/>
        </p:nvSpPr>
        <p:spPr>
          <a:xfrm>
            <a:off x="9144000" y="6048000"/>
            <a:ext cx="2448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20" spc="-1" strike="noStrike">
                <a:solidFill>
                  <a:srgbClr val="718592"/>
                </a:solidFill>
                <a:latin typeface="Courier New"/>
              </a:rPr>
              <a:t>PREFLIGHT</a:t>
            </a:r>
            <a:endParaRPr b="0" lang="en-US" sz="720" spc="-1" strike="noStrike">
              <a:latin typeface="Arial"/>
            </a:endParaRPr>
          </a:p>
        </p:txBody>
      </p:sp>
      <p:sp>
        <p:nvSpPr>
          <p:cNvPr id="1465" name=""/>
          <p:cNvSpPr txBox="1"/>
          <p:nvPr/>
        </p:nvSpPr>
        <p:spPr>
          <a:xfrm>
            <a:off x="9144000" y="6228000"/>
            <a:ext cx="2448000" cy="34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400" spc="-1" strike="noStrike">
                <a:solidFill>
                  <a:srgbClr val="c77b0b"/>
                </a:solidFill>
                <a:latin typeface="Arial"/>
              </a:rPr>
              <a:t>PASS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466" name=""/>
          <p:cNvSpPr txBox="1"/>
          <p:nvPr/>
        </p:nvSpPr>
        <p:spPr>
          <a:xfrm>
            <a:off x="9144000" y="6624000"/>
            <a:ext cx="2448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20" spc="-1" strike="noStrike">
                <a:solidFill>
                  <a:srgbClr val="526875"/>
                </a:solidFill>
                <a:latin typeface="Arial"/>
              </a:rPr>
              <a:t>all data labeled synthetic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1467" name=""/>
          <p:cNvSpPr/>
          <p:nvPr/>
        </p:nvSpPr>
        <p:spPr>
          <a:xfrm>
            <a:off x="324000" y="6616800"/>
            <a:ext cx="11088000" cy="0"/>
          </a:xfrm>
          <a:prstGeom prst="line">
            <a:avLst/>
          </a:prstGeom>
          <a:ln w="1080">
            <a:solidFill>
              <a:srgbClr val="cfdc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68" name=""/>
          <p:cNvSpPr txBox="1"/>
          <p:nvPr/>
        </p:nvSpPr>
        <p:spPr>
          <a:xfrm>
            <a:off x="324000" y="6660000"/>
            <a:ext cx="10368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80" spc="-1" strike="noStrike">
                <a:solidFill>
                  <a:srgbClr val="718592"/>
                </a:solidFill>
                <a:latin typeface="Courier New"/>
              </a:rPr>
              <a:t>tests/ · frontend/tests/demo.spec.ts · scripts/preflight.py · verified 09 Aug 2026</a:t>
            </a:r>
            <a:endParaRPr b="0" lang="en-US" sz="680" spc="-1" strike="noStrike">
              <a:latin typeface="Arial"/>
            </a:endParaRPr>
          </a:p>
        </p:txBody>
      </p:sp>
      <p:sp>
        <p:nvSpPr>
          <p:cNvPr id="1469" name=""/>
          <p:cNvSpPr txBox="1"/>
          <p:nvPr/>
        </p:nvSpPr>
        <p:spPr>
          <a:xfrm>
            <a:off x="11052000" y="6660000"/>
            <a:ext cx="684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buNone/>
            </a:pPr>
            <a:r>
              <a:rPr b="1" lang="en-US" sz="750" spc="-1" strike="noStrike">
                <a:solidFill>
                  <a:srgbClr val="718592"/>
                </a:solidFill>
                <a:latin typeface="Courier New"/>
              </a:rPr>
              <a:t>27</a:t>
            </a:r>
            <a:endParaRPr b="0" lang="en-US" sz="7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0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3f7f8"/>
          </a:solidFill>
          <a:ln w="0">
            <a:noFill/>
          </a:ln>
        </p:spPr>
      </p:sp>
      <p:sp>
        <p:nvSpPr>
          <p:cNvPr id="1471" name=""/>
          <p:cNvSpPr txBox="1"/>
          <p:nvPr/>
        </p:nvSpPr>
        <p:spPr>
          <a:xfrm>
            <a:off x="324000" y="158400"/>
            <a:ext cx="3096000" cy="23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00" spc="508" strike="noStrike">
                <a:solidFill>
                  <a:srgbClr val="007c99"/>
                </a:solidFill>
                <a:latin typeface="Courier New"/>
              </a:rPr>
              <a:t>C-DOT INTEGRATION BOUNDARY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472" name=""/>
          <p:cNvSpPr txBox="1"/>
          <p:nvPr/>
        </p:nvSpPr>
        <p:spPr>
          <a:xfrm>
            <a:off x="324000" y="378000"/>
            <a:ext cx="10584000" cy="57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50" spc="-1" strike="noStrike">
                <a:solidFill>
                  <a:srgbClr val="172731"/>
                </a:solidFill>
                <a:latin typeface="Arial"/>
              </a:rPr>
              <a:t>Simulation and production integration are intentionally separated</a:t>
            </a:r>
            <a:endParaRPr b="0" lang="en-US" sz="2150" spc="-1" strike="noStrike">
              <a:latin typeface="Arial"/>
            </a:endParaRPr>
          </a:p>
        </p:txBody>
      </p:sp>
      <p:sp>
        <p:nvSpPr>
          <p:cNvPr id="1473" name=""/>
          <p:cNvSpPr/>
          <p:nvPr/>
        </p:nvSpPr>
        <p:spPr>
          <a:xfrm>
            <a:off x="10800000" y="180000"/>
            <a:ext cx="936000" cy="19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1474" name=""/>
          <p:cNvSpPr txBox="1"/>
          <p:nvPr/>
        </p:nvSpPr>
        <p:spPr>
          <a:xfrm>
            <a:off x="10818000" y="219600"/>
            <a:ext cx="900000" cy="10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710" spc="-1" strike="noStrike">
                <a:solidFill>
                  <a:srgbClr val="c77b0b"/>
                </a:solidFill>
                <a:latin typeface="Courier New"/>
              </a:rPr>
              <a:t>SYNTHETIC DATA</a:t>
            </a:r>
            <a:endParaRPr b="0" lang="en-US" sz="710" spc="-1" strike="noStrike">
              <a:latin typeface="Arial"/>
            </a:endParaRPr>
          </a:p>
        </p:txBody>
      </p:sp>
      <p:sp>
        <p:nvSpPr>
          <p:cNvPr id="1475" name=""/>
          <p:cNvSpPr/>
          <p:nvPr/>
        </p:nvSpPr>
        <p:spPr>
          <a:xfrm>
            <a:off x="324000" y="1440000"/>
            <a:ext cx="5436000" cy="4464000"/>
          </a:xfrm>
          <a:prstGeom prst="roundRect">
            <a:avLst/>
          </a:prstGeom>
          <a:solidFill>
            <a:srgbClr val="e5f2ed"/>
          </a:solidFill>
          <a:ln w="6480">
            <a:solidFill>
              <a:srgbClr val="b9daca"/>
            </a:solidFill>
            <a:round/>
          </a:ln>
        </p:spPr>
      </p:sp>
      <p:sp>
        <p:nvSpPr>
          <p:cNvPr id="1476" name=""/>
          <p:cNvSpPr/>
          <p:nvPr/>
        </p:nvSpPr>
        <p:spPr>
          <a:xfrm>
            <a:off x="324000" y="1440000"/>
            <a:ext cx="64800" cy="4464000"/>
          </a:xfrm>
          <a:prstGeom prst="rect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1477" name=""/>
          <p:cNvSpPr txBox="1"/>
          <p:nvPr/>
        </p:nvSpPr>
        <p:spPr>
          <a:xfrm>
            <a:off x="576000" y="1692000"/>
            <a:ext cx="489600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600" spc="-1" strike="noStrike">
                <a:solidFill>
                  <a:srgbClr val="16805f"/>
                </a:solidFill>
                <a:latin typeface="Arial"/>
              </a:rPr>
              <a:t>Available now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478" name=""/>
          <p:cNvSpPr/>
          <p:nvPr/>
        </p:nvSpPr>
        <p:spPr>
          <a:xfrm>
            <a:off x="576000" y="2332800"/>
            <a:ext cx="79200" cy="79200"/>
          </a:xfrm>
          <a:prstGeom prst="ellipse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1479" name=""/>
          <p:cNvSpPr txBox="1"/>
          <p:nvPr/>
        </p:nvSpPr>
        <p:spPr>
          <a:xfrm>
            <a:off x="756000" y="2250000"/>
            <a:ext cx="4716000" cy="3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50" spc="-1" strike="noStrike">
                <a:solidFill>
                  <a:srgbClr val="172731"/>
                </a:solidFill>
                <a:latin typeface="Arial"/>
              </a:rPr>
              <a:t>deterministic cohort simulation and event injection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1480" name=""/>
          <p:cNvSpPr/>
          <p:nvPr/>
        </p:nvSpPr>
        <p:spPr>
          <a:xfrm>
            <a:off x="576000" y="2728800"/>
            <a:ext cx="79200" cy="79200"/>
          </a:xfrm>
          <a:prstGeom prst="ellipse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1481" name=""/>
          <p:cNvSpPr txBox="1"/>
          <p:nvPr/>
        </p:nvSpPr>
        <p:spPr>
          <a:xfrm>
            <a:off x="756000" y="2646000"/>
            <a:ext cx="4716000" cy="3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50" spc="-1" strike="noStrike">
                <a:solidFill>
                  <a:srgbClr val="172731"/>
                </a:solidFill>
                <a:latin typeface="Arial"/>
              </a:rPr>
              <a:t>canonical Parquet, audit and hashed metadata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1482" name=""/>
          <p:cNvSpPr/>
          <p:nvPr/>
        </p:nvSpPr>
        <p:spPr>
          <a:xfrm>
            <a:off x="576000" y="3124800"/>
            <a:ext cx="79200" cy="79200"/>
          </a:xfrm>
          <a:prstGeom prst="ellipse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1483" name=""/>
          <p:cNvSpPr txBox="1"/>
          <p:nvPr/>
        </p:nvSpPr>
        <p:spPr>
          <a:xfrm>
            <a:off x="756000" y="3042000"/>
            <a:ext cx="4716000" cy="3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50" spc="-1" strike="noStrike">
                <a:solidFill>
                  <a:srgbClr val="172731"/>
                </a:solidFill>
                <a:latin typeface="Arial"/>
              </a:rPr>
              <a:t>trained forecast bundle with uncertainty bounds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1484" name=""/>
          <p:cNvSpPr/>
          <p:nvPr/>
        </p:nvSpPr>
        <p:spPr>
          <a:xfrm>
            <a:off x="576000" y="3520800"/>
            <a:ext cx="79200" cy="79200"/>
          </a:xfrm>
          <a:prstGeom prst="ellipse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1485" name=""/>
          <p:cNvSpPr txBox="1"/>
          <p:nvPr/>
        </p:nvSpPr>
        <p:spPr>
          <a:xfrm>
            <a:off x="756000" y="3438000"/>
            <a:ext cx="4716000" cy="3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50" spc="-1" strike="noStrike">
                <a:solidFill>
                  <a:srgbClr val="172731"/>
                </a:solidFill>
                <a:latin typeface="Arial"/>
              </a:rPr>
              <a:t>causal cohort MPC with static certificate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1486" name=""/>
          <p:cNvSpPr/>
          <p:nvPr/>
        </p:nvSpPr>
        <p:spPr>
          <a:xfrm>
            <a:off x="576000" y="3916800"/>
            <a:ext cx="79200" cy="79200"/>
          </a:xfrm>
          <a:prstGeom prst="ellipse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1487" name=""/>
          <p:cNvSpPr txBox="1"/>
          <p:nvPr/>
        </p:nvSpPr>
        <p:spPr>
          <a:xfrm>
            <a:off x="756000" y="3834000"/>
            <a:ext cx="4716000" cy="3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50" spc="-1" strike="noStrike">
                <a:solidFill>
                  <a:srgbClr val="172731"/>
                </a:solidFill>
                <a:latin typeface="Arial"/>
              </a:rPr>
              <a:t>simulated new-session actuation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1488" name=""/>
          <p:cNvSpPr/>
          <p:nvPr/>
        </p:nvSpPr>
        <p:spPr>
          <a:xfrm>
            <a:off x="576000" y="4312800"/>
            <a:ext cx="79200" cy="79200"/>
          </a:xfrm>
          <a:prstGeom prst="ellipse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1489" name=""/>
          <p:cNvSpPr txBox="1"/>
          <p:nvPr/>
        </p:nvSpPr>
        <p:spPr>
          <a:xfrm>
            <a:off x="756000" y="4230000"/>
            <a:ext cx="4716000" cy="3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50" spc="-1" strike="noStrike">
                <a:solidFill>
                  <a:srgbClr val="172731"/>
                </a:solidFill>
                <a:latin typeface="Arial"/>
              </a:rPr>
              <a:t>Prometheus-compatible synthetic metrics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1490" name=""/>
          <p:cNvSpPr/>
          <p:nvPr/>
        </p:nvSpPr>
        <p:spPr>
          <a:xfrm>
            <a:off x="576000" y="4708800"/>
            <a:ext cx="79200" cy="79200"/>
          </a:xfrm>
          <a:prstGeom prst="ellipse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1491" name=""/>
          <p:cNvSpPr txBox="1"/>
          <p:nvPr/>
        </p:nvSpPr>
        <p:spPr>
          <a:xfrm>
            <a:off x="756000" y="4626000"/>
            <a:ext cx="4716000" cy="3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50" spc="-1" strike="noStrike">
                <a:solidFill>
                  <a:srgbClr val="172731"/>
                </a:solidFill>
                <a:latin typeface="Arial"/>
              </a:rPr>
              <a:t>REST/WebSocket operator dashboard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1492" name=""/>
          <p:cNvSpPr/>
          <p:nvPr/>
        </p:nvSpPr>
        <p:spPr>
          <a:xfrm>
            <a:off x="576000" y="5104800"/>
            <a:ext cx="79200" cy="79200"/>
          </a:xfrm>
          <a:prstGeom prst="ellipse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1493" name=""/>
          <p:cNvSpPr txBox="1"/>
          <p:nvPr/>
        </p:nvSpPr>
        <p:spPr>
          <a:xfrm>
            <a:off x="756000" y="5022000"/>
            <a:ext cx="4716000" cy="3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50" spc="-1" strike="noStrike">
                <a:solidFill>
                  <a:srgbClr val="172731"/>
                </a:solidFill>
                <a:latin typeface="Arial"/>
              </a:rPr>
              <a:t>advisory and placeholder actuator interfaces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1494" name=""/>
          <p:cNvSpPr/>
          <p:nvPr/>
        </p:nvSpPr>
        <p:spPr>
          <a:xfrm>
            <a:off x="6084000" y="1440000"/>
            <a:ext cx="5652000" cy="4464000"/>
          </a:xfrm>
          <a:prstGeom prst="roundRect">
            <a:avLst/>
          </a:prstGeom>
          <a:solidFill>
            <a:srgbClr val="faf0de"/>
          </a:solidFill>
          <a:ln w="6480">
            <a:solidFill>
              <a:srgbClr val="e5c78d"/>
            </a:solidFill>
            <a:round/>
          </a:ln>
        </p:spPr>
      </p:sp>
      <p:sp>
        <p:nvSpPr>
          <p:cNvPr id="1495" name=""/>
          <p:cNvSpPr/>
          <p:nvPr/>
        </p:nvSpPr>
        <p:spPr>
          <a:xfrm>
            <a:off x="6084000" y="1440000"/>
            <a:ext cx="64800" cy="4464000"/>
          </a:xfrm>
          <a:prstGeom prst="rect">
            <a:avLst/>
          </a:prstGeom>
          <a:solidFill>
            <a:srgbClr val="c77b0b"/>
          </a:solidFill>
          <a:ln w="0">
            <a:noFill/>
          </a:ln>
        </p:spPr>
      </p:sp>
      <p:sp>
        <p:nvSpPr>
          <p:cNvPr id="1496" name=""/>
          <p:cNvSpPr txBox="1"/>
          <p:nvPr/>
        </p:nvSpPr>
        <p:spPr>
          <a:xfrm>
            <a:off x="6336000" y="1692000"/>
            <a:ext cx="511200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600" spc="-1" strike="noStrike">
                <a:solidFill>
                  <a:srgbClr val="c77b0b"/>
                </a:solidFill>
                <a:latin typeface="Arial"/>
              </a:rPr>
              <a:t>Requires C-DOT / testbed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497" name=""/>
          <p:cNvSpPr/>
          <p:nvPr/>
        </p:nvSpPr>
        <p:spPr>
          <a:xfrm>
            <a:off x="6336000" y="2332800"/>
            <a:ext cx="79200" cy="79200"/>
          </a:xfrm>
          <a:prstGeom prst="ellipse">
            <a:avLst/>
          </a:prstGeom>
          <a:solidFill>
            <a:srgbClr val="c77b0b"/>
          </a:solidFill>
          <a:ln w="0">
            <a:noFill/>
          </a:ln>
        </p:spPr>
      </p:sp>
      <p:sp>
        <p:nvSpPr>
          <p:cNvPr id="1498" name=""/>
          <p:cNvSpPr txBox="1"/>
          <p:nvPr/>
        </p:nvSpPr>
        <p:spPr>
          <a:xfrm>
            <a:off x="6516000" y="2250000"/>
            <a:ext cx="4932000" cy="3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50" spc="-1" strike="noStrike">
                <a:solidFill>
                  <a:srgbClr val="172731"/>
                </a:solidFill>
                <a:latin typeface="Arial"/>
              </a:rPr>
              <a:t>live Prometheus metric names, labels and scrape semantics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1499" name=""/>
          <p:cNvSpPr/>
          <p:nvPr/>
        </p:nvSpPr>
        <p:spPr>
          <a:xfrm>
            <a:off x="6336000" y="2728800"/>
            <a:ext cx="79200" cy="79200"/>
          </a:xfrm>
          <a:prstGeom prst="ellipse">
            <a:avLst/>
          </a:prstGeom>
          <a:solidFill>
            <a:srgbClr val="c77b0b"/>
          </a:solidFill>
          <a:ln w="0">
            <a:noFill/>
          </a:ln>
        </p:spPr>
      </p:sp>
      <p:sp>
        <p:nvSpPr>
          <p:cNvPr id="1500" name=""/>
          <p:cNvSpPr txBox="1"/>
          <p:nvPr/>
        </p:nvSpPr>
        <p:spPr>
          <a:xfrm>
            <a:off x="6516000" y="2646000"/>
            <a:ext cx="4932000" cy="3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50" spc="-1" strike="noStrike">
                <a:solidFill>
                  <a:srgbClr val="172731"/>
                </a:solidFill>
                <a:latin typeface="Arial"/>
              </a:rPr>
              <a:t>measured UPF UL/DL/session capacity envelopes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1501" name=""/>
          <p:cNvSpPr/>
          <p:nvPr/>
        </p:nvSpPr>
        <p:spPr>
          <a:xfrm>
            <a:off x="6336000" y="3124800"/>
            <a:ext cx="79200" cy="79200"/>
          </a:xfrm>
          <a:prstGeom prst="ellipse">
            <a:avLst/>
          </a:prstGeom>
          <a:solidFill>
            <a:srgbClr val="c77b0b"/>
          </a:solidFill>
          <a:ln w="0">
            <a:noFill/>
          </a:ln>
        </p:spPr>
      </p:sp>
      <p:sp>
        <p:nvSpPr>
          <p:cNvPr id="1502" name=""/>
          <p:cNvSpPr txBox="1"/>
          <p:nvPr/>
        </p:nvSpPr>
        <p:spPr>
          <a:xfrm>
            <a:off x="6516000" y="3042000"/>
            <a:ext cx="4932000" cy="3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50" spc="-1" strike="noStrike">
                <a:solidFill>
                  <a:srgbClr val="172731"/>
                </a:solidFill>
                <a:latin typeface="Arial"/>
              </a:rPr>
              <a:t>topology, locality and eligibility truth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1503" name=""/>
          <p:cNvSpPr/>
          <p:nvPr/>
        </p:nvSpPr>
        <p:spPr>
          <a:xfrm>
            <a:off x="6336000" y="3520800"/>
            <a:ext cx="79200" cy="79200"/>
          </a:xfrm>
          <a:prstGeom prst="ellipse">
            <a:avLst/>
          </a:prstGeom>
          <a:solidFill>
            <a:srgbClr val="c77b0b"/>
          </a:solidFill>
          <a:ln w="0">
            <a:noFill/>
          </a:ln>
        </p:spPr>
      </p:sp>
      <p:sp>
        <p:nvSpPr>
          <p:cNvPr id="1504" name=""/>
          <p:cNvSpPr txBox="1"/>
          <p:nvPr/>
        </p:nvSpPr>
        <p:spPr>
          <a:xfrm>
            <a:off x="6516000" y="3438000"/>
            <a:ext cx="4932000" cy="3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50" spc="-1" strike="noStrike">
                <a:solidFill>
                  <a:srgbClr val="172731"/>
                </a:solidFill>
                <a:latin typeface="Arial"/>
              </a:rPr>
              <a:t>authenticated SMF/EMS policy publication contract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1505" name=""/>
          <p:cNvSpPr/>
          <p:nvPr/>
        </p:nvSpPr>
        <p:spPr>
          <a:xfrm>
            <a:off x="6336000" y="3916800"/>
            <a:ext cx="79200" cy="79200"/>
          </a:xfrm>
          <a:prstGeom prst="ellipse">
            <a:avLst/>
          </a:prstGeom>
          <a:solidFill>
            <a:srgbClr val="c77b0b"/>
          </a:solidFill>
          <a:ln w="0">
            <a:noFill/>
          </a:ln>
        </p:spPr>
      </p:sp>
      <p:sp>
        <p:nvSpPr>
          <p:cNvPr id="1506" name=""/>
          <p:cNvSpPr txBox="1"/>
          <p:nvPr/>
        </p:nvSpPr>
        <p:spPr>
          <a:xfrm>
            <a:off x="6516000" y="3834000"/>
            <a:ext cx="4932000" cy="3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50" spc="-1" strike="noStrike">
                <a:solidFill>
                  <a:srgbClr val="172731"/>
                </a:solidFill>
                <a:latin typeface="Arial"/>
              </a:rPr>
              <a:t>confirmation of established-session relocation support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1507" name=""/>
          <p:cNvSpPr/>
          <p:nvPr/>
        </p:nvSpPr>
        <p:spPr>
          <a:xfrm>
            <a:off x="6336000" y="4312800"/>
            <a:ext cx="79200" cy="79200"/>
          </a:xfrm>
          <a:prstGeom prst="ellipse">
            <a:avLst/>
          </a:prstGeom>
          <a:solidFill>
            <a:srgbClr val="c77b0b"/>
          </a:solidFill>
          <a:ln w="0">
            <a:noFill/>
          </a:ln>
        </p:spPr>
      </p:sp>
      <p:sp>
        <p:nvSpPr>
          <p:cNvPr id="1508" name=""/>
          <p:cNvSpPr txBox="1"/>
          <p:nvPr/>
        </p:nvSpPr>
        <p:spPr>
          <a:xfrm>
            <a:off x="6516000" y="4230000"/>
            <a:ext cx="4932000" cy="3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50" spc="-1" strike="noStrike">
                <a:solidFill>
                  <a:srgbClr val="172731"/>
                </a:solidFill>
                <a:latin typeface="Arial"/>
              </a:rPr>
              <a:t>free5GC/PacketRusher integration and saturation tests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1509" name=""/>
          <p:cNvSpPr/>
          <p:nvPr/>
        </p:nvSpPr>
        <p:spPr>
          <a:xfrm>
            <a:off x="6336000" y="4708800"/>
            <a:ext cx="79200" cy="79200"/>
          </a:xfrm>
          <a:prstGeom prst="ellipse">
            <a:avLst/>
          </a:prstGeom>
          <a:solidFill>
            <a:srgbClr val="c77b0b"/>
          </a:solidFill>
          <a:ln w="0">
            <a:noFill/>
          </a:ln>
        </p:spPr>
      </p:sp>
      <p:sp>
        <p:nvSpPr>
          <p:cNvPr id="1510" name=""/>
          <p:cNvSpPr txBox="1"/>
          <p:nvPr/>
        </p:nvSpPr>
        <p:spPr>
          <a:xfrm>
            <a:off x="6516000" y="4626000"/>
            <a:ext cx="4932000" cy="3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50" spc="-1" strike="noStrike">
                <a:solidFill>
                  <a:srgbClr val="172731"/>
                </a:solidFill>
                <a:latin typeface="Arial"/>
              </a:rPr>
              <a:t>production drift, missingness and counter-reset behavior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1511" name=""/>
          <p:cNvSpPr/>
          <p:nvPr/>
        </p:nvSpPr>
        <p:spPr>
          <a:xfrm>
            <a:off x="6336000" y="5104800"/>
            <a:ext cx="79200" cy="79200"/>
          </a:xfrm>
          <a:prstGeom prst="ellipse">
            <a:avLst/>
          </a:prstGeom>
          <a:solidFill>
            <a:srgbClr val="c77b0b"/>
          </a:solidFill>
          <a:ln w="0">
            <a:noFill/>
          </a:ln>
        </p:spPr>
      </p:sp>
      <p:sp>
        <p:nvSpPr>
          <p:cNvPr id="1512" name=""/>
          <p:cNvSpPr txBox="1"/>
          <p:nvPr/>
        </p:nvSpPr>
        <p:spPr>
          <a:xfrm>
            <a:off x="6516000" y="5022000"/>
            <a:ext cx="4932000" cy="3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50" spc="-1" strike="noStrike">
                <a:solidFill>
                  <a:srgbClr val="172731"/>
                </a:solidFill>
                <a:latin typeface="Arial"/>
              </a:rPr>
              <a:t>untouched release campaign and tail-risk gate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1513" name=""/>
          <p:cNvSpPr/>
          <p:nvPr/>
        </p:nvSpPr>
        <p:spPr>
          <a:xfrm>
            <a:off x="324000" y="6616800"/>
            <a:ext cx="11088000" cy="0"/>
          </a:xfrm>
          <a:prstGeom prst="line">
            <a:avLst/>
          </a:prstGeom>
          <a:ln w="1080">
            <a:solidFill>
              <a:srgbClr val="cfdc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14" name=""/>
          <p:cNvSpPr txBox="1"/>
          <p:nvPr/>
        </p:nvSpPr>
        <p:spPr>
          <a:xfrm>
            <a:off x="324000" y="6660000"/>
            <a:ext cx="10368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80" spc="-1" strike="noStrike">
                <a:solidFill>
                  <a:srgbClr val="718592"/>
                </a:solidFill>
                <a:latin typeface="Courier New"/>
              </a:rPr>
              <a:t>demo_api/interfaces.py · docs/cdot-session-migration-decision.md · docs/extreme-data-spec-and-cdot-gap-analysis.md §§11–13</a:t>
            </a:r>
            <a:endParaRPr b="0" lang="en-US" sz="680" spc="-1" strike="noStrike">
              <a:latin typeface="Arial"/>
            </a:endParaRPr>
          </a:p>
        </p:txBody>
      </p:sp>
      <p:sp>
        <p:nvSpPr>
          <p:cNvPr id="1515" name=""/>
          <p:cNvSpPr txBox="1"/>
          <p:nvPr/>
        </p:nvSpPr>
        <p:spPr>
          <a:xfrm>
            <a:off x="11052000" y="6660000"/>
            <a:ext cx="684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buNone/>
            </a:pPr>
            <a:r>
              <a:rPr b="1" lang="en-US" sz="750" spc="-1" strike="noStrike">
                <a:solidFill>
                  <a:srgbClr val="718592"/>
                </a:solidFill>
                <a:latin typeface="Courier New"/>
              </a:rPr>
              <a:t>28</a:t>
            </a:r>
            <a:endParaRPr b="0" lang="en-US" sz="7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6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3f7f8"/>
          </a:solidFill>
          <a:ln w="0">
            <a:noFill/>
          </a:ln>
        </p:spPr>
      </p:sp>
      <p:sp>
        <p:nvSpPr>
          <p:cNvPr id="1517" name=""/>
          <p:cNvSpPr txBox="1"/>
          <p:nvPr/>
        </p:nvSpPr>
        <p:spPr>
          <a:xfrm>
            <a:off x="324000" y="158400"/>
            <a:ext cx="3096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00" spc="508" strike="noStrike">
                <a:solidFill>
                  <a:srgbClr val="007c99"/>
                </a:solidFill>
                <a:latin typeface="Courier New"/>
              </a:rPr>
              <a:t>ROADMAP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518" name=""/>
          <p:cNvSpPr txBox="1"/>
          <p:nvPr/>
        </p:nvSpPr>
        <p:spPr>
          <a:xfrm>
            <a:off x="324000" y="378000"/>
            <a:ext cx="10584000" cy="57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50" spc="-1" strike="noStrike">
                <a:solidFill>
                  <a:srgbClr val="172731"/>
                </a:solidFill>
                <a:latin typeface="Arial"/>
              </a:rPr>
              <a:t>Recommended path from working demo to C-DOT-calibrated pilot</a:t>
            </a:r>
            <a:endParaRPr b="0" lang="en-US" sz="2150" spc="-1" strike="noStrike">
              <a:latin typeface="Arial"/>
            </a:endParaRPr>
          </a:p>
        </p:txBody>
      </p:sp>
      <p:sp>
        <p:nvSpPr>
          <p:cNvPr id="1519" name=""/>
          <p:cNvSpPr/>
          <p:nvPr/>
        </p:nvSpPr>
        <p:spPr>
          <a:xfrm>
            <a:off x="10800000" y="180000"/>
            <a:ext cx="936000" cy="19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1520" name=""/>
          <p:cNvSpPr txBox="1"/>
          <p:nvPr/>
        </p:nvSpPr>
        <p:spPr>
          <a:xfrm>
            <a:off x="10818000" y="219600"/>
            <a:ext cx="900000" cy="10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710" spc="-1" strike="noStrike">
                <a:solidFill>
                  <a:srgbClr val="c77b0b"/>
                </a:solidFill>
                <a:latin typeface="Courier New"/>
              </a:rPr>
              <a:t>SYNTHETIC DATA</a:t>
            </a:r>
            <a:endParaRPr b="0" lang="en-US" sz="710" spc="-1" strike="noStrike">
              <a:latin typeface="Arial"/>
            </a:endParaRPr>
          </a:p>
        </p:txBody>
      </p:sp>
      <p:sp>
        <p:nvSpPr>
          <p:cNvPr id="1521" name=""/>
          <p:cNvSpPr/>
          <p:nvPr/>
        </p:nvSpPr>
        <p:spPr>
          <a:xfrm>
            <a:off x="432000" y="1512000"/>
            <a:ext cx="540000" cy="540000"/>
          </a:xfrm>
          <a:prstGeom prst="ellipse">
            <a:avLst/>
          </a:prstGeom>
          <a:solidFill>
            <a:srgbClr val="007c99"/>
          </a:solidFill>
          <a:ln w="0">
            <a:noFill/>
          </a:ln>
        </p:spPr>
      </p:sp>
      <p:sp>
        <p:nvSpPr>
          <p:cNvPr id="1522" name=""/>
          <p:cNvSpPr txBox="1"/>
          <p:nvPr/>
        </p:nvSpPr>
        <p:spPr>
          <a:xfrm>
            <a:off x="432000" y="1656000"/>
            <a:ext cx="540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850" spc="-1" strike="noStrike">
                <a:solidFill>
                  <a:srgbClr val="ffffff"/>
                </a:solidFill>
                <a:latin typeface="Courier New"/>
              </a:rPr>
              <a:t>01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1523" name=""/>
          <p:cNvSpPr txBox="1"/>
          <p:nvPr/>
        </p:nvSpPr>
        <p:spPr>
          <a:xfrm>
            <a:off x="1224000" y="1512000"/>
            <a:ext cx="1620000" cy="2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300" spc="-1" strike="noStrike">
                <a:solidFill>
                  <a:srgbClr val="007c99"/>
                </a:solidFill>
                <a:latin typeface="Arial"/>
              </a:rPr>
              <a:t>Observe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524" name=""/>
          <p:cNvSpPr txBox="1"/>
          <p:nvPr/>
        </p:nvSpPr>
        <p:spPr>
          <a:xfrm>
            <a:off x="2988000" y="1476000"/>
            <a:ext cx="8208000" cy="43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40" spc="-1" strike="noStrike">
                <a:solidFill>
                  <a:srgbClr val="172731"/>
                </a:solidFill>
                <a:latin typeface="Arial"/>
              </a:rPr>
              <a:t>Map N3/N6 counters, sessions, health and label cardinality into versioned telemetry contracts.</a:t>
            </a:r>
            <a:endParaRPr b="0" lang="en-US" sz="1040" spc="-1" strike="noStrike">
              <a:latin typeface="Arial"/>
            </a:endParaRPr>
          </a:p>
        </p:txBody>
      </p:sp>
      <p:sp>
        <p:nvSpPr>
          <p:cNvPr id="1525" name=""/>
          <p:cNvSpPr/>
          <p:nvPr/>
        </p:nvSpPr>
        <p:spPr>
          <a:xfrm>
            <a:off x="702000" y="2052000"/>
            <a:ext cx="0" cy="396000"/>
          </a:xfrm>
          <a:prstGeom prst="line">
            <a:avLst/>
          </a:prstGeom>
          <a:ln w="2880">
            <a:solidFill>
              <a:srgbClr val="cfdc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26" name=""/>
          <p:cNvSpPr/>
          <p:nvPr/>
        </p:nvSpPr>
        <p:spPr>
          <a:xfrm>
            <a:off x="432000" y="2448000"/>
            <a:ext cx="540000" cy="540000"/>
          </a:xfrm>
          <a:prstGeom prst="ellipse">
            <a:avLst/>
          </a:prstGeom>
          <a:solidFill>
            <a:srgbClr val="6750a4"/>
          </a:solidFill>
          <a:ln w="0">
            <a:noFill/>
          </a:ln>
        </p:spPr>
      </p:sp>
      <p:sp>
        <p:nvSpPr>
          <p:cNvPr id="1527" name=""/>
          <p:cNvSpPr txBox="1"/>
          <p:nvPr/>
        </p:nvSpPr>
        <p:spPr>
          <a:xfrm>
            <a:off x="432000" y="2592000"/>
            <a:ext cx="540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850" spc="-1" strike="noStrike">
                <a:solidFill>
                  <a:srgbClr val="ffffff"/>
                </a:solidFill>
                <a:latin typeface="Courier New"/>
              </a:rPr>
              <a:t>02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1528" name=""/>
          <p:cNvSpPr txBox="1"/>
          <p:nvPr/>
        </p:nvSpPr>
        <p:spPr>
          <a:xfrm>
            <a:off x="1224000" y="2448000"/>
            <a:ext cx="1620000" cy="2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300" spc="-1" strike="noStrike">
                <a:solidFill>
                  <a:srgbClr val="6750a4"/>
                </a:solidFill>
                <a:latin typeface="Arial"/>
              </a:rPr>
              <a:t>Calibrate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529" name=""/>
          <p:cNvSpPr txBox="1"/>
          <p:nvPr/>
        </p:nvSpPr>
        <p:spPr>
          <a:xfrm>
            <a:off x="2988000" y="2412000"/>
            <a:ext cx="8208000" cy="43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40" spc="-1" strike="noStrike">
                <a:solidFill>
                  <a:srgbClr val="172731"/>
                </a:solidFill>
                <a:latin typeface="Arial"/>
              </a:rPr>
              <a:t>Measure directional throughput/session envelopes and reproduce overload thresholds on target UPF builds.</a:t>
            </a:r>
            <a:endParaRPr b="0" lang="en-US" sz="1040" spc="-1" strike="noStrike">
              <a:latin typeface="Arial"/>
            </a:endParaRPr>
          </a:p>
        </p:txBody>
      </p:sp>
      <p:sp>
        <p:nvSpPr>
          <p:cNvPr id="1530" name=""/>
          <p:cNvSpPr/>
          <p:nvPr/>
        </p:nvSpPr>
        <p:spPr>
          <a:xfrm>
            <a:off x="702000" y="2988000"/>
            <a:ext cx="0" cy="396000"/>
          </a:xfrm>
          <a:prstGeom prst="line">
            <a:avLst/>
          </a:prstGeom>
          <a:ln w="2880">
            <a:solidFill>
              <a:srgbClr val="cfdc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31" name=""/>
          <p:cNvSpPr/>
          <p:nvPr/>
        </p:nvSpPr>
        <p:spPr>
          <a:xfrm>
            <a:off x="432000" y="3384000"/>
            <a:ext cx="540000" cy="540000"/>
          </a:xfrm>
          <a:prstGeom prst="ellipse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1532" name=""/>
          <p:cNvSpPr txBox="1"/>
          <p:nvPr/>
        </p:nvSpPr>
        <p:spPr>
          <a:xfrm>
            <a:off x="432000" y="3528000"/>
            <a:ext cx="540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850" spc="-1" strike="noStrike">
                <a:solidFill>
                  <a:srgbClr val="ffffff"/>
                </a:solidFill>
                <a:latin typeface="Courier New"/>
              </a:rPr>
              <a:t>03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1533" name=""/>
          <p:cNvSpPr txBox="1"/>
          <p:nvPr/>
        </p:nvSpPr>
        <p:spPr>
          <a:xfrm>
            <a:off x="1224000" y="3384000"/>
            <a:ext cx="1620000" cy="2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300" spc="-1" strike="noStrike">
                <a:solidFill>
                  <a:srgbClr val="16805f"/>
                </a:solidFill>
                <a:latin typeface="Arial"/>
              </a:rPr>
              <a:t>Replay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534" name=""/>
          <p:cNvSpPr txBox="1"/>
          <p:nvPr/>
        </p:nvSpPr>
        <p:spPr>
          <a:xfrm>
            <a:off x="2988000" y="3348000"/>
            <a:ext cx="8208000" cy="43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40" spc="-1" strike="noStrike">
                <a:solidFill>
                  <a:srgbClr val="172731"/>
                </a:solidFill>
                <a:latin typeface="Arial"/>
              </a:rPr>
              <a:t>Run the existing forecaster and MPC in advisory mode against recorded representative history.</a:t>
            </a:r>
            <a:endParaRPr b="0" lang="en-US" sz="1040" spc="-1" strike="noStrike">
              <a:latin typeface="Arial"/>
            </a:endParaRPr>
          </a:p>
        </p:txBody>
      </p:sp>
      <p:sp>
        <p:nvSpPr>
          <p:cNvPr id="1535" name=""/>
          <p:cNvSpPr/>
          <p:nvPr/>
        </p:nvSpPr>
        <p:spPr>
          <a:xfrm>
            <a:off x="702000" y="3924000"/>
            <a:ext cx="0" cy="396000"/>
          </a:xfrm>
          <a:prstGeom prst="line">
            <a:avLst/>
          </a:prstGeom>
          <a:ln w="2880">
            <a:solidFill>
              <a:srgbClr val="cfdc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36" name=""/>
          <p:cNvSpPr/>
          <p:nvPr/>
        </p:nvSpPr>
        <p:spPr>
          <a:xfrm>
            <a:off x="432000" y="4320000"/>
            <a:ext cx="540000" cy="540000"/>
          </a:xfrm>
          <a:prstGeom prst="ellipse">
            <a:avLst/>
          </a:prstGeom>
          <a:solidFill>
            <a:srgbClr val="c77b0b"/>
          </a:solidFill>
          <a:ln w="0">
            <a:noFill/>
          </a:ln>
        </p:spPr>
      </p:sp>
      <p:sp>
        <p:nvSpPr>
          <p:cNvPr id="1537" name=""/>
          <p:cNvSpPr txBox="1"/>
          <p:nvPr/>
        </p:nvSpPr>
        <p:spPr>
          <a:xfrm>
            <a:off x="432000" y="4464000"/>
            <a:ext cx="540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850" spc="-1" strike="noStrike">
                <a:solidFill>
                  <a:srgbClr val="ffffff"/>
                </a:solidFill>
                <a:latin typeface="Courier New"/>
              </a:rPr>
              <a:t>04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1538" name=""/>
          <p:cNvSpPr txBox="1"/>
          <p:nvPr/>
        </p:nvSpPr>
        <p:spPr>
          <a:xfrm>
            <a:off x="1224000" y="4320000"/>
            <a:ext cx="1620000" cy="2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300" spc="-1" strike="noStrike">
                <a:solidFill>
                  <a:srgbClr val="c77b0b"/>
                </a:solidFill>
                <a:latin typeface="Arial"/>
              </a:rPr>
              <a:t>Shadow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539" name=""/>
          <p:cNvSpPr txBox="1"/>
          <p:nvPr/>
        </p:nvSpPr>
        <p:spPr>
          <a:xfrm>
            <a:off x="2988000" y="4284000"/>
            <a:ext cx="8208000" cy="43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40" spc="-1" strike="noStrike">
                <a:solidFill>
                  <a:srgbClr val="172731"/>
                </a:solidFill>
                <a:latin typeface="Arial"/>
              </a:rPr>
              <a:t>Publish recommendations to an external store without actuation; compare static and MPC decisions online.</a:t>
            </a:r>
            <a:endParaRPr b="0" lang="en-US" sz="1040" spc="-1" strike="noStrike">
              <a:latin typeface="Arial"/>
            </a:endParaRPr>
          </a:p>
        </p:txBody>
      </p:sp>
      <p:sp>
        <p:nvSpPr>
          <p:cNvPr id="1540" name=""/>
          <p:cNvSpPr/>
          <p:nvPr/>
        </p:nvSpPr>
        <p:spPr>
          <a:xfrm>
            <a:off x="702000" y="4860000"/>
            <a:ext cx="0" cy="396000"/>
          </a:xfrm>
          <a:prstGeom prst="line">
            <a:avLst/>
          </a:prstGeom>
          <a:ln w="2880">
            <a:solidFill>
              <a:srgbClr val="cfdc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41" name=""/>
          <p:cNvSpPr/>
          <p:nvPr/>
        </p:nvSpPr>
        <p:spPr>
          <a:xfrm>
            <a:off x="432000" y="5256000"/>
            <a:ext cx="540000" cy="540000"/>
          </a:xfrm>
          <a:prstGeom prst="ellipse">
            <a:avLst/>
          </a:prstGeom>
          <a:solidFill>
            <a:srgbClr val="cd443b"/>
          </a:solidFill>
          <a:ln w="0">
            <a:noFill/>
          </a:ln>
        </p:spPr>
      </p:sp>
      <p:sp>
        <p:nvSpPr>
          <p:cNvPr id="1542" name=""/>
          <p:cNvSpPr txBox="1"/>
          <p:nvPr/>
        </p:nvSpPr>
        <p:spPr>
          <a:xfrm>
            <a:off x="432000" y="5400000"/>
            <a:ext cx="540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850" spc="-1" strike="noStrike">
                <a:solidFill>
                  <a:srgbClr val="ffffff"/>
                </a:solidFill>
                <a:latin typeface="Courier New"/>
              </a:rPr>
              <a:t>05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1543" name=""/>
          <p:cNvSpPr txBox="1"/>
          <p:nvPr/>
        </p:nvSpPr>
        <p:spPr>
          <a:xfrm>
            <a:off x="1224000" y="5256000"/>
            <a:ext cx="1620000" cy="2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300" spc="-1" strike="noStrike">
                <a:solidFill>
                  <a:srgbClr val="cd443b"/>
                </a:solidFill>
                <a:latin typeface="Arial"/>
              </a:rPr>
              <a:t>Pilot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544" name=""/>
          <p:cNvSpPr txBox="1"/>
          <p:nvPr/>
        </p:nvSpPr>
        <p:spPr>
          <a:xfrm>
            <a:off x="2988000" y="5220000"/>
            <a:ext cx="8208000" cy="43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40" spc="-1" strike="noStrike">
                <a:solidFill>
                  <a:srgbClr val="172731"/>
                </a:solidFill>
                <a:latin typeface="Arial"/>
              </a:rPr>
              <a:t>Enable bounded new-session steering with fail-closed rollback and explicit operational approval.</a:t>
            </a:r>
            <a:endParaRPr b="0" lang="en-US" sz="1040" spc="-1" strike="noStrike">
              <a:latin typeface="Arial"/>
            </a:endParaRPr>
          </a:p>
        </p:txBody>
      </p:sp>
      <p:sp>
        <p:nvSpPr>
          <p:cNvPr id="1545" name=""/>
          <p:cNvSpPr/>
          <p:nvPr/>
        </p:nvSpPr>
        <p:spPr>
          <a:xfrm>
            <a:off x="324000" y="6156000"/>
            <a:ext cx="11412000" cy="216000"/>
          </a:xfrm>
          <a:prstGeom prst="roundRect">
            <a:avLst/>
          </a:prstGeom>
          <a:solidFill>
            <a:srgbClr val="193644"/>
          </a:solidFill>
          <a:ln w="0">
            <a:noFill/>
          </a:ln>
        </p:spPr>
      </p:sp>
      <p:sp>
        <p:nvSpPr>
          <p:cNvPr id="1546" name=""/>
          <p:cNvSpPr/>
          <p:nvPr/>
        </p:nvSpPr>
        <p:spPr>
          <a:xfrm>
            <a:off x="324000" y="6156000"/>
            <a:ext cx="64800" cy="216000"/>
          </a:xfrm>
          <a:prstGeom prst="rect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1547" name=""/>
          <p:cNvSpPr txBox="1"/>
          <p:nvPr/>
        </p:nvSpPr>
        <p:spPr>
          <a:xfrm>
            <a:off x="576000" y="6184800"/>
            <a:ext cx="10908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760" spc="-1" strike="noStrike">
                <a:solidFill>
                  <a:srgbClr val="ffffff"/>
                </a:solidFill>
                <a:latin typeface="Arial"/>
              </a:rPr>
              <a:t>Go/no-go principle: calibrate data and authority first; keep the current synthetic evidence intact as a reproducible engineering baseline.</a:t>
            </a:r>
            <a:endParaRPr b="0" lang="en-US" sz="760" spc="-1" strike="noStrike">
              <a:latin typeface="Arial"/>
            </a:endParaRPr>
          </a:p>
        </p:txBody>
      </p:sp>
      <p:sp>
        <p:nvSpPr>
          <p:cNvPr id="1548" name=""/>
          <p:cNvSpPr/>
          <p:nvPr/>
        </p:nvSpPr>
        <p:spPr>
          <a:xfrm>
            <a:off x="324000" y="6616800"/>
            <a:ext cx="11088000" cy="0"/>
          </a:xfrm>
          <a:prstGeom prst="line">
            <a:avLst/>
          </a:prstGeom>
          <a:ln w="1080">
            <a:solidFill>
              <a:srgbClr val="cfdc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49" name=""/>
          <p:cNvSpPr txBox="1"/>
          <p:nvPr/>
        </p:nvSpPr>
        <p:spPr>
          <a:xfrm>
            <a:off x="324000" y="6660000"/>
            <a:ext cx="10368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80" spc="-1" strike="noStrike">
                <a:solidFill>
                  <a:srgbClr val="718592"/>
                </a:solidFill>
                <a:latin typeface="Courier New"/>
              </a:rPr>
              <a:t>docs/static-controller-deep-research.md §Recommended backlog · docs/end-to-end-runbook.md §Remaining implementation checklist</a:t>
            </a:r>
            <a:endParaRPr b="0" lang="en-US" sz="680" spc="-1" strike="noStrike">
              <a:latin typeface="Arial"/>
            </a:endParaRPr>
          </a:p>
        </p:txBody>
      </p:sp>
      <p:sp>
        <p:nvSpPr>
          <p:cNvPr id="1550" name=""/>
          <p:cNvSpPr txBox="1"/>
          <p:nvPr/>
        </p:nvSpPr>
        <p:spPr>
          <a:xfrm>
            <a:off x="11052000" y="6660000"/>
            <a:ext cx="684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buNone/>
            </a:pPr>
            <a:r>
              <a:rPr b="1" lang="en-US" sz="750" spc="-1" strike="noStrike">
                <a:solidFill>
                  <a:srgbClr val="718592"/>
                </a:solidFill>
                <a:latin typeface="Courier New"/>
              </a:rPr>
              <a:t>29</a:t>
            </a:r>
            <a:endParaRPr b="0" lang="en-US" sz="7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1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10222e"/>
          </a:solidFill>
          <a:ln w="0">
            <a:noFill/>
          </a:ln>
        </p:spPr>
      </p:sp>
      <p:sp>
        <p:nvSpPr>
          <p:cNvPr id="1552" name=""/>
          <p:cNvSpPr txBox="1"/>
          <p:nvPr/>
        </p:nvSpPr>
        <p:spPr>
          <a:xfrm>
            <a:off x="324000" y="158400"/>
            <a:ext cx="3096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00" spc="508" strike="noStrike">
                <a:solidFill>
                  <a:srgbClr val="77c6d4"/>
                </a:solidFill>
                <a:latin typeface="Courier New"/>
              </a:rPr>
              <a:t>CONCLUSION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553" name=""/>
          <p:cNvSpPr txBox="1"/>
          <p:nvPr/>
        </p:nvSpPr>
        <p:spPr>
          <a:xfrm>
            <a:off x="324000" y="378000"/>
            <a:ext cx="10584000" cy="57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50" spc="-1" strike="noStrike">
                <a:solidFill>
                  <a:srgbClr val="ffffff"/>
                </a:solidFill>
                <a:latin typeface="Arial"/>
              </a:rPr>
              <a:t>The engineering result is credible because the limitations are visible</a:t>
            </a:r>
            <a:endParaRPr b="0" lang="en-US" sz="2150" spc="-1" strike="noStrike">
              <a:latin typeface="Arial"/>
            </a:endParaRPr>
          </a:p>
        </p:txBody>
      </p:sp>
      <p:sp>
        <p:nvSpPr>
          <p:cNvPr id="1554" name=""/>
          <p:cNvSpPr/>
          <p:nvPr/>
        </p:nvSpPr>
        <p:spPr>
          <a:xfrm>
            <a:off x="10800000" y="180000"/>
            <a:ext cx="936000" cy="198000"/>
          </a:xfrm>
          <a:prstGeom prst="roundRect">
            <a:avLst/>
          </a:prstGeom>
          <a:solidFill>
            <a:srgbClr val="213e4b"/>
          </a:solidFill>
          <a:ln w="6480">
            <a:solidFill>
              <a:srgbClr val="54717d"/>
            </a:solidFill>
            <a:round/>
          </a:ln>
        </p:spPr>
      </p:sp>
      <p:sp>
        <p:nvSpPr>
          <p:cNvPr id="1555" name=""/>
          <p:cNvSpPr txBox="1"/>
          <p:nvPr/>
        </p:nvSpPr>
        <p:spPr>
          <a:xfrm>
            <a:off x="10818000" y="219600"/>
            <a:ext cx="900000" cy="10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710" spc="-1" strike="noStrike">
                <a:solidFill>
                  <a:srgbClr val="f4c36b"/>
                </a:solidFill>
                <a:latin typeface="Courier New"/>
              </a:rPr>
              <a:t>SYNTHETIC DATA</a:t>
            </a:r>
            <a:endParaRPr b="0" lang="en-US" sz="710" spc="-1" strike="noStrike">
              <a:latin typeface="Arial"/>
            </a:endParaRPr>
          </a:p>
        </p:txBody>
      </p:sp>
      <p:sp>
        <p:nvSpPr>
          <p:cNvPr id="1556" name=""/>
          <p:cNvSpPr txBox="1"/>
          <p:nvPr/>
        </p:nvSpPr>
        <p:spPr>
          <a:xfrm>
            <a:off x="360000" y="1764000"/>
            <a:ext cx="7452000" cy="115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ffffff"/>
                </a:solidFill>
                <a:latin typeface="Arial"/>
              </a:rPr>
              <a:t>Predict early.</a:t>
            </a:r>
            <a:endParaRPr b="0" lang="en-US" sz="2700" spc="-1" strike="noStrike">
              <a:latin typeface="Arial"/>
            </a:endParaRPr>
          </a:p>
          <a:p>
            <a:r>
              <a:rPr b="1" lang="en-US" sz="2700" spc="-1" strike="noStrike">
                <a:solidFill>
                  <a:srgbClr val="ffffff"/>
                </a:solidFill>
                <a:latin typeface="Arial"/>
              </a:rPr>
              <a:t>Certify against static.</a:t>
            </a:r>
            <a:endParaRPr b="0" lang="en-US" sz="2700" spc="-1" strike="noStrike">
              <a:latin typeface="Arial"/>
            </a:endParaRPr>
          </a:p>
          <a:p>
            <a:r>
              <a:rPr b="1" lang="en-US" sz="2700" spc="-1" strike="noStrike">
                <a:solidFill>
                  <a:srgbClr val="ffffff"/>
                </a:solidFill>
                <a:latin typeface="Arial"/>
              </a:rPr>
              <a:t>Steer only what is controllable.</a:t>
            </a:r>
            <a:endParaRPr b="0" lang="en-US" sz="2700" spc="-1" strike="noStrike">
              <a:latin typeface="Arial"/>
            </a:endParaRPr>
          </a:p>
        </p:txBody>
      </p:sp>
      <p:sp>
        <p:nvSpPr>
          <p:cNvPr id="1557" name=""/>
          <p:cNvSpPr txBox="1"/>
          <p:nvPr/>
        </p:nvSpPr>
        <p:spPr>
          <a:xfrm>
            <a:off x="360000" y="3240000"/>
            <a:ext cx="7380000" cy="7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20" spc="-1" strike="noStrike">
                <a:solidFill>
                  <a:srgbClr val="c2d3da"/>
                </a:solidFill>
                <a:latin typeface="Arial"/>
              </a:rPr>
              <a:t>The repository demonstrates an end-to-end synthetic control loop with measurable average benefit, reproducible artifacts and an honest production boundary.</a:t>
            </a:r>
            <a:endParaRPr b="0" lang="en-US" sz="1320" spc="-1" strike="noStrike">
              <a:latin typeface="Arial"/>
            </a:endParaRPr>
          </a:p>
        </p:txBody>
      </p:sp>
      <p:sp>
        <p:nvSpPr>
          <p:cNvPr id="1558" name=""/>
          <p:cNvSpPr/>
          <p:nvPr/>
        </p:nvSpPr>
        <p:spPr>
          <a:xfrm>
            <a:off x="8244000" y="1584000"/>
            <a:ext cx="3492000" cy="3312000"/>
          </a:xfrm>
          <a:prstGeom prst="roundRect">
            <a:avLst/>
          </a:prstGeom>
          <a:solidFill>
            <a:srgbClr val="193541"/>
          </a:solidFill>
          <a:ln w="6480">
            <a:solidFill>
              <a:srgbClr val="395663"/>
            </a:solidFill>
            <a:round/>
          </a:ln>
        </p:spPr>
      </p:sp>
      <p:sp>
        <p:nvSpPr>
          <p:cNvPr id="1559" name=""/>
          <p:cNvSpPr/>
          <p:nvPr/>
        </p:nvSpPr>
        <p:spPr>
          <a:xfrm>
            <a:off x="8244000" y="1584000"/>
            <a:ext cx="64800" cy="3312000"/>
          </a:xfrm>
          <a:prstGeom prst="rect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1560" name=""/>
          <p:cNvSpPr txBox="1"/>
          <p:nvPr/>
        </p:nvSpPr>
        <p:spPr>
          <a:xfrm>
            <a:off x="8532000" y="1908000"/>
            <a:ext cx="2916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50" spc="-1" strike="noStrike">
                <a:solidFill>
                  <a:srgbClr val="77c6d4"/>
                </a:solidFill>
                <a:latin typeface="Courier New"/>
              </a:rPr>
              <a:t>FINAL TAKEAWAYS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1561" name=""/>
          <p:cNvSpPr/>
          <p:nvPr/>
        </p:nvSpPr>
        <p:spPr>
          <a:xfrm>
            <a:off x="8532000" y="2512800"/>
            <a:ext cx="79200" cy="79200"/>
          </a:xfrm>
          <a:prstGeom prst="ellipse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1562" name=""/>
          <p:cNvSpPr txBox="1"/>
          <p:nvPr/>
        </p:nvSpPr>
        <p:spPr>
          <a:xfrm>
            <a:off x="8712000" y="2430000"/>
            <a:ext cx="2700000" cy="36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00" spc="-1" strike="noStrike">
                <a:solidFill>
                  <a:srgbClr val="ffffff"/>
                </a:solidFill>
                <a:latin typeface="Arial"/>
              </a:rPr>
              <a:t>7.63% forecast WAPE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563" name=""/>
          <p:cNvSpPr/>
          <p:nvPr/>
        </p:nvSpPr>
        <p:spPr>
          <a:xfrm>
            <a:off x="8532000" y="2880000"/>
            <a:ext cx="79200" cy="79200"/>
          </a:xfrm>
          <a:prstGeom prst="ellipse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1564" name=""/>
          <p:cNvSpPr txBox="1"/>
          <p:nvPr/>
        </p:nvSpPr>
        <p:spPr>
          <a:xfrm>
            <a:off x="8712000" y="2797200"/>
            <a:ext cx="2700000" cy="36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00" spc="-1" strike="noStrike">
                <a:solidFill>
                  <a:srgbClr val="ffffff"/>
                </a:solidFill>
                <a:latin typeface="Arial"/>
              </a:rPr>
              <a:t>10.52% mean-pair UL improvement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565" name=""/>
          <p:cNvSpPr/>
          <p:nvPr/>
        </p:nvSpPr>
        <p:spPr>
          <a:xfrm>
            <a:off x="8532000" y="3247200"/>
            <a:ext cx="79200" cy="79200"/>
          </a:xfrm>
          <a:prstGeom prst="ellipse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1566" name=""/>
          <p:cNvSpPr txBox="1"/>
          <p:nvPr/>
        </p:nvSpPr>
        <p:spPr>
          <a:xfrm>
            <a:off x="8712000" y="3164400"/>
            <a:ext cx="2700000" cy="36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00" spc="-1" strike="noStrike">
                <a:solidFill>
                  <a:srgbClr val="ffffff"/>
                </a:solidFill>
                <a:latin typeface="Arial"/>
              </a:rPr>
              <a:t>2.84% severity-weighted benefit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567" name=""/>
          <p:cNvSpPr/>
          <p:nvPr/>
        </p:nvSpPr>
        <p:spPr>
          <a:xfrm>
            <a:off x="8532000" y="3614400"/>
            <a:ext cx="79200" cy="79200"/>
          </a:xfrm>
          <a:prstGeom prst="ellipse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1568" name=""/>
          <p:cNvSpPr txBox="1"/>
          <p:nvPr/>
        </p:nvSpPr>
        <p:spPr>
          <a:xfrm>
            <a:off x="8712000" y="3531600"/>
            <a:ext cx="2700000" cy="36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00" spc="-1" strike="noStrike">
                <a:solidFill>
                  <a:srgbClr val="ffffff"/>
                </a:solidFill>
                <a:latin typeface="Arial"/>
              </a:rPr>
              <a:t>all aggregate guardrails pass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569" name=""/>
          <p:cNvSpPr/>
          <p:nvPr/>
        </p:nvSpPr>
        <p:spPr>
          <a:xfrm>
            <a:off x="8532000" y="3981600"/>
            <a:ext cx="79200" cy="79200"/>
          </a:xfrm>
          <a:prstGeom prst="ellipse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1570" name=""/>
          <p:cNvSpPr txBox="1"/>
          <p:nvPr/>
        </p:nvSpPr>
        <p:spPr>
          <a:xfrm>
            <a:off x="8712000" y="3898800"/>
            <a:ext cx="2700000" cy="36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00" spc="-1" strike="noStrike">
                <a:solidFill>
                  <a:srgbClr val="ffffff"/>
                </a:solidFill>
                <a:latin typeface="Arial"/>
              </a:rPr>
              <a:t>fault-tail risk remains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571" name=""/>
          <p:cNvSpPr/>
          <p:nvPr/>
        </p:nvSpPr>
        <p:spPr>
          <a:xfrm>
            <a:off x="8532000" y="4348800"/>
            <a:ext cx="79200" cy="79200"/>
          </a:xfrm>
          <a:prstGeom prst="ellipse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1572" name=""/>
          <p:cNvSpPr txBox="1"/>
          <p:nvPr/>
        </p:nvSpPr>
        <p:spPr>
          <a:xfrm>
            <a:off x="8712000" y="4266000"/>
            <a:ext cx="2700000" cy="36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00" spc="-1" strike="noStrike">
                <a:solidFill>
                  <a:srgbClr val="ffffff"/>
                </a:solidFill>
                <a:latin typeface="Arial"/>
              </a:rPr>
              <a:t>new-session placement only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573" name=""/>
          <p:cNvSpPr txBox="1"/>
          <p:nvPr/>
        </p:nvSpPr>
        <p:spPr>
          <a:xfrm>
            <a:off x="360000" y="5220000"/>
            <a:ext cx="7452000" cy="28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77c6d4"/>
                </a:solidFill>
                <a:latin typeface="Courier New"/>
              </a:rPr>
              <a:t>Discussion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574" name=""/>
          <p:cNvSpPr txBox="1"/>
          <p:nvPr/>
        </p:nvSpPr>
        <p:spPr>
          <a:xfrm>
            <a:off x="360000" y="5652000"/>
            <a:ext cx="7452000" cy="38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350" spc="-1" strike="noStrike">
                <a:solidFill>
                  <a:srgbClr val="ffffff"/>
                </a:solidFill>
                <a:latin typeface="Arial"/>
              </a:rPr>
              <a:t>What telemetry, capacity and actuation interfaces can C-DOT expose for a calibrated shadow pilot?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1575" name=""/>
          <p:cNvSpPr/>
          <p:nvPr/>
        </p:nvSpPr>
        <p:spPr>
          <a:xfrm>
            <a:off x="324000" y="6616800"/>
            <a:ext cx="11088000" cy="0"/>
          </a:xfrm>
          <a:prstGeom prst="line">
            <a:avLst/>
          </a:prstGeom>
          <a:ln w="1080">
            <a:solidFill>
              <a:srgbClr val="3951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76" name=""/>
          <p:cNvSpPr txBox="1"/>
          <p:nvPr/>
        </p:nvSpPr>
        <p:spPr>
          <a:xfrm>
            <a:off x="324000" y="6660000"/>
            <a:ext cx="10368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80" spc="-1" strike="noStrike">
                <a:solidFill>
                  <a:srgbClr val="9fb4be"/>
                </a:solidFill>
                <a:latin typeface="Courier New"/>
              </a:rPr>
              <a:t>C-DOT predictive UPF steering · technical review · 09 August 2026</a:t>
            </a:r>
            <a:endParaRPr b="0" lang="en-US" sz="680" spc="-1" strike="noStrike">
              <a:latin typeface="Arial"/>
            </a:endParaRPr>
          </a:p>
        </p:txBody>
      </p:sp>
      <p:sp>
        <p:nvSpPr>
          <p:cNvPr id="1577" name=""/>
          <p:cNvSpPr txBox="1"/>
          <p:nvPr/>
        </p:nvSpPr>
        <p:spPr>
          <a:xfrm>
            <a:off x="11052000" y="6660000"/>
            <a:ext cx="684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buNone/>
            </a:pPr>
            <a:r>
              <a:rPr b="1" lang="en-US" sz="750" spc="-1" strike="noStrike">
                <a:solidFill>
                  <a:srgbClr val="9fb4be"/>
                </a:solidFill>
                <a:latin typeface="Courier New"/>
              </a:rPr>
              <a:t>30</a:t>
            </a:r>
            <a:endParaRPr b="0" lang="en-US" sz="7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8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3f7f8"/>
          </a:solidFill>
          <a:ln w="0">
            <a:noFill/>
          </a:ln>
        </p:spPr>
      </p:sp>
      <p:sp>
        <p:nvSpPr>
          <p:cNvPr id="1579" name=""/>
          <p:cNvSpPr txBox="1"/>
          <p:nvPr/>
        </p:nvSpPr>
        <p:spPr>
          <a:xfrm>
            <a:off x="324000" y="158400"/>
            <a:ext cx="3096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00" spc="508" strike="noStrike">
                <a:solidFill>
                  <a:srgbClr val="007c99"/>
                </a:solidFill>
                <a:latin typeface="Courier New"/>
              </a:rPr>
              <a:t>APPENDIX · METRICS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580" name=""/>
          <p:cNvSpPr txBox="1"/>
          <p:nvPr/>
        </p:nvSpPr>
        <p:spPr>
          <a:xfrm>
            <a:off x="324000" y="378000"/>
            <a:ext cx="10584000" cy="57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50" spc="-1" strike="noStrike">
                <a:solidFill>
                  <a:srgbClr val="172731"/>
                </a:solidFill>
                <a:latin typeface="Arial"/>
              </a:rPr>
              <a:t>Appendix: metric definitions used in the experiments</a:t>
            </a:r>
            <a:endParaRPr b="0" lang="en-US" sz="2150" spc="-1" strike="noStrike">
              <a:latin typeface="Arial"/>
            </a:endParaRPr>
          </a:p>
        </p:txBody>
      </p:sp>
      <p:sp>
        <p:nvSpPr>
          <p:cNvPr id="1581" name=""/>
          <p:cNvSpPr/>
          <p:nvPr/>
        </p:nvSpPr>
        <p:spPr>
          <a:xfrm>
            <a:off x="10800000" y="180000"/>
            <a:ext cx="936000" cy="19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1582" name=""/>
          <p:cNvSpPr txBox="1"/>
          <p:nvPr/>
        </p:nvSpPr>
        <p:spPr>
          <a:xfrm>
            <a:off x="10818000" y="219600"/>
            <a:ext cx="900000" cy="10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710" spc="-1" strike="noStrike">
                <a:solidFill>
                  <a:srgbClr val="c77b0b"/>
                </a:solidFill>
                <a:latin typeface="Courier New"/>
              </a:rPr>
              <a:t>SYNTHETIC DATA</a:t>
            </a:r>
            <a:endParaRPr b="0" lang="en-US" sz="710" spc="-1" strike="noStrike">
              <a:latin typeface="Arial"/>
            </a:endParaRPr>
          </a:p>
        </p:txBody>
      </p:sp>
      <p:sp>
        <p:nvSpPr>
          <p:cNvPr id="1583" name=""/>
          <p:cNvSpPr/>
          <p:nvPr/>
        </p:nvSpPr>
        <p:spPr>
          <a:xfrm>
            <a:off x="324000" y="1512000"/>
            <a:ext cx="11412000" cy="435600"/>
          </a:xfrm>
          <a:prstGeom prst="rect">
            <a:avLst/>
          </a:prstGeom>
          <a:solidFill>
            <a:srgbClr val="193644"/>
          </a:solidFill>
          <a:ln w="6480">
            <a:solidFill>
              <a:srgbClr val="cfdce1"/>
            </a:solidFill>
            <a:round/>
          </a:ln>
        </p:spPr>
      </p:sp>
      <p:sp>
        <p:nvSpPr>
          <p:cNvPr id="1584" name=""/>
          <p:cNvSpPr txBox="1"/>
          <p:nvPr/>
        </p:nvSpPr>
        <p:spPr>
          <a:xfrm>
            <a:off x="385200" y="1558800"/>
            <a:ext cx="2109600" cy="36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n-US" sz="800" spc="-1" strike="noStrike">
                <a:solidFill>
                  <a:srgbClr val="ffffff"/>
                </a:solidFill>
                <a:latin typeface="Arial"/>
              </a:rPr>
              <a:t>METRIC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585" name=""/>
          <p:cNvSpPr txBox="1"/>
          <p:nvPr/>
        </p:nvSpPr>
        <p:spPr>
          <a:xfrm>
            <a:off x="2617200" y="1558800"/>
            <a:ext cx="4593600" cy="36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n-US" sz="800" spc="-1" strike="noStrike">
                <a:solidFill>
                  <a:srgbClr val="ffffff"/>
                </a:solidFill>
                <a:latin typeface="Arial"/>
              </a:rPr>
              <a:t>DEFINITION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586" name=""/>
          <p:cNvSpPr txBox="1"/>
          <p:nvPr/>
        </p:nvSpPr>
        <p:spPr>
          <a:xfrm>
            <a:off x="7333200" y="1558800"/>
            <a:ext cx="4341600" cy="36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n-US" sz="800" spc="-1" strike="noStrike">
                <a:solidFill>
                  <a:srgbClr val="ffffff"/>
                </a:solidFill>
                <a:latin typeface="Arial"/>
              </a:rPr>
              <a:t>WHY IT MATTERS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587" name=""/>
          <p:cNvSpPr/>
          <p:nvPr/>
        </p:nvSpPr>
        <p:spPr>
          <a:xfrm>
            <a:off x="324000" y="1947600"/>
            <a:ext cx="11412000" cy="435600"/>
          </a:xfrm>
          <a:prstGeom prst="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1588" name=""/>
          <p:cNvSpPr txBox="1"/>
          <p:nvPr/>
        </p:nvSpPr>
        <p:spPr>
          <a:xfrm>
            <a:off x="385200" y="1994400"/>
            <a:ext cx="2109600" cy="36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20" spc="-1" strike="noStrike">
                <a:solidFill>
                  <a:srgbClr val="172731"/>
                </a:solidFill>
                <a:latin typeface="Arial"/>
              </a:rPr>
              <a:t>WAPE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1589" name=""/>
          <p:cNvSpPr txBox="1"/>
          <p:nvPr/>
        </p:nvSpPr>
        <p:spPr>
          <a:xfrm>
            <a:off x="2617200" y="1994400"/>
            <a:ext cx="4593600" cy="36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20" spc="-1" strike="noStrike">
                <a:solidFill>
                  <a:srgbClr val="172731"/>
                </a:solidFill>
                <a:latin typeface="Arial"/>
              </a:rPr>
              <a:t>Σ|actual−p50| / Σ|actual|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1590" name=""/>
          <p:cNvSpPr txBox="1"/>
          <p:nvPr/>
        </p:nvSpPr>
        <p:spPr>
          <a:xfrm>
            <a:off x="7333200" y="1994400"/>
            <a:ext cx="4341600" cy="36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20" spc="-1" strike="noStrike">
                <a:solidFill>
                  <a:srgbClr val="172731"/>
                </a:solidFill>
                <a:latin typeface="Arial"/>
              </a:rPr>
              <a:t>scale-normalized forecast point error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1591" name=""/>
          <p:cNvSpPr/>
          <p:nvPr/>
        </p:nvSpPr>
        <p:spPr>
          <a:xfrm>
            <a:off x="324000" y="2383200"/>
            <a:ext cx="11412000" cy="435600"/>
          </a:xfrm>
          <a:prstGeom prst="rect">
            <a:avLst/>
          </a:prstGeom>
          <a:solidFill>
            <a:srgbClr val="f8fafb"/>
          </a:solidFill>
          <a:ln w="6480">
            <a:solidFill>
              <a:srgbClr val="cfdce1"/>
            </a:solidFill>
            <a:round/>
          </a:ln>
        </p:spPr>
      </p:sp>
      <p:sp>
        <p:nvSpPr>
          <p:cNvPr id="1592" name=""/>
          <p:cNvSpPr txBox="1"/>
          <p:nvPr/>
        </p:nvSpPr>
        <p:spPr>
          <a:xfrm>
            <a:off x="385200" y="2430000"/>
            <a:ext cx="2109600" cy="36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20" spc="-1" strike="noStrike">
                <a:solidFill>
                  <a:srgbClr val="172731"/>
                </a:solidFill>
                <a:latin typeface="Arial"/>
              </a:rPr>
              <a:t>p90 coverage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1593" name=""/>
          <p:cNvSpPr txBox="1"/>
          <p:nvPr/>
        </p:nvSpPr>
        <p:spPr>
          <a:xfrm>
            <a:off x="2617200" y="2430000"/>
            <a:ext cx="4593600" cy="36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20" spc="-1" strike="noStrike">
                <a:solidFill>
                  <a:srgbClr val="172731"/>
                </a:solidFill>
                <a:latin typeface="Arial"/>
              </a:rPr>
              <a:t>fraction where actual ≤ predicted upper p90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1594" name=""/>
          <p:cNvSpPr txBox="1"/>
          <p:nvPr/>
        </p:nvSpPr>
        <p:spPr>
          <a:xfrm>
            <a:off x="7333200" y="2430000"/>
            <a:ext cx="4341600" cy="36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20" spc="-1" strike="noStrike">
                <a:solidFill>
                  <a:srgbClr val="172731"/>
                </a:solidFill>
                <a:latin typeface="Arial"/>
              </a:rPr>
              <a:t>uncertainty calibration for conservative planning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1595" name=""/>
          <p:cNvSpPr/>
          <p:nvPr/>
        </p:nvSpPr>
        <p:spPr>
          <a:xfrm>
            <a:off x="324000" y="2818800"/>
            <a:ext cx="11412000" cy="435600"/>
          </a:xfrm>
          <a:prstGeom prst="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1596" name=""/>
          <p:cNvSpPr txBox="1"/>
          <p:nvPr/>
        </p:nvSpPr>
        <p:spPr>
          <a:xfrm>
            <a:off x="385200" y="2865600"/>
            <a:ext cx="2109600" cy="36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20" spc="-1" strike="noStrike">
                <a:solidFill>
                  <a:srgbClr val="172731"/>
                </a:solidFill>
                <a:latin typeface="Arial"/>
              </a:rPr>
              <a:t>UL overload area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1597" name=""/>
          <p:cNvSpPr txBox="1"/>
          <p:nvPr/>
        </p:nvSpPr>
        <p:spPr>
          <a:xfrm>
            <a:off x="2617200" y="2865600"/>
            <a:ext cx="4593600" cy="36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20" spc="-1" strike="noStrike">
                <a:solidFill>
                  <a:srgbClr val="172731"/>
                </a:solidFill>
                <a:latin typeface="Arial"/>
              </a:rPr>
              <a:t>Σ max(0, load/safe_capacity−1) × seconds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1598" name=""/>
          <p:cNvSpPr txBox="1"/>
          <p:nvPr/>
        </p:nvSpPr>
        <p:spPr>
          <a:xfrm>
            <a:off x="7333200" y="2865600"/>
            <a:ext cx="4341600" cy="36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20" spc="-1" strike="noStrike">
                <a:solidFill>
                  <a:srgbClr val="172731"/>
                </a:solidFill>
                <a:latin typeface="Arial"/>
              </a:rPr>
              <a:t>severity × duration above safe envelope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1599" name=""/>
          <p:cNvSpPr/>
          <p:nvPr/>
        </p:nvSpPr>
        <p:spPr>
          <a:xfrm>
            <a:off x="324000" y="3254400"/>
            <a:ext cx="11412000" cy="435600"/>
          </a:xfrm>
          <a:prstGeom prst="rect">
            <a:avLst/>
          </a:prstGeom>
          <a:solidFill>
            <a:srgbClr val="f8fafb"/>
          </a:solidFill>
          <a:ln w="6480">
            <a:solidFill>
              <a:srgbClr val="cfdce1"/>
            </a:solidFill>
            <a:round/>
          </a:ln>
        </p:spPr>
      </p:sp>
      <p:sp>
        <p:nvSpPr>
          <p:cNvPr id="1600" name=""/>
          <p:cNvSpPr txBox="1"/>
          <p:nvPr/>
        </p:nvSpPr>
        <p:spPr>
          <a:xfrm>
            <a:off x="385200" y="3301200"/>
            <a:ext cx="2109600" cy="36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20" spc="-1" strike="noStrike">
                <a:solidFill>
                  <a:srgbClr val="172731"/>
                </a:solidFill>
                <a:latin typeface="Arial"/>
              </a:rPr>
              <a:t>Overload duration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1601" name=""/>
          <p:cNvSpPr txBox="1"/>
          <p:nvPr/>
        </p:nvSpPr>
        <p:spPr>
          <a:xfrm>
            <a:off x="2617200" y="3301200"/>
            <a:ext cx="4593600" cy="36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20" spc="-1" strike="noStrike">
                <a:solidFill>
                  <a:srgbClr val="172731"/>
                </a:solidFill>
                <a:latin typeface="Arial"/>
              </a:rPr>
              <a:t>seconds with load above safe capacity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1602" name=""/>
          <p:cNvSpPr txBox="1"/>
          <p:nvPr/>
        </p:nvSpPr>
        <p:spPr>
          <a:xfrm>
            <a:off x="7333200" y="3301200"/>
            <a:ext cx="4341600" cy="36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20" spc="-1" strike="noStrike">
                <a:solidFill>
                  <a:srgbClr val="172731"/>
                </a:solidFill>
                <a:latin typeface="Arial"/>
              </a:rPr>
              <a:t>duration only; ignores magnitude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1603" name=""/>
          <p:cNvSpPr/>
          <p:nvPr/>
        </p:nvSpPr>
        <p:spPr>
          <a:xfrm>
            <a:off x="324000" y="3690000"/>
            <a:ext cx="11412000" cy="435600"/>
          </a:xfrm>
          <a:prstGeom prst="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1604" name=""/>
          <p:cNvSpPr txBox="1"/>
          <p:nvPr/>
        </p:nvSpPr>
        <p:spPr>
          <a:xfrm>
            <a:off x="385200" y="3736800"/>
            <a:ext cx="2109600" cy="36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20" spc="-1" strike="noStrike">
                <a:solidFill>
                  <a:srgbClr val="172731"/>
                </a:solidFill>
                <a:latin typeface="Arial"/>
              </a:rPr>
              <a:t>Dropped bytes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1605" name=""/>
          <p:cNvSpPr txBox="1"/>
          <p:nvPr/>
        </p:nvSpPr>
        <p:spPr>
          <a:xfrm>
            <a:off x="2617200" y="3736800"/>
            <a:ext cx="4593600" cy="36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20" spc="-1" strike="noStrike">
                <a:solidFill>
                  <a:srgbClr val="172731"/>
                </a:solidFill>
                <a:latin typeface="Arial"/>
              </a:rPr>
              <a:t>overflow beyond physical capacity and bounded queue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1606" name=""/>
          <p:cNvSpPr txBox="1"/>
          <p:nvPr/>
        </p:nvSpPr>
        <p:spPr>
          <a:xfrm>
            <a:off x="7333200" y="3736800"/>
            <a:ext cx="4341600" cy="36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20" spc="-1" strike="noStrike">
                <a:solidFill>
                  <a:srgbClr val="172731"/>
                </a:solidFill>
                <a:latin typeface="Arial"/>
              </a:rPr>
              <a:t>modeled service loss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1607" name=""/>
          <p:cNvSpPr/>
          <p:nvPr/>
        </p:nvSpPr>
        <p:spPr>
          <a:xfrm>
            <a:off x="324000" y="4125600"/>
            <a:ext cx="11412000" cy="435600"/>
          </a:xfrm>
          <a:prstGeom prst="rect">
            <a:avLst/>
          </a:prstGeom>
          <a:solidFill>
            <a:srgbClr val="f8fafb"/>
          </a:solidFill>
          <a:ln w="6480">
            <a:solidFill>
              <a:srgbClr val="cfdce1"/>
            </a:solidFill>
            <a:round/>
          </a:ln>
        </p:spPr>
      </p:sp>
      <p:sp>
        <p:nvSpPr>
          <p:cNvPr id="1608" name=""/>
          <p:cNvSpPr txBox="1"/>
          <p:nvPr/>
        </p:nvSpPr>
        <p:spPr>
          <a:xfrm>
            <a:off x="385200" y="4172400"/>
            <a:ext cx="2109600" cy="36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20" spc="-1" strike="noStrike">
                <a:solidFill>
                  <a:srgbClr val="172731"/>
                </a:solidFill>
                <a:latin typeface="Arial"/>
              </a:rPr>
              <a:t>Establishment failures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1609" name=""/>
          <p:cNvSpPr txBox="1"/>
          <p:nvPr/>
        </p:nvSpPr>
        <p:spPr>
          <a:xfrm>
            <a:off x="2617200" y="4172400"/>
            <a:ext cx="4593600" cy="36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20" spc="-1" strike="noStrike">
                <a:solidFill>
                  <a:srgbClr val="172731"/>
                </a:solidFill>
                <a:latin typeface="Arial"/>
              </a:rPr>
              <a:t>sessions rejected by capacity or no eligible route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1610" name=""/>
          <p:cNvSpPr txBox="1"/>
          <p:nvPr/>
        </p:nvSpPr>
        <p:spPr>
          <a:xfrm>
            <a:off x="7333200" y="4172400"/>
            <a:ext cx="4341600" cy="36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20" spc="-1" strike="noStrike">
                <a:solidFill>
                  <a:srgbClr val="172731"/>
                </a:solidFill>
                <a:latin typeface="Arial"/>
              </a:rPr>
              <a:t>admission quality guardrail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1611" name=""/>
          <p:cNvSpPr/>
          <p:nvPr/>
        </p:nvSpPr>
        <p:spPr>
          <a:xfrm>
            <a:off x="324000" y="4561200"/>
            <a:ext cx="11412000" cy="435600"/>
          </a:xfrm>
          <a:prstGeom prst="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1612" name=""/>
          <p:cNvSpPr txBox="1"/>
          <p:nvPr/>
        </p:nvSpPr>
        <p:spPr>
          <a:xfrm>
            <a:off x="385200" y="4608000"/>
            <a:ext cx="2109600" cy="36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20" spc="-1" strike="noStrike">
                <a:solidFill>
                  <a:srgbClr val="172731"/>
                </a:solidFill>
                <a:latin typeface="Arial"/>
              </a:rPr>
              <a:t>Mean-pair reduction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1613" name=""/>
          <p:cNvSpPr txBox="1"/>
          <p:nvPr/>
        </p:nvSpPr>
        <p:spPr>
          <a:xfrm>
            <a:off x="2617200" y="4608000"/>
            <a:ext cx="4593600" cy="36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20" spc="-1" strike="noStrike">
                <a:solidFill>
                  <a:srgbClr val="172731"/>
                </a:solidFill>
                <a:latin typeface="Arial"/>
              </a:rPr>
              <a:t>mean of per-seed relative reductions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1614" name=""/>
          <p:cNvSpPr txBox="1"/>
          <p:nvPr/>
        </p:nvSpPr>
        <p:spPr>
          <a:xfrm>
            <a:off x="7333200" y="4608000"/>
            <a:ext cx="4341600" cy="36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20" spc="-1" strike="noStrike">
                <a:solidFill>
                  <a:srgbClr val="172731"/>
                </a:solidFill>
                <a:latin typeface="Arial"/>
              </a:rPr>
              <a:t>equal weight to each paired scenario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1615" name=""/>
          <p:cNvSpPr/>
          <p:nvPr/>
        </p:nvSpPr>
        <p:spPr>
          <a:xfrm>
            <a:off x="324000" y="4996800"/>
            <a:ext cx="11412000" cy="435600"/>
          </a:xfrm>
          <a:prstGeom prst="rect">
            <a:avLst/>
          </a:prstGeom>
          <a:solidFill>
            <a:srgbClr val="f8fafb"/>
          </a:solidFill>
          <a:ln w="6480">
            <a:solidFill>
              <a:srgbClr val="cfdce1"/>
            </a:solidFill>
            <a:round/>
          </a:ln>
        </p:spPr>
      </p:sp>
      <p:sp>
        <p:nvSpPr>
          <p:cNvPr id="1616" name=""/>
          <p:cNvSpPr txBox="1"/>
          <p:nvPr/>
        </p:nvSpPr>
        <p:spPr>
          <a:xfrm>
            <a:off x="385200" y="5043600"/>
            <a:ext cx="2109600" cy="36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20" spc="-1" strike="noStrike">
                <a:solidFill>
                  <a:srgbClr val="172731"/>
                </a:solidFill>
                <a:latin typeface="Arial"/>
              </a:rPr>
              <a:t>Severity-weighted reduction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1617" name=""/>
          <p:cNvSpPr txBox="1"/>
          <p:nvPr/>
        </p:nvSpPr>
        <p:spPr>
          <a:xfrm>
            <a:off x="2617200" y="5043600"/>
            <a:ext cx="4593600" cy="36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20" spc="-1" strike="noStrike">
                <a:solidFill>
                  <a:srgbClr val="172731"/>
                </a:solidFill>
                <a:latin typeface="Arial"/>
              </a:rPr>
              <a:t>reduction in total area across all pairs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1618" name=""/>
          <p:cNvSpPr txBox="1"/>
          <p:nvPr/>
        </p:nvSpPr>
        <p:spPr>
          <a:xfrm>
            <a:off x="7333200" y="5043600"/>
            <a:ext cx="4341600" cy="36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20" spc="-1" strike="noStrike">
                <a:solidFill>
                  <a:srgbClr val="172731"/>
                </a:solidFill>
                <a:latin typeface="Arial"/>
              </a:rPr>
              <a:t>weights heavy overload days more strongly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1619" name=""/>
          <p:cNvSpPr/>
          <p:nvPr/>
        </p:nvSpPr>
        <p:spPr>
          <a:xfrm>
            <a:off x="324000" y="5432400"/>
            <a:ext cx="11412000" cy="435600"/>
          </a:xfrm>
          <a:prstGeom prst="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1620" name=""/>
          <p:cNvSpPr txBox="1"/>
          <p:nvPr/>
        </p:nvSpPr>
        <p:spPr>
          <a:xfrm>
            <a:off x="385200" y="5479200"/>
            <a:ext cx="2109600" cy="36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20" spc="-1" strike="noStrike">
                <a:solidFill>
                  <a:srgbClr val="172731"/>
                </a:solidFill>
                <a:latin typeface="Arial"/>
              </a:rPr>
              <a:t>Total variation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1621" name=""/>
          <p:cNvSpPr txBox="1"/>
          <p:nvPr/>
        </p:nvSpPr>
        <p:spPr>
          <a:xfrm>
            <a:off x="2617200" y="5479200"/>
            <a:ext cx="4593600" cy="36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20" spc="-1" strike="noStrike">
                <a:solidFill>
                  <a:srgbClr val="172731"/>
                </a:solidFill>
                <a:latin typeface="Arial"/>
              </a:rPr>
              <a:t>½ Σ|new weight−old weight|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1622" name=""/>
          <p:cNvSpPr txBox="1"/>
          <p:nvPr/>
        </p:nvSpPr>
        <p:spPr>
          <a:xfrm>
            <a:off x="7333200" y="5479200"/>
            <a:ext cx="4341600" cy="36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20" spc="-1" strike="noStrike">
                <a:solidFill>
                  <a:srgbClr val="172731"/>
                </a:solidFill>
                <a:latin typeface="Arial"/>
              </a:rPr>
              <a:t>policy churn / amount of routing change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1623" name=""/>
          <p:cNvSpPr/>
          <p:nvPr/>
        </p:nvSpPr>
        <p:spPr>
          <a:xfrm>
            <a:off x="324000" y="6084000"/>
            <a:ext cx="11412000" cy="252000"/>
          </a:xfrm>
          <a:prstGeom prst="roundRect">
            <a:avLst/>
          </a:prstGeom>
          <a:solidFill>
            <a:srgbClr val="e1f1f4"/>
          </a:solidFill>
          <a:ln w="0">
            <a:noFill/>
          </a:ln>
        </p:spPr>
      </p:sp>
      <p:sp>
        <p:nvSpPr>
          <p:cNvPr id="1624" name=""/>
          <p:cNvSpPr/>
          <p:nvPr/>
        </p:nvSpPr>
        <p:spPr>
          <a:xfrm>
            <a:off x="324000" y="6084000"/>
            <a:ext cx="64800" cy="252000"/>
          </a:xfrm>
          <a:prstGeom prst="rect">
            <a:avLst/>
          </a:prstGeom>
          <a:solidFill>
            <a:srgbClr val="007c99"/>
          </a:solidFill>
          <a:ln w="0">
            <a:noFill/>
          </a:ln>
        </p:spPr>
      </p:sp>
      <p:sp>
        <p:nvSpPr>
          <p:cNvPr id="1625" name=""/>
          <p:cNvSpPr txBox="1"/>
          <p:nvPr/>
        </p:nvSpPr>
        <p:spPr>
          <a:xfrm>
            <a:off x="576000" y="6134400"/>
            <a:ext cx="10908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90" spc="-1" strike="noStrike">
                <a:solidFill>
                  <a:srgbClr val="172731"/>
                </a:solidFill>
                <a:latin typeface="Arial"/>
              </a:rPr>
              <a:t>The primary supplied-demo metric is directional UL overload area; DL is reported separately and cannot be hidden by a combined average.</a:t>
            </a:r>
            <a:endParaRPr b="0" lang="en-US" sz="790" spc="-1" strike="noStrike">
              <a:latin typeface="Arial"/>
            </a:endParaRPr>
          </a:p>
        </p:txBody>
      </p:sp>
      <p:sp>
        <p:nvSpPr>
          <p:cNvPr id="1626" name=""/>
          <p:cNvSpPr/>
          <p:nvPr/>
        </p:nvSpPr>
        <p:spPr>
          <a:xfrm>
            <a:off x="324000" y="6616800"/>
            <a:ext cx="11088000" cy="0"/>
          </a:xfrm>
          <a:prstGeom prst="line">
            <a:avLst/>
          </a:prstGeom>
          <a:ln w="1080">
            <a:solidFill>
              <a:srgbClr val="cfdc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27" name=""/>
          <p:cNvSpPr txBox="1"/>
          <p:nvPr/>
        </p:nvSpPr>
        <p:spPr>
          <a:xfrm>
            <a:off x="324000" y="6660000"/>
            <a:ext cx="10368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80" spc="-1" strike="noStrike">
                <a:solidFill>
                  <a:srgbClr val="718592"/>
                </a:solidFill>
                <a:latin typeface="Courier New"/>
              </a:rPr>
              <a:t>forecasting/metrics.py · simulator/macro/engine.py::SimulationResult.summary · experiments/evaluate_cohort_mpc_candidate.py</a:t>
            </a:r>
            <a:endParaRPr b="0" lang="en-US" sz="680" spc="-1" strike="noStrike">
              <a:latin typeface="Arial"/>
            </a:endParaRPr>
          </a:p>
        </p:txBody>
      </p:sp>
      <p:sp>
        <p:nvSpPr>
          <p:cNvPr id="1628" name=""/>
          <p:cNvSpPr txBox="1"/>
          <p:nvPr/>
        </p:nvSpPr>
        <p:spPr>
          <a:xfrm>
            <a:off x="11052000" y="6660000"/>
            <a:ext cx="684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buNone/>
            </a:pPr>
            <a:r>
              <a:rPr b="1" lang="en-US" sz="750" spc="-1" strike="noStrike">
                <a:solidFill>
                  <a:srgbClr val="718592"/>
                </a:solidFill>
                <a:latin typeface="Courier New"/>
              </a:rPr>
              <a:t>31</a:t>
            </a:r>
            <a:endParaRPr b="0" lang="en-US" sz="7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9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3f7f8"/>
          </a:solidFill>
          <a:ln w="0">
            <a:noFill/>
          </a:ln>
        </p:spPr>
      </p:sp>
      <p:sp>
        <p:nvSpPr>
          <p:cNvPr id="1630" name=""/>
          <p:cNvSpPr txBox="1"/>
          <p:nvPr/>
        </p:nvSpPr>
        <p:spPr>
          <a:xfrm>
            <a:off x="324000" y="158400"/>
            <a:ext cx="3096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00" spc="508" strike="noStrike">
                <a:solidFill>
                  <a:srgbClr val="007c99"/>
                </a:solidFill>
                <a:latin typeface="Courier New"/>
              </a:rPr>
              <a:t>APPENDIX · TRACEABILITY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631" name=""/>
          <p:cNvSpPr txBox="1"/>
          <p:nvPr/>
        </p:nvSpPr>
        <p:spPr>
          <a:xfrm>
            <a:off x="324000" y="378000"/>
            <a:ext cx="10584000" cy="57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50" spc="-1" strike="noStrike">
                <a:solidFill>
                  <a:srgbClr val="172731"/>
                </a:solidFill>
                <a:latin typeface="Arial"/>
              </a:rPr>
              <a:t>Appendix: source map for implementation and evidence review</a:t>
            </a:r>
            <a:endParaRPr b="0" lang="en-US" sz="2150" spc="-1" strike="noStrike">
              <a:latin typeface="Arial"/>
            </a:endParaRPr>
          </a:p>
        </p:txBody>
      </p:sp>
      <p:sp>
        <p:nvSpPr>
          <p:cNvPr id="1632" name=""/>
          <p:cNvSpPr/>
          <p:nvPr/>
        </p:nvSpPr>
        <p:spPr>
          <a:xfrm>
            <a:off x="10800000" y="180000"/>
            <a:ext cx="936000" cy="19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1633" name=""/>
          <p:cNvSpPr txBox="1"/>
          <p:nvPr/>
        </p:nvSpPr>
        <p:spPr>
          <a:xfrm>
            <a:off x="10818000" y="219600"/>
            <a:ext cx="900000" cy="10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710" spc="-1" strike="noStrike">
                <a:solidFill>
                  <a:srgbClr val="c77b0b"/>
                </a:solidFill>
                <a:latin typeface="Courier New"/>
              </a:rPr>
              <a:t>SYNTHETIC DATA</a:t>
            </a:r>
            <a:endParaRPr b="0" lang="en-US" sz="710" spc="-1" strike="noStrike">
              <a:latin typeface="Arial"/>
            </a:endParaRPr>
          </a:p>
        </p:txBody>
      </p:sp>
      <p:sp>
        <p:nvSpPr>
          <p:cNvPr id="1634" name=""/>
          <p:cNvSpPr/>
          <p:nvPr/>
        </p:nvSpPr>
        <p:spPr>
          <a:xfrm>
            <a:off x="324000" y="1512000"/>
            <a:ext cx="11412000" cy="540000"/>
          </a:xfrm>
          <a:prstGeom prst="rect">
            <a:avLst/>
          </a:prstGeom>
          <a:solidFill>
            <a:srgbClr val="193644"/>
          </a:solidFill>
          <a:ln w="6480">
            <a:solidFill>
              <a:srgbClr val="cfdce1"/>
            </a:solidFill>
            <a:round/>
          </a:ln>
        </p:spPr>
      </p:sp>
      <p:sp>
        <p:nvSpPr>
          <p:cNvPr id="1635" name=""/>
          <p:cNvSpPr txBox="1"/>
          <p:nvPr/>
        </p:nvSpPr>
        <p:spPr>
          <a:xfrm>
            <a:off x="385200" y="1558800"/>
            <a:ext cx="2001600" cy="46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n-US" sz="760" spc="-1" strike="noStrike">
                <a:solidFill>
                  <a:srgbClr val="ffffff"/>
                </a:solidFill>
                <a:latin typeface="Arial"/>
              </a:rPr>
              <a:t>STAGE</a:t>
            </a:r>
            <a:endParaRPr b="0" lang="en-US" sz="760" spc="-1" strike="noStrike">
              <a:latin typeface="Arial"/>
            </a:endParaRPr>
          </a:p>
        </p:txBody>
      </p:sp>
      <p:sp>
        <p:nvSpPr>
          <p:cNvPr id="1636" name=""/>
          <p:cNvSpPr txBox="1"/>
          <p:nvPr/>
        </p:nvSpPr>
        <p:spPr>
          <a:xfrm>
            <a:off x="2509200" y="1558800"/>
            <a:ext cx="4521600" cy="46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n-US" sz="760" spc="-1" strike="noStrike">
                <a:solidFill>
                  <a:srgbClr val="ffffff"/>
                </a:solidFill>
                <a:latin typeface="Arial"/>
              </a:rPr>
              <a:t>PRIMARY IMPLEMENTATION</a:t>
            </a:r>
            <a:endParaRPr b="0" lang="en-US" sz="760" spc="-1" strike="noStrike">
              <a:latin typeface="Arial"/>
            </a:endParaRPr>
          </a:p>
        </p:txBody>
      </p:sp>
      <p:sp>
        <p:nvSpPr>
          <p:cNvPr id="1637" name=""/>
          <p:cNvSpPr txBox="1"/>
          <p:nvPr/>
        </p:nvSpPr>
        <p:spPr>
          <a:xfrm>
            <a:off x="7153200" y="1558800"/>
            <a:ext cx="4521600" cy="46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n-US" sz="760" spc="-1" strike="noStrike">
                <a:solidFill>
                  <a:srgbClr val="ffffff"/>
                </a:solidFill>
                <a:latin typeface="Arial"/>
              </a:rPr>
              <a:t>PRIMARY EVIDENCE / DOCS</a:t>
            </a:r>
            <a:endParaRPr b="0" lang="en-US" sz="760" spc="-1" strike="noStrike">
              <a:latin typeface="Arial"/>
            </a:endParaRPr>
          </a:p>
        </p:txBody>
      </p:sp>
      <p:sp>
        <p:nvSpPr>
          <p:cNvPr id="1638" name=""/>
          <p:cNvSpPr/>
          <p:nvPr/>
        </p:nvSpPr>
        <p:spPr>
          <a:xfrm>
            <a:off x="324000" y="2052000"/>
            <a:ext cx="11412000" cy="540000"/>
          </a:xfrm>
          <a:prstGeom prst="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1639" name=""/>
          <p:cNvSpPr txBox="1"/>
          <p:nvPr/>
        </p:nvSpPr>
        <p:spPr>
          <a:xfrm>
            <a:off x="385200" y="2098800"/>
            <a:ext cx="2001600" cy="46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780" spc="-1" strike="noStrike">
                <a:solidFill>
                  <a:srgbClr val="172731"/>
                </a:solidFill>
                <a:latin typeface="Arial"/>
              </a:rPr>
              <a:t>Scenario generation</a:t>
            </a:r>
            <a:endParaRPr b="0" lang="en-US" sz="780" spc="-1" strike="noStrike">
              <a:latin typeface="Arial"/>
            </a:endParaRPr>
          </a:p>
        </p:txBody>
      </p:sp>
      <p:sp>
        <p:nvSpPr>
          <p:cNvPr id="1640" name=""/>
          <p:cNvSpPr txBox="1"/>
          <p:nvPr/>
        </p:nvSpPr>
        <p:spPr>
          <a:xfrm>
            <a:off x="2509200" y="2098800"/>
            <a:ext cx="4521600" cy="46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780" spc="-1" strike="noStrike">
                <a:solidFill>
                  <a:srgbClr val="172731"/>
                </a:solidFill>
                <a:latin typeface="Arial"/>
              </a:rPr>
              <a:t>experiments/build_extreme_history_manifest.py</a:t>
            </a:r>
            <a:endParaRPr b="0" lang="en-US" sz="780" spc="-1" strike="noStrike">
              <a:latin typeface="Arial"/>
            </a:endParaRPr>
          </a:p>
          <a:p>
            <a:r>
              <a:rPr b="0" lang="en-US" sz="780" spc="-1" strike="noStrike">
                <a:solidFill>
                  <a:srgbClr val="172731"/>
                </a:solidFill>
                <a:latin typeface="Arial"/>
              </a:rPr>
              <a:t>configs/extreme_training_profile.json</a:t>
            </a:r>
            <a:endParaRPr b="0" lang="en-US" sz="780" spc="-1" strike="noStrike">
              <a:latin typeface="Arial"/>
            </a:endParaRPr>
          </a:p>
        </p:txBody>
      </p:sp>
      <p:sp>
        <p:nvSpPr>
          <p:cNvPr id="1641" name=""/>
          <p:cNvSpPr txBox="1"/>
          <p:nvPr/>
        </p:nvSpPr>
        <p:spPr>
          <a:xfrm>
            <a:off x="7153200" y="2098800"/>
            <a:ext cx="4521600" cy="46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780" spc="-1" strike="noStrike">
                <a:solidFill>
                  <a:srgbClr val="172731"/>
                </a:solidFill>
                <a:latin typeface="Arial"/>
              </a:rPr>
              <a:t>docs/extreme-data-spec-and-cdot-gap-analysis.md</a:t>
            </a:r>
            <a:endParaRPr b="0" lang="en-US" sz="780" spc="-1" strike="noStrike">
              <a:latin typeface="Arial"/>
            </a:endParaRPr>
          </a:p>
          <a:p>
            <a:r>
              <a:rPr b="0" lang="en-US" sz="780" spc="-1" strike="noStrike">
                <a:solidFill>
                  <a:srgbClr val="172731"/>
                </a:solidFill>
                <a:latin typeface="Arial"/>
              </a:rPr>
              <a:t>docs/traffic-model-spec.md</a:t>
            </a:r>
            <a:endParaRPr b="0" lang="en-US" sz="780" spc="-1" strike="noStrike">
              <a:latin typeface="Arial"/>
            </a:endParaRPr>
          </a:p>
        </p:txBody>
      </p:sp>
      <p:sp>
        <p:nvSpPr>
          <p:cNvPr id="1642" name=""/>
          <p:cNvSpPr/>
          <p:nvPr/>
        </p:nvSpPr>
        <p:spPr>
          <a:xfrm>
            <a:off x="324000" y="2592000"/>
            <a:ext cx="11412000" cy="540000"/>
          </a:xfrm>
          <a:prstGeom prst="rect">
            <a:avLst/>
          </a:prstGeom>
          <a:solidFill>
            <a:srgbClr val="f8fafb"/>
          </a:solidFill>
          <a:ln w="6480">
            <a:solidFill>
              <a:srgbClr val="cfdce1"/>
            </a:solidFill>
            <a:round/>
          </a:ln>
        </p:spPr>
      </p:sp>
      <p:sp>
        <p:nvSpPr>
          <p:cNvPr id="1643" name=""/>
          <p:cNvSpPr txBox="1"/>
          <p:nvPr/>
        </p:nvSpPr>
        <p:spPr>
          <a:xfrm>
            <a:off x="385200" y="2638800"/>
            <a:ext cx="2001600" cy="46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780" spc="-1" strike="noStrike">
                <a:solidFill>
                  <a:srgbClr val="172731"/>
                </a:solidFill>
                <a:latin typeface="Arial"/>
              </a:rPr>
              <a:t>Simulator</a:t>
            </a:r>
            <a:endParaRPr b="0" lang="en-US" sz="780" spc="-1" strike="noStrike">
              <a:latin typeface="Arial"/>
            </a:endParaRPr>
          </a:p>
        </p:txBody>
      </p:sp>
      <p:sp>
        <p:nvSpPr>
          <p:cNvPr id="1644" name=""/>
          <p:cNvSpPr txBox="1"/>
          <p:nvPr/>
        </p:nvSpPr>
        <p:spPr>
          <a:xfrm>
            <a:off x="2509200" y="2638800"/>
            <a:ext cx="4521600" cy="46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780" spc="-1" strike="noStrike">
                <a:solidFill>
                  <a:srgbClr val="172731"/>
                </a:solidFill>
                <a:latin typeface="Arial"/>
              </a:rPr>
              <a:t>simulator/macro/engine.py</a:t>
            </a:r>
            <a:endParaRPr b="0" lang="en-US" sz="780" spc="-1" strike="noStrike">
              <a:latin typeface="Arial"/>
            </a:endParaRPr>
          </a:p>
          <a:p>
            <a:r>
              <a:rPr b="0" lang="en-US" sz="780" spc="-1" strike="noStrike">
                <a:solidFill>
                  <a:srgbClr val="172731"/>
                </a:solidFill>
                <a:latin typeface="Arial"/>
              </a:rPr>
              <a:t>simulator/macro/config.py · model.py</a:t>
            </a:r>
            <a:endParaRPr b="0" lang="en-US" sz="780" spc="-1" strike="noStrike">
              <a:latin typeface="Arial"/>
            </a:endParaRPr>
          </a:p>
        </p:txBody>
      </p:sp>
      <p:sp>
        <p:nvSpPr>
          <p:cNvPr id="1645" name=""/>
          <p:cNvSpPr txBox="1"/>
          <p:nvPr/>
        </p:nvSpPr>
        <p:spPr>
          <a:xfrm>
            <a:off x="7153200" y="2638800"/>
            <a:ext cx="4521600" cy="46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780" spc="-1" strike="noStrike">
                <a:solidFill>
                  <a:srgbClr val="172731"/>
                </a:solidFill>
                <a:latin typeface="Arial"/>
              </a:rPr>
              <a:t>docs/end-to-end-runbook.md</a:t>
            </a:r>
            <a:endParaRPr b="0" lang="en-US" sz="780" spc="-1" strike="noStrike">
              <a:latin typeface="Arial"/>
            </a:endParaRPr>
          </a:p>
          <a:p>
            <a:r>
              <a:rPr b="0" lang="en-US" sz="780" spc="-1" strike="noStrike">
                <a:solidFill>
                  <a:srgbClr val="172731"/>
                </a:solidFill>
                <a:latin typeface="Arial"/>
              </a:rPr>
              <a:t>docs/system-architecture-decisions.md</a:t>
            </a:r>
            <a:endParaRPr b="0" lang="en-US" sz="780" spc="-1" strike="noStrike">
              <a:latin typeface="Arial"/>
            </a:endParaRPr>
          </a:p>
        </p:txBody>
      </p:sp>
      <p:sp>
        <p:nvSpPr>
          <p:cNvPr id="1646" name=""/>
          <p:cNvSpPr/>
          <p:nvPr/>
        </p:nvSpPr>
        <p:spPr>
          <a:xfrm>
            <a:off x="324000" y="3132000"/>
            <a:ext cx="11412000" cy="540000"/>
          </a:xfrm>
          <a:prstGeom prst="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1647" name=""/>
          <p:cNvSpPr txBox="1"/>
          <p:nvPr/>
        </p:nvSpPr>
        <p:spPr>
          <a:xfrm>
            <a:off x="385200" y="3178800"/>
            <a:ext cx="2001600" cy="46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780" spc="-1" strike="noStrike">
                <a:solidFill>
                  <a:srgbClr val="172731"/>
                </a:solidFill>
                <a:latin typeface="Arial"/>
              </a:rPr>
              <a:t>Forecaster</a:t>
            </a:r>
            <a:endParaRPr b="0" lang="en-US" sz="780" spc="-1" strike="noStrike">
              <a:latin typeface="Arial"/>
            </a:endParaRPr>
          </a:p>
        </p:txBody>
      </p:sp>
      <p:sp>
        <p:nvSpPr>
          <p:cNvPr id="1648" name=""/>
          <p:cNvSpPr txBox="1"/>
          <p:nvPr/>
        </p:nvSpPr>
        <p:spPr>
          <a:xfrm>
            <a:off x="2509200" y="3178800"/>
            <a:ext cx="4521600" cy="46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780" spc="-1" strike="noStrike">
                <a:solidFill>
                  <a:srgbClr val="172731"/>
                </a:solidFill>
                <a:latin typeface="Arial"/>
              </a:rPr>
              <a:t>experiments/train_forecaster.py</a:t>
            </a:r>
            <a:endParaRPr b="0" lang="en-US" sz="780" spc="-1" strike="noStrike">
              <a:latin typeface="Arial"/>
            </a:endParaRPr>
          </a:p>
          <a:p>
            <a:r>
              <a:rPr b="0" lang="en-US" sz="780" spc="-1" strike="noStrike">
                <a:solidFill>
                  <a:srgbClr val="172731"/>
                </a:solidFill>
                <a:latin typeface="Arial"/>
              </a:rPr>
              <a:t>forecasting/bundle.py · baselines.py · metrics.py</a:t>
            </a:r>
            <a:endParaRPr b="0" lang="en-US" sz="780" spc="-1" strike="noStrike">
              <a:latin typeface="Arial"/>
            </a:endParaRPr>
          </a:p>
        </p:txBody>
      </p:sp>
      <p:sp>
        <p:nvSpPr>
          <p:cNvPr id="1649" name=""/>
          <p:cNvSpPr txBox="1"/>
          <p:nvPr/>
        </p:nvSpPr>
        <p:spPr>
          <a:xfrm>
            <a:off x="7153200" y="3178800"/>
            <a:ext cx="4521600" cy="46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780" spc="-1" strike="noStrike">
                <a:solidFill>
                  <a:srgbClr val="172731"/>
                </a:solidFill>
                <a:latin typeface="Arial"/>
              </a:rPr>
              <a:t>docs/extreme-forecaster-v1-results.md</a:t>
            </a:r>
            <a:endParaRPr b="0" lang="en-US" sz="780" spc="-1" strike="noStrike">
              <a:latin typeface="Arial"/>
            </a:endParaRPr>
          </a:p>
        </p:txBody>
      </p:sp>
      <p:sp>
        <p:nvSpPr>
          <p:cNvPr id="1650" name=""/>
          <p:cNvSpPr/>
          <p:nvPr/>
        </p:nvSpPr>
        <p:spPr>
          <a:xfrm>
            <a:off x="324000" y="3672000"/>
            <a:ext cx="11412000" cy="540000"/>
          </a:xfrm>
          <a:prstGeom prst="rect">
            <a:avLst/>
          </a:prstGeom>
          <a:solidFill>
            <a:srgbClr val="f8fafb"/>
          </a:solidFill>
          <a:ln w="6480">
            <a:solidFill>
              <a:srgbClr val="cfdce1"/>
            </a:solidFill>
            <a:round/>
          </a:ln>
        </p:spPr>
      </p:sp>
      <p:sp>
        <p:nvSpPr>
          <p:cNvPr id="1651" name=""/>
          <p:cNvSpPr txBox="1"/>
          <p:nvPr/>
        </p:nvSpPr>
        <p:spPr>
          <a:xfrm>
            <a:off x="385200" y="3718800"/>
            <a:ext cx="2001600" cy="46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780" spc="-1" strike="noStrike">
                <a:solidFill>
                  <a:srgbClr val="172731"/>
                </a:solidFill>
                <a:latin typeface="Arial"/>
              </a:rPr>
              <a:t>One-window LP</a:t>
            </a:r>
            <a:endParaRPr b="0" lang="en-US" sz="780" spc="-1" strike="noStrike">
              <a:latin typeface="Arial"/>
            </a:endParaRPr>
          </a:p>
        </p:txBody>
      </p:sp>
      <p:sp>
        <p:nvSpPr>
          <p:cNvPr id="1652" name=""/>
          <p:cNvSpPr txBox="1"/>
          <p:nvPr/>
        </p:nvSpPr>
        <p:spPr>
          <a:xfrm>
            <a:off x="2509200" y="3718800"/>
            <a:ext cx="4521600" cy="46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780" spc="-1" strike="noStrike">
                <a:solidFill>
                  <a:srgbClr val="172731"/>
                </a:solidFill>
                <a:latin typeface="Arial"/>
              </a:rPr>
              <a:t>optimization/highs.py</a:t>
            </a:r>
            <a:endParaRPr b="0" lang="en-US" sz="780" spc="-1" strike="noStrike">
              <a:latin typeface="Arial"/>
            </a:endParaRPr>
          </a:p>
          <a:p>
            <a:r>
              <a:rPr b="0" lang="en-US" sz="780" spc="-1" strike="noStrike">
                <a:solidFill>
                  <a:srgbClr val="172731"/>
                </a:solidFill>
                <a:latin typeface="Arial"/>
              </a:rPr>
              <a:t>simulator/macro/controllers.py</a:t>
            </a:r>
            <a:endParaRPr b="0" lang="en-US" sz="780" spc="-1" strike="noStrike">
              <a:latin typeface="Arial"/>
            </a:endParaRPr>
          </a:p>
        </p:txBody>
      </p:sp>
      <p:sp>
        <p:nvSpPr>
          <p:cNvPr id="1653" name=""/>
          <p:cNvSpPr txBox="1"/>
          <p:nvPr/>
        </p:nvSpPr>
        <p:spPr>
          <a:xfrm>
            <a:off x="7153200" y="3718800"/>
            <a:ext cx="4521600" cy="46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780" spc="-1" strike="noStrike">
                <a:solidFill>
                  <a:srgbClr val="172731"/>
                </a:solidFill>
                <a:latin typeface="Arial"/>
              </a:rPr>
              <a:t>docs/extreme-optimizer-tuning-results.md</a:t>
            </a:r>
            <a:endParaRPr b="0" lang="en-US" sz="780" spc="-1" strike="noStrike">
              <a:latin typeface="Arial"/>
            </a:endParaRPr>
          </a:p>
          <a:p>
            <a:r>
              <a:rPr b="0" lang="en-US" sz="780" spc="-1" strike="noStrike">
                <a:solidFill>
                  <a:srgbClr val="172731"/>
                </a:solidFill>
                <a:latin typeface="Arial"/>
              </a:rPr>
              <a:t>docs/static-controller-deep-research.md</a:t>
            </a:r>
            <a:endParaRPr b="0" lang="en-US" sz="780" spc="-1" strike="noStrike">
              <a:latin typeface="Arial"/>
            </a:endParaRPr>
          </a:p>
        </p:txBody>
      </p:sp>
      <p:sp>
        <p:nvSpPr>
          <p:cNvPr id="1654" name=""/>
          <p:cNvSpPr/>
          <p:nvPr/>
        </p:nvSpPr>
        <p:spPr>
          <a:xfrm>
            <a:off x="324000" y="4212000"/>
            <a:ext cx="11412000" cy="540000"/>
          </a:xfrm>
          <a:prstGeom prst="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1655" name=""/>
          <p:cNvSpPr txBox="1"/>
          <p:nvPr/>
        </p:nvSpPr>
        <p:spPr>
          <a:xfrm>
            <a:off x="385200" y="4258800"/>
            <a:ext cx="2001600" cy="46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780" spc="-1" strike="noStrike">
                <a:solidFill>
                  <a:srgbClr val="172731"/>
                </a:solidFill>
                <a:latin typeface="Arial"/>
              </a:rPr>
              <a:t>Oracle + cohort MPC</a:t>
            </a:r>
            <a:endParaRPr b="0" lang="en-US" sz="780" spc="-1" strike="noStrike">
              <a:latin typeface="Arial"/>
            </a:endParaRPr>
          </a:p>
        </p:txBody>
      </p:sp>
      <p:sp>
        <p:nvSpPr>
          <p:cNvPr id="1656" name=""/>
          <p:cNvSpPr txBox="1"/>
          <p:nvPr/>
        </p:nvSpPr>
        <p:spPr>
          <a:xfrm>
            <a:off x="2509200" y="4258800"/>
            <a:ext cx="4521600" cy="46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780" spc="-1" strike="noStrike">
                <a:solidFill>
                  <a:srgbClr val="172731"/>
                </a:solidFill>
                <a:latin typeface="Arial"/>
              </a:rPr>
              <a:t>optimization/oracle_bounds.py</a:t>
            </a:r>
            <a:endParaRPr b="0" lang="en-US" sz="780" spc="-1" strike="noStrike">
              <a:latin typeface="Arial"/>
            </a:endParaRPr>
          </a:p>
          <a:p>
            <a:r>
              <a:rPr b="0" lang="en-US" sz="780" spc="-1" strike="noStrike">
                <a:solidFill>
                  <a:srgbClr val="172731"/>
                </a:solidFill>
                <a:latin typeface="Arial"/>
              </a:rPr>
              <a:t>optimization/cohort_mpc.py</a:t>
            </a:r>
            <a:endParaRPr b="0" lang="en-US" sz="780" spc="-1" strike="noStrike">
              <a:latin typeface="Arial"/>
            </a:endParaRPr>
          </a:p>
        </p:txBody>
      </p:sp>
      <p:sp>
        <p:nvSpPr>
          <p:cNvPr id="1657" name=""/>
          <p:cNvSpPr txBox="1"/>
          <p:nvPr/>
        </p:nvSpPr>
        <p:spPr>
          <a:xfrm>
            <a:off x="7153200" y="4258800"/>
            <a:ext cx="4521600" cy="46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780" spc="-1" strike="noStrike">
                <a:solidFill>
                  <a:srgbClr val="172731"/>
                </a:solidFill>
                <a:latin typeface="Arial"/>
              </a:rPr>
              <a:t>docs/extreme-oracle-bound-results.md</a:t>
            </a:r>
            <a:endParaRPr b="0" lang="en-US" sz="780" spc="-1" strike="noStrike">
              <a:latin typeface="Arial"/>
            </a:endParaRPr>
          </a:p>
          <a:p>
            <a:r>
              <a:rPr b="0" lang="en-US" sz="780" spc="-1" strike="noStrike">
                <a:solidFill>
                  <a:srgbClr val="172731"/>
                </a:solidFill>
                <a:latin typeface="Arial"/>
              </a:rPr>
              <a:t>docs/cohort-mpc-full-campaign-results.md</a:t>
            </a:r>
            <a:endParaRPr b="0" lang="en-US" sz="780" spc="-1" strike="noStrike">
              <a:latin typeface="Arial"/>
            </a:endParaRPr>
          </a:p>
        </p:txBody>
      </p:sp>
      <p:sp>
        <p:nvSpPr>
          <p:cNvPr id="1658" name=""/>
          <p:cNvSpPr/>
          <p:nvPr/>
        </p:nvSpPr>
        <p:spPr>
          <a:xfrm>
            <a:off x="324000" y="4752000"/>
            <a:ext cx="11412000" cy="540000"/>
          </a:xfrm>
          <a:prstGeom prst="rect">
            <a:avLst/>
          </a:prstGeom>
          <a:solidFill>
            <a:srgbClr val="f8fafb"/>
          </a:solidFill>
          <a:ln w="6480">
            <a:solidFill>
              <a:srgbClr val="cfdce1"/>
            </a:solidFill>
            <a:round/>
          </a:ln>
        </p:spPr>
      </p:sp>
      <p:sp>
        <p:nvSpPr>
          <p:cNvPr id="1659" name=""/>
          <p:cNvSpPr txBox="1"/>
          <p:nvPr/>
        </p:nvSpPr>
        <p:spPr>
          <a:xfrm>
            <a:off x="385200" y="4798800"/>
            <a:ext cx="2001600" cy="46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780" spc="-1" strike="noStrike">
                <a:solidFill>
                  <a:srgbClr val="172731"/>
                </a:solidFill>
                <a:latin typeface="Arial"/>
              </a:rPr>
              <a:t>Steering</a:t>
            </a:r>
            <a:endParaRPr b="0" lang="en-US" sz="780" spc="-1" strike="noStrike">
              <a:latin typeface="Arial"/>
            </a:endParaRPr>
          </a:p>
        </p:txBody>
      </p:sp>
      <p:sp>
        <p:nvSpPr>
          <p:cNvPr id="1660" name=""/>
          <p:cNvSpPr txBox="1"/>
          <p:nvPr/>
        </p:nvSpPr>
        <p:spPr>
          <a:xfrm>
            <a:off x="2509200" y="4798800"/>
            <a:ext cx="4521600" cy="46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780" spc="-1" strike="noStrike">
                <a:solidFill>
                  <a:srgbClr val="172731"/>
                </a:solidFill>
                <a:latin typeface="Arial"/>
              </a:rPr>
              <a:t>steering/hashing.py · policy.py · gate.py</a:t>
            </a:r>
            <a:endParaRPr b="0" lang="en-US" sz="780" spc="-1" strike="noStrike">
              <a:latin typeface="Arial"/>
            </a:endParaRPr>
          </a:p>
        </p:txBody>
      </p:sp>
      <p:sp>
        <p:nvSpPr>
          <p:cNvPr id="1661" name=""/>
          <p:cNvSpPr txBox="1"/>
          <p:nvPr/>
        </p:nvSpPr>
        <p:spPr>
          <a:xfrm>
            <a:off x="7153200" y="4798800"/>
            <a:ext cx="4521600" cy="46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780" spc="-1" strike="noStrike">
                <a:solidFill>
                  <a:srgbClr val="172731"/>
                </a:solidFill>
                <a:latin typeface="Arial"/>
              </a:rPr>
              <a:t>docs/cdot-session-migration-decision.md</a:t>
            </a:r>
            <a:endParaRPr b="0" lang="en-US" sz="780" spc="-1" strike="noStrike">
              <a:latin typeface="Arial"/>
            </a:endParaRPr>
          </a:p>
        </p:txBody>
      </p:sp>
      <p:sp>
        <p:nvSpPr>
          <p:cNvPr id="1662" name=""/>
          <p:cNvSpPr/>
          <p:nvPr/>
        </p:nvSpPr>
        <p:spPr>
          <a:xfrm>
            <a:off x="324000" y="5292000"/>
            <a:ext cx="11412000" cy="540000"/>
          </a:xfrm>
          <a:prstGeom prst="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1663" name=""/>
          <p:cNvSpPr txBox="1"/>
          <p:nvPr/>
        </p:nvSpPr>
        <p:spPr>
          <a:xfrm>
            <a:off x="385200" y="5338800"/>
            <a:ext cx="2001600" cy="46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780" spc="-1" strike="noStrike">
                <a:solidFill>
                  <a:srgbClr val="172731"/>
                </a:solidFill>
                <a:latin typeface="Arial"/>
              </a:rPr>
              <a:t>Working demo</a:t>
            </a:r>
            <a:endParaRPr b="0" lang="en-US" sz="780" spc="-1" strike="noStrike">
              <a:latin typeface="Arial"/>
            </a:endParaRPr>
          </a:p>
        </p:txBody>
      </p:sp>
      <p:sp>
        <p:nvSpPr>
          <p:cNvPr id="1664" name=""/>
          <p:cNvSpPr txBox="1"/>
          <p:nvPr/>
        </p:nvSpPr>
        <p:spPr>
          <a:xfrm>
            <a:off x="2509200" y="5338800"/>
            <a:ext cx="4521600" cy="46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780" spc="-1" strike="noStrike">
                <a:solidFill>
                  <a:srgbClr val="172731"/>
                </a:solidFill>
                <a:latin typeface="Arial"/>
              </a:rPr>
              <a:t>demo_api/main.py · runtime.py · story.py</a:t>
            </a:r>
            <a:endParaRPr b="0" lang="en-US" sz="780" spc="-1" strike="noStrike">
              <a:latin typeface="Arial"/>
            </a:endParaRPr>
          </a:p>
          <a:p>
            <a:r>
              <a:rPr b="0" lang="en-US" sz="780" spc="-1" strike="noStrike">
                <a:solidFill>
                  <a:srgbClr val="172731"/>
                </a:solidFill>
                <a:latin typeface="Arial"/>
              </a:rPr>
              <a:t>frontend/src/App.tsx · views.tsx</a:t>
            </a:r>
            <a:endParaRPr b="0" lang="en-US" sz="780" spc="-1" strike="noStrike">
              <a:latin typeface="Arial"/>
            </a:endParaRPr>
          </a:p>
        </p:txBody>
      </p:sp>
      <p:sp>
        <p:nvSpPr>
          <p:cNvPr id="1665" name=""/>
          <p:cNvSpPr txBox="1"/>
          <p:nvPr/>
        </p:nvSpPr>
        <p:spPr>
          <a:xfrm>
            <a:off x="7153200" y="5338800"/>
            <a:ext cx="4521600" cy="46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780" spc="-1" strike="noStrike">
                <a:solidFill>
                  <a:srgbClr val="172731"/>
                </a:solidFill>
                <a:latin typeface="Arial"/>
              </a:rPr>
              <a:t>docs/presenter-guide.md</a:t>
            </a:r>
            <a:endParaRPr b="0" lang="en-US" sz="780" spc="-1" strike="noStrike">
              <a:latin typeface="Arial"/>
            </a:endParaRPr>
          </a:p>
          <a:p>
            <a:r>
              <a:rPr b="0" lang="en-US" sz="780" spc="-1" strike="noStrike">
                <a:solidFill>
                  <a:srgbClr val="172731"/>
                </a:solidFill>
                <a:latin typeface="Arial"/>
              </a:rPr>
              <a:t>frontend/tests/demo.spec.ts-snapshots/</a:t>
            </a:r>
            <a:endParaRPr b="0" lang="en-US" sz="780" spc="-1" strike="noStrike">
              <a:latin typeface="Arial"/>
            </a:endParaRPr>
          </a:p>
        </p:txBody>
      </p:sp>
      <p:sp>
        <p:nvSpPr>
          <p:cNvPr id="1666" name=""/>
          <p:cNvSpPr/>
          <p:nvPr/>
        </p:nvSpPr>
        <p:spPr>
          <a:xfrm>
            <a:off x="324000" y="5976000"/>
            <a:ext cx="11412000" cy="360000"/>
          </a:xfrm>
          <a:prstGeom prst="roundRect">
            <a:avLst/>
          </a:prstGeom>
          <a:solidFill>
            <a:srgbClr val="193644"/>
          </a:solidFill>
          <a:ln w="0">
            <a:noFill/>
          </a:ln>
        </p:spPr>
      </p:sp>
      <p:sp>
        <p:nvSpPr>
          <p:cNvPr id="1667" name=""/>
          <p:cNvSpPr/>
          <p:nvPr/>
        </p:nvSpPr>
        <p:spPr>
          <a:xfrm>
            <a:off x="324000" y="5976000"/>
            <a:ext cx="64800" cy="360000"/>
          </a:xfrm>
          <a:prstGeom prst="rect">
            <a:avLst/>
          </a:prstGeom>
          <a:solidFill>
            <a:srgbClr val="007c99"/>
          </a:solidFill>
          <a:ln w="0">
            <a:noFill/>
          </a:ln>
        </p:spPr>
      </p:sp>
      <p:sp>
        <p:nvSpPr>
          <p:cNvPr id="1668" name=""/>
          <p:cNvSpPr txBox="1"/>
          <p:nvPr/>
        </p:nvSpPr>
        <p:spPr>
          <a:xfrm>
            <a:off x="576000" y="6066000"/>
            <a:ext cx="10908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820" spc="-1" strike="noStrike">
                <a:solidFill>
                  <a:srgbClr val="ffffff"/>
                </a:solidFill>
                <a:latin typeface="Courier New"/>
              </a:rPr>
              <a:t>Frozen campaign evidence: demo_api/data/cohort_mpc_full_campaign_evidence_v1.json · source SHA-256 bd1d3727…b662c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1669" name=""/>
          <p:cNvSpPr/>
          <p:nvPr/>
        </p:nvSpPr>
        <p:spPr>
          <a:xfrm>
            <a:off x="324000" y="6616800"/>
            <a:ext cx="11088000" cy="0"/>
          </a:xfrm>
          <a:prstGeom prst="line">
            <a:avLst/>
          </a:prstGeom>
          <a:ln w="1080">
            <a:solidFill>
              <a:srgbClr val="cfdc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70" name=""/>
          <p:cNvSpPr txBox="1"/>
          <p:nvPr/>
        </p:nvSpPr>
        <p:spPr>
          <a:xfrm>
            <a:off x="324000" y="6660000"/>
            <a:ext cx="10368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80" spc="-1" strike="noStrike">
                <a:solidFill>
                  <a:srgbClr val="718592"/>
                </a:solidFill>
                <a:latin typeface="Courier New"/>
              </a:rPr>
              <a:t>Repository: /home/prarabdha/work/5g-simulation · deck generated from current workspace state</a:t>
            </a:r>
            <a:endParaRPr b="0" lang="en-US" sz="680" spc="-1" strike="noStrike">
              <a:latin typeface="Arial"/>
            </a:endParaRPr>
          </a:p>
        </p:txBody>
      </p:sp>
      <p:sp>
        <p:nvSpPr>
          <p:cNvPr id="1671" name=""/>
          <p:cNvSpPr txBox="1"/>
          <p:nvPr/>
        </p:nvSpPr>
        <p:spPr>
          <a:xfrm>
            <a:off x="11052000" y="6660000"/>
            <a:ext cx="684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buNone/>
            </a:pPr>
            <a:r>
              <a:rPr b="1" lang="en-US" sz="750" spc="-1" strike="noStrike">
                <a:solidFill>
                  <a:srgbClr val="718592"/>
                </a:solidFill>
                <a:latin typeface="Courier New"/>
              </a:rPr>
              <a:t>32</a:t>
            </a:r>
            <a:endParaRPr b="0" lang="en-US" sz="7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2026-08-09T16:12:36Z</dcterms:created>
  <dc:creator/>
  <dc:description/>
  <dc:language>en-US</dc:language>
  <cp:lastModifiedBy/>
  <dcterms:modified xsi:type="dcterms:W3CDTF">2026-08-09T16:12:38Z</dcterms:modified>
  <cp:revision>1</cp:revision>
  <dc:subject/>
  <dc:title/>
</cp:coreProperties>
</file>