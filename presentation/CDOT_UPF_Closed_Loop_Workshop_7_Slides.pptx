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FBBF07-79ED-4C50-9D2D-C45EC61C89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D8BAD5-0A95-4960-A90C-FFDF86B78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A7C894-C719-40F4-8EFC-DBE8B6DA02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D72846-6F1A-41BA-84B2-DC06C2E6F3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1631B-0D01-42F0-AB96-D91663D729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8BA398-F5B3-4FB1-9C13-BF69166F83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14FA21-A92B-4908-B837-4BA9DE0F1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54BC5-A70E-4B40-B23A-F87F1C523C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68BD4-9AB7-405E-8570-804D0B0BC7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2A955F-34F6-4932-BC73-30ECFD9A20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571486-6EBD-40AE-999C-EB70DF1371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B5087-95EF-49FE-9F91-2E41F8E6CC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D41590C-B954-427A-B663-6AB8BA3745C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44" name=""/>
          <p:cNvSpPr txBox="1"/>
          <p:nvPr/>
        </p:nvSpPr>
        <p:spPr>
          <a:xfrm>
            <a:off x="360000" y="324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77c6d4"/>
                </a:solidFill>
                <a:latin typeface="Courier New"/>
              </a:rPr>
              <a:t>C-DOT · UPF CONTROL-ROOM LAB · 28TH 11:30–13:00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60000" y="1260000"/>
            <a:ext cx="5976000" cy="9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You are the</a:t>
            </a:r>
            <a:endParaRPr b="0" lang="en-US" sz="3000" spc="-1" strike="noStrike">
              <a:latin typeface="Arial"/>
            </a:endParaRPr>
          </a:p>
          <a:p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network controller.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0000" y="2592000"/>
            <a:ext cx="576000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c7d8de"/>
                </a:solidFill>
                <a:latin typeface="Arial"/>
              </a:rPr>
              <a:t>A stadium surge is approaching. Choose before you see the result.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848000" y="1764000"/>
            <a:ext cx="1116000" cy="11160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48" name=""/>
          <p:cNvSpPr txBox="1"/>
          <p:nvPr/>
        </p:nvSpPr>
        <p:spPr>
          <a:xfrm>
            <a:off x="7848000" y="2016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0222e"/>
                </a:solidFill>
                <a:latin typeface="Arial"/>
              </a:rPr>
              <a:t>UPF-A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632000" y="2952000"/>
            <a:ext cx="15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30" spc="-1" strike="noStrike">
                <a:solidFill>
                  <a:srgbClr val="c3d5db"/>
                </a:solidFill>
                <a:latin typeface="Courier New"/>
              </a:rPr>
              <a:t>UL headroom 42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648000" y="3312000"/>
            <a:ext cx="1116000" cy="1116000"/>
          </a:xfrm>
          <a:prstGeom prst="ellipse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51" name=""/>
          <p:cNvSpPr txBox="1"/>
          <p:nvPr/>
        </p:nvSpPr>
        <p:spPr>
          <a:xfrm>
            <a:off x="9648000" y="356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0222e"/>
                </a:solidFill>
                <a:latin typeface="Arial"/>
              </a:rPr>
              <a:t>UPF-B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432000" y="4500000"/>
            <a:ext cx="15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30" spc="-1" strike="noStrike">
                <a:solidFill>
                  <a:srgbClr val="c3d5db"/>
                </a:solidFill>
                <a:latin typeface="Courier New"/>
              </a:rPr>
              <a:t>UL headroom 96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776000" y="3672000"/>
            <a:ext cx="1116000" cy="1116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54" name=""/>
          <p:cNvSpPr txBox="1"/>
          <p:nvPr/>
        </p:nvSpPr>
        <p:spPr>
          <a:xfrm>
            <a:off x="7776000" y="3924000"/>
            <a:ext cx="111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0222e"/>
                </a:solidFill>
                <a:latin typeface="Arial"/>
              </a:rPr>
              <a:t>UPF-C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560000" y="4860000"/>
            <a:ext cx="15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730" spc="-1" strike="noStrike">
                <a:solidFill>
                  <a:srgbClr val="c3d5db"/>
                </a:solidFill>
                <a:latin typeface="Courier New"/>
              </a:rPr>
              <a:t>UL headroom 131</a:t>
            </a:r>
            <a:endParaRPr b="0" lang="en-US" sz="73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 flipV="1">
            <a:off x="6336000" y="2304000"/>
            <a:ext cx="1404000" cy="1440000"/>
          </a:xfrm>
          <a:prstGeom prst="line">
            <a:avLst/>
          </a:prstGeom>
          <a:ln w="79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"/>
          <p:cNvSpPr/>
          <p:nvPr/>
        </p:nvSpPr>
        <p:spPr>
          <a:xfrm>
            <a:off x="6336000" y="3744000"/>
            <a:ext cx="3240000" cy="108000"/>
          </a:xfrm>
          <a:prstGeom prst="line">
            <a:avLst/>
          </a:prstGeom>
          <a:ln w="79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"/>
          <p:cNvSpPr/>
          <p:nvPr/>
        </p:nvSpPr>
        <p:spPr>
          <a:xfrm>
            <a:off x="6336000" y="3744000"/>
            <a:ext cx="1980000" cy="468000"/>
          </a:xfrm>
          <a:prstGeom prst="line">
            <a:avLst/>
          </a:prstGeom>
          <a:ln w="792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"/>
          <p:cNvSpPr txBox="1"/>
          <p:nvPr/>
        </p:nvSpPr>
        <p:spPr>
          <a:xfrm>
            <a:off x="5256000" y="3456000"/>
            <a:ext cx="126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6750a4"/>
                </a:solidFill>
                <a:latin typeface="Courier New"/>
              </a:rPr>
              <a:t>STADIUM</a:t>
            </a:r>
            <a:endParaRPr b="0" lang="en-US" sz="800" spc="-1" strike="noStrike">
              <a:latin typeface="Arial"/>
            </a:endParaRPr>
          </a:p>
          <a:p>
            <a:pPr algn="ctr">
              <a:buNone/>
            </a:pPr>
            <a:r>
              <a:rPr b="1" lang="en-US" sz="800" spc="-1" strike="noStrike">
                <a:solidFill>
                  <a:srgbClr val="6750a4"/>
                </a:solidFill>
                <a:latin typeface="Courier New"/>
              </a:rPr>
              <a:t>SURGE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60000" y="5004000"/>
            <a:ext cx="3456000" cy="86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b5965"/>
            </a:solidFill>
            <a:round/>
          </a:ln>
        </p:spPr>
      </p:sp>
      <p:sp>
        <p:nvSpPr>
          <p:cNvPr id="61" name=""/>
          <p:cNvSpPr/>
          <p:nvPr/>
        </p:nvSpPr>
        <p:spPr>
          <a:xfrm>
            <a:off x="360000" y="5004000"/>
            <a:ext cx="64800" cy="86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62" name=""/>
          <p:cNvSpPr txBox="1"/>
          <p:nvPr/>
        </p:nvSpPr>
        <p:spPr>
          <a:xfrm>
            <a:off x="576000" y="5220000"/>
            <a:ext cx="43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007c99"/>
                </a:solidFill>
                <a:latin typeface="Courier New"/>
              </a:rPr>
              <a:t>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16000" y="5220000"/>
            <a:ext cx="2484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Keep static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104000" y="5004000"/>
            <a:ext cx="3456000" cy="86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b5965"/>
            </a:solidFill>
            <a:round/>
          </a:ln>
        </p:spPr>
      </p:sp>
      <p:sp>
        <p:nvSpPr>
          <p:cNvPr id="65" name=""/>
          <p:cNvSpPr/>
          <p:nvPr/>
        </p:nvSpPr>
        <p:spPr>
          <a:xfrm>
            <a:off x="4104000" y="5004000"/>
            <a:ext cx="64800" cy="86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66" name=""/>
          <p:cNvSpPr txBox="1"/>
          <p:nvPr/>
        </p:nvSpPr>
        <p:spPr>
          <a:xfrm>
            <a:off x="4320000" y="5220000"/>
            <a:ext cx="43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c77b0b"/>
                </a:solidFill>
                <a:latin typeface="Courier New"/>
              </a:rPr>
              <a:t>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860000" y="5220000"/>
            <a:ext cx="2484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React after overload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848000" y="5004000"/>
            <a:ext cx="3456000" cy="864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b5965"/>
            </a:solidFill>
            <a:round/>
          </a:ln>
        </p:spPr>
      </p:sp>
      <p:sp>
        <p:nvSpPr>
          <p:cNvPr id="69" name=""/>
          <p:cNvSpPr/>
          <p:nvPr/>
        </p:nvSpPr>
        <p:spPr>
          <a:xfrm>
            <a:off x="7848000" y="5004000"/>
            <a:ext cx="64800" cy="86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70" name=""/>
          <p:cNvSpPr txBox="1"/>
          <p:nvPr/>
        </p:nvSpPr>
        <p:spPr>
          <a:xfrm>
            <a:off x="8064000" y="5220000"/>
            <a:ext cx="43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6750a4"/>
                </a:solidFill>
                <a:latin typeface="Courier New"/>
              </a:rPr>
              <a:t>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604000" y="5220000"/>
            <a:ext cx="2484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fffff"/>
                </a:solidFill>
                <a:latin typeface="Arial"/>
              </a:rPr>
              <a:t>Steer predictively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60000" y="6156000"/>
            <a:ext cx="108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77c6d4"/>
                </a:solidFill>
                <a:latin typeface="Arial"/>
              </a:rPr>
              <a:t>Vote now. We reveal the matched result at minute 72.</a:t>
            </a:r>
            <a:endParaRPr b="0" lang="en-US" sz="939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Synthetic, deterministic simulation · no live C-DOT actuation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01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7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WORKSHOP CONTROL LOOP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One causal loop—from observed pressure to later evidence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007c99"/>
                </a:solidFill>
                <a:latin typeface="Courier New"/>
              </a:rPr>
              <a:t>02 · SYSTEM STORY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240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83" name=""/>
          <p:cNvSpPr/>
          <p:nvPr/>
        </p:nvSpPr>
        <p:spPr>
          <a:xfrm>
            <a:off x="324000" y="2052000"/>
            <a:ext cx="64800" cy="140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5040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07c99"/>
                </a:solidFill>
                <a:latin typeface="Courier New"/>
              </a:rPr>
              <a:t>01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040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TRAFFIC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040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event + offered demand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980000" y="273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"/>
          <p:cNvSpPr txBox="1"/>
          <p:nvPr/>
        </p:nvSpPr>
        <p:spPr>
          <a:xfrm>
            <a:off x="2080800" y="260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2248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0" name=""/>
          <p:cNvSpPr/>
          <p:nvPr/>
        </p:nvSpPr>
        <p:spPr>
          <a:xfrm>
            <a:off x="2224800" y="2052000"/>
            <a:ext cx="64800" cy="1404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91" name=""/>
          <p:cNvSpPr txBox="1"/>
          <p:nvPr/>
        </p:nvSpPr>
        <p:spPr>
          <a:xfrm>
            <a:off x="24048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2f91a6"/>
                </a:solidFill>
                <a:latin typeface="Courier New"/>
              </a:rPr>
              <a:t>02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4048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SIMULATE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4048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carried · overload · loss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80800" y="273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"/>
          <p:cNvSpPr txBox="1"/>
          <p:nvPr/>
        </p:nvSpPr>
        <p:spPr>
          <a:xfrm>
            <a:off x="3981600" y="260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1256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97" name=""/>
          <p:cNvSpPr/>
          <p:nvPr/>
        </p:nvSpPr>
        <p:spPr>
          <a:xfrm>
            <a:off x="4125600" y="2052000"/>
            <a:ext cx="64800" cy="140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98" name=""/>
          <p:cNvSpPr txBox="1"/>
          <p:nvPr/>
        </p:nvSpPr>
        <p:spPr>
          <a:xfrm>
            <a:off x="43056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6750a4"/>
                </a:solidFill>
                <a:latin typeface="Courier New"/>
              </a:rPr>
              <a:t>03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3056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FORECAST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3056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closed history · p50/p90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781600" y="273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 txBox="1"/>
          <p:nvPr/>
        </p:nvSpPr>
        <p:spPr>
          <a:xfrm>
            <a:off x="5882400" y="260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0264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04" name=""/>
          <p:cNvSpPr/>
          <p:nvPr/>
        </p:nvSpPr>
        <p:spPr>
          <a:xfrm>
            <a:off x="6026400" y="2052000"/>
            <a:ext cx="64800" cy="140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05" name=""/>
          <p:cNvSpPr txBox="1"/>
          <p:nvPr/>
        </p:nvSpPr>
        <p:spPr>
          <a:xfrm>
            <a:off x="62064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77b0b"/>
                </a:solidFill>
                <a:latin typeface="Courier New"/>
              </a:rPr>
              <a:t>04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2064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CERTIFY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2064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eligibility · capacity · gate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682400" y="273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 txBox="1"/>
          <p:nvPr/>
        </p:nvSpPr>
        <p:spPr>
          <a:xfrm>
            <a:off x="7783200" y="260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9272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1" name=""/>
          <p:cNvSpPr/>
          <p:nvPr/>
        </p:nvSpPr>
        <p:spPr>
          <a:xfrm>
            <a:off x="7927200" y="2052000"/>
            <a:ext cx="64800" cy="140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112" name=""/>
          <p:cNvSpPr txBox="1"/>
          <p:nvPr/>
        </p:nvSpPr>
        <p:spPr>
          <a:xfrm>
            <a:off x="81072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6805f"/>
                </a:solidFill>
                <a:latin typeface="Courier New"/>
              </a:rPr>
              <a:t>05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1072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STEER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1072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future sessions only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9583200" y="2736000"/>
            <a:ext cx="1584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 txBox="1"/>
          <p:nvPr/>
        </p:nvSpPr>
        <p:spPr>
          <a:xfrm>
            <a:off x="9684000" y="2607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9828000" y="2052000"/>
            <a:ext cx="1656000" cy="140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18" name=""/>
          <p:cNvSpPr/>
          <p:nvPr/>
        </p:nvSpPr>
        <p:spPr>
          <a:xfrm>
            <a:off x="9828000" y="2052000"/>
            <a:ext cx="64800" cy="140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119" name=""/>
          <p:cNvSpPr txBox="1"/>
          <p:nvPr/>
        </p:nvSpPr>
        <p:spPr>
          <a:xfrm>
            <a:off x="10008000" y="230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d443b"/>
                </a:solidFill>
                <a:latin typeface="Courier New"/>
              </a:rPr>
              <a:t>06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0008000" y="2700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172731"/>
                </a:solidFill>
                <a:latin typeface="Arial"/>
              </a:rPr>
              <a:t>MEASURE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0008000" y="3024000"/>
            <a:ext cx="12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80" spc="-1" strike="noStrike">
                <a:solidFill>
                  <a:srgbClr val="526875"/>
                </a:solidFill>
                <a:latin typeface="Arial"/>
              </a:rPr>
              <a:t>later telemetry + evidence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152000" y="3744000"/>
            <a:ext cx="9828000" cy="0"/>
          </a:xfrm>
          <a:prstGeom prst="line">
            <a:avLst/>
          </a:prstGeom>
          <a:ln w="46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 txBox="1"/>
          <p:nvPr/>
        </p:nvSpPr>
        <p:spPr>
          <a:xfrm>
            <a:off x="1008000" y="363600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007c99"/>
                </a:solidFill>
                <a:latin typeface="Arial"/>
              </a:rPr>
              <a:t>‹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492000" y="3888000"/>
            <a:ext cx="525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realized outcome becomes closed history for the next decision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24000" y="4752000"/>
            <a:ext cx="5436000" cy="1224000"/>
          </a:xfrm>
          <a:prstGeom prst="roundRect">
            <a:avLst/>
          </a:prstGeom>
          <a:solidFill>
            <a:srgbClr val="e1f1f4"/>
          </a:solidFill>
          <a:ln w="0">
            <a:noFill/>
          </a:ln>
        </p:spPr>
      </p:sp>
      <p:sp>
        <p:nvSpPr>
          <p:cNvPr id="126" name=""/>
          <p:cNvSpPr/>
          <p:nvPr/>
        </p:nvSpPr>
        <p:spPr>
          <a:xfrm>
            <a:off x="324000" y="4752000"/>
            <a:ext cx="64800" cy="122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27" name=""/>
          <p:cNvSpPr txBox="1"/>
          <p:nvPr/>
        </p:nvSpPr>
        <p:spPr>
          <a:xfrm>
            <a:off x="576000" y="5004000"/>
            <a:ext cx="49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Participant workspace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76000" y="5400000"/>
            <a:ext cx="4932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Produces a WorkshopDecision record. It has no presenter credentials and cannot publish policy.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084000" y="4752000"/>
            <a:ext cx="5652000" cy="1224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130" name=""/>
          <p:cNvSpPr/>
          <p:nvPr/>
        </p:nvSpPr>
        <p:spPr>
          <a:xfrm>
            <a:off x="6084000" y="4752000"/>
            <a:ext cx="64800" cy="122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31" name=""/>
          <p:cNvSpPr txBox="1"/>
          <p:nvPr/>
        </p:nvSpPr>
        <p:spPr>
          <a:xfrm>
            <a:off x="6336000" y="5004000"/>
            <a:ext cx="514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172731"/>
                </a:solidFill>
                <a:latin typeface="Arial"/>
              </a:rPr>
              <a:t>Authoritative presenter runtime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336000" y="5400000"/>
            <a:ext cx="5148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70" spc="-1" strike="noStrike">
                <a:solidFill>
                  <a:srgbClr val="172731"/>
                </a:solidFill>
                <a:latin typeface="Arial"/>
              </a:rPr>
              <a:t>Translates one team recommendation into controlled dashboard inputs and records the causal run.</a:t>
            </a:r>
            <a:endParaRPr b="0" lang="en-US" sz="87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workshop/CDOT_UPF_Closed_Loop_Lab.ipynb · demo_api/runtime.py · steering/policy.py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02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37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TRAFFIC SEMANTICS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Demand is what arrived—not only what the network managed to carry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40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007c99"/>
                </a:solidFill>
                <a:latin typeface="Courier New"/>
              </a:rPr>
              <a:t>03 · TRAFFIC → SIMULATE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20000" y="1944000"/>
            <a:ext cx="6840000" cy="0"/>
          </a:xfrm>
          <a:prstGeom prst="line">
            <a:avLst/>
          </a:prstGeom>
          <a:ln w="108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720000" y="2610000"/>
            <a:ext cx="6840000" cy="0"/>
          </a:xfrm>
          <a:prstGeom prst="line">
            <a:avLst/>
          </a:prstGeom>
          <a:ln w="108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720000" y="3276000"/>
            <a:ext cx="6840000" cy="0"/>
          </a:xfrm>
          <a:prstGeom prst="line">
            <a:avLst/>
          </a:prstGeom>
          <a:ln w="108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720000" y="3942000"/>
            <a:ext cx="6840000" cy="0"/>
          </a:xfrm>
          <a:prstGeom prst="line">
            <a:avLst/>
          </a:prstGeom>
          <a:ln w="108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720000" y="4608000"/>
            <a:ext cx="6840000" cy="0"/>
          </a:xfrm>
          <a:prstGeom prst="line">
            <a:avLst/>
          </a:prstGeom>
          <a:ln w="1080">
            <a:solidFill>
              <a:srgbClr val="dce6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"/>
          <p:cNvSpPr/>
          <p:nvPr/>
        </p:nvSpPr>
        <p:spPr>
          <a:xfrm flipV="1">
            <a:off x="720000" y="3744000"/>
            <a:ext cx="1008000" cy="144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"/>
          <p:cNvSpPr/>
          <p:nvPr/>
        </p:nvSpPr>
        <p:spPr>
          <a:xfrm flipV="1">
            <a:off x="1728000" y="3636000"/>
            <a:ext cx="1008000" cy="108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"/>
          <p:cNvSpPr/>
          <p:nvPr/>
        </p:nvSpPr>
        <p:spPr>
          <a:xfrm flipV="1">
            <a:off x="2736000" y="3276000"/>
            <a:ext cx="1008000" cy="360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 flipV="1">
            <a:off x="3744000" y="1728000"/>
            <a:ext cx="1008000" cy="1548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 flipV="1">
            <a:off x="4752000" y="1512000"/>
            <a:ext cx="1008000" cy="216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5760000" y="1512000"/>
            <a:ext cx="1008000" cy="288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6768000" y="1800000"/>
            <a:ext cx="792000" cy="1692000"/>
          </a:xfrm>
          <a:prstGeom prst="line">
            <a:avLst/>
          </a:prstGeom>
          <a:ln w="64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"/>
          <p:cNvSpPr/>
          <p:nvPr/>
        </p:nvSpPr>
        <p:spPr>
          <a:xfrm flipV="1">
            <a:off x="720000" y="3744000"/>
            <a:ext cx="1008000" cy="14400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"/>
          <p:cNvSpPr/>
          <p:nvPr/>
        </p:nvSpPr>
        <p:spPr>
          <a:xfrm flipV="1">
            <a:off x="1728000" y="3636000"/>
            <a:ext cx="1008000" cy="10800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"/>
          <p:cNvSpPr/>
          <p:nvPr/>
        </p:nvSpPr>
        <p:spPr>
          <a:xfrm flipV="1">
            <a:off x="2736000" y="3276000"/>
            <a:ext cx="1008000" cy="36000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"/>
          <p:cNvSpPr/>
          <p:nvPr/>
        </p:nvSpPr>
        <p:spPr>
          <a:xfrm flipV="1">
            <a:off x="3744000" y="2628000"/>
            <a:ext cx="1008000" cy="64800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"/>
          <p:cNvSpPr/>
          <p:nvPr/>
        </p:nvSpPr>
        <p:spPr>
          <a:xfrm>
            <a:off x="4752000" y="2628000"/>
            <a:ext cx="1008000" cy="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5760000" y="2628000"/>
            <a:ext cx="1008000" cy="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"/>
          <p:cNvSpPr/>
          <p:nvPr/>
        </p:nvSpPr>
        <p:spPr>
          <a:xfrm>
            <a:off x="6768000" y="2628000"/>
            <a:ext cx="792000" cy="864000"/>
          </a:xfrm>
          <a:prstGeom prst="line">
            <a:avLst/>
          </a:prstGeom>
          <a:ln w="64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"/>
          <p:cNvSpPr txBox="1"/>
          <p:nvPr/>
        </p:nvSpPr>
        <p:spPr>
          <a:xfrm>
            <a:off x="4464000" y="13680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6750a4"/>
                </a:solidFill>
                <a:latin typeface="Courier New"/>
              </a:rPr>
              <a:t>OFFERED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264000" y="2304000"/>
            <a:ext cx="162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CARRIED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932000" y="2844000"/>
            <a:ext cx="1296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00" spc="-1" strike="noStrike">
                <a:solidFill>
                  <a:srgbClr val="cd443b"/>
                </a:solidFill>
                <a:latin typeface="Courier New"/>
              </a:rPr>
              <a:t>OVERLOAD</a:t>
            </a:r>
            <a:endParaRPr b="0" lang="en-US" sz="800" spc="-1" strike="noStrike">
              <a:latin typeface="Arial"/>
            </a:endParaRPr>
          </a:p>
          <a:p>
            <a:pPr algn="ctr">
              <a:buNone/>
            </a:pPr>
            <a:r>
              <a:rPr b="1" lang="en-US" sz="800" spc="-1" strike="noStrike">
                <a:solidFill>
                  <a:srgbClr val="cd443b"/>
                </a:solidFill>
                <a:latin typeface="Courier New"/>
              </a:rPr>
              <a:t>+ LOSS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400000" y="2052000"/>
            <a:ext cx="0" cy="540000"/>
          </a:xfrm>
          <a:prstGeom prst="line">
            <a:avLst/>
          </a:prstGeom>
          <a:ln w="4320">
            <a:solidFill>
              <a:srgbClr val="cd4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"/>
          <p:cNvSpPr/>
          <p:nvPr/>
        </p:nvSpPr>
        <p:spPr>
          <a:xfrm>
            <a:off x="7992000" y="1584000"/>
            <a:ext cx="3744000" cy="334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66" name=""/>
          <p:cNvSpPr/>
          <p:nvPr/>
        </p:nvSpPr>
        <p:spPr>
          <a:xfrm>
            <a:off x="7992000" y="1584000"/>
            <a:ext cx="64800" cy="334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67" name=""/>
          <p:cNvSpPr txBox="1"/>
          <p:nvPr/>
        </p:nvSpPr>
        <p:spPr>
          <a:xfrm>
            <a:off x="8280000" y="1908000"/>
            <a:ext cx="12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6750a4"/>
                </a:solidFill>
                <a:latin typeface="Courier New"/>
              </a:rPr>
              <a:t>OFFERED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9576000" y="1908000"/>
            <a:ext cx="18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attempted session demand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280000" y="2592000"/>
            <a:ext cx="12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007c99"/>
                </a:solidFill>
                <a:latin typeface="Courier New"/>
              </a:rPr>
              <a:t>CARRIED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576000" y="2592000"/>
            <a:ext cx="18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successfully transported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8280000" y="3276000"/>
            <a:ext cx="12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77b0b"/>
                </a:solidFill>
                <a:latin typeface="Courier New"/>
              </a:rPr>
              <a:t>OVERLOAD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9576000" y="3276000"/>
            <a:ext cx="18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above service envelope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8280000" y="3960000"/>
            <a:ext cx="1224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cd443b"/>
                </a:solidFill>
                <a:latin typeface="Courier New"/>
              </a:rPr>
              <a:t>LOSS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576000" y="3960000"/>
            <a:ext cx="183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10" spc="-1" strike="noStrike">
                <a:solidFill>
                  <a:srgbClr val="172731"/>
                </a:solidFill>
                <a:latin typeface="Arial"/>
              </a:rPr>
              <a:t>offered but not carried</a:t>
            </a:r>
            <a:endParaRPr b="0" lang="en-US" sz="81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324000" y="5328000"/>
            <a:ext cx="11412000" cy="648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176" name=""/>
          <p:cNvSpPr/>
          <p:nvPr/>
        </p:nvSpPr>
        <p:spPr>
          <a:xfrm>
            <a:off x="324000" y="5328000"/>
            <a:ext cx="64800" cy="64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177" name=""/>
          <p:cNvSpPr txBox="1"/>
          <p:nvPr/>
        </p:nvSpPr>
        <p:spPr>
          <a:xfrm>
            <a:off x="576000" y="5508000"/>
            <a:ext cx="1090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60" spc="-1" strike="noStrike">
                <a:solidFill>
                  <a:srgbClr val="172731"/>
                </a:solidFill>
                <a:latin typeface="Arial"/>
              </a:rPr>
              <a:t>If you train demand on carried throughput during constraint, the label hides the demand you most need to predict.</a:t>
            </a:r>
            <a:endParaRPr b="0" lang="en-US" sz="960" spc="-1" strike="noStrike"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Notebook TODO 1 · offered, carried, overload and loss remain separate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03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182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FORECAST CHOICE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Forecast from closed history; choose how much uncertainty to carry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8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007c99"/>
                </a:solidFill>
                <a:latin typeface="Courier New"/>
              </a:rPr>
              <a:t>04 · FORECAST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32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88" name=""/>
          <p:cNvSpPr/>
          <p:nvPr/>
        </p:nvSpPr>
        <p:spPr>
          <a:xfrm>
            <a:off x="432000" y="2016000"/>
            <a:ext cx="64800" cy="12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89" name=""/>
          <p:cNvSpPr txBox="1"/>
          <p:nvPr/>
        </p:nvSpPr>
        <p:spPr>
          <a:xfrm>
            <a:off x="612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t−5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12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166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584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92" name=""/>
          <p:cNvSpPr/>
          <p:nvPr/>
        </p:nvSpPr>
        <p:spPr>
          <a:xfrm>
            <a:off x="1584000" y="2016000"/>
            <a:ext cx="64800" cy="12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93" name=""/>
          <p:cNvSpPr txBox="1"/>
          <p:nvPr/>
        </p:nvSpPr>
        <p:spPr>
          <a:xfrm>
            <a:off x="1764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t−4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764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174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2736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196" name=""/>
          <p:cNvSpPr/>
          <p:nvPr/>
        </p:nvSpPr>
        <p:spPr>
          <a:xfrm>
            <a:off x="2736000" y="2016000"/>
            <a:ext cx="64800" cy="12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197" name=""/>
          <p:cNvSpPr txBox="1"/>
          <p:nvPr/>
        </p:nvSpPr>
        <p:spPr>
          <a:xfrm>
            <a:off x="2916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2916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181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888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0" name=""/>
          <p:cNvSpPr/>
          <p:nvPr/>
        </p:nvSpPr>
        <p:spPr>
          <a:xfrm>
            <a:off x="3888000" y="2016000"/>
            <a:ext cx="64800" cy="12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01" name=""/>
          <p:cNvSpPr txBox="1"/>
          <p:nvPr/>
        </p:nvSpPr>
        <p:spPr>
          <a:xfrm>
            <a:off x="4068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068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188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040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4" name=""/>
          <p:cNvSpPr/>
          <p:nvPr/>
        </p:nvSpPr>
        <p:spPr>
          <a:xfrm>
            <a:off x="5040000" y="2016000"/>
            <a:ext cx="64800" cy="1260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05" name=""/>
          <p:cNvSpPr txBox="1"/>
          <p:nvPr/>
        </p:nvSpPr>
        <p:spPr>
          <a:xfrm>
            <a:off x="5220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220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196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192000" y="2016000"/>
            <a:ext cx="972000" cy="126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08" name=""/>
          <p:cNvSpPr/>
          <p:nvPr/>
        </p:nvSpPr>
        <p:spPr>
          <a:xfrm>
            <a:off x="6192000" y="2016000"/>
            <a:ext cx="64800" cy="1260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09" name=""/>
          <p:cNvSpPr txBox="1"/>
          <p:nvPr/>
        </p:nvSpPr>
        <p:spPr>
          <a:xfrm>
            <a:off x="6372000" y="2268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800" spc="-1" strike="noStrike">
                <a:solidFill>
                  <a:srgbClr val="718592"/>
                </a:solidFill>
                <a:latin typeface="Courier New"/>
              </a:rPr>
              <a:t>t−0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372000" y="2700000"/>
            <a:ext cx="61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172731"/>
                </a:solidFill>
                <a:latin typeface="Arial"/>
              </a:rPr>
              <a:t>204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344000" y="2628000"/>
            <a:ext cx="849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"/>
          <p:cNvSpPr txBox="1"/>
          <p:nvPr/>
        </p:nvSpPr>
        <p:spPr>
          <a:xfrm>
            <a:off x="8136000" y="2499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8568000" y="1692000"/>
            <a:ext cx="3168000" cy="1872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214" name=""/>
          <p:cNvSpPr/>
          <p:nvPr/>
        </p:nvSpPr>
        <p:spPr>
          <a:xfrm>
            <a:off x="8568000" y="1692000"/>
            <a:ext cx="64800" cy="187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15" name=""/>
          <p:cNvSpPr txBox="1"/>
          <p:nvPr/>
        </p:nvSpPr>
        <p:spPr>
          <a:xfrm>
            <a:off x="8856000" y="1944000"/>
            <a:ext cx="259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77c6d4"/>
                </a:solidFill>
                <a:latin typeface="Courier New"/>
              </a:rPr>
              <a:t>TARGET 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8856000" y="2412000"/>
            <a:ext cx="1116000" cy="3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p50</a:t>
            </a:r>
            <a:endParaRPr b="0" lang="en-US" sz="1400" spc="-1" strike="noStrike">
              <a:latin typeface="Arial"/>
            </a:endParaRPr>
          </a:p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185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0188000" y="2412000"/>
            <a:ext cx="1116000" cy="39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c77b0b"/>
                </a:solidFill>
                <a:latin typeface="Arial"/>
              </a:rPr>
              <a:t>p90</a:t>
            </a:r>
            <a:endParaRPr b="0" lang="en-US" sz="1400" spc="-1" strike="noStrike">
              <a:latin typeface="Arial"/>
            </a:endParaRPr>
          </a:p>
          <a:p>
            <a:pPr algn="ctr">
              <a:buNone/>
            </a:pPr>
            <a:r>
              <a:rPr b="1" lang="en-US" sz="1400" spc="-1" strike="noStrike">
                <a:solidFill>
                  <a:srgbClr val="c77b0b"/>
                </a:solidFill>
                <a:latin typeface="Arial"/>
              </a:rPr>
              <a:t>222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32000" y="3780000"/>
            <a:ext cx="68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007c99"/>
                </a:solidFill>
                <a:latin typeface="Courier New"/>
              </a:rPr>
              <a:t>SOURCE WINDOW ENDS HERE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32000" y="4176000"/>
            <a:ext cx="6948000" cy="0"/>
          </a:xfrm>
          <a:prstGeom prst="line">
            <a:avLst/>
          </a:prstGeom>
          <a:ln w="4680">
            <a:solidFill>
              <a:srgbClr val="007c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"/>
          <p:cNvSpPr txBox="1"/>
          <p:nvPr/>
        </p:nvSpPr>
        <p:spPr>
          <a:xfrm>
            <a:off x="8568000" y="3780000"/>
            <a:ext cx="3168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6750a4"/>
                </a:solidFill>
                <a:latin typeface="Courier New"/>
              </a:rPr>
              <a:t>TARGET STARTS HERE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8568000" y="4176000"/>
            <a:ext cx="3168000" cy="0"/>
          </a:xfrm>
          <a:prstGeom prst="line">
            <a:avLst/>
          </a:prstGeom>
          <a:ln w="4680">
            <a:solidFill>
              <a:srgbClr val="6750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"/>
          <p:cNvSpPr/>
          <p:nvPr/>
        </p:nvSpPr>
        <p:spPr>
          <a:xfrm>
            <a:off x="324000" y="4932000"/>
            <a:ext cx="3564000" cy="10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3" name=""/>
          <p:cNvSpPr/>
          <p:nvPr/>
        </p:nvSpPr>
        <p:spPr>
          <a:xfrm>
            <a:off x="324000" y="4932000"/>
            <a:ext cx="64800" cy="104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24" name=""/>
          <p:cNvSpPr txBox="1"/>
          <p:nvPr/>
        </p:nvSpPr>
        <p:spPr>
          <a:xfrm>
            <a:off x="576000" y="5184000"/>
            <a:ext cx="306000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007c99"/>
                </a:solidFill>
                <a:latin typeface="Arial"/>
              </a:rPr>
              <a:t>p50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76000" y="5544000"/>
            <a:ext cx="30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central estimate · less reserve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212000" y="4932000"/>
            <a:ext cx="3564000" cy="104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27" name=""/>
          <p:cNvSpPr/>
          <p:nvPr/>
        </p:nvSpPr>
        <p:spPr>
          <a:xfrm>
            <a:off x="4212000" y="4932000"/>
            <a:ext cx="64800" cy="104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28" name=""/>
          <p:cNvSpPr txBox="1"/>
          <p:nvPr/>
        </p:nvSpPr>
        <p:spPr>
          <a:xfrm>
            <a:off x="4464000" y="5184000"/>
            <a:ext cx="306000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6750a4"/>
                </a:solidFill>
                <a:latin typeface="Arial"/>
              </a:rPr>
              <a:t>p90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464000" y="5544000"/>
            <a:ext cx="30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conservative · more headroom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100000" y="4932000"/>
            <a:ext cx="3636000" cy="1044000"/>
          </a:xfrm>
          <a:prstGeom prst="roundRect">
            <a:avLst/>
          </a:prstGeom>
          <a:solidFill>
            <a:srgbClr val="faf0de"/>
          </a:solidFill>
          <a:ln w="0">
            <a:noFill/>
          </a:ln>
        </p:spPr>
      </p:sp>
      <p:sp>
        <p:nvSpPr>
          <p:cNvPr id="231" name=""/>
          <p:cNvSpPr/>
          <p:nvPr/>
        </p:nvSpPr>
        <p:spPr>
          <a:xfrm>
            <a:off x="8100000" y="4932000"/>
            <a:ext cx="64800" cy="104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32" name=""/>
          <p:cNvSpPr txBox="1"/>
          <p:nvPr/>
        </p:nvSpPr>
        <p:spPr>
          <a:xfrm>
            <a:off x="8352000" y="5184000"/>
            <a:ext cx="31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c77b0b"/>
                </a:solidFill>
                <a:latin typeface="Arial"/>
              </a:rPr>
              <a:t>No guarantee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352000" y="5544000"/>
            <a:ext cx="313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unannounced surge may miss both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Forecast/1.0 enforces source_window_end ≤ target_window.start · Notebook TODO 2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04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238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POLICY CERTIFICATION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A useful recommendation is still rejected unless it is safe to publish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41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007c99"/>
                </a:solidFill>
                <a:latin typeface="Courier New"/>
              </a:rPr>
              <a:t>05 · CERTIFY / OPTIMIZE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24000" y="1620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44" name=""/>
          <p:cNvSpPr/>
          <p:nvPr/>
        </p:nvSpPr>
        <p:spPr>
          <a:xfrm>
            <a:off x="324000" y="1620000"/>
            <a:ext cx="64800" cy="1224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45" name=""/>
          <p:cNvSpPr/>
          <p:nvPr/>
        </p:nvSpPr>
        <p:spPr>
          <a:xfrm>
            <a:off x="576000" y="1908000"/>
            <a:ext cx="432000" cy="432000"/>
          </a:xfrm>
          <a:prstGeom prst="ellipse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246" name=""/>
          <p:cNvSpPr txBox="1"/>
          <p:nvPr/>
        </p:nvSpPr>
        <p:spPr>
          <a:xfrm>
            <a:off x="576000" y="1980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224000" y="1872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6750a4"/>
                </a:solidFill>
                <a:latin typeface="Courier New"/>
              </a:rPr>
              <a:t>CAUSAL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224000" y="2232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features stop before target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140000" y="1620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50" name=""/>
          <p:cNvSpPr/>
          <p:nvPr/>
        </p:nvSpPr>
        <p:spPr>
          <a:xfrm>
            <a:off x="4140000" y="1620000"/>
            <a:ext cx="64800" cy="1224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51" name=""/>
          <p:cNvSpPr/>
          <p:nvPr/>
        </p:nvSpPr>
        <p:spPr>
          <a:xfrm>
            <a:off x="4392000" y="1908000"/>
            <a:ext cx="432000" cy="432000"/>
          </a:xfrm>
          <a:prstGeom prst="ellipse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252" name=""/>
          <p:cNvSpPr txBox="1"/>
          <p:nvPr/>
        </p:nvSpPr>
        <p:spPr>
          <a:xfrm>
            <a:off x="4392000" y="1980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040000" y="1872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007c99"/>
                </a:solidFill>
                <a:latin typeface="Courier New"/>
              </a:rPr>
              <a:t>ELIGIBLE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040000" y="2232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group + locality path exist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956000" y="1620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56" name=""/>
          <p:cNvSpPr/>
          <p:nvPr/>
        </p:nvSpPr>
        <p:spPr>
          <a:xfrm>
            <a:off x="7956000" y="1620000"/>
            <a:ext cx="64800" cy="122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57" name=""/>
          <p:cNvSpPr/>
          <p:nvPr/>
        </p:nvSpPr>
        <p:spPr>
          <a:xfrm>
            <a:off x="8208000" y="1908000"/>
            <a:ext cx="432000" cy="432000"/>
          </a:xfrm>
          <a:prstGeom prst="ellipse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58" name=""/>
          <p:cNvSpPr txBox="1"/>
          <p:nvPr/>
        </p:nvSpPr>
        <p:spPr>
          <a:xfrm>
            <a:off x="8208000" y="1980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856000" y="1872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6805f"/>
                </a:solidFill>
                <a:latin typeface="Courier New"/>
              </a:rPr>
              <a:t>HEALTHY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856000" y="2232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unavailable UPFs get no weight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24000" y="3168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2" name=""/>
          <p:cNvSpPr/>
          <p:nvPr/>
        </p:nvSpPr>
        <p:spPr>
          <a:xfrm>
            <a:off x="324000" y="3168000"/>
            <a:ext cx="64800" cy="122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63" name=""/>
          <p:cNvSpPr/>
          <p:nvPr/>
        </p:nvSpPr>
        <p:spPr>
          <a:xfrm>
            <a:off x="576000" y="3456000"/>
            <a:ext cx="432000" cy="432000"/>
          </a:xfrm>
          <a:prstGeom prst="ellipse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264" name=""/>
          <p:cNvSpPr txBox="1"/>
          <p:nvPr/>
        </p:nvSpPr>
        <p:spPr>
          <a:xfrm>
            <a:off x="576000" y="352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224000" y="3420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c77b0b"/>
                </a:solidFill>
                <a:latin typeface="Courier New"/>
              </a:rPr>
              <a:t>NORMALIZED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224000" y="3780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finite [0,1] · sum exactly 1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4140000" y="3168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68" name=""/>
          <p:cNvSpPr/>
          <p:nvPr/>
        </p:nvSpPr>
        <p:spPr>
          <a:xfrm>
            <a:off x="4140000" y="3168000"/>
            <a:ext cx="64800" cy="1224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269" name=""/>
          <p:cNvSpPr/>
          <p:nvPr/>
        </p:nvSpPr>
        <p:spPr>
          <a:xfrm>
            <a:off x="4392000" y="3456000"/>
            <a:ext cx="432000" cy="432000"/>
          </a:xfrm>
          <a:prstGeom prst="ellipse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270" name=""/>
          <p:cNvSpPr txBox="1"/>
          <p:nvPr/>
        </p:nvSpPr>
        <p:spPr>
          <a:xfrm>
            <a:off x="4392000" y="352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040000" y="3420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cd443b"/>
                </a:solidFill>
                <a:latin typeface="Courier New"/>
              </a:rPr>
              <a:t>CAPACITY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040000" y="3780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UL · DL · session envelope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956000" y="3168000"/>
            <a:ext cx="3528000" cy="122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74" name=""/>
          <p:cNvSpPr/>
          <p:nvPr/>
        </p:nvSpPr>
        <p:spPr>
          <a:xfrm>
            <a:off x="7956000" y="3168000"/>
            <a:ext cx="64800" cy="1224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275" name=""/>
          <p:cNvSpPr/>
          <p:nvPr/>
        </p:nvSpPr>
        <p:spPr>
          <a:xfrm>
            <a:off x="8208000" y="3456000"/>
            <a:ext cx="432000" cy="432000"/>
          </a:xfrm>
          <a:prstGeom prst="ellipse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276" name=""/>
          <p:cNvSpPr txBox="1"/>
          <p:nvPr/>
        </p:nvSpPr>
        <p:spPr>
          <a:xfrm>
            <a:off x="8208000" y="352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✓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856000" y="3420000"/>
            <a:ext cx="23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2f91a6"/>
                </a:solidFill>
                <a:latin typeface="Courier New"/>
              </a:rPr>
              <a:t>ANCHORED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856000" y="3780000"/>
            <a:ext cx="2340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72731"/>
                </a:solidFill>
                <a:latin typeface="Arial"/>
              </a:rPr>
              <a:t>new sessions only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324000" y="5004000"/>
            <a:ext cx="5436000" cy="1008000"/>
          </a:xfrm>
          <a:prstGeom prst="roundRect">
            <a:avLst/>
          </a:prstGeom>
          <a:solidFill>
            <a:srgbClr val="fae8e6"/>
          </a:solidFill>
          <a:ln w="6480">
            <a:solidFill>
              <a:srgbClr val="ecc3bf"/>
            </a:solidFill>
            <a:round/>
          </a:ln>
        </p:spPr>
      </p:sp>
      <p:sp>
        <p:nvSpPr>
          <p:cNvPr id="280" name=""/>
          <p:cNvSpPr/>
          <p:nvPr/>
        </p:nvSpPr>
        <p:spPr>
          <a:xfrm>
            <a:off x="324000" y="5004000"/>
            <a:ext cx="64800" cy="1008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281" name=""/>
          <p:cNvSpPr txBox="1"/>
          <p:nvPr/>
        </p:nvSpPr>
        <p:spPr>
          <a:xfrm>
            <a:off x="576000" y="5256000"/>
            <a:ext cx="4932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cd443b"/>
                </a:solidFill>
                <a:latin typeface="Courier New"/>
              </a:rPr>
              <a:t>INVALID / UNSAFE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76000" y="5616000"/>
            <a:ext cx="493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Reject recommendation · preserve last safe/static policy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5760000" y="5508000"/>
            <a:ext cx="525600" cy="0"/>
          </a:xfrm>
          <a:prstGeom prst="line">
            <a:avLst/>
          </a:prstGeom>
          <a:ln w="4680">
            <a:solidFill>
              <a:srgbClr val="5268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"/>
          <p:cNvSpPr txBox="1"/>
          <p:nvPr/>
        </p:nvSpPr>
        <p:spPr>
          <a:xfrm>
            <a:off x="6228000" y="5379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526875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6372000" y="5004000"/>
            <a:ext cx="5364000" cy="1008000"/>
          </a:xfrm>
          <a:prstGeom prst="roundRect">
            <a:avLst/>
          </a:prstGeom>
          <a:solidFill>
            <a:srgbClr val="e5f2ed"/>
          </a:solidFill>
          <a:ln w="6480">
            <a:solidFill>
              <a:srgbClr val="b9daca"/>
            </a:solidFill>
            <a:round/>
          </a:ln>
        </p:spPr>
      </p:sp>
      <p:sp>
        <p:nvSpPr>
          <p:cNvPr id="286" name=""/>
          <p:cNvSpPr/>
          <p:nvPr/>
        </p:nvSpPr>
        <p:spPr>
          <a:xfrm>
            <a:off x="6372000" y="5004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287" name=""/>
          <p:cNvSpPr txBox="1"/>
          <p:nvPr/>
        </p:nvSpPr>
        <p:spPr>
          <a:xfrm>
            <a:off x="6624000" y="5256000"/>
            <a:ext cx="486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16805f"/>
                </a:solidFill>
                <a:latin typeface="Courier New"/>
              </a:rPr>
              <a:t>VALID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624000" y="5616000"/>
            <a:ext cx="48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20" spc="-1" strike="noStrike">
                <a:solidFill>
                  <a:srgbClr val="172731"/>
                </a:solidFill>
                <a:latin typeface="Arial"/>
              </a:rPr>
              <a:t>Publish weights for sessions arriving after activation</a:t>
            </a:r>
            <a:endParaRPr b="0" lang="en-US" sz="920" spc="-1" strike="noStrike"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schemas/policy.py · steering/policy.py · Notebook TODO 3 + required safety drill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05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3f7f8"/>
          </a:solidFill>
          <a:ln w="0">
            <a:noFill/>
          </a:ln>
        </p:spPr>
      </p:sp>
      <p:sp>
        <p:nvSpPr>
          <p:cNvPr id="293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007c99"/>
                </a:solidFill>
                <a:latin typeface="Courier New"/>
              </a:rPr>
              <a:t>MATCHED EVIDENCE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172731"/>
                </a:solidFill>
                <a:latin typeface="Arial"/>
              </a:rPr>
              <a:t>The frozen campaign clears the demo gate—and keeps tail risk visible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96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c77b0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007c99"/>
                </a:solidFill>
                <a:latin typeface="Courier New"/>
              </a:rPr>
              <a:t>06 · REVEAL + COMPARE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24000" y="1512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299" name=""/>
          <p:cNvSpPr/>
          <p:nvPr/>
        </p:nvSpPr>
        <p:spPr>
          <a:xfrm>
            <a:off x="324000" y="1512000"/>
            <a:ext cx="64800" cy="1008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00" name=""/>
          <p:cNvSpPr txBox="1"/>
          <p:nvPr/>
        </p:nvSpPr>
        <p:spPr>
          <a:xfrm>
            <a:off x="504000" y="1656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MEAN-PAIR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04000" y="1836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6805f"/>
                </a:solidFill>
                <a:latin typeface="Arial"/>
              </a:rPr>
              <a:t>+10.52%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04000" y="2232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95% CI 4.81–16.93%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3168000" y="1512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04" name=""/>
          <p:cNvSpPr/>
          <p:nvPr/>
        </p:nvSpPr>
        <p:spPr>
          <a:xfrm>
            <a:off x="3168000" y="1512000"/>
            <a:ext cx="64800" cy="1008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05" name=""/>
          <p:cNvSpPr txBox="1"/>
          <p:nvPr/>
        </p:nvSpPr>
        <p:spPr>
          <a:xfrm>
            <a:off x="3348000" y="1656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WEIGHTED UL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348000" y="1836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77b0b"/>
                </a:solidFill>
                <a:latin typeface="Arial"/>
              </a:rPr>
              <a:t>+2.84%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348000" y="2232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severity-weighted total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012000" y="1512000"/>
            <a:ext cx="2592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09" name=""/>
          <p:cNvSpPr/>
          <p:nvPr/>
        </p:nvSpPr>
        <p:spPr>
          <a:xfrm>
            <a:off x="6012000" y="1512000"/>
            <a:ext cx="64800" cy="1008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10" name=""/>
          <p:cNvSpPr txBox="1"/>
          <p:nvPr/>
        </p:nvSpPr>
        <p:spPr>
          <a:xfrm>
            <a:off x="6192000" y="1656000"/>
            <a:ext cx="226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MATCHED PAIRS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6192000" y="1836000"/>
            <a:ext cx="2268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07c99"/>
                </a:solidFill>
                <a:latin typeface="Arial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192000" y="2232000"/>
            <a:ext cx="2268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static vs frozen MPC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8856000" y="1512000"/>
            <a:ext cx="2880000" cy="1008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14" name=""/>
          <p:cNvSpPr/>
          <p:nvPr/>
        </p:nvSpPr>
        <p:spPr>
          <a:xfrm>
            <a:off x="8856000" y="1512000"/>
            <a:ext cx="64800" cy="1008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315" name=""/>
          <p:cNvSpPr txBox="1"/>
          <p:nvPr/>
        </p:nvSpPr>
        <p:spPr>
          <a:xfrm>
            <a:off x="9036000" y="1656000"/>
            <a:ext cx="255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718592"/>
                </a:solidFill>
                <a:latin typeface="Courier New"/>
              </a:rPr>
              <a:t>WORST PAIR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9036000" y="1836000"/>
            <a:ext cx="2556000" cy="3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cd443b"/>
                </a:solidFill>
                <a:latin typeface="Arial"/>
              </a:rPr>
              <a:t>−</a:t>
            </a:r>
            <a:r>
              <a:rPr b="1" lang="en-US" sz="2400" spc="-1" strike="noStrike">
                <a:solidFill>
                  <a:srgbClr val="cd443b"/>
                </a:solidFill>
                <a:latin typeface="Arial"/>
              </a:rPr>
              <a:t>23.50%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9036000" y="2232000"/>
            <a:ext cx="255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20" spc="-1" strike="noStrike">
                <a:solidFill>
                  <a:srgbClr val="526875"/>
                </a:solidFill>
                <a:latin typeface="Arial"/>
              </a:rPr>
              <a:t>fault-heavy regression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24000" y="3348000"/>
            <a:ext cx="7344000" cy="2484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cfdce1"/>
            </a:solidFill>
            <a:round/>
          </a:ln>
        </p:spPr>
      </p:sp>
      <p:sp>
        <p:nvSpPr>
          <p:cNvPr id="319" name=""/>
          <p:cNvSpPr/>
          <p:nvPr/>
        </p:nvSpPr>
        <p:spPr>
          <a:xfrm>
            <a:off x="324000" y="3348000"/>
            <a:ext cx="64800" cy="2484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20" name=""/>
          <p:cNvSpPr txBox="1"/>
          <p:nvPr/>
        </p:nvSpPr>
        <p:spPr>
          <a:xfrm>
            <a:off x="576000" y="3600000"/>
            <a:ext cx="684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80" spc="-1" strike="noStrike">
                <a:solidFill>
                  <a:srgbClr val="718592"/>
                </a:solidFill>
                <a:latin typeface="Courier New"/>
              </a:rPr>
              <a:t>AGGREGATE GAIN / WORST PAIR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76000" y="4104000"/>
            <a:ext cx="223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Demand surge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952000" y="4104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+10.42%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004000" y="4104000"/>
            <a:ext cx="208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6805f"/>
                </a:solidFill>
                <a:latin typeface="Courier New"/>
              </a:rPr>
              <a:t>worst +2.57%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76000" y="4500000"/>
            <a:ext cx="223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Scheduled fault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952000" y="4500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77b0b"/>
                </a:solidFill>
                <a:latin typeface="Courier New"/>
              </a:rPr>
              <a:t>+19.01%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004000" y="4500000"/>
            <a:ext cx="208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worst -23.50%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76000" y="4896000"/>
            <a:ext cx="223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Unannounced outage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952000" y="4896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+0.71%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004000" y="4896000"/>
            <a:ext cx="208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worst -9.84%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76000" y="5292000"/>
            <a:ext cx="223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172731"/>
                </a:solidFill>
                <a:latin typeface="Arial"/>
              </a:rPr>
              <a:t>Mixed stress</a:t>
            </a:r>
            <a:endParaRPr b="0" lang="en-US" sz="839" spc="-1" strike="noStrike"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952000" y="5292000"/>
            <a:ext cx="1512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6750a4"/>
                </a:solidFill>
                <a:latin typeface="Courier New"/>
              </a:rPr>
              <a:t>+1.92%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004000" y="5292000"/>
            <a:ext cx="2088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cd443b"/>
                </a:solidFill>
                <a:latin typeface="Courier New"/>
              </a:rPr>
              <a:t>worst -8.28%</a:t>
            </a:r>
            <a:endParaRPr b="0" lang="en-US" sz="82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992000" y="3348000"/>
            <a:ext cx="3744000" cy="2484000"/>
          </a:xfrm>
          <a:prstGeom prst="roundRect">
            <a:avLst/>
          </a:prstGeom>
          <a:solidFill>
            <a:srgbClr val="193644"/>
          </a:solidFill>
          <a:ln w="0">
            <a:noFill/>
          </a:ln>
        </p:spPr>
      </p:sp>
      <p:sp>
        <p:nvSpPr>
          <p:cNvPr id="334" name=""/>
          <p:cNvSpPr/>
          <p:nvPr/>
        </p:nvSpPr>
        <p:spPr>
          <a:xfrm>
            <a:off x="7992000" y="3348000"/>
            <a:ext cx="64800" cy="2484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35" name=""/>
          <p:cNvSpPr txBox="1"/>
          <p:nvPr/>
        </p:nvSpPr>
        <p:spPr>
          <a:xfrm>
            <a:off x="8244000" y="3636000"/>
            <a:ext cx="324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ffffff"/>
                </a:solidFill>
                <a:latin typeface="Arial"/>
              </a:rPr>
              <a:t>Say this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8244000" y="4212000"/>
            <a:ext cx="3240000" cy="7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77c6d4"/>
                </a:solidFill>
                <a:latin typeface="Arial"/>
              </a:rPr>
              <a:t>Reduced modeled exposure for future sessions.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8244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c77b0b"/>
                </a:solidFill>
                <a:latin typeface="Arial"/>
              </a:rPr>
              <a:t>Not overload prevented.</a:t>
            </a:r>
            <a:endParaRPr b="0" lang="en-US" sz="900" spc="-1" strike="noStrike">
              <a:latin typeface="Arial"/>
            </a:endParaRPr>
          </a:p>
          <a:p>
            <a:r>
              <a:rPr b="1" lang="en-US" sz="900" spc="-1" strike="noStrike">
                <a:solidFill>
                  <a:srgbClr val="c77b0b"/>
                </a:solidFill>
                <a:latin typeface="Arial"/>
              </a:rPr>
              <a:t>Not production ready.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cfdc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718592"/>
                </a:solidFill>
                <a:latin typeface="Courier New"/>
              </a:rPr>
              <a:t>demo_api/data/cohort_mpc_full_campaign_evidence_v1.json · frozen profile and checksums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718592"/>
                </a:solidFill>
                <a:latin typeface="Courier New"/>
              </a:rPr>
              <a:t>06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22e"/>
          </a:solidFill>
          <a:ln w="0">
            <a:noFill/>
          </a:ln>
        </p:spPr>
      </p:sp>
      <p:sp>
        <p:nvSpPr>
          <p:cNvPr id="342" name=""/>
          <p:cNvSpPr txBox="1"/>
          <p:nvPr/>
        </p:nvSpPr>
        <p:spPr>
          <a:xfrm>
            <a:off x="324000" y="158400"/>
            <a:ext cx="3096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508" strike="noStrike">
                <a:solidFill>
                  <a:srgbClr val="77c6d4"/>
                </a:solidFill>
                <a:latin typeface="Courier New"/>
              </a:rPr>
              <a:t>INTEGRATION BOUNDARY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24000" y="378000"/>
            <a:ext cx="10584000" cy="57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50" spc="-1" strike="noStrike">
                <a:solidFill>
                  <a:srgbClr val="ffffff"/>
                </a:solidFill>
                <a:latin typeface="Arial"/>
              </a:rPr>
              <a:t>The next step is a bounded C-DOT advisory pilot—not autonomous control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10800000" y="180000"/>
            <a:ext cx="936000" cy="198000"/>
          </a:xfrm>
          <a:prstGeom prst="roundRect">
            <a:avLst/>
          </a:prstGeom>
          <a:solidFill>
            <a:srgbClr val="213e4b"/>
          </a:solidFill>
          <a:ln w="6480">
            <a:solidFill>
              <a:srgbClr val="54717d"/>
            </a:solidFill>
            <a:round/>
          </a:ln>
        </p:spPr>
      </p:sp>
      <p:sp>
        <p:nvSpPr>
          <p:cNvPr id="345" name=""/>
          <p:cNvSpPr txBox="1"/>
          <p:nvPr/>
        </p:nvSpPr>
        <p:spPr>
          <a:xfrm>
            <a:off x="10818000" y="219600"/>
            <a:ext cx="900000" cy="1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710" spc="-1" strike="noStrike">
                <a:solidFill>
                  <a:srgbClr val="f4c36b"/>
                </a:solidFill>
                <a:latin typeface="Courier New"/>
              </a:rPr>
              <a:t>SYNTHETIC DATA</a:t>
            </a:r>
            <a:endParaRPr b="0" lang="en-US" sz="710" spc="-1" strike="noStrike"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60000" y="1116000"/>
            <a:ext cx="756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367" strike="noStrike">
                <a:solidFill>
                  <a:srgbClr val="77c6d4"/>
                </a:solidFill>
                <a:latin typeface="Courier New"/>
              </a:rPr>
              <a:t>07 · C-DOT CO-DESIGN + CLOSE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3240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48" name=""/>
          <p:cNvSpPr/>
          <p:nvPr/>
        </p:nvSpPr>
        <p:spPr>
          <a:xfrm>
            <a:off x="324000" y="1872000"/>
            <a:ext cx="64800" cy="1332000"/>
          </a:xfrm>
          <a:prstGeom prst="rect">
            <a:avLst/>
          </a:prstGeom>
          <a:solidFill>
            <a:srgbClr val="007c99"/>
          </a:solidFill>
          <a:ln w="0">
            <a:noFill/>
          </a:ln>
        </p:spPr>
      </p:sp>
      <p:sp>
        <p:nvSpPr>
          <p:cNvPr id="349" name=""/>
          <p:cNvSpPr txBox="1"/>
          <p:nvPr/>
        </p:nvSpPr>
        <p:spPr>
          <a:xfrm>
            <a:off x="5040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007c99"/>
                </a:solidFill>
                <a:latin typeface="Courier New"/>
              </a:rPr>
              <a:t>PROMETHEUS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040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metrics · labels · quality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980000" y="2520000"/>
            <a:ext cx="158400" cy="0"/>
          </a:xfrm>
          <a:prstGeom prst="line">
            <a:avLst/>
          </a:prstGeom>
          <a:ln w="4680">
            <a:solidFill>
              <a:srgbClr val="6680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"/>
          <p:cNvSpPr txBox="1"/>
          <p:nvPr/>
        </p:nvSpPr>
        <p:spPr>
          <a:xfrm>
            <a:off x="2080800" y="23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6808a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22248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54" name=""/>
          <p:cNvSpPr/>
          <p:nvPr/>
        </p:nvSpPr>
        <p:spPr>
          <a:xfrm>
            <a:off x="2224800" y="1872000"/>
            <a:ext cx="64800" cy="1332000"/>
          </a:xfrm>
          <a:prstGeom prst="rect">
            <a:avLst/>
          </a:prstGeom>
          <a:solidFill>
            <a:srgbClr val="6750a4"/>
          </a:solidFill>
          <a:ln w="0">
            <a:noFill/>
          </a:ln>
        </p:spPr>
      </p:sp>
      <p:sp>
        <p:nvSpPr>
          <p:cNvPr id="355" name=""/>
          <p:cNvSpPr txBox="1"/>
          <p:nvPr/>
        </p:nvSpPr>
        <p:spPr>
          <a:xfrm>
            <a:off x="24048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6750a4"/>
                </a:solidFill>
                <a:latin typeface="Courier New"/>
              </a:rPr>
              <a:t>CALIBRATE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4048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UL/DL/session envelopes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880800" y="2520000"/>
            <a:ext cx="158400" cy="0"/>
          </a:xfrm>
          <a:prstGeom prst="line">
            <a:avLst/>
          </a:prstGeom>
          <a:ln w="4680">
            <a:solidFill>
              <a:srgbClr val="6680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"/>
          <p:cNvSpPr txBox="1"/>
          <p:nvPr/>
        </p:nvSpPr>
        <p:spPr>
          <a:xfrm>
            <a:off x="3981600" y="23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6808a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41256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60" name=""/>
          <p:cNvSpPr/>
          <p:nvPr/>
        </p:nvSpPr>
        <p:spPr>
          <a:xfrm>
            <a:off x="4125600" y="1872000"/>
            <a:ext cx="64800" cy="133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61" name=""/>
          <p:cNvSpPr txBox="1"/>
          <p:nvPr/>
        </p:nvSpPr>
        <p:spPr>
          <a:xfrm>
            <a:off x="43056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c77b0b"/>
                </a:solidFill>
                <a:latin typeface="Courier New"/>
              </a:rPr>
              <a:t>ELIGIBILITY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43056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slice · DNN · locality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5781600" y="2520000"/>
            <a:ext cx="158400" cy="0"/>
          </a:xfrm>
          <a:prstGeom prst="line">
            <a:avLst/>
          </a:prstGeom>
          <a:ln w="4680">
            <a:solidFill>
              <a:srgbClr val="6680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"/>
          <p:cNvSpPr txBox="1"/>
          <p:nvPr/>
        </p:nvSpPr>
        <p:spPr>
          <a:xfrm>
            <a:off x="5882400" y="23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6808a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0264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66" name=""/>
          <p:cNvSpPr/>
          <p:nvPr/>
        </p:nvSpPr>
        <p:spPr>
          <a:xfrm>
            <a:off x="6026400" y="1872000"/>
            <a:ext cx="64800" cy="1332000"/>
          </a:xfrm>
          <a:prstGeom prst="rect">
            <a:avLst/>
          </a:prstGeom>
          <a:solidFill>
            <a:srgbClr val="16805f"/>
          </a:solidFill>
          <a:ln w="0">
            <a:noFill/>
          </a:ln>
        </p:spPr>
      </p:sp>
      <p:sp>
        <p:nvSpPr>
          <p:cNvPr id="367" name=""/>
          <p:cNvSpPr txBox="1"/>
          <p:nvPr/>
        </p:nvSpPr>
        <p:spPr>
          <a:xfrm>
            <a:off x="62064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16805f"/>
                </a:solidFill>
                <a:latin typeface="Courier New"/>
              </a:rPr>
              <a:t>SMF HOOK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62064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new-session selection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7682400" y="2520000"/>
            <a:ext cx="158400" cy="0"/>
          </a:xfrm>
          <a:prstGeom prst="line">
            <a:avLst/>
          </a:prstGeom>
          <a:ln w="4680">
            <a:solidFill>
              <a:srgbClr val="6680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"/>
          <p:cNvSpPr txBox="1"/>
          <p:nvPr/>
        </p:nvSpPr>
        <p:spPr>
          <a:xfrm>
            <a:off x="7783200" y="23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6808a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79272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72" name=""/>
          <p:cNvSpPr/>
          <p:nvPr/>
        </p:nvSpPr>
        <p:spPr>
          <a:xfrm>
            <a:off x="7927200" y="1872000"/>
            <a:ext cx="64800" cy="1332000"/>
          </a:xfrm>
          <a:prstGeom prst="rect">
            <a:avLst/>
          </a:prstGeom>
          <a:solidFill>
            <a:srgbClr val="cd443b"/>
          </a:solidFill>
          <a:ln w="0">
            <a:noFill/>
          </a:ln>
        </p:spPr>
      </p:sp>
      <p:sp>
        <p:nvSpPr>
          <p:cNvPr id="373" name=""/>
          <p:cNvSpPr txBox="1"/>
          <p:nvPr/>
        </p:nvSpPr>
        <p:spPr>
          <a:xfrm>
            <a:off x="81072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cd443b"/>
                </a:solidFill>
                <a:latin typeface="Courier New"/>
              </a:rPr>
              <a:t>PUBLISH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81072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auth · atomicity · audit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9583200" y="2520000"/>
            <a:ext cx="158400" cy="0"/>
          </a:xfrm>
          <a:prstGeom prst="line">
            <a:avLst/>
          </a:prstGeom>
          <a:ln w="4680">
            <a:solidFill>
              <a:srgbClr val="6680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"/>
          <p:cNvSpPr txBox="1"/>
          <p:nvPr/>
        </p:nvSpPr>
        <p:spPr>
          <a:xfrm>
            <a:off x="9684000" y="2391840"/>
            <a:ext cx="1440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66808a"/>
                </a:solidFill>
                <a:latin typeface="Arial"/>
              </a:rPr>
              <a:t>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9828000" y="1872000"/>
            <a:ext cx="1656000" cy="1332000"/>
          </a:xfrm>
          <a:prstGeom prst="roundRect">
            <a:avLst/>
          </a:prstGeom>
          <a:solidFill>
            <a:srgbClr val="193541"/>
          </a:solidFill>
          <a:ln w="6480">
            <a:solidFill>
              <a:srgbClr val="3d5b67"/>
            </a:solidFill>
            <a:round/>
          </a:ln>
        </p:spPr>
      </p:sp>
      <p:sp>
        <p:nvSpPr>
          <p:cNvPr id="378" name=""/>
          <p:cNvSpPr/>
          <p:nvPr/>
        </p:nvSpPr>
        <p:spPr>
          <a:xfrm>
            <a:off x="9828000" y="1872000"/>
            <a:ext cx="64800" cy="1332000"/>
          </a:xfrm>
          <a:prstGeom prst="rect">
            <a:avLst/>
          </a:prstGeom>
          <a:solidFill>
            <a:srgbClr val="2f91a6"/>
          </a:solidFill>
          <a:ln w="0">
            <a:noFill/>
          </a:ln>
        </p:spPr>
      </p:sp>
      <p:sp>
        <p:nvSpPr>
          <p:cNvPr id="379" name=""/>
          <p:cNvSpPr txBox="1"/>
          <p:nvPr/>
        </p:nvSpPr>
        <p:spPr>
          <a:xfrm>
            <a:off x="10008000" y="2124000"/>
            <a:ext cx="1296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20" spc="-1" strike="noStrike">
                <a:solidFill>
                  <a:srgbClr val="2f91a6"/>
                </a:solidFill>
                <a:latin typeface="Courier New"/>
              </a:rPr>
              <a:t>ROLL BACK</a:t>
            </a:r>
            <a:endParaRPr b="0" lang="en-US" sz="720" spc="-1" strike="noStrike"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0008000" y="2556000"/>
            <a:ext cx="1296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00" spc="-1" strike="noStrike">
                <a:solidFill>
                  <a:srgbClr val="ffffff"/>
                </a:solidFill>
                <a:latin typeface="Arial"/>
              </a:rPr>
              <a:t>expiry · last safe policy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60000" y="3888000"/>
            <a:ext cx="882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50" spc="-1" strike="noStrike">
                <a:solidFill>
                  <a:srgbClr val="77c6d4"/>
                </a:solidFill>
                <a:latin typeface="Courier New"/>
              </a:rPr>
              <a:t>RECOMMENDED PILOT SEQUENCE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60000" y="4356000"/>
            <a:ext cx="108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ffffff"/>
                </a:solidFill>
                <a:latin typeface="Arial"/>
              </a:rPr>
              <a:t>map telemetry → calibrate capacity → advisory replay → shadow recommendations → bounded new-session pilot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24000" y="5328000"/>
            <a:ext cx="11412000" cy="792000"/>
          </a:xfrm>
          <a:prstGeom prst="roundRect">
            <a:avLst/>
          </a:prstGeom>
          <a:solidFill>
            <a:srgbClr val="213e48"/>
          </a:solidFill>
          <a:ln w="6480">
            <a:solidFill>
              <a:srgbClr val="48636d"/>
            </a:solidFill>
            <a:round/>
          </a:ln>
        </p:spPr>
      </p:sp>
      <p:sp>
        <p:nvSpPr>
          <p:cNvPr id="384" name=""/>
          <p:cNvSpPr/>
          <p:nvPr/>
        </p:nvSpPr>
        <p:spPr>
          <a:xfrm>
            <a:off x="324000" y="5328000"/>
            <a:ext cx="64800" cy="792000"/>
          </a:xfrm>
          <a:prstGeom prst="rect">
            <a:avLst/>
          </a:prstGeom>
          <a:solidFill>
            <a:srgbClr val="c77b0b"/>
          </a:solidFill>
          <a:ln w="0">
            <a:noFill/>
          </a:ln>
        </p:spPr>
      </p:sp>
      <p:sp>
        <p:nvSpPr>
          <p:cNvPr id="385" name=""/>
          <p:cNvSpPr txBox="1"/>
          <p:nvPr/>
        </p:nvSpPr>
        <p:spPr>
          <a:xfrm>
            <a:off x="612000" y="5544000"/>
            <a:ext cx="10872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We would deploy this in advisory mode only after ________________________________.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324000" y="6616800"/>
            <a:ext cx="11088000" cy="0"/>
          </a:xfrm>
          <a:prstGeom prst="line">
            <a:avLst/>
          </a:prstGeom>
          <a:ln w="1080">
            <a:solidFill>
              <a:srgbClr val="3951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"/>
          <p:cNvSpPr txBox="1"/>
          <p:nvPr/>
        </p:nvSpPr>
        <p:spPr>
          <a:xfrm>
            <a:off x="324000" y="6660000"/>
            <a:ext cx="10368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80" spc="-1" strike="noStrike">
                <a:solidFill>
                  <a:srgbClr val="9fb4be"/>
                </a:solidFill>
                <a:latin typeface="Courier New"/>
              </a:rPr>
              <a:t>Observe → predict → certify → steer future sessions → measure</a:t>
            </a:r>
            <a:endParaRPr b="0" lang="en-US" sz="680" spc="-1" strike="noStrike"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1052000" y="6660000"/>
            <a:ext cx="684000" cy="12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1" lang="en-US" sz="750" spc="-1" strike="noStrike">
                <a:solidFill>
                  <a:srgbClr val="9fb4be"/>
                </a:solidFill>
                <a:latin typeface="Courier New"/>
              </a:rPr>
              <a:t>07</a:t>
            </a:r>
            <a:endParaRPr b="0" lang="en-US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2026-08-12T14:22:11Z</dcterms:created>
  <dc:creator/>
  <dc:description/>
  <dc:language>en-US</dc:language>
  <cp:lastModifiedBy/>
  <dcterms:modified xsi:type="dcterms:W3CDTF">2026-08-12T14:22:11Z</dcterms:modified>
  <cp:revision>1</cp:revision>
  <dc:subject/>
  <dc:title/>
</cp:coreProperties>
</file>