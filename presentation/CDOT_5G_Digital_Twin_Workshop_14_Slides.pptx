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F50C9B-49D4-46F0-9F89-4713814A22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1CDC17-FF35-4AF9-AE1A-948AAFBDE8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4A29D43-8629-4D61-B9CD-C4CE6C83FD8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22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60000" y="360000"/>
            <a:ext cx="1008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77c6d4"/>
                </a:solidFill>
                <a:latin typeface="Courier New"/>
              </a:rPr>
              <a:t>C-DOT · 5G DIGITAL TWIN · 90-MINUTE CONTROL-ROOM WORKSHOP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60000" y="1368000"/>
            <a:ext cx="6660000" cy="9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You are the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network controller.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360000" y="2736000"/>
            <a:ext cx="666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c5d9df"/>
                </a:solidFill>
                <a:latin typeface="Arial"/>
              </a:rPr>
              <a:t>A synthetic stadium surge is approaching. Vote before the result is revealed.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60000" y="4752000"/>
            <a:ext cx="3492000" cy="1044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d5b67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60000" y="4752000"/>
            <a:ext cx="64800" cy="104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76000" y="5004000"/>
            <a:ext cx="306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07c99"/>
                </a:solidFill>
                <a:latin typeface="Courier New"/>
              </a:rPr>
              <a:t>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76000" y="5472000"/>
            <a:ext cx="30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Arial"/>
              </a:rPr>
              <a:t>Keep Static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4140000" y="4752000"/>
            <a:ext cx="3492000" cy="1044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d5b67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140000" y="4752000"/>
            <a:ext cx="64800" cy="1044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356000" y="5004000"/>
            <a:ext cx="306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77b0b"/>
                </a:solidFill>
                <a:latin typeface="Courier New"/>
              </a:rPr>
              <a:t>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356000" y="5472000"/>
            <a:ext cx="30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Arial"/>
              </a:rPr>
              <a:t>React after overload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7920000" y="4752000"/>
            <a:ext cx="3492000" cy="1044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d5b67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920000" y="4752000"/>
            <a:ext cx="64800" cy="1044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8136000" y="5004000"/>
            <a:ext cx="306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6750a4"/>
                </a:solidFill>
                <a:latin typeface="Courier New"/>
              </a:rPr>
              <a:t>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8136000" y="5472000"/>
            <a:ext cx="30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Arial"/>
              </a:rPr>
              <a:t>Steer predictively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740000" y="1764000"/>
            <a:ext cx="3744000" cy="18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JOIN JUPYTERHUB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Open your assigned notebook.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Run Stage 01 preflight.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Reveal at minute 72.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3951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9fb4be"/>
                </a:solidFill>
                <a:latin typeface="Courier New"/>
              </a:rPr>
              <a:t>Synthetic simulation · no live C-DOT traffic · no SMF actuation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9fb4be"/>
                </a:solidFill>
                <a:latin typeface="Courier New"/>
              </a:rPr>
              <a:t>01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SCOPE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What this digital twin represents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007c99"/>
                </a:solidFill>
                <a:latin typeface="Courier New"/>
              </a:rPr>
              <a:t>02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36000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60000" y="1728000"/>
            <a:ext cx="64800" cy="417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57600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07c99"/>
                </a:solidFill>
                <a:latin typeface="Courier New"/>
              </a:rPr>
              <a:t>REPRESENTS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57600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Synthetic traffic, topology, capacity, telemetry, forecast uncertainty, optimization, policy gates and later evidence.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425988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4259880" y="1728000"/>
            <a:ext cx="64800" cy="4176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47588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d443b"/>
                </a:solidFill>
                <a:latin typeface="Courier New"/>
              </a:rPr>
              <a:t>DOES NOT REPRESENT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47588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Live C-DOT traffic, measured geography, autonomous production control, or established-session migration.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816012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8160120" y="1728000"/>
            <a:ext cx="64800" cy="417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37612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6750a4"/>
                </a:solidFill>
                <a:latin typeface="Courier New"/>
              </a:rPr>
              <a:t>CONTROL SCOPE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37612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Recommendations change only the placement of sessions that arrive after an accepted policy epoch.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Minute 6–14 · participant preflight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02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READINESS BOUNDARY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Implemented here; external integration remains gated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007c99"/>
                </a:solidFill>
                <a:latin typeface="Courier New"/>
              </a:rPr>
              <a:t>03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6000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360000" y="1728000"/>
            <a:ext cx="64800" cy="417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7600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6805f"/>
                </a:solidFill>
                <a:latin typeface="Courier New"/>
              </a:rPr>
              <a:t>IMPLEMENTED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7600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24-UPF/96-group synthetic model · deterministic simulator · HiGHS · policy gate · PBS campaign jobs · dashboard · replay.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25988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259880" y="1728000"/>
            <a:ext cx="64800" cy="4176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47588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77b0b"/>
                </a:solidFill>
                <a:latin typeface="Courier New"/>
              </a:rPr>
              <a:t>CLUSTER-PREFLIGHT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47588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SCIP, PySCIPOpt, ParaSCIP/UG, MPI/PALS and PBS launch syntax must pass on the actual cluster ≥7 days before delivery.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816012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8160120" y="1728000"/>
            <a:ext cx="64800" cy="4176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837612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d443b"/>
                </a:solidFill>
                <a:latin typeface="Courier New"/>
              </a:rPr>
              <a:t>EXTERNAL-PENDING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37612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C-DOT telemetry mapping · calibrated envelopes · security · SMF/EMS future-session hook · publication/rollback runbook.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No silent solver substitution · ParaSCIP readiness failure blocks the live track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03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END-TO-END LOOP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One causal control loop—from pressure to later evidence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007c99"/>
                </a:solidFill>
                <a:latin typeface="Courier New"/>
              </a:rPr>
              <a:t>04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6000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60000" y="1728000"/>
            <a:ext cx="64800" cy="417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7600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07c99"/>
                </a:solidFill>
                <a:latin typeface="Courier New"/>
              </a:rPr>
              <a:t>OBSERVE → FORECAST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7600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Offered demand and quality flags enter a closed-history p50/p90 forecast. Target data never enters features.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25988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259880" y="1728000"/>
            <a:ext cx="64800" cy="417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47588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6750a4"/>
                </a:solidFill>
                <a:latin typeface="Courier New"/>
              </a:rPr>
              <a:t>OPTIMIZE → CERTIFY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47588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Capacity, eligibility, health, locality and churn gates evaluate a candidate. Unsafe means last-safe/static.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816012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8160120" y="1728000"/>
            <a:ext cx="64800" cy="417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837612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6805f"/>
                </a:solidFill>
                <a:latin typeface="Courier New"/>
              </a:rPr>
              <a:t>PLACE → MEASURE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37612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Only future sessions use new weights. Carried traffic, overload and loss become later evidence—not rewritten history.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Causal markers are carried into twin-replay/1.0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04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TOPOLOGY + TRAFFIC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A synthetic national topology creates repeatable stress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007c99"/>
                </a:solidFill>
                <a:latin typeface="Courier New"/>
              </a:rPr>
              <a:t>05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6000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360000" y="1728000"/>
            <a:ext cx="64800" cy="417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57600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07c99"/>
                </a:solidFill>
                <a:latin typeface="Courier New"/>
              </a:rPr>
              <a:t>24 UPFs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7600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Heterogeneous UL/DL/session capacity, safe envelopes, health and failure-domain events.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425988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4259880" y="1728000"/>
            <a:ext cx="64800" cy="417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47588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6750a4"/>
                </a:solidFill>
                <a:latin typeface="Courier New"/>
              </a:rPr>
              <a:t>96 GROUPS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47588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Zone × DNN × S-NSSAI demand classes with eligibility and deterministic offered-load generation.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816012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160120" y="1728000"/>
            <a:ext cx="64800" cy="4176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37612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77b0b"/>
                </a:solidFill>
                <a:latin typeface="Courier New"/>
              </a:rPr>
              <a:t>TRAFFIC SEMANTICS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37612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Offered demand is attempted load. Carried is an outcome. Their constrained gap is loss/overload.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Synthetic spatial layout · not C-DOT geography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05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PBS ARCHITECTURE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160-node cluster buys breadth—not one giant simulation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007c99"/>
                </a:solidFill>
                <a:latin typeface="Courier New"/>
              </a:rPr>
              <a:t>06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36000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360000" y="1728000"/>
            <a:ext cx="64800" cy="417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7600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6805f"/>
                </a:solidFill>
                <a:latin typeface="Courier New"/>
              </a:rPr>
              <a:t>RIGHT UNIT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7600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One scenario × controller × seed is one bounded one-node, one-CPU PBS job.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25988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4259880" y="1728000"/>
            <a:ext cx="64800" cy="417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47588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07c99"/>
                </a:solidFill>
                <a:latin typeface="Courier New"/>
              </a:rPr>
              <a:t>CAMPAIGN BREADTH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47588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Independent jobs explore seeds, events, controllers and parameter regimes concurrently across the cluster.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816012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8160120" y="1728000"/>
            <a:ext cx="64800" cy="4176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837612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77b0b"/>
                </a:solidFill>
                <a:latin typeface="Courier New"/>
              </a:rPr>
              <a:t>ISOLATION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37612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$USER + PBS job ID + seed identify private outputs. No shared writable participant campaigns.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Minute 14–22 · 24 UPFs · 96 groups · arrays are a scenario factory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06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CONTINUOUS ALLOCATION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teaching LP turns demand into safe routing weights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007c99"/>
                </a:solidFill>
                <a:latin typeface="Courier New"/>
              </a:rPr>
              <a:t>07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36000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360000" y="1728000"/>
            <a:ext cx="64800" cy="417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7600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6750a4"/>
                </a:solidFill>
                <a:latin typeface="Courier New"/>
              </a:rPr>
              <a:t>VARIABLES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7600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xᵤ = new-session Mbps assigned to eligible UPF u · sᵤ = explicit overload slack.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425988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4259880" y="1728000"/>
            <a:ext cx="64800" cy="417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447588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07c99"/>
                </a:solidFill>
                <a:latin typeface="Courier New"/>
              </a:rPr>
              <a:t>CONSTRAINTS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447588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Σxᵤ = demand · xᵤ ≤ residual capacityᵤ + sᵤ · xᵤ = 0 when ineligible.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816012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8160120" y="1728000"/>
            <a:ext cx="64800" cy="417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837612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6805f"/>
                </a:solidFill>
                <a:latin typeface="Courier New"/>
              </a:rPr>
              <a:t>OBJECTIVE + OUTPUT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837612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Minimize latency-weighted allocation + severe slack penalty. Normalize wᵤ = xᵤ / demand.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Minute 22–32 · edit demand/capacity · solve with HiGHS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07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SOLVER + PBS MODEL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SCIP validates the LP; ParaSCIP demonstrates the larger MIP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007c99"/>
                </a:solidFill>
                <a:latin typeface="Courier New"/>
              </a:rPr>
              <a:t>08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36000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360000" y="1728000"/>
            <a:ext cx="64800" cy="417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7600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07c99"/>
                </a:solidFill>
                <a:latin typeface="Courier New"/>
              </a:rPr>
              <a:t>INDIVIDUAL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7600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Same LP in HiGHS and SCIP; feasible objectives must agree within tolerance. One-node SCIP job per participant.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425988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259880" y="1728000"/>
            <a:ext cx="64800" cy="417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447588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6750a4"/>
                </a:solidFill>
                <a:latin typeface="Courier New"/>
              </a:rPr>
              <a:t>WHY A MIP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47588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24-UPF/96-group assignment uses binary group→UPF and UPF-activation variables. The tiny LP cannot teach distributed search.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816012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8160120" y="1728000"/>
            <a:ext cx="64800" cy="4176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837612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d443b"/>
                </a:solidFill>
                <a:latin typeface="Courier New"/>
              </a:rPr>
              <a:t>PRESENTER ONLY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837612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One frozen-seed, two-node ParaSCIP/UG job in a reservation. Participants watch status/result; they never submit ParaSCIP.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Minute 32–52 · strict 4 GB / 5–10 minute ceilings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08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TRAFFIC ACCOUNTING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Offered demand and carried throughput answer different questions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007c99"/>
                </a:solidFill>
                <a:latin typeface="Courier New"/>
              </a:rPr>
              <a:t>09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36000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360000" y="1728000"/>
            <a:ext cx="64800" cy="417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57600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6750a4"/>
                </a:solidFill>
                <a:latin typeface="Courier New"/>
              </a:rPr>
              <a:t>OFFERED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57600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What active and newly arriving sessions attempted to transmit—independent of whether capacity served it.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425988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4259880" y="1728000"/>
            <a:ext cx="64800" cy="417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47588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07c99"/>
                </a:solidFill>
                <a:latin typeface="Courier New"/>
              </a:rPr>
              <a:t>CARRIED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47588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What crossed the modeled service path after capacity, queueing, rejection and drops.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816012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8160120" y="1728000"/>
            <a:ext cx="64800" cy="4176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837612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d443b"/>
                </a:solidFill>
                <a:latin typeface="Courier New"/>
              </a:rPr>
              <a:t>DO NOT CONFUSE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837612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A saturated carried-throughput series can hide true demand. Forecast from offered demand with quality flags.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Minute 52–62 · safety drill while PBS jobs run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09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CAUSALITY + P50/P90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Forecast uncertainty changes what ‘safe’ means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007c99"/>
                </a:solidFill>
                <a:latin typeface="Courier New"/>
              </a:rPr>
              <a:t>10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36000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60000" y="1728000"/>
            <a:ext cx="64800" cy="417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7600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07c99"/>
                </a:solidFill>
                <a:latin typeface="Courier New"/>
              </a:rPr>
              <a:t>CAUSAL INPUT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57600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Only closed windows at or before issue time. Scheduled events enter only when known by then.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425988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4259880" y="1728000"/>
            <a:ext cx="64800" cy="417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47588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6750a4"/>
                </a:solidFill>
                <a:latin typeface="Courier New"/>
              </a:rPr>
              <a:t>p50 vs p90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47588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p50 is central expectation; p90 is a conservative planning quantile—not a guarantee against surprise flash crowds.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816012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8160120" y="1728000"/>
            <a:ext cx="64800" cy="417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837612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6805f"/>
                </a:solidFill>
                <a:latin typeface="Courier New"/>
              </a:rPr>
              <a:t>MARK EVERY FRAME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837612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Source window, target window, policy apply step and anchored-session marker preserve replay semantics.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Forecasts are synthetic model outputs, not live traffic predictions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10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POLICY GATE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Certification makes rejection visible and fail-safe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007c99"/>
                </a:solidFill>
                <a:latin typeface="Courier New"/>
              </a:rPr>
              <a:t>11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36000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360000" y="1728000"/>
            <a:ext cx="64800" cy="417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57600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07c99"/>
                </a:solidFill>
                <a:latin typeface="Courier New"/>
              </a:rPr>
              <a:t>CHECK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57600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Causality · finite normalized weights · eligibility · health · locality · UL/DL/session headroom · churn.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425988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4259880" y="1728000"/>
            <a:ext cx="64800" cy="4176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447588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d443b"/>
                </a:solidFill>
                <a:latin typeface="Courier New"/>
              </a:rPr>
              <a:t>REJECT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447588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Unknown destination, non-normalized weight, unsafe projection or migration request fails certification.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8160120" y="1728000"/>
            <a:ext cx="357588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8160120" y="1728000"/>
            <a:ext cx="64800" cy="417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837612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6805f"/>
                </a:solidFill>
                <a:latin typeface="Courier New"/>
              </a:rPr>
              <a:t>FALL BACK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837612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Retain last-safe/static policy with reason, status, audit and expiry. Never publish slack or silently switch solvers.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Participant notebooks have neither credentials nor publication access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11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POSITIVE GUIDED EVIDENCE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guided three-UPF story is positive within its matched scope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007c99"/>
                </a:solidFill>
                <a:latin typeface="Courier New"/>
              </a:rPr>
              <a:t>12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360000" y="1404000"/>
            <a:ext cx="11376000" cy="468000"/>
          </a:xfrm>
          <a:prstGeom prst="roundRect">
            <a:avLst/>
          </a:prstGeom>
          <a:solidFill>
            <a:srgbClr val="faf0d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360000" y="1404000"/>
            <a:ext cx="64800" cy="46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12000" y="1548000"/>
            <a:ext cx="1087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c77b0b"/>
                </a:solidFill>
                <a:latin typeface="Courier New"/>
              </a:rPr>
              <a:t>EVIDENCE SCOPE · Frozen guided three-UPF showcase · 30 matched pairs · positive result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360000" y="2088000"/>
            <a:ext cx="3575880" cy="37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60000" y="2088000"/>
            <a:ext cx="64800" cy="3780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576000" y="234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6805f"/>
                </a:solidFill>
                <a:latin typeface="Courier New"/>
              </a:rPr>
              <a:t>+10.52%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576000" y="2808000"/>
            <a:ext cx="314388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Matched 30-pair guided result in the frozen three-UPF showcase evidence. Present as a scoped modeled improvement.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4259880" y="2088000"/>
            <a:ext cx="3575880" cy="37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4259880" y="2088000"/>
            <a:ext cx="64800" cy="378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4475880" y="234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6750a4"/>
                </a:solidFill>
                <a:latin typeface="Courier New"/>
              </a:rPr>
              <a:t>WHAT CHANGED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4475880" y="2808000"/>
            <a:ext cx="314388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Accepted weights changed future-session placement; established sessions stayed anchored.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8160120" y="2088000"/>
            <a:ext cx="3575880" cy="37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8160120" y="2088000"/>
            <a:ext cx="64800" cy="3780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8376120" y="234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d443b"/>
                </a:solidFill>
                <a:latin typeface="Courier New"/>
              </a:rPr>
              <a:t>WHAT IT DOES NOT PROVE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8376120" y="2808000"/>
            <a:ext cx="314388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No live-network benefit, no universal overload prevention, no production recommendation.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demo_api/data/cohort_mpc_full_campaign_evidence_v1.json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12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NATIONAL CONTROL SCIENCE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later national result does not promote MPC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007c99"/>
                </a:solidFill>
                <a:latin typeface="Courier New"/>
              </a:rPr>
              <a:t>13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360000" y="1404000"/>
            <a:ext cx="11376000" cy="468000"/>
          </a:xfrm>
          <a:prstGeom prst="roundRect">
            <a:avLst/>
          </a:prstGeom>
          <a:solidFill>
            <a:srgbClr val="faf0d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360000" y="1404000"/>
            <a:ext cx="64800" cy="46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612000" y="1548000"/>
            <a:ext cx="1087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c77b0b"/>
                </a:solidFill>
                <a:latin typeface="Courier New"/>
              </a:rPr>
              <a:t>EVIDENCE SCOPE · Later national-scale control-science campaign · production decision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360000" y="2088000"/>
            <a:ext cx="3575880" cy="37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360000" y="2088000"/>
            <a:ext cx="64800" cy="378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576000" y="234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07c99"/>
                </a:solidFill>
                <a:latin typeface="Courier New"/>
              </a:rPr>
              <a:t>LATER EVIDENCE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576000" y="2808000"/>
            <a:ext cx="314388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Broader national-scale campaign evaluates the controller under more regimes and guardrails than the guided story.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4259880" y="2088000"/>
            <a:ext cx="3575880" cy="37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4259880" y="2088000"/>
            <a:ext cx="64800" cy="3780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4475880" y="234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d443b"/>
                </a:solidFill>
                <a:latin typeface="Courier New"/>
              </a:rPr>
              <a:t>DECISION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4475880" y="2808000"/>
            <a:ext cx="314388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MPC fails promotion. Static remains the production-safe controller conclusion.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8160120" y="2088000"/>
            <a:ext cx="3575880" cy="37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8160120" y="2088000"/>
            <a:ext cx="64800" cy="3780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8376120" y="234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77b0b"/>
                </a:solidFill>
                <a:latin typeface="Courier New"/>
              </a:rPr>
              <a:t>HONEST HANDOFF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8376120" y="2808000"/>
            <a:ext cx="314388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The older +10.52% remains useful teaching evidence, but is not the latest production recommendation.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configs/control_science_v1.json · promotion conclusion is authoritative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13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22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77c6d4"/>
                </a:solidFill>
                <a:latin typeface="Courier New"/>
              </a:rPr>
              <a:t>EXPERIENCE + CLOSE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ffffff"/>
                </a:solidFill>
                <a:latin typeface="Arial"/>
              </a:rPr>
              <a:t>From dashboard and 3D replay to a bounded advisory pilot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213e4b"/>
          </a:solidFill>
          <a:ln w="6480">
            <a:solidFill>
              <a:srgbClr val="54717d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10" spc="-1" strike="noStrike">
                <a:solidFill>
                  <a:srgbClr val="f4c36b"/>
                </a:solidFill>
                <a:latin typeface="Courier New"/>
              </a:rPr>
              <a:t>SYNTHETIC DATA</a:t>
            </a:r>
            <a:endParaRPr b="0" lang="en-US" sz="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360000" y="1116000"/>
            <a:ext cx="86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338" strike="noStrike">
                <a:solidFill>
                  <a:srgbClr val="77c6d4"/>
                </a:solidFill>
                <a:latin typeface="Courier New"/>
              </a:rPr>
              <a:t>14 · 90-MINUTE WORKSHOP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360000" y="1728000"/>
            <a:ext cx="3575880" cy="4176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d5b67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360000" y="1728000"/>
            <a:ext cx="64800" cy="417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57600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6750a4"/>
                </a:solidFill>
                <a:latin typeface="Courier New"/>
              </a:rPr>
              <a:t>EXPERIENCE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57600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Arial"/>
              </a:rPr>
              <a:t>Presenter dashboard streams the guided story; participant iframe replays completed Parquet in the full Three.js world.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4259880" y="1728000"/>
            <a:ext cx="3575880" cy="4176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d5b67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4259880" y="1728000"/>
            <a:ext cx="64800" cy="4176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447588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77b0b"/>
                </a:solidFill>
                <a:latin typeface="Courier New"/>
              </a:rPr>
              <a:t>OPERATIONAL GATES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447588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Arial"/>
              </a:rPr>
              <a:t>35-user rehearsal · reserved short queue · offline assets · WebGL2 · storage pressure · 90-minute run + 5-minute margin.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8160120" y="1728000"/>
            <a:ext cx="3575880" cy="4176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d5b67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8160120" y="1728000"/>
            <a:ext cx="64800" cy="417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8376120" y="1980000"/>
            <a:ext cx="31438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6805f"/>
                </a:solidFill>
                <a:latin typeface="Courier New"/>
              </a:rPr>
              <a:t>C-DOT PATH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8376120" y="2448000"/>
            <a:ext cx="3143880" cy="32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Arial"/>
              </a:rPr>
              <a:t>Map telemetry → calibrate envelopes → shadow/advisory replay → secure audited future-session pilot → rollback exercise.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3951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-45360" bIns="-453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9fb4be"/>
                </a:solidFill>
                <a:latin typeface="Courier New"/>
              </a:rPr>
              <a:t>Minute 87–90 · export WorkshopReport · close the advisory-pilot sentence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750" spc="-1" strike="noStrike">
                <a:solidFill>
                  <a:srgbClr val="9fb4be"/>
                </a:solidFill>
                <a:latin typeface="Courier New"/>
              </a:rPr>
              <a:t>14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2026-08-22T18:10:50Z</dcterms:created>
  <dc:creator/>
  <dc:description/>
  <dc:language>en-US</dc:language>
  <cp:lastModifiedBy/>
  <dcterms:modified xsi:type="dcterms:W3CDTF">2026-08-22T18:10:51Z</dcterms:modified>
  <cp:revision>1</cp:revision>
  <dc:subject/>
  <dc:title/>
</cp:coreProperties>
</file>