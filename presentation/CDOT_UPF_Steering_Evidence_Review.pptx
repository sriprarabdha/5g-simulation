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317" r:id="rId68"/>
    <p:sldId id="318" r:id="rId69"/>
    <p:sldId id="262" r:id="rId13"/>
    <p:sldId id="263" r:id="rId14"/>
    <p:sldId id="264" r:id="rId15"/>
    <p:sldId id="265" r:id="rId16"/>
    <p:sldId id="266" r:id="rId17"/>
    <p:sldId id="267" r:id="rId18"/>
    <p:sldId id="268" r:id="rId19"/>
    <p:sldId id="325" r:id="rId76"/>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326" r:id="rId7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9" r:id="rId70"/>
    <p:sldId id="320" r:id="rId71"/>
    <p:sldId id="321" r:id="rId72"/>
    <p:sldId id="322" r:id="rId73"/>
    <p:sldId id="323" r:id="rId74"/>
    <p:sldId id="324" r:id="rId75"/>
    <p:sldId id="310" r:id="rId61"/>
    <p:sldId id="311" r:id="rId62"/>
    <p:sldId id="312" r:id="rId63"/>
    <p:sldId id="313" r:id="rId64"/>
    <p:sldId id="314" r:id="rId65"/>
    <p:sldId id="315" r:id="rId66"/>
    <p:sldId id="316" r:id="rId67"/>
    <p:sldId id="327" r:id="rId78"/>
    <p:sldId id="328" r:id="rId79"/>
    <p:sldId id="329" r:id="rId80"/>
    <p:sldId id="330" r:id="rId81"/>
    <p:sldId id="331" r:id="rId82"/>
    <p:sldId id="332" r:id="rId83"/>
    <p:sldId id="333" r:id="rId84"/>
    <p:sldId id="334" r:id="rId85"/>
    <p:sldId id="335" r:id="rId86"/>
    <p:sldId id="336"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65.xml"/><Relationship Id="rId62" Type="http://schemas.openxmlformats.org/officeDocument/2006/relationships/slide" Target="slides/slide66.xml"/><Relationship Id="rId63" Type="http://schemas.openxmlformats.org/officeDocument/2006/relationships/slide" Target="slides/slide67.xml"/><Relationship Id="rId64" Type="http://schemas.openxmlformats.org/officeDocument/2006/relationships/slide" Target="slides/slide68.xml"/><Relationship Id="rId65" Type="http://schemas.openxmlformats.org/officeDocument/2006/relationships/slide" Target="slides/slide69.xml"/><Relationship Id="rId66" Type="http://schemas.openxmlformats.org/officeDocument/2006/relationships/slide" Target="slides/slide70.xml"/><Relationship Id="rId67" Type="http://schemas.openxmlformats.org/officeDocument/2006/relationships/slide" Target="slides/slide71.xml"/><Relationship Id="rId68" Type="http://schemas.openxmlformats.org/officeDocument/2006/relationships/slide" Target="slides/slide7.xml"/><Relationship Id="rId69" Type="http://schemas.openxmlformats.org/officeDocument/2006/relationships/slide" Target="slides/slide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16.xml"/><Relationship Id="rId77" Type="http://schemas.openxmlformats.org/officeDocument/2006/relationships/slide" Target="slides/slide45.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We control only where a new session starts. We do not control the load already committed by existing sessions.</a:t>
            </a:r>
          </a:p>
          <a:p/>
          <a:p>
            <a:r>
              <a:t>SAY: Think of choosing a parking building when a car enters. Once parked, we currently assume the car cannot be moved.</a:t>
            </a:r>
          </a:p>
          <a:p/>
          <a:p>
            <a:r>
              <a:t>IF ASKED: Session migration is an open C-DOT question, not a proven impossibility.</a:t>
            </a:r>
          </a:p>
          <a:p/>
          <a:p>
            <a:r>
              <a:t>DO NOT CLAIM: That we steer packets or live traffic.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Every ten minutes the system observes closed telemetry, predicts demand, proposes weights, validates them, and either recommends them or retains static.</a:t>
            </a:r>
          </a:p>
          <a:p/>
          <a:p>
            <a:r>
              <a:t>SAY: The validator—not the optimizer—has the final word.</a:t>
            </a:r>
          </a:p>
          <a:p/>
          <a:p>
            <a:r>
              <a:t>IF ASKED: A decision at time t affects only sessions beginning after 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 controller helps when capacity loss is announced. It deliberately behaves like static when there is no declared event.</a:t>
            </a:r>
          </a:p>
          <a:p/>
          <a:p>
            <a:r>
              <a:t>SAY: The boundary is the result: declared loss, yes; pure surprise, tie; declared loss followed by another surprise, residual risk.</a:t>
            </a:r>
          </a:p>
          <a:p/>
          <a:p>
            <a:r>
              <a:t>DO NOT CLAIM: Universal 24%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We decide the success rules before looking at protected results and compare controllers on exactly matched days.</a:t>
            </a:r>
          </a:p>
          <a:p/>
          <a:p>
            <a:r>
              <a:t>SAY: Same seed, same failure, same traffic—only the controller changes.</a:t>
            </a:r>
          </a:p>
          <a:p/>
          <a:p>
            <a:r>
              <a:t>IF ASKED: Confidence intervals and worst-case days prevent a good average from hiding unsafe cases.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Each 30-second step updates time-of-day traffic, events, session arrivals, placement, capacity and telemetry.</a:t>
            </a:r>
          </a:p>
          <a:p/>
          <a:p>
            <a:r>
              <a:t>SAY: Separate random-number streams stop a code change in failures from silently changing arrivals.</a:t>
            </a:r>
          </a:p>
          <a:p/>
          <a:p>
            <a:r>
              <a:t>IF ASKED: This is discrete-time session simulation, not packet simulation.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We divide demand into 96 groups so unlike services are not averaged together.</a:t>
            </a:r>
          </a:p>
          <a:p/>
          <a:p>
            <a:r>
              <a:t>SAY: A stadium uploader and an IoT meter should not share one forecast or one routing policy.</a:t>
            </a:r>
          </a:p>
          <a:p/>
          <a:p>
            <a:r>
              <a:t>IF ASKED: The selection key is area/DNN/slice; 5QI is descriptive unless C-DOT confirms otherwise.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Area labels choose service mixes and daily shapes. The current population scale is synthetic.</a:t>
            </a:r>
          </a:p>
          <a:p/>
          <a:p>
            <a:r>
              <a:t>SAY: Rural appearing largest is a known index-ramp artifact, not a claim about Indian usage.</a:t>
            </a:r>
          </a:p>
          <a:p/>
          <a:p>
            <a:r>
              <a:t>DO NOT CLAIM: Geographic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Area labels choose service mixes and daily shapes. The current population scale is synthetic.</a:t>
            </a:r>
          </a:p>
          <a:p/>
          <a:p>
            <a:r>
              <a:t>SAY: Rural appearing largest is a known index-ramp artifact, not a claim about Indian usage.</a:t>
            </a:r>
          </a:p>
          <a:p/>
          <a:p>
            <a:r>
              <a:t>DO NOT CLAIM: Geographic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Twelve service classes differ in duration, bandwidth direction, latency sensitivity and time-of-day pattern.</a:t>
            </a:r>
          </a:p>
          <a:p/>
          <a:p>
            <a:r>
              <a:t>SAY: The differences matter because a long IoT or industrial session commits capacity differently from a short social upload.</a:t>
            </a:r>
          </a:p>
          <a:p/>
          <a:p>
            <a:r>
              <a:t>IF ASKED: 5QI comes from the service description; it is not automatically a UPF-selection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There are only four layers: average scale, time shape, randomness and session persistence. The next slide writes these four layers as equations.</a:t>
            </a:r>
          </a:p>
          <a:p/>
          <a:p>
            <a:r>
              <a:t>IF ASKED: Every random draw is seeded and named so a result can be reproduced.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Arrival rate equals baseline multiplied by daily/weekly/event factors and correlated noise. Each arrival then receives bandwidth and duration.</a:t>
            </a:r>
          </a:p>
          <a:p/>
          <a:p>
            <a:r>
              <a:t>SAY: The equations generate offered demand; capacity is applied afterwards.</a:t>
            </a:r>
          </a:p>
          <a:p/>
          <a:p>
            <a:r>
              <a:t>DO NOT CLAIM: That the parameter values came from C-DOT.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 first 16-week corpus used the simpler generator. The newer realism layer adds correlated bandwidth and heavy-tailed durations and validates them by re-fitting output.</a:t>
            </a:r>
          </a:p>
          <a:p/>
          <a:p>
            <a:r>
              <a:t>SAY: The realism layer is ready, but the 112-day history has not yet been regenerated with it.</a:t>
            </a:r>
          </a:p>
          <a:p/>
          <a:p>
            <a:r>
              <a:t>DO NOT MIX: Results from the older corpus with claims about the newer generator.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Demand surges and capacity failures are independent so a controller cannot learn that one always predicts the other.</a:t>
            </a:r>
          </a:p>
          <a:p/>
          <a:p>
            <a:r>
              <a:t>SAY: Planned maintenance has notice; a surprise surge intentionally does not.</a:t>
            </a:r>
          </a:p>
          <a:p/>
          <a:p>
            <a:r>
              <a:t>IF ASKED: Mixed stress is the hard case because pre-drained sessions may be committed to the next failing UPF.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We ask whether the generated output matches the distributions and conservation laws requested in the configuration.</a:t>
            </a:r>
          </a:p>
          <a:p/>
          <a:p>
            <a:r>
              <a:t>SAY: Internal validity is strong; external calibration to C-DOT is not yet done.</a:t>
            </a:r>
          </a:p>
          <a:p/>
          <a:p>
            <a:r>
              <a:t>DO NOT CLAIM: Realism merely because the graphs look plausible.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 simulator creates clean truth and separately creates damaged telemetry. The pipeline must detect gaps, stale values and counter resets.</a:t>
            </a:r>
          </a:p>
          <a:p/>
          <a:p>
            <a:r>
              <a:t>SAY: Never smooth across a reset; that invents traffic.</a:t>
            </a:r>
          </a:p>
          <a:p/>
          <a:p>
            <a:r>
              <a:t>IF ASKED: Two training rounds were discarded when the quality aggregation semantics were found wrong.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Long runs stream results rather than accumulating them in memory. Independent scenario/seed shards use cluster parallelism.</a:t>
            </a:r>
          </a:p>
          <a:p/>
          <a:p>
            <a:r>
              <a:t>SAY: We scale across experiments, not by splitting one ordinary simulation over 160 nodes.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 model predicts new-session demand per group at several horizons, plus an uncertainty bound.</a:t>
            </a:r>
          </a:p>
          <a:p/>
          <a:p>
            <a:r>
              <a:t>SAY: Existing carried load is handled separately because it is already committed.</a:t>
            </a:r>
          </a:p>
          <a:p/>
          <a:p>
            <a:r>
              <a:t>IF ASKED: Only features available at forecast issue time are permitted.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WAPE is total absolute error divided by total actual demand. Lower is better.</a:t>
            </a:r>
          </a:p>
          <a:p/>
          <a:p>
            <a:r>
              <a:t>SAY: It is volume-weighted and understandable, but it can hide a bad small slice, so worst-slice gates are separate.</a:t>
            </a:r>
          </a:p>
          <a:p/>
          <a:p>
            <a:r>
              <a:t>DO NOT CLAIM: 7.63% error for every group or every event.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A model earns value only by beating strong simple forecasts on identical rows.</a:t>
            </a:r>
          </a:p>
          <a:p/>
          <a:p>
            <a:r>
              <a:t>SAY: Yesterday and seasonal baselines also obey the no-future rule.</a:t>
            </a:r>
          </a:p>
          <a:p/>
          <a:p>
            <a:r>
              <a:t>IF ASKED: The comparison is causal and matched.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 most accurate model is not automatically released. Every accuracy, coverage, peak and worst-slice gate must pass.</a:t>
            </a:r>
          </a:p>
          <a:p/>
          <a:p>
            <a:r>
              <a:t>SAY: LightGBM won average accuracy but lost the release decision.</a:t>
            </a:r>
          </a:p>
          <a:p/>
          <a:p>
            <a:r>
              <a:t>DO NOT CLAIM: That ridge is the globally best forecasting algorithm.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 most accurate model is not automatically released. Every accuracy, coverage, peak and worst-slice gate must pass.</a:t>
            </a:r>
          </a:p>
          <a:p/>
          <a:p>
            <a:r>
              <a:t>SAY: LightGBM won average accuracy but lost the release decision.</a:t>
            </a:r>
          </a:p>
          <a:p/>
          <a:p>
            <a:r>
              <a:t>DO NOT CLAIM: That ridge is the globally best forecasting algorithm.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Overall averages look acceptable while the event periods that matter remain hard.</a:t>
            </a:r>
          </a:p>
          <a:p/>
          <a:p>
            <a:r>
              <a:t>SAY: This is why control evidence is required; forecast improvement does not guarantee operational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Training happens offline; inference happens on every decision round and must fit the operational deadline.</a:t>
            </a:r>
          </a:p>
          <a:p/>
          <a:p>
            <a:r>
              <a:t>SAY: A more complex model is acceptable only if its accuracy benefit survives the end-to-end latency and release gates.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Ridge stays because the selection contract says no challenger passed every gate.</a:t>
            </a:r>
          </a:p>
          <a:p/>
          <a:p>
            <a:r>
              <a:t>SAY: Keeping a simpler model is the consequence of the rule, not personal preference.</a:t>
            </a:r>
          </a:p>
          <a:p/>
          <a:p>
            <a:r>
              <a:t>IF ASKED: Conformal bounds give the optimizer a calibrated upper-demand estimate.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Arrival rate equals baseline multiplied by daily/weekly/event factors and correlated noise. Each arrival then receives bandwidth and duration.</a:t>
            </a:r>
          </a:p>
          <a:p/>
          <a:p>
            <a:r>
              <a:t>SAY: The equations generate offered demand; capacity is applied afterwards.</a:t>
            </a:r>
          </a:p>
          <a:p/>
          <a:p>
            <a:r>
              <a:t>DO NOT CLAIM: That the parameter values came from C-DOT.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Only the small flow of new sessions is movable; hours of existing load are anchored.</a:t>
            </a:r>
          </a:p>
          <a:p/>
          <a:p>
            <a:r>
              <a:t>SAY: This limited lever explains why prediction alone often has modest effect.</a:t>
            </a:r>
          </a:p>
          <a:p/>
          <a:p>
            <a:r>
              <a:t>IF ASKED: The controllable fraction varies by scenario; the deck summarizes it as about 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variables are percentages, the objective ranks undesirable outcomes, and constraints are hard rules. MPC repeats the same calculation over a horizon.</a:t>
            </a:r>
          </a:p>
          <a:p/>
          <a:p>
            <a:r>
              <a:t>IF ASKED: A separate policy validator recomputes feasibility before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These controllers differ in how much future information and state they use. Static is the reference; oracle is an impossible upper bound.</a:t>
            </a:r>
          </a:p>
          <a:p/>
          <a:p>
            <a:r>
              <a:t>SAY: Reactive is intuitive but harmful because it reacts after sessions are already committed.</a:t>
            </a:r>
          </a:p>
          <a:p/>
          <a:p>
            <a:r>
              <a:t>DO NOT CLAIM: Any candidate is deployed on C-DOT.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 LP found a valid mathematical solution but barely improved overload because it could move only new sessions.</a:t>
            </a:r>
          </a:p>
          <a:p/>
          <a:p>
            <a:r>
              <a:t>SAY: Solver success and operational success are different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Changing penalty weights did not repair the weak lever.</a:t>
            </a:r>
          </a:p>
          <a:p/>
          <a:p>
            <a:r>
              <a:t>SAY: Tuning a formulation cannot create controllability that the architecture does not provide.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 oracle asks whether improvement is theoretically available if the future were known.</a:t>
            </a:r>
          </a:p>
          <a:p/>
          <a:p>
            <a:r>
              <a:t>SAY: It proves headroom exists, especially around known failures; it is not deployable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MPC predicts several future steps, applies one decision and replans. Earlier test pools gave unstable results.</a:t>
            </a:r>
          </a:p>
          <a:p/>
          <a:p>
            <a:r>
              <a:t>SAY: Keep this negative history because it explains why Experiment 7 required an evaluator audit.</a:t>
            </a:r>
          </a:p>
          <a:p/>
          <a:p>
            <a:r>
              <a:t>DO NOT CLAIM: The old −13.3% is the current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MPC predicts several future steps, applies one decision and replans. Earlier test pools gave unstable results.</a:t>
            </a:r>
          </a:p>
          <a:p/>
          <a:p>
            <a:r>
              <a:t>SAY: Keep this negative history because it explains why Experiment 7 required an evaluator audit.</a:t>
            </a:r>
          </a:p>
          <a:p/>
          <a:p>
            <a:r>
              <a:t>DO NOT CLAIM: The old −13.3% is the current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MPC needs to estimate how much placed load will survive into each future step. Kaplan–Meier learns that survival curve from start/stop logs without peeking at simulator settings.</a:t>
            </a:r>
          </a:p>
          <a:p/>
          <a:p>
            <a:r>
              <a:t>IF ASKED: It handles censored sessions that are still running at the end of an observation period.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Pre-drain uses advance maintenance notice to reduce new placements before capacity drops.</a:t>
            </a:r>
          </a:p>
          <a:p/>
          <a:p>
            <a:r>
              <a:t>SAY: The older configuration campaign exposed the gain-versus-worst-case trade. Experiment 7 later corrected evaluator defects and superseded the release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Pre-drain uses advance maintenance notice to reduce new placements before capacity drops.</a:t>
            </a:r>
          </a:p>
          <a:p/>
          <a:p>
            <a:r>
              <a:t>SAY: The older configuration campaign exposed the gain-versus-worst-case trade. Experiment 7 later corrected evaluator defects and superseded the release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End-to-end decision time matters, not only solver time.</a:t>
            </a:r>
          </a:p>
          <a:p/>
          <a:p>
            <a:r>
              <a:t>SAY: The latency budget includes feature preparation, solve, validation and policy construction.</a:t>
            </a:r>
          </a:p>
          <a:p/>
          <a:p>
            <a:r>
              <a:t>IF ASKED: Faster cadence can raise churn without meaningful gain.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A candidate must pass the whole row; one failed safety or evidence check blocks promotion.</a:t>
            </a:r>
          </a:p>
          <a:p/>
          <a:p>
            <a:r>
              <a:t>SAY: This slide records the earlier campaign. Experiment 7's 36 passing configurations are the current result.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Proposed actions move through preflight, solve, independent validation and fallback.</a:t>
            </a:r>
          </a:p>
          <a:p/>
          <a:p>
            <a:r>
              <a:t>SAY: A feasible solver status is necessary but not sufficient for policy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 team found that some 'solved' plans still exceeded a constraint slightly.</a:t>
            </a:r>
          </a:p>
          <a:p/>
          <a:p>
            <a:r>
              <a:t>SAY: The correct response was a new mandatory validation gate, not rounding the violation away.</a:t>
            </a:r>
          </a:p>
          <a:p/>
          <a:p>
            <a:r>
              <a:t>IF ASKED: The affected candidates were already rejected, so no unsafe release occurred.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Three evaluator/scenario defects—not controller changes—had made the contract effectively impossible to pass.</a:t>
            </a:r>
          </a:p>
          <a:p/>
          <a:p>
            <a:r>
              <a:t>SAY: Units, infinite tie metrics and horizon sizing were corrected, then candidates were re-run on frozen pools.</a:t>
            </a:r>
          </a:p>
          <a:p/>
          <a:p>
            <a:r>
              <a:t>DO NOT CLAIM: That auditing always improves results; here it changed the measured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Each dot is one configuration tested on the same 125 paired days. Thirty-six passed every gate.</a:t>
            </a:r>
          </a:p>
          <a:p/>
          <a:p>
            <a:r>
              <a:t>SAY: Discovery selects candidates; it is not the headline evidence because selection creates optimism.</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Frozen leaders were tested on seeds never used for selection. Three of four kept every gate.</a:t>
            </a:r>
          </a:p>
          <a:p/>
          <a:p>
            <a:r>
              <a:t>SAY: The 3–4 point drop is expected selection bias being removed.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There are three operational states: declared loss, pure surprise and declared loss followed by surprise.</a:t>
            </a:r>
          </a:p>
          <a:p/>
          <a:p>
            <a:r>
              <a:t>SAY: Predictive wins the first, ties the second, and has residual risk in the third.</a:t>
            </a:r>
          </a:p>
          <a:p/>
          <a:p>
            <a:r>
              <a:t>DO NOT CLAIM: 0 regressions across all stress families.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Notice time is a resource. More warning lets long-lived sessions drain naturally before capacity falls.</a:t>
            </a:r>
          </a:p>
          <a:p/>
          <a:p>
            <a:r>
              <a:t>SAY: Three hours instead of thirty minutes can matter more than changing the model.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Solving more often did not materially improve gain, but it changed routing weights much more.</a:t>
            </a:r>
          </a:p>
          <a:p/>
          <a:p>
            <a:r>
              <a:t>SAY: Two minutes bought 0.02 percentage points for 3.7 times the churn in the matched example.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Static is the reference default. Predictive candidates are for declared-maintenance shadow evaluation only.</a:t>
            </a:r>
          </a:p>
          <a:p/>
          <a:p>
            <a:r>
              <a:t>SAY: No live policy publication is authorized.</a:t>
            </a:r>
          </a:p>
          <a:p/>
          <a:p>
            <a:r>
              <a:t>IF ASKED: MPC is the conservative candidate; pre-drain has higher gain and higher mixed-event exposure.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We decide the success rules before looking at protected results and compare controllers on exactly matched days.</a:t>
            </a:r>
          </a:p>
          <a:p/>
          <a:p>
            <a:r>
              <a:t>SAY: Same seed, same failure, same traffic—only the controller changes.</a:t>
            </a:r>
          </a:p>
          <a:p/>
          <a:p>
            <a:r>
              <a:t>IF ASKED: Confidence intervals and worst-case days prevent a good average from hiding unsafe cases.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Three operator facts matter more than another model iteration: migration capability, telemetry contract and the right operational loss metric.</a:t>
            </a:r>
          </a:p>
          <a:p/>
          <a:p>
            <a:r>
              <a:t>SAY: The meeting should assign owners to concrete inputs for a shadow replay.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These are measured outputs from one frozen synthetic calibration run, not configuration targets.</a:t>
            </a:r>
          </a:p>
          <a:p/>
          <a:p>
            <a:r>
              <a:t>SAY: Offered is user demand; carried is served traffic; drops and rejects explain the difference.</a:t>
            </a:r>
          </a:p>
          <a:p/>
          <a:p>
            <a:r>
              <a:t>DO NOT CLAIM: That the totals match C-DOT production traffic.</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These are measured outputs from one frozen synthetic calibration run, not configuration targets.</a:t>
            </a:r>
          </a:p>
          <a:p/>
          <a:p>
            <a:r>
              <a:t>SAY: Offered is user demand; carried is served traffic; drops and rejects explain the difference.</a:t>
            </a:r>
          </a:p>
          <a:p/>
          <a:p>
            <a:r>
              <a:t>DO NOT CLAIM: That the totals match C-DOT production traffic.</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Some dimensions resemble national scale, while geography, capacity and subscriber calibration remain synthetic.</a:t>
            </a:r>
          </a:p>
          <a:p/>
          <a:p>
            <a:r>
              <a:t>SAY: The honest answer is 'partly'—large enough to stress the machinery, not yet operator-calibrated.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This test checks whether a longer simulation leaks memory.</a:t>
            </a:r>
          </a:p>
          <a:p/>
          <a:p>
            <a:r>
              <a:t>SAY: Seven times the duration used only 4.1% more peak memory, supporting streaming execution.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This test finds how many independent workers a node can sustain before memory or scheduling overhead harms throughput.</a:t>
            </a:r>
          </a:p>
          <a:p/>
          <a:p>
            <a:r>
              <a:t>SAY: Packing is measured rather than assumed.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Scale-out is gated: prove the same inputs on two nodes, then four, then twelve.</a:t>
            </a:r>
          </a:p>
          <a:p/>
          <a:p>
            <a:r>
              <a:t>SAY: Each node owns independent work; matching hashes and complete shard reports gate the next rung.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ver_band.png"/>
          <p:cNvPicPr>
            <a:picLocks noChangeAspect="1"/>
          </p:cNvPicPr>
          <p:nvPr/>
        </p:nvPicPr>
        <p:blipFill>
          <a:blip r:embed="rId2"/>
          <a:stretch>
            <a:fillRect/>
          </a:stretch>
        </p:blipFill>
        <p:spPr>
          <a:xfrm>
            <a:off x="0" y="4590288"/>
            <a:ext cx="12191695" cy="2267712"/>
          </a:xfrm>
          <a:prstGeom prst="rect">
            <a:avLst/>
          </a:prstGeom>
        </p:spPr>
      </p:pic>
      <p:sp>
        <p:nvSpPr>
          <p:cNvPr id="5" name="TextBox 4"/>
          <p:cNvSpPr txBox="1"/>
          <p:nvPr/>
        </p:nvSpPr>
        <p:spPr>
          <a:xfrm>
            <a:off x="658368" y="9326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DIGITAL TWIN · FORECASTING · CONTROL SCIENCE</a:t>
            </a:r>
          </a:p>
        </p:txBody>
      </p:sp>
      <p:sp>
        <p:nvSpPr>
          <p:cNvPr id="6" name="TextBox 5"/>
          <p:cNvSpPr txBox="1"/>
          <p:nvPr/>
        </p:nvSpPr>
        <p:spPr>
          <a:xfrm>
            <a:off x="658368" y="1298448"/>
            <a:ext cx="8778240" cy="2011680"/>
          </a:xfrm>
          <a:prstGeom prst="rect">
            <a:avLst/>
          </a:prstGeom>
          <a:noFill/>
        </p:spPr>
        <p:txBody>
          <a:bodyPr wrap="square" anchor="t" lIns="0" rIns="0" tIns="0" bIns="0">
            <a:spAutoFit/>
          </a:bodyPr>
          <a:lstStyle/>
          <a:p>
            <a:pPr algn="l">
              <a:lnSpc>
                <a:spcPct val="105000"/>
              </a:lnSpc>
            </a:pPr>
            <a:r>
              <a:rPr sz="4400" b="0" i="0">
                <a:solidFill>
                  <a:srgbClr val="111721"/>
                </a:solidFill>
                <a:latin typeface="Georgia"/>
              </a:rPr>
              <a:t>Sending 5G traffic to the right box </a:t>
            </a:r>
            <a:r>
              <a:rPr sz="4400" b="0" i="1">
                <a:solidFill>
                  <a:srgbClr val="0F4C5C"/>
                </a:solidFill>
                <a:latin typeface="Georgia"/>
              </a:rPr>
              <a:t>before</a:t>
            </a:r>
            <a:r>
              <a:rPr sz="4400" b="0" i="0">
                <a:solidFill>
                  <a:srgbClr val="111721"/>
                </a:solidFill>
                <a:latin typeface="Georgia"/>
              </a:rPr>
              <a:t> it jams</a:t>
            </a:r>
          </a:p>
        </p:txBody>
      </p:sp>
      <p:sp>
        <p:nvSpPr>
          <p:cNvPr id="7" name="TextBox 6"/>
          <p:cNvSpPr txBox="1"/>
          <p:nvPr/>
        </p:nvSpPr>
        <p:spPr>
          <a:xfrm>
            <a:off x="658368" y="2962656"/>
            <a:ext cx="6766560" cy="822960"/>
          </a:xfrm>
          <a:prstGeom prst="rect">
            <a:avLst/>
          </a:prstGeom>
          <a:noFill/>
        </p:spPr>
        <p:txBody>
          <a:bodyPr wrap="square" anchor="t" lIns="0" rIns="0" tIns="0" bIns="0">
            <a:spAutoFit/>
          </a:bodyPr>
          <a:lstStyle/>
          <a:p>
            <a:pPr algn="l">
              <a:lnSpc>
                <a:spcPct val="145000"/>
              </a:lnSpc>
            </a:pPr>
            <a:r>
              <a:rPr sz="1350" b="0" i="0">
                <a:solidFill>
                  <a:srgbClr val="3C4653"/>
                </a:solidFill>
                <a:latin typeface="Segoe UI"/>
              </a:rPr>
              <a:t>A digital twin of a national 5G user plane, a demand forecaster, an optimizer — and 588 head-to-head experiments to find out whether the smart version actually wins.</a:t>
            </a:r>
          </a:p>
        </p:txBody>
      </p:sp>
      <p:sp>
        <p:nvSpPr>
          <p:cNvPr id="8" name="Rectangle 7"/>
          <p:cNvSpPr/>
          <p:nvPr/>
        </p:nvSpPr>
        <p:spPr>
          <a:xfrm>
            <a:off x="658368" y="3767328"/>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931920"/>
            <a:ext cx="1629613" cy="365760"/>
          </a:xfrm>
          <a:prstGeom prst="rect">
            <a:avLst/>
          </a:prstGeom>
          <a:noFill/>
        </p:spPr>
        <p:txBody>
          <a:bodyPr wrap="square" anchor="t" lIns="0" rIns="0" tIns="0" bIns="0">
            <a:spAutoFit/>
          </a:bodyPr>
          <a:lstStyle/>
          <a:p>
            <a:pPr algn="l">
              <a:lnSpc>
                <a:spcPct val="100000"/>
              </a:lnSpc>
            </a:pPr>
            <a:r>
              <a:rPr sz="2300" b="0" i="0">
                <a:solidFill>
                  <a:srgbClr val="111721"/>
                </a:solidFill>
                <a:latin typeface="Georgia"/>
              </a:rPr>
              <a:t>16 M</a:t>
            </a:r>
          </a:p>
        </p:txBody>
      </p:sp>
      <p:sp>
        <p:nvSpPr>
          <p:cNvPr id="10" name="TextBox 9"/>
          <p:cNvSpPr txBox="1"/>
          <p:nvPr/>
        </p:nvSpPr>
        <p:spPr>
          <a:xfrm>
            <a:off x="658368" y="4315968"/>
            <a:ext cx="1629613" cy="310896"/>
          </a:xfrm>
          <a:prstGeom prst="rect">
            <a:avLst/>
          </a:prstGeom>
          <a:noFill/>
        </p:spPr>
        <p:txBody>
          <a:bodyPr wrap="square" anchor="t" lIns="0" rIns="0" tIns="0" bIns="0">
            <a:spAutoFit/>
          </a:bodyPr>
          <a:lstStyle/>
          <a:p>
            <a:pPr algn="l">
              <a:lnSpc>
                <a:spcPct val="125000"/>
              </a:lnSpc>
            </a:pPr>
            <a:r>
              <a:rPr sz="819" b="0" i="0">
                <a:solidFill>
                  <a:srgbClr val="6C7683"/>
                </a:solidFill>
                <a:latin typeface="Consolas"/>
              </a:rPr>
              <a:t>SIMULATED USERS</a:t>
            </a:r>
          </a:p>
        </p:txBody>
      </p:sp>
      <p:sp>
        <p:nvSpPr>
          <p:cNvPr id="11" name="Rectangle 10"/>
          <p:cNvSpPr/>
          <p:nvPr/>
        </p:nvSpPr>
        <p:spPr>
          <a:xfrm>
            <a:off x="2461717" y="3950208"/>
            <a:ext cx="7315" cy="566928"/>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35453" y="3931920"/>
            <a:ext cx="1629613" cy="365760"/>
          </a:xfrm>
          <a:prstGeom prst="rect">
            <a:avLst/>
          </a:prstGeom>
          <a:noFill/>
        </p:spPr>
        <p:txBody>
          <a:bodyPr wrap="square" anchor="t" lIns="0" rIns="0" tIns="0" bIns="0">
            <a:spAutoFit/>
          </a:bodyPr>
          <a:lstStyle/>
          <a:p>
            <a:pPr algn="l">
              <a:lnSpc>
                <a:spcPct val="100000"/>
              </a:lnSpc>
            </a:pPr>
            <a:r>
              <a:rPr sz="2300" b="0" i="0">
                <a:solidFill>
                  <a:srgbClr val="111721"/>
                </a:solidFill>
                <a:latin typeface="Georgia"/>
              </a:rPr>
              <a:t>24</a:t>
            </a:r>
          </a:p>
        </p:txBody>
      </p:sp>
      <p:sp>
        <p:nvSpPr>
          <p:cNvPr id="13" name="TextBox 12"/>
          <p:cNvSpPr txBox="1"/>
          <p:nvPr/>
        </p:nvSpPr>
        <p:spPr>
          <a:xfrm>
            <a:off x="2635453" y="4315968"/>
            <a:ext cx="1629613" cy="310896"/>
          </a:xfrm>
          <a:prstGeom prst="rect">
            <a:avLst/>
          </a:prstGeom>
          <a:noFill/>
        </p:spPr>
        <p:txBody>
          <a:bodyPr wrap="square" anchor="t" lIns="0" rIns="0" tIns="0" bIns="0">
            <a:spAutoFit/>
          </a:bodyPr>
          <a:lstStyle/>
          <a:p>
            <a:pPr algn="l">
              <a:lnSpc>
                <a:spcPct val="125000"/>
              </a:lnSpc>
            </a:pPr>
            <a:r>
              <a:rPr sz="819" b="0" i="0">
                <a:solidFill>
                  <a:srgbClr val="6C7683"/>
                </a:solidFill>
                <a:latin typeface="Consolas"/>
              </a:rPr>
              <a:t>UPF BOXES</a:t>
            </a:r>
          </a:p>
        </p:txBody>
      </p:sp>
      <p:sp>
        <p:nvSpPr>
          <p:cNvPr id="14" name="Rectangle 13"/>
          <p:cNvSpPr/>
          <p:nvPr/>
        </p:nvSpPr>
        <p:spPr>
          <a:xfrm>
            <a:off x="4274210" y="3950208"/>
            <a:ext cx="7315" cy="566928"/>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7946" y="3931920"/>
            <a:ext cx="1629613" cy="365760"/>
          </a:xfrm>
          <a:prstGeom prst="rect">
            <a:avLst/>
          </a:prstGeom>
          <a:noFill/>
        </p:spPr>
        <p:txBody>
          <a:bodyPr wrap="square" anchor="t" lIns="0" rIns="0" tIns="0" bIns="0">
            <a:spAutoFit/>
          </a:bodyPr>
          <a:lstStyle/>
          <a:p>
            <a:pPr algn="l">
              <a:lnSpc>
                <a:spcPct val="100000"/>
              </a:lnSpc>
            </a:pPr>
            <a:r>
              <a:rPr sz="2300" b="0" i="0">
                <a:solidFill>
                  <a:srgbClr val="111721"/>
                </a:solidFill>
                <a:latin typeface="Georgia"/>
              </a:rPr>
              <a:t>96</a:t>
            </a:r>
          </a:p>
        </p:txBody>
      </p:sp>
      <p:sp>
        <p:nvSpPr>
          <p:cNvPr id="16" name="TextBox 15"/>
          <p:cNvSpPr txBox="1"/>
          <p:nvPr/>
        </p:nvSpPr>
        <p:spPr>
          <a:xfrm>
            <a:off x="4447946" y="4315968"/>
            <a:ext cx="1629613" cy="310896"/>
          </a:xfrm>
          <a:prstGeom prst="rect">
            <a:avLst/>
          </a:prstGeom>
          <a:noFill/>
        </p:spPr>
        <p:txBody>
          <a:bodyPr wrap="square" anchor="t" lIns="0" rIns="0" tIns="0" bIns="0">
            <a:spAutoFit/>
          </a:bodyPr>
          <a:lstStyle/>
          <a:p>
            <a:pPr algn="l">
              <a:lnSpc>
                <a:spcPct val="125000"/>
              </a:lnSpc>
            </a:pPr>
            <a:r>
              <a:rPr sz="819" b="0" i="0">
                <a:solidFill>
                  <a:srgbClr val="6C7683"/>
                </a:solidFill>
                <a:latin typeface="Consolas"/>
              </a:rPr>
              <a:t>TRAFFIC GROUPS</a:t>
            </a:r>
          </a:p>
        </p:txBody>
      </p:sp>
      <p:sp>
        <p:nvSpPr>
          <p:cNvPr id="17" name="Rectangle 16"/>
          <p:cNvSpPr/>
          <p:nvPr/>
        </p:nvSpPr>
        <p:spPr>
          <a:xfrm>
            <a:off x="6086703" y="3950208"/>
            <a:ext cx="7315" cy="566928"/>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0439" y="3931920"/>
            <a:ext cx="1629613" cy="365760"/>
          </a:xfrm>
          <a:prstGeom prst="rect">
            <a:avLst/>
          </a:prstGeom>
          <a:noFill/>
        </p:spPr>
        <p:txBody>
          <a:bodyPr wrap="square" anchor="t" lIns="0" rIns="0" tIns="0" bIns="0">
            <a:spAutoFit/>
          </a:bodyPr>
          <a:lstStyle/>
          <a:p>
            <a:pPr algn="l">
              <a:lnSpc>
                <a:spcPct val="100000"/>
              </a:lnSpc>
            </a:pPr>
            <a:r>
              <a:rPr sz="2300" b="0" i="0">
                <a:solidFill>
                  <a:srgbClr val="111721"/>
                </a:solidFill>
                <a:latin typeface="Georgia"/>
              </a:rPr>
              <a:t>112</a:t>
            </a:r>
          </a:p>
        </p:txBody>
      </p:sp>
      <p:sp>
        <p:nvSpPr>
          <p:cNvPr id="19" name="TextBox 18"/>
          <p:cNvSpPr txBox="1"/>
          <p:nvPr/>
        </p:nvSpPr>
        <p:spPr>
          <a:xfrm>
            <a:off x="6260439" y="4315968"/>
            <a:ext cx="1629613" cy="310896"/>
          </a:xfrm>
          <a:prstGeom prst="rect">
            <a:avLst/>
          </a:prstGeom>
          <a:noFill/>
        </p:spPr>
        <p:txBody>
          <a:bodyPr wrap="square" anchor="t" lIns="0" rIns="0" tIns="0" bIns="0">
            <a:spAutoFit/>
          </a:bodyPr>
          <a:lstStyle/>
          <a:p>
            <a:pPr algn="l">
              <a:lnSpc>
                <a:spcPct val="125000"/>
              </a:lnSpc>
            </a:pPr>
            <a:r>
              <a:rPr sz="819" b="0" i="0">
                <a:solidFill>
                  <a:srgbClr val="6C7683"/>
                </a:solidFill>
                <a:latin typeface="Consolas"/>
              </a:rPr>
              <a:t>DAYS SIMULATED</a:t>
            </a:r>
          </a:p>
        </p:txBody>
      </p:sp>
      <p:sp>
        <p:nvSpPr>
          <p:cNvPr id="20" name="Rectangle 19"/>
          <p:cNvSpPr/>
          <p:nvPr/>
        </p:nvSpPr>
        <p:spPr>
          <a:xfrm>
            <a:off x="7899196" y="3950208"/>
            <a:ext cx="7315" cy="566928"/>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72932" y="3931920"/>
            <a:ext cx="1629613" cy="365760"/>
          </a:xfrm>
          <a:prstGeom prst="rect">
            <a:avLst/>
          </a:prstGeom>
          <a:noFill/>
        </p:spPr>
        <p:txBody>
          <a:bodyPr wrap="square" anchor="t" lIns="0" rIns="0" tIns="0" bIns="0">
            <a:spAutoFit/>
          </a:bodyPr>
          <a:lstStyle/>
          <a:p>
            <a:pPr algn="l">
              <a:lnSpc>
                <a:spcPct val="100000"/>
              </a:lnSpc>
            </a:pPr>
            <a:r>
              <a:rPr sz="2300" b="0" i="0">
                <a:solidFill>
                  <a:srgbClr val="111721"/>
                </a:solidFill>
                <a:latin typeface="Georgia"/>
              </a:rPr>
              <a:t>588</a:t>
            </a:r>
          </a:p>
        </p:txBody>
      </p:sp>
      <p:sp>
        <p:nvSpPr>
          <p:cNvPr id="22" name="TextBox 21"/>
          <p:cNvSpPr txBox="1"/>
          <p:nvPr/>
        </p:nvSpPr>
        <p:spPr>
          <a:xfrm>
            <a:off x="8072932" y="4315968"/>
            <a:ext cx="1629613" cy="310896"/>
          </a:xfrm>
          <a:prstGeom prst="rect">
            <a:avLst/>
          </a:prstGeom>
          <a:noFill/>
        </p:spPr>
        <p:txBody>
          <a:bodyPr wrap="square" anchor="t" lIns="0" rIns="0" tIns="0" bIns="0">
            <a:spAutoFit/>
          </a:bodyPr>
          <a:lstStyle/>
          <a:p>
            <a:pPr algn="l">
              <a:lnSpc>
                <a:spcPct val="125000"/>
              </a:lnSpc>
            </a:pPr>
            <a:r>
              <a:rPr sz="819" b="0" i="0">
                <a:solidFill>
                  <a:srgbClr val="6C7683"/>
                </a:solidFill>
                <a:latin typeface="Consolas"/>
              </a:rPr>
              <a:t>CONTROLLER TESTS</a:t>
            </a:r>
          </a:p>
        </p:txBody>
      </p:sp>
      <p:sp>
        <p:nvSpPr>
          <p:cNvPr id="23" name="Rectangle 22"/>
          <p:cNvSpPr/>
          <p:nvPr/>
        </p:nvSpPr>
        <p:spPr>
          <a:xfrm>
            <a:off x="9711690" y="3950208"/>
            <a:ext cx="7315" cy="566928"/>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85426" y="3931920"/>
            <a:ext cx="1629613" cy="365760"/>
          </a:xfrm>
          <a:prstGeom prst="rect">
            <a:avLst/>
          </a:prstGeom>
          <a:noFill/>
        </p:spPr>
        <p:txBody>
          <a:bodyPr wrap="square" anchor="t" lIns="0" rIns="0" tIns="0" bIns="0">
            <a:spAutoFit/>
          </a:bodyPr>
          <a:lstStyle/>
          <a:p>
            <a:pPr algn="l">
              <a:lnSpc>
                <a:spcPct val="100000"/>
              </a:lnSpc>
            </a:pPr>
            <a:r>
              <a:rPr sz="2300" b="0" i="0">
                <a:solidFill>
                  <a:srgbClr val="111721"/>
                </a:solidFill>
                <a:latin typeface="Georgia"/>
              </a:rPr>
              <a:t>0</a:t>
            </a:r>
          </a:p>
        </p:txBody>
      </p:sp>
      <p:sp>
        <p:nvSpPr>
          <p:cNvPr id="25" name="TextBox 24"/>
          <p:cNvSpPr txBox="1"/>
          <p:nvPr/>
        </p:nvSpPr>
        <p:spPr>
          <a:xfrm>
            <a:off x="9885426" y="4315968"/>
            <a:ext cx="1629613" cy="310896"/>
          </a:xfrm>
          <a:prstGeom prst="rect">
            <a:avLst/>
          </a:prstGeom>
          <a:noFill/>
        </p:spPr>
        <p:txBody>
          <a:bodyPr wrap="square" anchor="t" lIns="0" rIns="0" tIns="0" bIns="0">
            <a:spAutoFit/>
          </a:bodyPr>
          <a:lstStyle/>
          <a:p>
            <a:pPr algn="l">
              <a:lnSpc>
                <a:spcPct val="125000"/>
              </a:lnSpc>
            </a:pPr>
            <a:r>
              <a:rPr sz="819" b="0" i="0">
                <a:solidFill>
                  <a:srgbClr val="6C7683"/>
                </a:solidFill>
                <a:latin typeface="Consolas"/>
              </a:rPr>
              <a:t>UNSAFE RELEASES</a:t>
            </a:r>
          </a:p>
        </p:txBody>
      </p:sp>
      <p:sp>
        <p:nvSpPr>
          <p:cNvPr id="26" name="TextBox 25"/>
          <p:cNvSpPr txBox="1"/>
          <p:nvPr/>
        </p:nvSpPr>
        <p:spPr>
          <a:xfrm>
            <a:off x="658368" y="6199632"/>
            <a:ext cx="10874959" cy="228600"/>
          </a:xfrm>
          <a:prstGeom prst="rect">
            <a:avLst/>
          </a:prstGeom>
          <a:noFill/>
        </p:spPr>
        <p:txBody>
          <a:bodyPr wrap="square" anchor="t" lIns="0" rIns="0" tIns="0" bIns="0">
            <a:spAutoFit/>
          </a:bodyPr>
          <a:lstStyle/>
          <a:p>
            <a:pPr algn="l">
              <a:lnSpc>
                <a:spcPct val="100000"/>
              </a:lnSpc>
            </a:pPr>
            <a:r>
              <a:rPr sz="950" b="0" i="0">
                <a:solidFill>
                  <a:srgbClr val="98A2AE"/>
                </a:solidFill>
                <a:latin typeface="Consolas"/>
              </a:rPr>
              <a:t>C-DOT  ·  Predictive UPF steering  ·  Evidence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HOW THIS DECK IS ORGANISED</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Four parts</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CONTENTS</a:t>
            </a:r>
          </a:p>
        </p:txBody>
      </p:sp>
      <p:sp>
        <p:nvSpPr>
          <p:cNvPr id="7" name="TextBox 6"/>
          <p:cNvSpPr txBox="1"/>
          <p:nvPr/>
        </p:nvSpPr>
        <p:spPr>
          <a:xfrm>
            <a:off x="658368" y="1554480"/>
            <a:ext cx="3017520" cy="274320"/>
          </a:xfrm>
          <a:prstGeom prst="rect">
            <a:avLst/>
          </a:prstGeom>
          <a:noFill/>
        </p:spPr>
        <p:txBody>
          <a:bodyPr wrap="square" anchor="t" lIns="0" rIns="0" tIns="0" bIns="0">
            <a:spAutoFit/>
          </a:bodyPr>
          <a:lstStyle/>
          <a:p>
            <a:pPr algn="l">
              <a:lnSpc>
                <a:spcPct val="115000"/>
              </a:lnSpc>
            </a:pPr>
            <a:r>
              <a:rPr sz="1500" b="0" i="0">
                <a:solidFill>
                  <a:srgbClr val="111721"/>
                </a:solidFill>
                <a:latin typeface="Georgia"/>
              </a:rPr>
              <a:t>00 — The big picture</a:t>
            </a:r>
          </a:p>
        </p:txBody>
      </p:sp>
      <p:sp>
        <p:nvSpPr>
          <p:cNvPr id="8" name="TextBox 7"/>
          <p:cNvSpPr txBox="1"/>
          <p:nvPr/>
        </p:nvSpPr>
        <p:spPr>
          <a:xfrm>
            <a:off x="3858768" y="1595628"/>
            <a:ext cx="7674559" cy="274320"/>
          </a:xfrm>
          <a:prstGeom prst="rect">
            <a:avLst/>
          </a:prstGeom>
          <a:noFill/>
        </p:spPr>
        <p:txBody>
          <a:bodyPr wrap="square" anchor="t" lIns="0" rIns="0" tIns="0" bIns="0">
            <a:spAutoFit/>
          </a:bodyPr>
          <a:lstStyle/>
          <a:p>
            <a:pPr algn="l">
              <a:lnSpc>
                <a:spcPct val="132000"/>
              </a:lnSpc>
            </a:pPr>
            <a:r>
              <a:rPr sz="1220" b="0" i="0">
                <a:solidFill>
                  <a:srgbClr val="3C4653"/>
                </a:solidFill>
                <a:latin typeface="Segoe UI"/>
              </a:rPr>
              <a:t>What the problem is, how the system fits together, and the headline result.</a:t>
            </a:r>
          </a:p>
        </p:txBody>
      </p:sp>
      <p:sp>
        <p:nvSpPr>
          <p:cNvPr id="9" name="Rectangle 8"/>
          <p:cNvSpPr/>
          <p:nvPr/>
        </p:nvSpPr>
        <p:spPr>
          <a:xfrm>
            <a:off x="658368" y="2093976"/>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212848"/>
            <a:ext cx="3017520" cy="274320"/>
          </a:xfrm>
          <a:prstGeom prst="rect">
            <a:avLst/>
          </a:prstGeom>
          <a:noFill/>
        </p:spPr>
        <p:txBody>
          <a:bodyPr wrap="square" anchor="t" lIns="0" rIns="0" tIns="0" bIns="0">
            <a:spAutoFit/>
          </a:bodyPr>
          <a:lstStyle/>
          <a:p>
            <a:pPr algn="l">
              <a:lnSpc>
                <a:spcPct val="115000"/>
              </a:lnSpc>
            </a:pPr>
            <a:r>
              <a:rPr sz="1500" b="0" i="0">
                <a:solidFill>
                  <a:srgbClr val="111721"/>
                </a:solidFill>
                <a:latin typeface="Georgia"/>
              </a:rPr>
              <a:t>01 — The simulator</a:t>
            </a:r>
          </a:p>
        </p:txBody>
      </p:sp>
      <p:sp>
        <p:nvSpPr>
          <p:cNvPr id="11" name="TextBox 10"/>
          <p:cNvSpPr txBox="1"/>
          <p:nvPr/>
        </p:nvSpPr>
        <p:spPr>
          <a:xfrm>
            <a:off x="3858768" y="2253996"/>
            <a:ext cx="7674559" cy="274320"/>
          </a:xfrm>
          <a:prstGeom prst="rect">
            <a:avLst/>
          </a:prstGeom>
          <a:noFill/>
        </p:spPr>
        <p:txBody>
          <a:bodyPr wrap="square" anchor="t" lIns="0" rIns="0" tIns="0" bIns="0">
            <a:spAutoFit/>
          </a:bodyPr>
          <a:lstStyle/>
          <a:p>
            <a:pPr algn="l">
              <a:lnSpc>
                <a:spcPct val="132000"/>
              </a:lnSpc>
            </a:pPr>
            <a:r>
              <a:rPr sz="1220" b="0" i="0">
                <a:solidFill>
                  <a:srgbClr val="3C4653"/>
                </a:solidFill>
                <a:latin typeface="Segoe UI"/>
              </a:rPr>
              <a:t>How we model national 5G traffic, how we check it is right, and how we ran it on 12 cluster nodes.</a:t>
            </a:r>
          </a:p>
        </p:txBody>
      </p:sp>
      <p:sp>
        <p:nvSpPr>
          <p:cNvPr id="12" name="Rectangle 11"/>
          <p:cNvSpPr/>
          <p:nvPr/>
        </p:nvSpPr>
        <p:spPr>
          <a:xfrm>
            <a:off x="658368" y="2752344"/>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871215"/>
            <a:ext cx="3017520" cy="274320"/>
          </a:xfrm>
          <a:prstGeom prst="rect">
            <a:avLst/>
          </a:prstGeom>
          <a:noFill/>
        </p:spPr>
        <p:txBody>
          <a:bodyPr wrap="square" anchor="t" lIns="0" rIns="0" tIns="0" bIns="0">
            <a:spAutoFit/>
          </a:bodyPr>
          <a:lstStyle/>
          <a:p>
            <a:pPr algn="l">
              <a:lnSpc>
                <a:spcPct val="115000"/>
              </a:lnSpc>
            </a:pPr>
            <a:r>
              <a:rPr sz="1500" b="0" i="0">
                <a:solidFill>
                  <a:srgbClr val="111721"/>
                </a:solidFill>
                <a:latin typeface="Georgia"/>
              </a:rPr>
              <a:t>02 — The forecaster</a:t>
            </a:r>
          </a:p>
        </p:txBody>
      </p:sp>
      <p:sp>
        <p:nvSpPr>
          <p:cNvPr id="14" name="TextBox 13"/>
          <p:cNvSpPr txBox="1"/>
          <p:nvPr/>
        </p:nvSpPr>
        <p:spPr>
          <a:xfrm>
            <a:off x="3858768" y="2912363"/>
            <a:ext cx="7674559" cy="274320"/>
          </a:xfrm>
          <a:prstGeom prst="rect">
            <a:avLst/>
          </a:prstGeom>
          <a:noFill/>
        </p:spPr>
        <p:txBody>
          <a:bodyPr wrap="square" anchor="t" lIns="0" rIns="0" tIns="0" bIns="0">
            <a:spAutoFit/>
          </a:bodyPr>
          <a:lstStyle/>
          <a:p>
            <a:pPr algn="l">
              <a:lnSpc>
                <a:spcPct val="132000"/>
              </a:lnSpc>
            </a:pPr>
            <a:r>
              <a:rPr sz="1220" b="0" i="0">
                <a:solidFill>
                  <a:srgbClr val="3C4653"/>
                </a:solidFill>
                <a:latin typeface="Segoe UI"/>
              </a:rPr>
              <a:t>How we predict demand, which models we tried, and which one we kept.</a:t>
            </a:r>
          </a:p>
        </p:txBody>
      </p:sp>
      <p:sp>
        <p:nvSpPr>
          <p:cNvPr id="15" name="Rectangle 14"/>
          <p:cNvSpPr/>
          <p:nvPr/>
        </p:nvSpPr>
        <p:spPr>
          <a:xfrm>
            <a:off x="658368" y="341071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529583"/>
            <a:ext cx="3017520" cy="274320"/>
          </a:xfrm>
          <a:prstGeom prst="rect">
            <a:avLst/>
          </a:prstGeom>
          <a:noFill/>
        </p:spPr>
        <p:txBody>
          <a:bodyPr wrap="square" anchor="t" lIns="0" rIns="0" tIns="0" bIns="0">
            <a:spAutoFit/>
          </a:bodyPr>
          <a:lstStyle/>
          <a:p>
            <a:pPr algn="l">
              <a:lnSpc>
                <a:spcPct val="115000"/>
              </a:lnSpc>
            </a:pPr>
            <a:r>
              <a:rPr sz="1500" b="0" i="0">
                <a:solidFill>
                  <a:srgbClr val="111721"/>
                </a:solidFill>
                <a:latin typeface="Georgia"/>
              </a:rPr>
              <a:t>03 — The optimizer</a:t>
            </a:r>
          </a:p>
        </p:txBody>
      </p:sp>
      <p:sp>
        <p:nvSpPr>
          <p:cNvPr id="17" name="TextBox 16"/>
          <p:cNvSpPr txBox="1"/>
          <p:nvPr/>
        </p:nvSpPr>
        <p:spPr>
          <a:xfrm>
            <a:off x="3858768" y="3570731"/>
            <a:ext cx="7674559" cy="274320"/>
          </a:xfrm>
          <a:prstGeom prst="rect">
            <a:avLst/>
          </a:prstGeom>
          <a:noFill/>
        </p:spPr>
        <p:txBody>
          <a:bodyPr wrap="square" anchor="t" lIns="0" rIns="0" tIns="0" bIns="0">
            <a:spAutoFit/>
          </a:bodyPr>
          <a:lstStyle/>
          <a:p>
            <a:pPr algn="l">
              <a:lnSpc>
                <a:spcPct val="132000"/>
              </a:lnSpc>
            </a:pPr>
            <a:r>
              <a:rPr sz="1220" b="0" i="0">
                <a:solidFill>
                  <a:srgbClr val="3C4653"/>
                </a:solidFill>
                <a:latin typeface="Segoe UI"/>
              </a:rPr>
              <a:t>Seven controller designs, what each one scored, and why the simple rule is still in production.</a:t>
            </a:r>
          </a:p>
        </p:txBody>
      </p:sp>
      <p:sp>
        <p:nvSpPr>
          <p:cNvPr id="18" name="Rectangle 17"/>
          <p:cNvSpPr/>
          <p:nvPr/>
        </p:nvSpPr>
        <p:spPr>
          <a:xfrm>
            <a:off x="658368" y="4069079"/>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187951"/>
            <a:ext cx="3017520" cy="274320"/>
          </a:xfrm>
          <a:prstGeom prst="rect">
            <a:avLst/>
          </a:prstGeom>
          <a:noFill/>
        </p:spPr>
        <p:txBody>
          <a:bodyPr wrap="square" anchor="t" lIns="0" rIns="0" tIns="0" bIns="0">
            <a:spAutoFit/>
          </a:bodyPr>
          <a:lstStyle/>
          <a:p>
            <a:pPr algn="l">
              <a:lnSpc>
                <a:spcPct val="115000"/>
              </a:lnSpc>
            </a:pPr>
            <a:r>
              <a:rPr sz="1500" b="0" i="0">
                <a:solidFill>
                  <a:srgbClr val="111721"/>
                </a:solidFill>
                <a:latin typeface="Georgia"/>
              </a:rPr>
              <a:t>04 — Conclusion</a:t>
            </a:r>
          </a:p>
        </p:txBody>
      </p:sp>
      <p:sp>
        <p:nvSpPr>
          <p:cNvPr id="20" name="TextBox 19"/>
          <p:cNvSpPr txBox="1"/>
          <p:nvPr/>
        </p:nvSpPr>
        <p:spPr>
          <a:xfrm>
            <a:off x="3858768" y="4229099"/>
            <a:ext cx="7674559" cy="274320"/>
          </a:xfrm>
          <a:prstGeom prst="rect">
            <a:avLst/>
          </a:prstGeom>
          <a:noFill/>
        </p:spPr>
        <p:txBody>
          <a:bodyPr wrap="square" anchor="t" lIns="0" rIns="0" tIns="0" bIns="0">
            <a:spAutoFit/>
          </a:bodyPr>
          <a:lstStyle/>
          <a:p>
            <a:pPr algn="l">
              <a:lnSpc>
                <a:spcPct val="132000"/>
              </a:lnSpc>
            </a:pPr>
            <a:r>
              <a:rPr sz="1220" b="0" i="0">
                <a:solidFill>
                  <a:srgbClr val="3C4653"/>
                </a:solidFill>
                <a:latin typeface="Segoe UI"/>
              </a:rPr>
              <a:t>What is true, and the three questions that unblock everything else.</a:t>
            </a:r>
          </a:p>
        </p:txBody>
      </p:sp>
      <p:sp>
        <p:nvSpPr>
          <p:cNvPr id="21" name="TextBox 20"/>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2212848"/>
            <a:ext cx="566928"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340864"/>
            <a:ext cx="914400" cy="274320"/>
          </a:xfrm>
          <a:prstGeom prst="rect">
            <a:avLst/>
          </a:prstGeom>
          <a:noFill/>
        </p:spPr>
        <p:txBody>
          <a:bodyPr wrap="square" anchor="t" lIns="0" rIns="0" tIns="0" bIns="0">
            <a:spAutoFit/>
          </a:bodyPr>
          <a:lstStyle/>
          <a:p>
            <a:pPr algn="l">
              <a:lnSpc>
                <a:spcPct val="100000"/>
              </a:lnSpc>
            </a:pPr>
            <a:r>
              <a:rPr sz="1200" b="1" i="0">
                <a:solidFill>
                  <a:srgbClr val="0F4C5C"/>
                </a:solidFill>
                <a:latin typeface="Consolas"/>
              </a:rPr>
              <a:t>00</a:t>
            </a:r>
          </a:p>
        </p:txBody>
      </p:sp>
      <p:sp>
        <p:nvSpPr>
          <p:cNvPr id="6" name="TextBox 5"/>
          <p:cNvSpPr txBox="1"/>
          <p:nvPr/>
        </p:nvSpPr>
        <p:spPr>
          <a:xfrm>
            <a:off x="1847088" y="2340864"/>
            <a:ext cx="10874959" cy="201168"/>
          </a:xfrm>
          <a:prstGeom prst="rect">
            <a:avLst/>
          </a:prstGeom>
          <a:noFill/>
        </p:spPr>
        <p:txBody>
          <a:bodyPr wrap="square" anchor="t" lIns="0" rIns="0" tIns="0" bIns="0">
            <a:spAutoFit/>
          </a:bodyPr>
          <a:lstStyle/>
          <a:p>
            <a:pPr algn="l">
              <a:lnSpc>
                <a:spcPct val="100000"/>
              </a:lnSpc>
            </a:pPr>
            <a:r>
              <a:rPr sz="1050" b="1" i="0">
                <a:solidFill>
                  <a:srgbClr val="6C7683"/>
                </a:solidFill>
                <a:latin typeface="Consolas"/>
              </a:rPr>
              <a:t>THE BIG PICTURE</a:t>
            </a:r>
          </a:p>
        </p:txBody>
      </p:sp>
      <p:sp>
        <p:nvSpPr>
          <p:cNvPr id="7" name="TextBox 6"/>
          <p:cNvSpPr txBox="1"/>
          <p:nvPr/>
        </p:nvSpPr>
        <p:spPr>
          <a:xfrm>
            <a:off x="1847088" y="2615184"/>
            <a:ext cx="9686239" cy="1005840"/>
          </a:xfrm>
          <a:prstGeom prst="rect">
            <a:avLst/>
          </a:prstGeom>
          <a:noFill/>
        </p:spPr>
        <p:txBody>
          <a:bodyPr wrap="square" anchor="t" lIns="0" rIns="0" tIns="0" bIns="0">
            <a:spAutoFit/>
          </a:bodyPr>
          <a:lstStyle/>
          <a:p>
            <a:pPr algn="l">
              <a:lnSpc>
                <a:spcPct val="106000"/>
              </a:lnSpc>
            </a:pPr>
            <a:r>
              <a:rPr sz="3600" b="0" i="0">
                <a:solidFill>
                  <a:srgbClr val="111721"/>
                </a:solidFill>
                <a:latin typeface="Georgia"/>
              </a:rPr>
              <a:t>What we built, and what we learned</a:t>
            </a:r>
          </a:p>
        </p:txBody>
      </p:sp>
      <p:sp>
        <p:nvSpPr>
          <p:cNvPr id="8" name="TextBox 7"/>
          <p:cNvSpPr txBox="1"/>
          <p:nvPr/>
        </p:nvSpPr>
        <p:spPr>
          <a:xfrm>
            <a:off x="1847088" y="3749039"/>
            <a:ext cx="7748991" cy="1097280"/>
          </a:xfrm>
          <a:prstGeom prst="rect">
            <a:avLst/>
          </a:prstGeom>
          <a:noFill/>
        </p:spPr>
        <p:txBody>
          <a:bodyPr wrap="square" anchor="t" lIns="0" rIns="0" tIns="0" bIns="0">
            <a:spAutoFit/>
          </a:bodyPr>
          <a:lstStyle/>
          <a:p>
            <a:pPr algn="l">
              <a:lnSpc>
                <a:spcPct val="145000"/>
              </a:lnSpc>
            </a:pPr>
            <a:r>
              <a:rPr sz="1350" b="0" i="0">
                <a:solidFill>
                  <a:srgbClr val="3C4653"/>
                </a:solidFill>
                <a:latin typeface="Segoe UI"/>
              </a:rPr>
              <a:t>A UPF is the box that carries 5G user traffic. When a phone starts a session, the network picks which UPF it attaches to. That pick is the only thing we can control. The question: does predicting traffic make that pick better than a simple fixed rule?</a:t>
            </a:r>
          </a:p>
        </p:txBody>
      </p:sp>
      <p:sp>
        <p:nvSpPr>
          <p:cNvPr id="9" name="TextBox 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THE PROBLEM</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One box, one lever</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00 · THE BIG PICTURE</a:t>
            </a:r>
          </a:p>
        </p:txBody>
      </p:sp>
      <p:sp>
        <p:nvSpPr>
          <p:cNvPr id="7" name="Rectangle 6"/>
          <p:cNvSpPr/>
          <p:nvPr/>
        </p:nvSpPr>
        <p:spPr>
          <a:xfrm>
            <a:off x="658368" y="1463040"/>
            <a:ext cx="5208879" cy="271678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27632"/>
            <a:ext cx="4806543"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WHAT A UPF IS</a:t>
            </a:r>
          </a:p>
        </p:txBody>
      </p:sp>
      <p:sp>
        <p:nvSpPr>
          <p:cNvPr id="9" name="TextBox 8"/>
          <p:cNvSpPr txBox="1"/>
          <p:nvPr/>
        </p:nvSpPr>
        <p:spPr>
          <a:xfrm>
            <a:off x="859536" y="1938528"/>
            <a:ext cx="4806543" cy="2094991"/>
          </a:xfrm>
          <a:prstGeom prst="rect">
            <a:avLst/>
          </a:prstGeom>
          <a:noFill/>
        </p:spPr>
        <p:txBody>
          <a:bodyPr wrap="square" anchor="t" lIns="0" rIns="0" tIns="0" bIns="0">
            <a:spAutoFit/>
          </a:bodyPr>
          <a:lstStyle/>
          <a:p>
            <a:pPr algn="l">
              <a:lnSpc>
                <a:spcPct val="140000"/>
              </a:lnSpc>
            </a:pPr>
            <a:r>
              <a:rPr sz="1240" b="0" i="0">
                <a:solidFill>
                  <a:srgbClr val="3C4653"/>
                </a:solidFill>
                <a:latin typeface="Segoe UI"/>
              </a:rPr>
              <a:t>A UPF — User Plane Function — is the box that carries 5G user traffic. Every video, call and download passes through one.</a:t>
            </a:r>
          </a:p>
          <a:p>
            <a:pPr algn="l">
              <a:lnSpc>
                <a:spcPct val="140000"/>
              </a:lnSpc>
              <a:spcBef>
                <a:spcPts val="800"/>
              </a:spcBef>
            </a:pPr>
            <a:r>
              <a:rPr sz="1240" b="0" i="0">
                <a:solidFill>
                  <a:srgbClr val="3C4653"/>
                </a:solidFill>
                <a:latin typeface="Segoe UI"/>
              </a:rPr>
              <a:t>If a UPF gets too busy, traffic queues up, and then it gets dropped. That is the failure we are trying to avoid.</a:t>
            </a:r>
          </a:p>
          <a:p>
            <a:pPr algn="l">
              <a:lnSpc>
                <a:spcPct val="140000"/>
              </a:lnSpc>
              <a:spcBef>
                <a:spcPts val="800"/>
              </a:spcBef>
            </a:pPr>
            <a:r>
              <a:rPr sz="1240" b="0" i="0">
                <a:solidFill>
                  <a:srgbClr val="3C4653"/>
                </a:solidFill>
                <a:latin typeface="Segoe UI"/>
              </a:rPr>
              <a:t>When a phone starts a new session, a component called the SMF decides which UPF it attaches to.</a:t>
            </a:r>
          </a:p>
        </p:txBody>
      </p:sp>
      <p:sp>
        <p:nvSpPr>
          <p:cNvPr id="10" name="Rectangle 9"/>
          <p:cNvSpPr/>
          <p:nvPr/>
        </p:nvSpPr>
        <p:spPr>
          <a:xfrm>
            <a:off x="6324447" y="1463040"/>
            <a:ext cx="5208879" cy="293725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25615" y="1627632"/>
            <a:ext cx="4806543"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WHAT WE CAN AND CANNOT CHANGE</a:t>
            </a:r>
          </a:p>
        </p:txBody>
      </p:sp>
      <p:sp>
        <p:nvSpPr>
          <p:cNvPr id="12" name="TextBox 11"/>
          <p:cNvSpPr txBox="1"/>
          <p:nvPr/>
        </p:nvSpPr>
        <p:spPr>
          <a:xfrm>
            <a:off x="6525615" y="1938528"/>
            <a:ext cx="4806543" cy="2315464"/>
          </a:xfrm>
          <a:prstGeom prst="rect">
            <a:avLst/>
          </a:prstGeom>
          <a:noFill/>
        </p:spPr>
        <p:txBody>
          <a:bodyPr wrap="square" anchor="t" lIns="0" rIns="0" tIns="0" bIns="0">
            <a:spAutoFit/>
          </a:bodyPr>
          <a:lstStyle/>
          <a:p>
            <a:pPr algn="l">
              <a:lnSpc>
                <a:spcPct val="140000"/>
              </a:lnSpc>
            </a:pPr>
            <a:r>
              <a:rPr sz="1240" b="0" i="0">
                <a:solidFill>
                  <a:srgbClr val="3C4653"/>
                </a:solidFill>
                <a:latin typeface="Segoe UI"/>
              </a:rPr>
              <a:t>We can change where NEW sessions are sent. That is the entire lever.</a:t>
            </a:r>
          </a:p>
          <a:p>
            <a:pPr algn="l">
              <a:lnSpc>
                <a:spcPct val="140000"/>
              </a:lnSpc>
              <a:spcBef>
                <a:spcPts val="800"/>
              </a:spcBef>
            </a:pPr>
            <a:r>
              <a:rPr sz="1240" b="0" i="0">
                <a:solidFill>
                  <a:srgbClr val="3C4653"/>
                </a:solidFill>
                <a:latin typeface="Segoe UI"/>
              </a:rPr>
              <a:t>We cannot move a session once it is running. Whether C-DOT's system can do that at all is still an open question — and it turns out to be the most important one in this whole project.</a:t>
            </a:r>
          </a:p>
          <a:p>
            <a:pPr algn="l">
              <a:lnSpc>
                <a:spcPct val="140000"/>
              </a:lnSpc>
              <a:spcBef>
                <a:spcPts val="800"/>
              </a:spcBef>
            </a:pPr>
            <a:r>
              <a:rPr sz="1240" b="0" i="0">
                <a:solidFill>
                  <a:srgbClr val="3C4653"/>
                </a:solidFill>
                <a:latin typeface="Segoe UI"/>
              </a:rPr>
              <a:t>Sessions last hours. So most of the load on a box at any moment was placed there long ago, and cannot be taken back.</a:t>
            </a:r>
          </a:p>
        </p:txBody>
      </p:sp>
      <p:sp>
        <p:nvSpPr>
          <p:cNvPr id="13" name="Rectangle 12"/>
          <p:cNvSpPr/>
          <p:nvPr/>
        </p:nvSpPr>
        <p:spPr>
          <a:xfrm>
            <a:off x="658368" y="4692904"/>
            <a:ext cx="10874959" cy="963167"/>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4692904"/>
            <a:ext cx="34747" cy="963167"/>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839208"/>
            <a:ext cx="10417759" cy="201168"/>
          </a:xfrm>
          <a:prstGeom prst="rect">
            <a:avLst/>
          </a:prstGeom>
          <a:noFill/>
        </p:spPr>
        <p:txBody>
          <a:bodyPr wrap="square" anchor="t" lIns="0" rIns="0" tIns="0" bIns="0">
            <a:spAutoFit/>
          </a:bodyPr>
          <a:lstStyle/>
          <a:p>
            <a:pPr algn="l">
              <a:lnSpc>
                <a:spcPct val="100000"/>
              </a:lnSpc>
            </a:pPr>
            <a:r>
              <a:rPr sz="950" b="1" i="0">
                <a:solidFill>
                  <a:srgbClr val="0F4C5C"/>
                </a:solidFill>
                <a:latin typeface="Consolas"/>
              </a:rPr>
              <a:t>THE QUESTION THIS PROJECT ANSWERS</a:t>
            </a:r>
          </a:p>
        </p:txBody>
      </p:sp>
      <p:sp>
        <p:nvSpPr>
          <p:cNvPr id="16" name="TextBox 15"/>
          <p:cNvSpPr txBox="1"/>
          <p:nvPr/>
        </p:nvSpPr>
        <p:spPr>
          <a:xfrm>
            <a:off x="896112" y="5095240"/>
            <a:ext cx="10372039" cy="505967"/>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Can predicting how much traffic is coming let us place new sessions better than a simple capacity-proportional rule — well enough, and safely enough, to deploy?</a:t>
            </a:r>
          </a:p>
        </p:txBody>
      </p:sp>
      <p:sp>
        <p:nvSpPr>
          <p:cNvPr id="17" name="TextBox 16"/>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HOW THE SYSTEM WORKS</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The loop, end to end</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The system runs once every 10 minutes. The most important rule is that no stage is allowed to see the future.</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00 · THE BIG PICTURE</a:t>
            </a:r>
          </a:p>
        </p:txBody>
      </p:sp>
      <p:sp>
        <p:nvSpPr>
          <p:cNvPr id="8" name="Rectangle 7"/>
          <p:cNvSpPr/>
          <p:nvPr/>
        </p:nvSpPr>
        <p:spPr>
          <a:xfrm>
            <a:off x="658368" y="2288540"/>
            <a:ext cx="2134758" cy="21488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471420"/>
            <a:ext cx="1805574" cy="182880"/>
          </a:xfrm>
          <a:prstGeom prst="rect">
            <a:avLst/>
          </a:prstGeom>
          <a:noFill/>
        </p:spPr>
        <p:txBody>
          <a:bodyPr wrap="square" anchor="t" lIns="0" rIns="0" tIns="0" bIns="0">
            <a:spAutoFit/>
          </a:bodyPr>
          <a:lstStyle/>
          <a:p>
            <a:pPr algn="l">
              <a:lnSpc>
                <a:spcPct val="100000"/>
              </a:lnSpc>
            </a:pPr>
            <a:r>
              <a:rPr sz="860" b="1" i="0">
                <a:solidFill>
                  <a:srgbClr val="0F4C5C"/>
                </a:solidFill>
                <a:latin typeface="Consolas"/>
              </a:rPr>
              <a:t>STEP 1</a:t>
            </a:r>
          </a:p>
        </p:txBody>
      </p:sp>
      <p:sp>
        <p:nvSpPr>
          <p:cNvPr id="10" name="TextBox 9"/>
          <p:cNvSpPr txBox="1"/>
          <p:nvPr/>
        </p:nvSpPr>
        <p:spPr>
          <a:xfrm>
            <a:off x="822959" y="2700020"/>
            <a:ext cx="1805574" cy="274320"/>
          </a:xfrm>
          <a:prstGeom prst="rect">
            <a:avLst/>
          </a:prstGeom>
          <a:noFill/>
        </p:spPr>
        <p:txBody>
          <a:bodyPr wrap="square" anchor="t" lIns="0" rIns="0" tIns="0" bIns="0">
            <a:spAutoFit/>
          </a:bodyPr>
          <a:lstStyle/>
          <a:p>
            <a:pPr algn="l">
              <a:lnSpc>
                <a:spcPct val="110000"/>
              </a:lnSpc>
            </a:pPr>
            <a:r>
              <a:rPr sz="1500" b="0" i="0">
                <a:solidFill>
                  <a:srgbClr val="111721"/>
                </a:solidFill>
                <a:latin typeface="Georgia"/>
              </a:rPr>
              <a:t>Simulate</a:t>
            </a:r>
          </a:p>
        </p:txBody>
      </p:sp>
      <p:sp>
        <p:nvSpPr>
          <p:cNvPr id="11" name="TextBox 10"/>
          <p:cNvSpPr txBox="1"/>
          <p:nvPr/>
        </p:nvSpPr>
        <p:spPr>
          <a:xfrm>
            <a:off x="822959" y="3020060"/>
            <a:ext cx="1805574" cy="1280160"/>
          </a:xfrm>
          <a:prstGeom prst="rect">
            <a:avLst/>
          </a:prstGeom>
          <a:noFill/>
        </p:spPr>
        <p:txBody>
          <a:bodyPr wrap="square" anchor="t" lIns="0" rIns="0" tIns="0" bIns="0">
            <a:spAutoFit/>
          </a:bodyPr>
          <a:lstStyle/>
          <a:p>
            <a:pPr algn="l">
              <a:lnSpc>
                <a:spcPct val="134000"/>
              </a:lnSpc>
            </a:pPr>
            <a:r>
              <a:rPr sz="1060" b="0" i="0">
                <a:solidFill>
                  <a:srgbClr val="3C4653"/>
                </a:solidFill>
                <a:latin typeface="Segoe UI"/>
              </a:rPr>
              <a:t>Generate 30 seconds of network activity: who starts a session, how long it lasts, how much bandwidth it uses, which boxes are healthy.</a:t>
            </a:r>
          </a:p>
        </p:txBody>
      </p:sp>
      <p:sp>
        <p:nvSpPr>
          <p:cNvPr id="12" name="Rectangle 11"/>
          <p:cNvSpPr/>
          <p:nvPr/>
        </p:nvSpPr>
        <p:spPr>
          <a:xfrm>
            <a:off x="2843418" y="2288540"/>
            <a:ext cx="2134758" cy="21488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8010" y="2471420"/>
            <a:ext cx="1805574" cy="182880"/>
          </a:xfrm>
          <a:prstGeom prst="rect">
            <a:avLst/>
          </a:prstGeom>
          <a:noFill/>
        </p:spPr>
        <p:txBody>
          <a:bodyPr wrap="square" anchor="t" lIns="0" rIns="0" tIns="0" bIns="0">
            <a:spAutoFit/>
          </a:bodyPr>
          <a:lstStyle/>
          <a:p>
            <a:pPr algn="l">
              <a:lnSpc>
                <a:spcPct val="100000"/>
              </a:lnSpc>
            </a:pPr>
            <a:r>
              <a:rPr sz="860" b="1" i="0">
                <a:solidFill>
                  <a:srgbClr val="0F4C5C"/>
                </a:solidFill>
                <a:latin typeface="Consolas"/>
              </a:rPr>
              <a:t>STEP 2</a:t>
            </a:r>
          </a:p>
        </p:txBody>
      </p:sp>
      <p:sp>
        <p:nvSpPr>
          <p:cNvPr id="14" name="TextBox 13"/>
          <p:cNvSpPr txBox="1"/>
          <p:nvPr/>
        </p:nvSpPr>
        <p:spPr>
          <a:xfrm>
            <a:off x="3008010" y="2700020"/>
            <a:ext cx="1805574" cy="274320"/>
          </a:xfrm>
          <a:prstGeom prst="rect">
            <a:avLst/>
          </a:prstGeom>
          <a:noFill/>
        </p:spPr>
        <p:txBody>
          <a:bodyPr wrap="square" anchor="t" lIns="0" rIns="0" tIns="0" bIns="0">
            <a:spAutoFit/>
          </a:bodyPr>
          <a:lstStyle/>
          <a:p>
            <a:pPr algn="l">
              <a:lnSpc>
                <a:spcPct val="110000"/>
              </a:lnSpc>
            </a:pPr>
            <a:r>
              <a:rPr sz="1500" b="0" i="0">
                <a:solidFill>
                  <a:srgbClr val="111721"/>
                </a:solidFill>
                <a:latin typeface="Georgia"/>
              </a:rPr>
              <a:t>Clean up</a:t>
            </a:r>
          </a:p>
        </p:txBody>
      </p:sp>
      <p:sp>
        <p:nvSpPr>
          <p:cNvPr id="15" name="TextBox 14"/>
          <p:cNvSpPr txBox="1"/>
          <p:nvPr/>
        </p:nvSpPr>
        <p:spPr>
          <a:xfrm>
            <a:off x="3008010" y="3020060"/>
            <a:ext cx="1805574" cy="1280160"/>
          </a:xfrm>
          <a:prstGeom prst="rect">
            <a:avLst/>
          </a:prstGeom>
          <a:noFill/>
        </p:spPr>
        <p:txBody>
          <a:bodyPr wrap="square" anchor="t" lIns="0" rIns="0" tIns="0" bIns="0">
            <a:spAutoFit/>
          </a:bodyPr>
          <a:lstStyle/>
          <a:p>
            <a:pPr algn="l">
              <a:lnSpc>
                <a:spcPct val="134000"/>
              </a:lnSpc>
            </a:pPr>
            <a:r>
              <a:rPr sz="1060" b="0" i="0">
                <a:solidFill>
                  <a:srgbClr val="3C4653"/>
                </a:solidFill>
                <a:latin typeface="Segoe UI"/>
              </a:rPr>
              <a:t>Turn raw counters into usable measurements. Throw away readings that are broken — resets, gaps, duplicates, stale samples.</a:t>
            </a:r>
          </a:p>
        </p:txBody>
      </p:sp>
      <p:sp>
        <p:nvSpPr>
          <p:cNvPr id="16" name="Rectangle 15"/>
          <p:cNvSpPr/>
          <p:nvPr/>
        </p:nvSpPr>
        <p:spPr>
          <a:xfrm>
            <a:off x="5028468" y="2288540"/>
            <a:ext cx="2134758" cy="21488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3060" y="2471420"/>
            <a:ext cx="1805574" cy="182880"/>
          </a:xfrm>
          <a:prstGeom prst="rect">
            <a:avLst/>
          </a:prstGeom>
          <a:noFill/>
        </p:spPr>
        <p:txBody>
          <a:bodyPr wrap="square" anchor="t" lIns="0" rIns="0" tIns="0" bIns="0">
            <a:spAutoFit/>
          </a:bodyPr>
          <a:lstStyle/>
          <a:p>
            <a:pPr algn="l">
              <a:lnSpc>
                <a:spcPct val="100000"/>
              </a:lnSpc>
            </a:pPr>
            <a:r>
              <a:rPr sz="860" b="1" i="0">
                <a:solidFill>
                  <a:srgbClr val="0F4C5C"/>
                </a:solidFill>
                <a:latin typeface="Consolas"/>
              </a:rPr>
              <a:t>STEP 3</a:t>
            </a:r>
          </a:p>
        </p:txBody>
      </p:sp>
      <p:sp>
        <p:nvSpPr>
          <p:cNvPr id="18" name="TextBox 17"/>
          <p:cNvSpPr txBox="1"/>
          <p:nvPr/>
        </p:nvSpPr>
        <p:spPr>
          <a:xfrm>
            <a:off x="5193060" y="2700020"/>
            <a:ext cx="1805574" cy="274320"/>
          </a:xfrm>
          <a:prstGeom prst="rect">
            <a:avLst/>
          </a:prstGeom>
          <a:noFill/>
        </p:spPr>
        <p:txBody>
          <a:bodyPr wrap="square" anchor="t" lIns="0" rIns="0" tIns="0" bIns="0">
            <a:spAutoFit/>
          </a:bodyPr>
          <a:lstStyle/>
          <a:p>
            <a:pPr algn="l">
              <a:lnSpc>
                <a:spcPct val="110000"/>
              </a:lnSpc>
            </a:pPr>
            <a:r>
              <a:rPr sz="1500" b="0" i="0">
                <a:solidFill>
                  <a:srgbClr val="111721"/>
                </a:solidFill>
                <a:latin typeface="Georgia"/>
              </a:rPr>
              <a:t>Predict</a:t>
            </a:r>
          </a:p>
        </p:txBody>
      </p:sp>
      <p:sp>
        <p:nvSpPr>
          <p:cNvPr id="19" name="TextBox 18"/>
          <p:cNvSpPr txBox="1"/>
          <p:nvPr/>
        </p:nvSpPr>
        <p:spPr>
          <a:xfrm>
            <a:off x="5193060" y="3020060"/>
            <a:ext cx="1805574" cy="1280160"/>
          </a:xfrm>
          <a:prstGeom prst="rect">
            <a:avLst/>
          </a:prstGeom>
          <a:noFill/>
        </p:spPr>
        <p:txBody>
          <a:bodyPr wrap="square" anchor="t" lIns="0" rIns="0" tIns="0" bIns="0">
            <a:spAutoFit/>
          </a:bodyPr>
          <a:lstStyle/>
          <a:p>
            <a:pPr algn="l">
              <a:lnSpc>
                <a:spcPct val="134000"/>
              </a:lnSpc>
            </a:pPr>
            <a:r>
              <a:rPr sz="1060" b="0" i="0">
                <a:solidFill>
                  <a:srgbClr val="3C4653"/>
                </a:solidFill>
                <a:latin typeface="Segoe UI"/>
              </a:rPr>
              <a:t>For each traffic group, forecast demand 10 to 80 minutes ahead. Give a best guess and a safe upper bound.</a:t>
            </a:r>
          </a:p>
        </p:txBody>
      </p:sp>
      <p:sp>
        <p:nvSpPr>
          <p:cNvPr id="20" name="Rectangle 19"/>
          <p:cNvSpPr/>
          <p:nvPr/>
        </p:nvSpPr>
        <p:spPr>
          <a:xfrm>
            <a:off x="7213518" y="2288540"/>
            <a:ext cx="2134758" cy="21488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78110" y="2471420"/>
            <a:ext cx="1805574" cy="182880"/>
          </a:xfrm>
          <a:prstGeom prst="rect">
            <a:avLst/>
          </a:prstGeom>
          <a:noFill/>
        </p:spPr>
        <p:txBody>
          <a:bodyPr wrap="square" anchor="t" lIns="0" rIns="0" tIns="0" bIns="0">
            <a:spAutoFit/>
          </a:bodyPr>
          <a:lstStyle/>
          <a:p>
            <a:pPr algn="l">
              <a:lnSpc>
                <a:spcPct val="100000"/>
              </a:lnSpc>
            </a:pPr>
            <a:r>
              <a:rPr sz="860" b="1" i="0">
                <a:solidFill>
                  <a:srgbClr val="0F4C5C"/>
                </a:solidFill>
                <a:latin typeface="Consolas"/>
              </a:rPr>
              <a:t>STEP 4</a:t>
            </a:r>
          </a:p>
        </p:txBody>
      </p:sp>
      <p:sp>
        <p:nvSpPr>
          <p:cNvPr id="22" name="TextBox 21"/>
          <p:cNvSpPr txBox="1"/>
          <p:nvPr/>
        </p:nvSpPr>
        <p:spPr>
          <a:xfrm>
            <a:off x="7378110" y="2700020"/>
            <a:ext cx="1805574" cy="274320"/>
          </a:xfrm>
          <a:prstGeom prst="rect">
            <a:avLst/>
          </a:prstGeom>
          <a:noFill/>
        </p:spPr>
        <p:txBody>
          <a:bodyPr wrap="square" anchor="t" lIns="0" rIns="0" tIns="0" bIns="0">
            <a:spAutoFit/>
          </a:bodyPr>
          <a:lstStyle/>
          <a:p>
            <a:pPr algn="l">
              <a:lnSpc>
                <a:spcPct val="110000"/>
              </a:lnSpc>
            </a:pPr>
            <a:r>
              <a:rPr sz="1500" b="0" i="0">
                <a:solidFill>
                  <a:srgbClr val="111721"/>
                </a:solidFill>
                <a:latin typeface="Georgia"/>
              </a:rPr>
              <a:t>Decide</a:t>
            </a:r>
          </a:p>
        </p:txBody>
      </p:sp>
      <p:sp>
        <p:nvSpPr>
          <p:cNvPr id="23" name="TextBox 22"/>
          <p:cNvSpPr txBox="1"/>
          <p:nvPr/>
        </p:nvSpPr>
        <p:spPr>
          <a:xfrm>
            <a:off x="7378110" y="3020060"/>
            <a:ext cx="1805574" cy="1280160"/>
          </a:xfrm>
          <a:prstGeom prst="rect">
            <a:avLst/>
          </a:prstGeom>
          <a:noFill/>
        </p:spPr>
        <p:txBody>
          <a:bodyPr wrap="square" anchor="t" lIns="0" rIns="0" tIns="0" bIns="0">
            <a:spAutoFit/>
          </a:bodyPr>
          <a:lstStyle/>
          <a:p>
            <a:pPr algn="l">
              <a:lnSpc>
                <a:spcPct val="134000"/>
              </a:lnSpc>
            </a:pPr>
            <a:r>
              <a:rPr sz="1060" b="0" i="0">
                <a:solidFill>
                  <a:srgbClr val="3C4653"/>
                </a:solidFill>
                <a:latin typeface="Segoe UI"/>
              </a:rPr>
              <a:t>An optimizer works out what share of new sessions each box should receive, given the forecast and the capacity limits.</a:t>
            </a:r>
          </a:p>
        </p:txBody>
      </p:sp>
      <p:sp>
        <p:nvSpPr>
          <p:cNvPr id="24" name="Rectangle 23"/>
          <p:cNvSpPr/>
          <p:nvPr/>
        </p:nvSpPr>
        <p:spPr>
          <a:xfrm>
            <a:off x="9398568" y="2288540"/>
            <a:ext cx="2134758" cy="21488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63160" y="2471420"/>
            <a:ext cx="1805574" cy="182880"/>
          </a:xfrm>
          <a:prstGeom prst="rect">
            <a:avLst/>
          </a:prstGeom>
          <a:noFill/>
        </p:spPr>
        <p:txBody>
          <a:bodyPr wrap="square" anchor="t" lIns="0" rIns="0" tIns="0" bIns="0">
            <a:spAutoFit/>
          </a:bodyPr>
          <a:lstStyle/>
          <a:p>
            <a:pPr algn="l">
              <a:lnSpc>
                <a:spcPct val="100000"/>
              </a:lnSpc>
            </a:pPr>
            <a:r>
              <a:rPr sz="860" b="1" i="0">
                <a:solidFill>
                  <a:srgbClr val="0F4C5C"/>
                </a:solidFill>
                <a:latin typeface="Consolas"/>
              </a:rPr>
              <a:t>STEP 5</a:t>
            </a:r>
          </a:p>
        </p:txBody>
      </p:sp>
      <p:sp>
        <p:nvSpPr>
          <p:cNvPr id="26" name="TextBox 25"/>
          <p:cNvSpPr txBox="1"/>
          <p:nvPr/>
        </p:nvSpPr>
        <p:spPr>
          <a:xfrm>
            <a:off x="9563160" y="2700020"/>
            <a:ext cx="1805574" cy="274320"/>
          </a:xfrm>
          <a:prstGeom prst="rect">
            <a:avLst/>
          </a:prstGeom>
          <a:noFill/>
        </p:spPr>
        <p:txBody>
          <a:bodyPr wrap="square" anchor="t" lIns="0" rIns="0" tIns="0" bIns="0">
            <a:spAutoFit/>
          </a:bodyPr>
          <a:lstStyle/>
          <a:p>
            <a:pPr algn="l">
              <a:lnSpc>
                <a:spcPct val="110000"/>
              </a:lnSpc>
            </a:pPr>
            <a:r>
              <a:rPr sz="1500" b="0" i="0">
                <a:solidFill>
                  <a:srgbClr val="111721"/>
                </a:solidFill>
                <a:latin typeface="Georgia"/>
              </a:rPr>
              <a:t>Check &amp; apply</a:t>
            </a:r>
          </a:p>
        </p:txBody>
      </p:sp>
      <p:sp>
        <p:nvSpPr>
          <p:cNvPr id="27" name="TextBox 26"/>
          <p:cNvSpPr txBox="1"/>
          <p:nvPr/>
        </p:nvSpPr>
        <p:spPr>
          <a:xfrm>
            <a:off x="9563160" y="3020060"/>
            <a:ext cx="1805574" cy="1280160"/>
          </a:xfrm>
          <a:prstGeom prst="rect">
            <a:avLst/>
          </a:prstGeom>
          <a:noFill/>
        </p:spPr>
        <p:txBody>
          <a:bodyPr wrap="square" anchor="t" lIns="0" rIns="0" tIns="0" bIns="0">
            <a:spAutoFit/>
          </a:bodyPr>
          <a:lstStyle/>
          <a:p>
            <a:pPr algn="l">
              <a:lnSpc>
                <a:spcPct val="134000"/>
              </a:lnSpc>
            </a:pPr>
            <a:r>
              <a:rPr sz="1060" b="0" i="0">
                <a:solidFill>
                  <a:srgbClr val="3C4653"/>
                </a:solidFill>
                <a:latin typeface="Segoe UI"/>
              </a:rPr>
              <a:t>A separate checker validates the plan. If anything looks wrong, fall back to the simple rule instead.</a:t>
            </a:r>
          </a:p>
        </p:txBody>
      </p:sp>
      <p:sp>
        <p:nvSpPr>
          <p:cNvPr id="28" name="Rectangle 27"/>
          <p:cNvSpPr/>
          <p:nvPr/>
        </p:nvSpPr>
        <p:spPr>
          <a:xfrm>
            <a:off x="658368" y="4638548"/>
            <a:ext cx="10874959" cy="137769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4638548"/>
            <a:ext cx="34747" cy="1377696"/>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4784852"/>
            <a:ext cx="10417759" cy="201168"/>
          </a:xfrm>
          <a:prstGeom prst="rect">
            <a:avLst/>
          </a:prstGeom>
          <a:noFill/>
        </p:spPr>
        <p:txBody>
          <a:bodyPr wrap="square" anchor="t" lIns="0" rIns="0" tIns="0" bIns="0">
            <a:spAutoFit/>
          </a:bodyPr>
          <a:lstStyle/>
          <a:p>
            <a:pPr algn="l">
              <a:lnSpc>
                <a:spcPct val="100000"/>
              </a:lnSpc>
            </a:pPr>
            <a:r>
              <a:rPr sz="950" b="1" i="0">
                <a:solidFill>
                  <a:srgbClr val="0F4C5C"/>
                </a:solidFill>
                <a:latin typeface="Consolas"/>
              </a:rPr>
              <a:t>WHY “NO PEEKING” MATTERS</a:t>
            </a:r>
          </a:p>
        </p:txBody>
      </p:sp>
      <p:sp>
        <p:nvSpPr>
          <p:cNvPr id="31" name="TextBox 30"/>
          <p:cNvSpPr txBox="1"/>
          <p:nvPr/>
        </p:nvSpPr>
        <p:spPr>
          <a:xfrm>
            <a:off x="896112" y="5040884"/>
            <a:ext cx="10372039" cy="920496"/>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Telemetry arrives in 30-second buckets, and a bucket is only usable once it closes. Every input feature carries a timestamp, and training discards anything that was not yet available when the forecast was made. A decision made at time t can only affect sessions starting after t. Without this rule, a model can quietly cheat and look far better than it really is.</a:t>
            </a:r>
          </a:p>
        </p:txBody>
      </p:sp>
      <p:sp>
        <p:nvSpPr>
          <p:cNvPr id="32" name="TextBox 31"/>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THE HEADLINE RESULT</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The platform works. The controllers win where the loss is declared.</a:t>
            </a:r>
          </a:p>
        </p:txBody>
      </p:sp>
      <p:sp>
        <p:nvSpPr>
          <p:cNvPr id="5" name="TextBox 4"/>
          <p:cNvSpPr txBox="1"/>
          <p:nvPr/>
        </p:nvSpPr>
        <p:spPr>
          <a:xfrm>
            <a:off x="658368" y="1463040"/>
            <a:ext cx="8482468" cy="344170"/>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Superseded by Experiment 7. The finding that matters is which conditions each result holds in.</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00 · THE BIG PICTURE</a:t>
            </a:r>
          </a:p>
        </p:txBody>
      </p:sp>
      <p:sp>
        <p:nvSpPr>
          <p:cNvPr id="8" name="Rectangle 7"/>
          <p:cNvSpPr/>
          <p:nvPr/>
        </p:nvSpPr>
        <p:spPr>
          <a:xfrm>
            <a:off x="658368" y="2063242"/>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191258"/>
            <a:ext cx="1514551" cy="384048"/>
          </a:xfrm>
          <a:prstGeom prst="rect">
            <a:avLst/>
          </a:prstGeom>
          <a:noFill/>
        </p:spPr>
        <p:txBody>
          <a:bodyPr wrap="square" anchor="t" lIns="0" rIns="0" tIns="0" bIns="0">
            <a:spAutoFit/>
          </a:bodyPr>
          <a:lstStyle/>
          <a:p>
            <a:pPr algn="l">
              <a:lnSpc>
                <a:spcPct val="100000"/>
              </a:lnSpc>
            </a:pPr>
            <a:r>
              <a:rPr sz="2000" b="0" i="0">
                <a:solidFill>
                  <a:srgbClr val="2E7D5B"/>
                </a:solidFill>
                <a:latin typeface="Georgia"/>
              </a:rPr>
              <a:t>PASS</a:t>
            </a:r>
          </a:p>
        </p:txBody>
      </p:sp>
      <p:sp>
        <p:nvSpPr>
          <p:cNvPr id="10" name="TextBox 9"/>
          <p:cNvSpPr txBox="1"/>
          <p:nvPr/>
        </p:nvSpPr>
        <p:spPr>
          <a:xfrm>
            <a:off x="804672" y="264845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SIMULATOR</a:t>
            </a:r>
          </a:p>
          <a:p>
            <a:pPr algn="l">
              <a:lnSpc>
                <a:spcPct val="130000"/>
              </a:lnSpc>
              <a:spcBef>
                <a:spcPts val="0"/>
              </a:spcBef>
            </a:pPr>
            <a:r>
              <a:rPr sz="819" b="0" i="0">
                <a:solidFill>
                  <a:srgbClr val="6C7683"/>
                </a:solidFill>
                <a:latin typeface="Consolas"/>
              </a:rPr>
              <a:t>ENGINEERING</a:t>
            </a:r>
          </a:p>
        </p:txBody>
      </p:sp>
      <p:sp>
        <p:nvSpPr>
          <p:cNvPr id="11" name="Rectangle 10"/>
          <p:cNvSpPr/>
          <p:nvPr/>
        </p:nvSpPr>
        <p:spPr>
          <a:xfrm>
            <a:off x="2479243" y="2063242"/>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25547" y="2191258"/>
            <a:ext cx="1514551" cy="384048"/>
          </a:xfrm>
          <a:prstGeom prst="rect">
            <a:avLst/>
          </a:prstGeom>
          <a:noFill/>
        </p:spPr>
        <p:txBody>
          <a:bodyPr wrap="square" anchor="t" lIns="0" rIns="0" tIns="0" bIns="0">
            <a:spAutoFit/>
          </a:bodyPr>
          <a:lstStyle/>
          <a:p>
            <a:pPr algn="l">
              <a:lnSpc>
                <a:spcPct val="100000"/>
              </a:lnSpc>
            </a:pPr>
            <a:r>
              <a:rPr sz="2000" b="0" i="0">
                <a:solidFill>
                  <a:srgbClr val="2E7D5B"/>
                </a:solidFill>
                <a:latin typeface="Georgia"/>
              </a:rPr>
              <a:t>PASS</a:t>
            </a:r>
          </a:p>
        </p:txBody>
      </p:sp>
      <p:sp>
        <p:nvSpPr>
          <p:cNvPr id="13" name="TextBox 12"/>
          <p:cNvSpPr txBox="1"/>
          <p:nvPr/>
        </p:nvSpPr>
        <p:spPr>
          <a:xfrm>
            <a:off x="2625547" y="264845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RUNS ON 12</a:t>
            </a:r>
          </a:p>
          <a:p>
            <a:pPr algn="l">
              <a:lnSpc>
                <a:spcPct val="130000"/>
              </a:lnSpc>
              <a:spcBef>
                <a:spcPts val="0"/>
              </a:spcBef>
            </a:pPr>
            <a:r>
              <a:rPr sz="819" b="0" i="0">
                <a:solidFill>
                  <a:srgbClr val="6C7683"/>
                </a:solidFill>
                <a:latin typeface="Consolas"/>
              </a:rPr>
              <a:t>CLUSTER NODES</a:t>
            </a:r>
          </a:p>
        </p:txBody>
      </p:sp>
      <p:sp>
        <p:nvSpPr>
          <p:cNvPr id="14" name="Rectangle 13"/>
          <p:cNvSpPr/>
          <p:nvPr/>
        </p:nvSpPr>
        <p:spPr>
          <a:xfrm>
            <a:off x="4300118" y="2063242"/>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6422" y="2191258"/>
            <a:ext cx="1514551" cy="384048"/>
          </a:xfrm>
          <a:prstGeom prst="rect">
            <a:avLst/>
          </a:prstGeom>
          <a:noFill/>
        </p:spPr>
        <p:txBody>
          <a:bodyPr wrap="square" anchor="t" lIns="0" rIns="0" tIns="0" bIns="0">
            <a:spAutoFit/>
          </a:bodyPr>
          <a:lstStyle/>
          <a:p>
            <a:pPr algn="l">
              <a:lnSpc>
                <a:spcPct val="100000"/>
              </a:lnSpc>
            </a:pPr>
            <a:r>
              <a:rPr sz="2000" b="0" i="0">
                <a:solidFill>
                  <a:srgbClr val="B5761F"/>
                </a:solidFill>
                <a:latin typeface="Georgia"/>
              </a:rPr>
              <a:t>11.6</a:t>
            </a:r>
            <a:r>
              <a:rPr sz="1000" b="0" i="0">
                <a:solidFill>
                  <a:srgbClr val="6C7683"/>
                </a:solidFill>
                <a:latin typeface="Consolas"/>
              </a:rPr>
              <a:t>%</a:t>
            </a:r>
          </a:p>
        </p:txBody>
      </p:sp>
      <p:sp>
        <p:nvSpPr>
          <p:cNvPr id="16" name="TextBox 15"/>
          <p:cNvSpPr txBox="1"/>
          <p:nvPr/>
        </p:nvSpPr>
        <p:spPr>
          <a:xfrm>
            <a:off x="4446422" y="264845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BEST FORECAST GAIN</a:t>
            </a:r>
          </a:p>
          <a:p>
            <a:pPr algn="l">
              <a:lnSpc>
                <a:spcPct val="130000"/>
              </a:lnSpc>
              <a:spcBef>
                <a:spcPts val="0"/>
              </a:spcBef>
            </a:pPr>
            <a:r>
              <a:rPr sz="819" b="0" i="0">
                <a:solidFill>
                  <a:srgbClr val="6C7683"/>
                </a:solidFill>
                <a:latin typeface="Consolas"/>
              </a:rPr>
              <a:t>TARGET WAS 15%</a:t>
            </a:r>
          </a:p>
        </p:txBody>
      </p:sp>
      <p:sp>
        <p:nvSpPr>
          <p:cNvPr id="17" name="Rectangle 16"/>
          <p:cNvSpPr/>
          <p:nvPr/>
        </p:nvSpPr>
        <p:spPr>
          <a:xfrm>
            <a:off x="6120993" y="2063242"/>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297" y="2191258"/>
            <a:ext cx="1514551" cy="384048"/>
          </a:xfrm>
          <a:prstGeom prst="rect">
            <a:avLst/>
          </a:prstGeom>
          <a:noFill/>
        </p:spPr>
        <p:txBody>
          <a:bodyPr wrap="square" anchor="t" lIns="0" rIns="0" tIns="0" bIns="0">
            <a:spAutoFit/>
          </a:bodyPr>
          <a:lstStyle/>
          <a:p>
            <a:pPr algn="l">
              <a:lnSpc>
                <a:spcPct val="100000"/>
              </a:lnSpc>
            </a:pPr>
            <a:r>
              <a:rPr sz="2000" b="0" i="0">
                <a:solidFill>
                  <a:srgbClr val="9C3B35"/>
                </a:solidFill>
                <a:latin typeface="Georgia"/>
              </a:rPr>
              <a:t>PASS</a:t>
            </a:r>
          </a:p>
        </p:txBody>
      </p:sp>
      <p:sp>
        <p:nvSpPr>
          <p:cNvPr id="19" name="TextBox 18"/>
          <p:cNvSpPr txBox="1"/>
          <p:nvPr/>
        </p:nvSpPr>
        <p:spPr>
          <a:xfrm>
            <a:off x="6267297" y="264845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MPC · DECLARED EVENTS</a:t>
            </a:r>
          </a:p>
          <a:p>
            <a:pPr algn="l">
              <a:lnSpc>
                <a:spcPct val="130000"/>
              </a:lnSpc>
              <a:spcBef>
                <a:spcPts val="0"/>
              </a:spcBef>
            </a:pPr>
            <a:r>
              <a:rPr sz="819" b="0" i="0">
                <a:solidFill>
                  <a:srgbClr val="6C7683"/>
                </a:solidFill>
                <a:latin typeface="Consolas"/>
              </a:rPr>
              <a:t>SHADOW CANDIDATE</a:t>
            </a:r>
          </a:p>
        </p:txBody>
      </p:sp>
      <p:sp>
        <p:nvSpPr>
          <p:cNvPr id="20" name="Rectangle 19"/>
          <p:cNvSpPr/>
          <p:nvPr/>
        </p:nvSpPr>
        <p:spPr>
          <a:xfrm>
            <a:off x="7941868" y="2063242"/>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8172" y="2191258"/>
            <a:ext cx="1514551" cy="384048"/>
          </a:xfrm>
          <a:prstGeom prst="rect">
            <a:avLst/>
          </a:prstGeom>
          <a:noFill/>
        </p:spPr>
        <p:txBody>
          <a:bodyPr wrap="square" anchor="t" lIns="0" rIns="0" tIns="0" bIns="0">
            <a:spAutoFit/>
          </a:bodyPr>
          <a:lstStyle/>
          <a:p>
            <a:pPr algn="l">
              <a:lnSpc>
                <a:spcPct val="100000"/>
              </a:lnSpc>
            </a:pPr>
            <a:r>
              <a:rPr sz="2000" b="0" i="0">
                <a:solidFill>
                  <a:srgbClr val="9C3B35"/>
                </a:solidFill>
                <a:latin typeface="Georgia"/>
              </a:rPr>
              <a:t>PASS</a:t>
            </a:r>
          </a:p>
        </p:txBody>
      </p:sp>
      <p:sp>
        <p:nvSpPr>
          <p:cNvPr id="22" name="TextBox 21"/>
          <p:cNvSpPr txBox="1"/>
          <p:nvPr/>
        </p:nvSpPr>
        <p:spPr>
          <a:xfrm>
            <a:off x="8088172" y="264845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PRE-DRAIN · DECLARED</a:t>
            </a:r>
          </a:p>
          <a:p>
            <a:pPr algn="l">
              <a:lnSpc>
                <a:spcPct val="130000"/>
              </a:lnSpc>
              <a:spcBef>
                <a:spcPts val="0"/>
              </a:spcBef>
            </a:pPr>
            <a:r>
              <a:rPr sz="819" b="0" i="0">
                <a:solidFill>
                  <a:srgbClr val="6C7683"/>
                </a:solidFill>
                <a:latin typeface="Consolas"/>
              </a:rPr>
              <a:t>EVENTS ONLY</a:t>
            </a:r>
          </a:p>
        </p:txBody>
      </p:sp>
      <p:sp>
        <p:nvSpPr>
          <p:cNvPr id="23" name="Rectangle 22"/>
          <p:cNvSpPr/>
          <p:nvPr/>
        </p:nvSpPr>
        <p:spPr>
          <a:xfrm>
            <a:off x="9762744" y="2063242"/>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09048" y="2191258"/>
            <a:ext cx="1514551" cy="384048"/>
          </a:xfrm>
          <a:prstGeom prst="rect">
            <a:avLst/>
          </a:prstGeom>
          <a:noFill/>
        </p:spPr>
        <p:txBody>
          <a:bodyPr wrap="square" anchor="t" lIns="0" rIns="0" tIns="0" bIns="0">
            <a:spAutoFit/>
          </a:bodyPr>
          <a:lstStyle/>
          <a:p>
            <a:pPr algn="l">
              <a:lnSpc>
                <a:spcPct val="100000"/>
              </a:lnSpc>
            </a:pPr>
            <a:r>
              <a:rPr sz="2000" b="0" i="0">
                <a:solidFill>
                  <a:srgbClr val="0F4C5C"/>
                </a:solidFill>
                <a:latin typeface="Georgia"/>
              </a:rPr>
              <a:t>STATIC</a:t>
            </a:r>
          </a:p>
        </p:txBody>
      </p:sp>
      <p:sp>
        <p:nvSpPr>
          <p:cNvPr id="25" name="TextBox 24"/>
          <p:cNvSpPr txBox="1"/>
          <p:nvPr/>
        </p:nvSpPr>
        <p:spPr>
          <a:xfrm>
            <a:off x="9909048" y="264845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DEFAULT OUTSIDE</a:t>
            </a:r>
          </a:p>
          <a:p>
            <a:pPr algn="l">
              <a:lnSpc>
                <a:spcPct val="130000"/>
              </a:lnSpc>
              <a:spcBef>
                <a:spcPts val="0"/>
              </a:spcBef>
            </a:pPr>
            <a:r>
              <a:rPr sz="819" b="0" i="0">
                <a:solidFill>
                  <a:srgbClr val="6C7683"/>
                </a:solidFill>
                <a:latin typeface="Consolas"/>
              </a:rPr>
              <a:t>DECLARED EVENTS</a:t>
            </a:r>
          </a:p>
        </p:txBody>
      </p:sp>
      <p:sp>
        <p:nvSpPr>
          <p:cNvPr id="26" name="Rectangle 25"/>
          <p:cNvSpPr/>
          <p:nvPr/>
        </p:nvSpPr>
        <p:spPr>
          <a:xfrm>
            <a:off x="658368" y="3233674"/>
            <a:ext cx="5245455" cy="298094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9536" y="3448558"/>
            <a:ext cx="77724" cy="77724"/>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4128" y="3398266"/>
            <a:ext cx="4696815" cy="182880"/>
          </a:xfrm>
          <a:prstGeom prst="rect">
            <a:avLst/>
          </a:prstGeom>
          <a:noFill/>
        </p:spPr>
        <p:txBody>
          <a:bodyPr wrap="square" anchor="t" lIns="0" rIns="0" tIns="0" bIns="0">
            <a:spAutoFit/>
          </a:bodyPr>
          <a:lstStyle/>
          <a:p>
            <a:pPr algn="l">
              <a:lnSpc>
                <a:spcPct val="100000"/>
              </a:lnSpc>
            </a:pPr>
            <a:r>
              <a:rPr sz="940" b="1" i="0">
                <a:solidFill>
                  <a:srgbClr val="2E7D5B"/>
                </a:solidFill>
                <a:latin typeface="Consolas"/>
              </a:rPr>
              <a:t>WHAT WORKED</a:t>
            </a:r>
          </a:p>
        </p:txBody>
      </p:sp>
      <p:sp>
        <p:nvSpPr>
          <p:cNvPr id="29" name="TextBox 28"/>
          <p:cNvSpPr txBox="1"/>
          <p:nvPr/>
        </p:nvSpPr>
        <p:spPr>
          <a:xfrm>
            <a:off x="859536" y="3709162"/>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The traffic adds up exactly</a:t>
            </a:r>
          </a:p>
        </p:txBody>
      </p:sp>
      <p:sp>
        <p:nvSpPr>
          <p:cNvPr id="30" name="TextBox 29"/>
          <p:cNvSpPr txBox="1"/>
          <p:nvPr/>
        </p:nvSpPr>
        <p:spPr>
          <a:xfrm>
            <a:off x="859536" y="3878326"/>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Offered = carried + dropped + queued + rejected. Gap: 0.0 bytes.</a:t>
            </a:r>
          </a:p>
        </p:txBody>
      </p:sp>
      <p:sp>
        <p:nvSpPr>
          <p:cNvPr id="31" name="TextBox 30"/>
          <p:cNvSpPr txBox="1"/>
          <p:nvPr/>
        </p:nvSpPr>
        <p:spPr>
          <a:xfrm>
            <a:off x="859536" y="4125214"/>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Memory stays flat</a:t>
            </a:r>
          </a:p>
        </p:txBody>
      </p:sp>
      <p:sp>
        <p:nvSpPr>
          <p:cNvPr id="32" name="TextBox 31"/>
          <p:cNvSpPr txBox="1"/>
          <p:nvPr/>
        </p:nvSpPr>
        <p:spPr>
          <a:xfrm>
            <a:off x="859536" y="4294378"/>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Simulating 7× longer uses only 4.1% more memory.</a:t>
            </a:r>
          </a:p>
        </p:txBody>
      </p:sp>
      <p:sp>
        <p:nvSpPr>
          <p:cNvPr id="33" name="TextBox 32"/>
          <p:cNvSpPr txBox="1"/>
          <p:nvPr/>
        </p:nvSpPr>
        <p:spPr>
          <a:xfrm>
            <a:off x="859536" y="4541266"/>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Everything is reproducible</a:t>
            </a:r>
          </a:p>
        </p:txBody>
      </p:sp>
      <p:sp>
        <p:nvSpPr>
          <p:cNvPr id="34" name="TextBox 33"/>
          <p:cNvSpPr txBox="1"/>
          <p:nvPr/>
        </p:nvSpPr>
        <p:spPr>
          <a:xfrm>
            <a:off x="859536" y="4710430"/>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Every output hashed, inputs frozen, nothing silently overwritten.</a:t>
            </a:r>
          </a:p>
        </p:txBody>
      </p:sp>
      <p:sp>
        <p:nvSpPr>
          <p:cNvPr id="35" name="TextBox 34"/>
          <p:cNvSpPr txBox="1"/>
          <p:nvPr/>
        </p:nvSpPr>
        <p:spPr>
          <a:xfrm>
            <a:off x="859536" y="4957318"/>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Session-length estimation works</a:t>
            </a:r>
          </a:p>
        </p:txBody>
      </p:sp>
      <p:sp>
        <p:nvSpPr>
          <p:cNvPr id="36" name="TextBox 35"/>
          <p:cNvSpPr txBox="1"/>
          <p:nvPr/>
        </p:nvSpPr>
        <p:spPr>
          <a:xfrm>
            <a:off x="859536" y="5126482"/>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Learned from ordinary logs; survived five unknown distributions.</a:t>
            </a:r>
          </a:p>
        </p:txBody>
      </p:sp>
      <p:sp>
        <p:nvSpPr>
          <p:cNvPr id="37" name="TextBox 36"/>
          <p:cNvSpPr txBox="1"/>
          <p:nvPr/>
        </p:nvSpPr>
        <p:spPr>
          <a:xfrm>
            <a:off x="859536" y="5373370"/>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There is room to improve</a:t>
            </a:r>
          </a:p>
        </p:txBody>
      </p:sp>
      <p:sp>
        <p:nvSpPr>
          <p:cNvPr id="38" name="TextBox 37"/>
          <p:cNvSpPr txBox="1"/>
          <p:nvPr/>
        </p:nvSpPr>
        <p:spPr>
          <a:xfrm>
            <a:off x="859536" y="5542534"/>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A version that knows the future removes 100% of overload.</a:t>
            </a:r>
          </a:p>
        </p:txBody>
      </p:sp>
      <p:sp>
        <p:nvSpPr>
          <p:cNvPr id="39" name="TextBox 38"/>
          <p:cNvSpPr txBox="1"/>
          <p:nvPr/>
        </p:nvSpPr>
        <p:spPr>
          <a:xfrm>
            <a:off x="859536" y="5789422"/>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Nothing unsafe shipped</a:t>
            </a:r>
          </a:p>
        </p:txBody>
      </p:sp>
      <p:sp>
        <p:nvSpPr>
          <p:cNvPr id="40" name="TextBox 39"/>
          <p:cNvSpPr txBox="1"/>
          <p:nvPr/>
        </p:nvSpPr>
        <p:spPr>
          <a:xfrm>
            <a:off x="859536" y="5958586"/>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588 tests; no controller released without passing every check.</a:t>
            </a:r>
          </a:p>
        </p:txBody>
      </p:sp>
      <p:sp>
        <p:nvSpPr>
          <p:cNvPr id="41" name="Rectangle 40"/>
          <p:cNvSpPr/>
          <p:nvPr/>
        </p:nvSpPr>
        <p:spPr>
          <a:xfrm>
            <a:off x="6287871" y="3233674"/>
            <a:ext cx="5245455" cy="298094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89039" y="3448558"/>
            <a:ext cx="77724" cy="77724"/>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53631" y="3398266"/>
            <a:ext cx="4696815" cy="182880"/>
          </a:xfrm>
          <a:prstGeom prst="rect">
            <a:avLst/>
          </a:prstGeom>
          <a:noFill/>
        </p:spPr>
        <p:txBody>
          <a:bodyPr wrap="square" anchor="t" lIns="0" rIns="0" tIns="0" bIns="0">
            <a:spAutoFit/>
          </a:bodyPr>
          <a:lstStyle/>
          <a:p>
            <a:pPr algn="l">
              <a:lnSpc>
                <a:spcPct val="100000"/>
              </a:lnSpc>
            </a:pPr>
            <a:r>
              <a:rPr sz="940" b="1" i="0">
                <a:solidFill>
                  <a:srgbClr val="9C3B35"/>
                </a:solidFill>
                <a:latin typeface="Consolas"/>
              </a:rPr>
              <a:t>WHAT THE AUDIT CHANGED</a:t>
            </a:r>
          </a:p>
        </p:txBody>
      </p:sp>
      <p:sp>
        <p:nvSpPr>
          <p:cNvPr id="44" name="TextBox 43"/>
          <p:cNvSpPr txBox="1"/>
          <p:nvPr/>
        </p:nvSpPr>
        <p:spPr>
          <a:xfrm>
            <a:off x="6489039" y="3709162"/>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The better forecast models</a:t>
            </a:r>
          </a:p>
        </p:txBody>
      </p:sp>
      <p:sp>
        <p:nvSpPr>
          <p:cNvPr id="45" name="TextBox 44"/>
          <p:cNvSpPr txBox="1"/>
          <p:nvPr/>
        </p:nvSpPr>
        <p:spPr>
          <a:xfrm>
            <a:off x="6489039" y="3878326"/>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LightGBM improved accuracy 11.6%. We needed 15%.</a:t>
            </a:r>
          </a:p>
        </p:txBody>
      </p:sp>
      <p:sp>
        <p:nvSpPr>
          <p:cNvPr id="46" name="TextBox 45"/>
          <p:cNvSpPr txBox="1"/>
          <p:nvPr/>
        </p:nvSpPr>
        <p:spPr>
          <a:xfrm>
            <a:off x="6489039" y="4125214"/>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The linear-program controller</a:t>
            </a:r>
          </a:p>
        </p:txBody>
      </p:sp>
      <p:sp>
        <p:nvSpPr>
          <p:cNvPr id="47" name="TextBox 46"/>
          <p:cNvSpPr txBox="1"/>
          <p:nvPr/>
        </p:nvSpPr>
        <p:spPr>
          <a:xfrm>
            <a:off x="6489039" y="4294378"/>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Cut overload 2.4%. We needed 20%. Tuning made it worse.</a:t>
            </a:r>
          </a:p>
        </p:txBody>
      </p:sp>
      <p:sp>
        <p:nvSpPr>
          <p:cNvPr id="48" name="TextBox 47"/>
          <p:cNvSpPr txBox="1"/>
          <p:nvPr/>
        </p:nvSpPr>
        <p:spPr>
          <a:xfrm>
            <a:off x="6489039" y="4541266"/>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The MPC controller</a:t>
            </a:r>
          </a:p>
        </p:txBody>
      </p:sp>
      <p:sp>
        <p:nvSpPr>
          <p:cNvPr id="49" name="TextBox 48"/>
          <p:cNvSpPr txBox="1"/>
          <p:nvPr/>
        </p:nvSpPr>
        <p:spPr>
          <a:xfrm>
            <a:off x="6489039" y="4710430"/>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Now clears every gate at 16.3% on fresh seeds, with near-zero collateral harm.</a:t>
            </a:r>
          </a:p>
        </p:txBody>
      </p:sp>
      <p:sp>
        <p:nvSpPr>
          <p:cNvPr id="50" name="TextBox 49"/>
          <p:cNvSpPr txBox="1"/>
          <p:nvPr/>
        </p:nvSpPr>
        <p:spPr>
          <a:xfrm>
            <a:off x="6489039" y="4957318"/>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Transfer between situations</a:t>
            </a:r>
          </a:p>
        </p:txBody>
      </p:sp>
      <p:sp>
        <p:nvSpPr>
          <p:cNvPr id="51" name="TextBox 50"/>
          <p:cNvSpPr txBox="1"/>
          <p:nvPr/>
        </p:nvSpPr>
        <p:spPr>
          <a:xfrm>
            <a:off x="6489039" y="5126482"/>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Pre-drain now removes 55% on declared maintenance and ties exactly on pure surprises.</a:t>
            </a:r>
          </a:p>
        </p:txBody>
      </p:sp>
      <p:sp>
        <p:nvSpPr>
          <p:cNvPr id="52" name="TextBox 51"/>
          <p:cNvSpPr txBox="1"/>
          <p:nvPr/>
        </p:nvSpPr>
        <p:spPr>
          <a:xfrm>
            <a:off x="6489039" y="5373370"/>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Mixed-event exposure remains</a:t>
            </a:r>
          </a:p>
        </p:txBody>
      </p:sp>
      <p:sp>
        <p:nvSpPr>
          <p:cNvPr id="53" name="TextBox 52"/>
          <p:cNvSpPr txBox="1"/>
          <p:nvPr/>
        </p:nvSpPr>
        <p:spPr>
          <a:xfrm>
            <a:off x="6489039" y="5542534"/>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Pre-drain can regress when declared loss is followed by a surprise; MPC cuts that exposure.</a:t>
            </a:r>
          </a:p>
        </p:txBody>
      </p:sp>
      <p:sp>
        <p:nvSpPr>
          <p:cNvPr id="54" name="TextBox 53"/>
          <p:cNvSpPr txBox="1"/>
          <p:nvPr/>
        </p:nvSpPr>
        <p:spPr>
          <a:xfrm>
            <a:off x="6489039" y="5789422"/>
            <a:ext cx="4843119" cy="182880"/>
          </a:xfrm>
          <a:prstGeom prst="rect">
            <a:avLst/>
          </a:prstGeom>
          <a:noFill/>
        </p:spPr>
        <p:txBody>
          <a:bodyPr wrap="square" anchor="t" lIns="0" rIns="0" tIns="0" bIns="0">
            <a:spAutoFit/>
          </a:bodyPr>
          <a:lstStyle/>
          <a:p>
            <a:pPr algn="l">
              <a:lnSpc>
                <a:spcPct val="120000"/>
              </a:lnSpc>
            </a:pPr>
            <a:r>
              <a:rPr sz="1090" b="1" i="0">
                <a:solidFill>
                  <a:srgbClr val="111721"/>
                </a:solidFill>
                <a:latin typeface="Segoe UI"/>
              </a:rPr>
              <a:t>Faster is not automatically better</a:t>
            </a:r>
          </a:p>
        </p:txBody>
      </p:sp>
      <p:sp>
        <p:nvSpPr>
          <p:cNvPr id="55" name="TextBox 54"/>
          <p:cNvSpPr txBox="1"/>
          <p:nvPr/>
        </p:nvSpPr>
        <p:spPr>
          <a:xfrm>
            <a:off x="6489039" y="5958586"/>
            <a:ext cx="4843119" cy="201168"/>
          </a:xfrm>
          <a:prstGeom prst="rect">
            <a:avLst/>
          </a:prstGeom>
          <a:noFill/>
        </p:spPr>
        <p:txBody>
          <a:bodyPr wrap="square" anchor="t" lIns="0" rIns="0" tIns="0" bIns="0">
            <a:spAutoFit/>
          </a:bodyPr>
          <a:lstStyle/>
          <a:p>
            <a:pPr algn="l">
              <a:lnSpc>
                <a:spcPct val="126000"/>
              </a:lnSpc>
            </a:pPr>
            <a:r>
              <a:rPr sz="1019" b="0" i="0">
                <a:solidFill>
                  <a:srgbClr val="3C4653"/>
                </a:solidFill>
                <a:latin typeface="Segoe UI"/>
              </a:rPr>
              <a:t>Two-minute cadence bought 0.02 points for 3.7× the routing churn.</a:t>
            </a:r>
          </a:p>
        </p:txBody>
      </p:sp>
      <p:sp>
        <p:nvSpPr>
          <p:cNvPr id="56" name="TextBox 55"/>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THE V4 RESULT</a:t>
            </a:r>
          </a:p>
        </p:txBody>
      </p:sp>
      <p:sp>
        <p:nvSpPr>
          <p:cNvPr id="4" name="TextBox 3"/>
          <p:cNvSpPr txBox="1"/>
          <p:nvPr/>
        </p:nvSpPr>
        <p:spPr>
          <a:xfrm>
            <a:off x="658368" y="731520"/>
            <a:ext cx="10872216" cy="822960"/>
          </a:xfrm>
          <a:prstGeom prst="rect">
            <a:avLst/>
          </a:prstGeom>
          <a:noFill/>
        </p:spPr>
        <p:txBody>
          <a:bodyPr wrap="square" lIns="0" rIns="0" tIns="0" bIns="0" anchor="t">
            <a:spAutoFit/>
          </a:bodyPr>
          <a:lstStyle/>
          <a:p>
            <a:pPr algn="l">
              <a:lnSpc>
                <a:spcPct val="100000"/>
              </a:lnSpc>
            </a:pPr>
            <a:r>
              <a:rPr sz="3000" b="0">
                <a:solidFill>
                  <a:srgbClr val="111721"/>
                </a:solidFill>
                <a:latin typeface="Georgia"/>
              </a:rPr>
              <a:t>Predictive steering wins where the loss is declared</a:t>
            </a:r>
          </a:p>
        </p:txBody>
      </p:sp>
      <p:sp>
        <p:nvSpPr>
          <p:cNvPr id="5" name="TextBox 4"/>
          <p:cNvSpPr txBox="1"/>
          <p:nvPr/>
        </p:nvSpPr>
        <p:spPr>
          <a:xfrm>
            <a:off x="658368" y="1463040"/>
            <a:ext cx="10424160" cy="548640"/>
          </a:xfrm>
          <a:prstGeom prst="rect">
            <a:avLst/>
          </a:prstGeom>
          <a:noFill/>
        </p:spPr>
        <p:txBody>
          <a:bodyPr wrap="square" lIns="0" rIns="0" tIns="0" bIns="0" anchor="t">
            <a:spAutoFit/>
          </a:bodyPr>
          <a:lstStyle/>
          <a:p>
            <a:pPr algn="l">
              <a:lnSpc>
                <a:spcPct val="125000"/>
              </a:lnSpc>
            </a:pPr>
            <a:r>
              <a:rPr sz="1300" b="0">
                <a:solidFill>
                  <a:srgbClr val="3C4653"/>
                </a:solidFill>
                <a:latin typeface="Segoe UI"/>
              </a:rPr>
              <a:t>Re-run after an audit of the evaluator, on 25 000 paired simulated days. The controllers now beat the simple rule — but only for capacity loss that is announced in advance, and the boundary is as important as the gain.</a:t>
            </a:r>
          </a:p>
        </p:txBody>
      </p:sp>
      <p:sp>
        <p:nvSpPr>
          <p:cNvPr id="6" name="Rectangle 5"/>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8816"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00 · THE BIG PICTURE</a:t>
            </a:r>
          </a:p>
        </p:txBody>
      </p:sp>
      <p:sp>
        <p:nvSpPr>
          <p:cNvPr id="8" name="Rectangle 7"/>
          <p:cNvSpPr/>
          <p:nvPr/>
        </p:nvSpPr>
        <p:spPr>
          <a:xfrm>
            <a:off x="658368" y="2212848"/>
            <a:ext cx="2020824" cy="117043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359152"/>
            <a:ext cx="1691640" cy="457200"/>
          </a:xfrm>
          <a:prstGeom prst="rect">
            <a:avLst/>
          </a:prstGeom>
          <a:noFill/>
        </p:spPr>
        <p:txBody>
          <a:bodyPr wrap="square" lIns="0" rIns="0" tIns="0" bIns="0" anchor="t">
            <a:spAutoFit/>
          </a:bodyPr>
          <a:lstStyle/>
          <a:p>
            <a:pPr algn="l">
              <a:lnSpc>
                <a:spcPct val="100000"/>
              </a:lnSpc>
            </a:pPr>
            <a:r>
              <a:rPr sz="2600" b="0">
                <a:solidFill>
                  <a:srgbClr val="0F4C5C"/>
                </a:solidFill>
                <a:latin typeface="Georgia"/>
              </a:rPr>
              <a:t>+24.0%</a:t>
            </a:r>
          </a:p>
        </p:txBody>
      </p:sp>
      <p:sp>
        <p:nvSpPr>
          <p:cNvPr id="10" name="TextBox 9"/>
          <p:cNvSpPr txBox="1"/>
          <p:nvPr/>
        </p:nvSpPr>
        <p:spPr>
          <a:xfrm>
            <a:off x="822959" y="2926080"/>
            <a:ext cx="1691640" cy="384048"/>
          </a:xfrm>
          <a:prstGeom prst="rect">
            <a:avLst/>
          </a:prstGeom>
          <a:noFill/>
        </p:spPr>
        <p:txBody>
          <a:bodyPr wrap="square" lIns="0" rIns="0" tIns="0" bIns="0" anchor="t">
            <a:spAutoFit/>
          </a:bodyPr>
          <a:lstStyle/>
          <a:p>
            <a:pPr algn="l">
              <a:lnSpc>
                <a:spcPct val="118000"/>
              </a:lnSpc>
            </a:pPr>
            <a:r>
              <a:rPr sz="819" b="1">
                <a:solidFill>
                  <a:srgbClr val="6C7683"/>
                </a:solidFill>
                <a:latin typeface="Consolas"/>
              </a:rPr>
              <a:t>OVERLOAD REMOVED</a:t>
            </a:r>
          </a:p>
          <a:p>
            <a:pPr algn="l">
              <a:lnSpc>
                <a:spcPct val="118000"/>
              </a:lnSpc>
            </a:pPr>
            <a:r>
              <a:rPr sz="819" b="1">
                <a:solidFill>
                  <a:srgbClr val="6C7683"/>
                </a:solidFill>
                <a:latin typeface="Consolas"/>
              </a:rPr>
              <a:t>ON UNSEEN SEEDS</a:t>
            </a:r>
          </a:p>
        </p:txBody>
      </p:sp>
      <p:sp>
        <p:nvSpPr>
          <p:cNvPr id="11" name="Rectangle 10"/>
          <p:cNvSpPr/>
          <p:nvPr/>
        </p:nvSpPr>
        <p:spPr>
          <a:xfrm>
            <a:off x="2862072" y="2212848"/>
            <a:ext cx="2020824" cy="117043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6664" y="2359152"/>
            <a:ext cx="1691640" cy="457200"/>
          </a:xfrm>
          <a:prstGeom prst="rect">
            <a:avLst/>
          </a:prstGeom>
          <a:noFill/>
        </p:spPr>
        <p:txBody>
          <a:bodyPr wrap="square" lIns="0" rIns="0" tIns="0" bIns="0" anchor="t">
            <a:spAutoFit/>
          </a:bodyPr>
          <a:lstStyle/>
          <a:p>
            <a:pPr algn="l">
              <a:lnSpc>
                <a:spcPct val="100000"/>
              </a:lnSpc>
            </a:pPr>
            <a:r>
              <a:rPr sz="2600" b="0">
                <a:solidFill>
                  <a:srgbClr val="2E7D5B"/>
                </a:solidFill>
                <a:latin typeface="Georgia"/>
              </a:rPr>
              <a:t>0 / 473</a:t>
            </a:r>
          </a:p>
        </p:txBody>
      </p:sp>
      <p:sp>
        <p:nvSpPr>
          <p:cNvPr id="13" name="TextBox 12"/>
          <p:cNvSpPr txBox="1"/>
          <p:nvPr/>
        </p:nvSpPr>
        <p:spPr>
          <a:xfrm>
            <a:off x="3026664" y="2926080"/>
            <a:ext cx="1691640" cy="384048"/>
          </a:xfrm>
          <a:prstGeom prst="rect">
            <a:avLst/>
          </a:prstGeom>
          <a:noFill/>
        </p:spPr>
        <p:txBody>
          <a:bodyPr wrap="square" lIns="0" rIns="0" tIns="0" bIns="0" anchor="t">
            <a:spAutoFit/>
          </a:bodyPr>
          <a:lstStyle/>
          <a:p>
            <a:pPr algn="l">
              <a:lnSpc>
                <a:spcPct val="118000"/>
              </a:lnSpc>
            </a:pPr>
            <a:r>
              <a:rPr sz="819" b="1">
                <a:solidFill>
                  <a:srgbClr val="6C7683"/>
                </a:solidFill>
                <a:latin typeface="Consolas"/>
              </a:rPr>
              <a:t>REGRESSIONS ON</a:t>
            </a:r>
          </a:p>
          <a:p>
            <a:pPr algn="l">
              <a:lnSpc>
                <a:spcPct val="118000"/>
              </a:lnSpc>
            </a:pPr>
            <a:r>
              <a:rPr sz="819" b="1">
                <a:solidFill>
                  <a:srgbClr val="6C7683"/>
                </a:solidFill>
                <a:latin typeface="Consolas"/>
              </a:rPr>
              <a:t>DECLARED EVENTS</a:t>
            </a:r>
          </a:p>
        </p:txBody>
      </p:sp>
      <p:sp>
        <p:nvSpPr>
          <p:cNvPr id="14" name="Rectangle 13"/>
          <p:cNvSpPr/>
          <p:nvPr/>
        </p:nvSpPr>
        <p:spPr>
          <a:xfrm>
            <a:off x="5065776" y="2212848"/>
            <a:ext cx="2020824" cy="117043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0368" y="2359152"/>
            <a:ext cx="1691640" cy="457200"/>
          </a:xfrm>
          <a:prstGeom prst="rect">
            <a:avLst/>
          </a:prstGeom>
          <a:noFill/>
        </p:spPr>
        <p:txBody>
          <a:bodyPr wrap="square" lIns="0" rIns="0" tIns="0" bIns="0" anchor="t">
            <a:spAutoFit/>
          </a:bodyPr>
          <a:lstStyle/>
          <a:p>
            <a:pPr algn="l">
              <a:lnSpc>
                <a:spcPct val="100000"/>
              </a:lnSpc>
            </a:pPr>
            <a:r>
              <a:rPr sz="2600" b="0">
                <a:solidFill>
                  <a:srgbClr val="2E7D5B"/>
                </a:solidFill>
                <a:latin typeface="Georgia"/>
              </a:rPr>
              <a:t>36 / 160</a:t>
            </a:r>
          </a:p>
        </p:txBody>
      </p:sp>
      <p:sp>
        <p:nvSpPr>
          <p:cNvPr id="16" name="TextBox 15"/>
          <p:cNvSpPr txBox="1"/>
          <p:nvPr/>
        </p:nvSpPr>
        <p:spPr>
          <a:xfrm>
            <a:off x="5230368" y="2926080"/>
            <a:ext cx="1691640" cy="384048"/>
          </a:xfrm>
          <a:prstGeom prst="rect">
            <a:avLst/>
          </a:prstGeom>
          <a:noFill/>
        </p:spPr>
        <p:txBody>
          <a:bodyPr wrap="square" lIns="0" rIns="0" tIns="0" bIns="0" anchor="t">
            <a:spAutoFit/>
          </a:bodyPr>
          <a:lstStyle/>
          <a:p>
            <a:pPr algn="l">
              <a:lnSpc>
                <a:spcPct val="118000"/>
              </a:lnSpc>
            </a:pPr>
            <a:r>
              <a:rPr sz="819" b="1">
                <a:solidFill>
                  <a:srgbClr val="6C7683"/>
                </a:solidFill>
                <a:latin typeface="Consolas"/>
              </a:rPr>
              <a:t>CONFIGURATIONS PASSED</a:t>
            </a:r>
          </a:p>
          <a:p>
            <a:pPr algn="l">
              <a:lnSpc>
                <a:spcPct val="118000"/>
              </a:lnSpc>
            </a:pPr>
            <a:r>
              <a:rPr sz="819" b="1">
                <a:solidFill>
                  <a:srgbClr val="6C7683"/>
                </a:solidFill>
                <a:latin typeface="Consolas"/>
              </a:rPr>
              <a:t>EVERY GATE</a:t>
            </a:r>
          </a:p>
        </p:txBody>
      </p:sp>
      <p:sp>
        <p:nvSpPr>
          <p:cNvPr id="17" name="Rectangle 16"/>
          <p:cNvSpPr/>
          <p:nvPr/>
        </p:nvSpPr>
        <p:spPr>
          <a:xfrm>
            <a:off x="7269480" y="2212848"/>
            <a:ext cx="2020824" cy="117043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34072" y="2359152"/>
            <a:ext cx="1691640" cy="457200"/>
          </a:xfrm>
          <a:prstGeom prst="rect">
            <a:avLst/>
          </a:prstGeom>
          <a:noFill/>
        </p:spPr>
        <p:txBody>
          <a:bodyPr wrap="square" lIns="0" rIns="0" tIns="0" bIns="0" anchor="t">
            <a:spAutoFit/>
          </a:bodyPr>
          <a:lstStyle/>
          <a:p>
            <a:pPr algn="l">
              <a:lnSpc>
                <a:spcPct val="100000"/>
              </a:lnSpc>
            </a:pPr>
            <a:r>
              <a:rPr sz="2600" b="0">
                <a:solidFill>
                  <a:srgbClr val="2E7D5B"/>
                </a:solidFill>
                <a:latin typeface="Georgia"/>
              </a:rPr>
              <a:t>3 / 4</a:t>
            </a:r>
          </a:p>
        </p:txBody>
      </p:sp>
      <p:sp>
        <p:nvSpPr>
          <p:cNvPr id="19" name="TextBox 18"/>
          <p:cNvSpPr txBox="1"/>
          <p:nvPr/>
        </p:nvSpPr>
        <p:spPr>
          <a:xfrm>
            <a:off x="7434072" y="2926080"/>
            <a:ext cx="1691640" cy="384048"/>
          </a:xfrm>
          <a:prstGeom prst="rect">
            <a:avLst/>
          </a:prstGeom>
          <a:noFill/>
        </p:spPr>
        <p:txBody>
          <a:bodyPr wrap="square" lIns="0" rIns="0" tIns="0" bIns="0" anchor="t">
            <a:spAutoFit/>
          </a:bodyPr>
          <a:lstStyle/>
          <a:p>
            <a:pPr algn="l">
              <a:lnSpc>
                <a:spcPct val="118000"/>
              </a:lnSpc>
            </a:pPr>
            <a:r>
              <a:rPr sz="819" b="1">
                <a:solidFill>
                  <a:srgbClr val="6C7683"/>
                </a:solidFill>
                <a:latin typeface="Consolas"/>
              </a:rPr>
              <a:t>SURVIVED FRESH-SEED</a:t>
            </a:r>
          </a:p>
          <a:p>
            <a:pPr algn="l">
              <a:lnSpc>
                <a:spcPct val="118000"/>
              </a:lnSpc>
            </a:pPr>
            <a:r>
              <a:rPr sz="819" b="1">
                <a:solidFill>
                  <a:srgbClr val="6C7683"/>
                </a:solidFill>
                <a:latin typeface="Consolas"/>
              </a:rPr>
              <a:t>VALIDATION</a:t>
            </a:r>
          </a:p>
        </p:txBody>
      </p:sp>
      <p:sp>
        <p:nvSpPr>
          <p:cNvPr id="20" name="Rectangle 19"/>
          <p:cNvSpPr/>
          <p:nvPr/>
        </p:nvSpPr>
        <p:spPr>
          <a:xfrm>
            <a:off x="9473184" y="2212848"/>
            <a:ext cx="2020824" cy="117043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37776" y="2359152"/>
            <a:ext cx="1691640" cy="457200"/>
          </a:xfrm>
          <a:prstGeom prst="rect">
            <a:avLst/>
          </a:prstGeom>
          <a:noFill/>
        </p:spPr>
        <p:txBody>
          <a:bodyPr wrap="square" lIns="0" rIns="0" tIns="0" bIns="0" anchor="t">
            <a:spAutoFit/>
          </a:bodyPr>
          <a:lstStyle/>
          <a:p>
            <a:pPr algn="l">
              <a:lnSpc>
                <a:spcPct val="100000"/>
              </a:lnSpc>
            </a:pPr>
            <a:r>
              <a:rPr sz="2600" b="0">
                <a:solidFill>
                  <a:srgbClr val="6C7683"/>
                </a:solidFill>
                <a:latin typeface="Georgia"/>
              </a:rPr>
              <a:t>25 000</a:t>
            </a:r>
          </a:p>
        </p:txBody>
      </p:sp>
      <p:sp>
        <p:nvSpPr>
          <p:cNvPr id="22" name="TextBox 21"/>
          <p:cNvSpPr txBox="1"/>
          <p:nvPr/>
        </p:nvSpPr>
        <p:spPr>
          <a:xfrm>
            <a:off x="9637776" y="2926080"/>
            <a:ext cx="1691640" cy="384048"/>
          </a:xfrm>
          <a:prstGeom prst="rect">
            <a:avLst/>
          </a:prstGeom>
          <a:noFill/>
        </p:spPr>
        <p:txBody>
          <a:bodyPr wrap="square" lIns="0" rIns="0" tIns="0" bIns="0" anchor="t">
            <a:spAutoFit/>
          </a:bodyPr>
          <a:lstStyle/>
          <a:p>
            <a:pPr algn="l">
              <a:lnSpc>
                <a:spcPct val="118000"/>
              </a:lnSpc>
            </a:pPr>
            <a:r>
              <a:rPr sz="819" b="1">
                <a:solidFill>
                  <a:srgbClr val="6C7683"/>
                </a:solidFill>
                <a:latin typeface="Consolas"/>
              </a:rPr>
              <a:t>PAIRED SIMULATED</a:t>
            </a:r>
          </a:p>
          <a:p>
            <a:pPr algn="l">
              <a:lnSpc>
                <a:spcPct val="118000"/>
              </a:lnSpc>
            </a:pPr>
            <a:r>
              <a:rPr sz="819" b="1">
                <a:solidFill>
                  <a:srgbClr val="6C7683"/>
                </a:solidFill>
                <a:latin typeface="Consolas"/>
              </a:rPr>
              <a:t>DAYS</a:t>
            </a:r>
          </a:p>
        </p:txBody>
      </p:sp>
      <p:sp>
        <p:nvSpPr>
          <p:cNvPr id="23" name="Rectangle 22"/>
          <p:cNvSpPr/>
          <p:nvPr/>
        </p:nvSpPr>
        <p:spPr>
          <a:xfrm>
            <a:off x="658368" y="3639312"/>
            <a:ext cx="5285232" cy="239572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3803904"/>
            <a:ext cx="4882896" cy="201168"/>
          </a:xfrm>
          <a:prstGeom prst="rect">
            <a:avLst/>
          </a:prstGeom>
          <a:noFill/>
        </p:spPr>
        <p:txBody>
          <a:bodyPr wrap="square" lIns="0" rIns="0" tIns="0" bIns="0" anchor="t">
            <a:spAutoFit/>
          </a:bodyPr>
          <a:lstStyle/>
          <a:p>
            <a:pPr algn="l">
              <a:lnSpc>
                <a:spcPct val="100000"/>
              </a:lnSpc>
            </a:pPr>
            <a:r>
              <a:rPr sz="919" b="1">
                <a:solidFill>
                  <a:srgbClr val="6C7683"/>
                </a:solidFill>
                <a:latin typeface="Consolas"/>
              </a:rPr>
              <a:t>WHAT THE CONTROLLERS NOW WIN</a:t>
            </a:r>
          </a:p>
        </p:txBody>
      </p:sp>
      <p:sp>
        <p:nvSpPr>
          <p:cNvPr id="25" name="TextBox 24"/>
          <p:cNvSpPr txBox="1"/>
          <p:nvPr/>
        </p:nvSpPr>
        <p:spPr>
          <a:xfrm>
            <a:off x="859536" y="4114800"/>
            <a:ext cx="4882896" cy="1755648"/>
          </a:xfrm>
          <a:prstGeom prst="rect">
            <a:avLst/>
          </a:prstGeom>
          <a:noFill/>
        </p:spPr>
        <p:txBody>
          <a:bodyPr wrap="square" lIns="0" rIns="0" tIns="0" bIns="0" anchor="t">
            <a:spAutoFit/>
          </a:bodyPr>
          <a:lstStyle/>
          <a:p>
            <a:pPr algn="l">
              <a:lnSpc>
                <a:spcPct val="122000"/>
              </a:lnSpc>
            </a:pPr>
            <a:r>
              <a:rPr sz="1240" b="0">
                <a:solidFill>
                  <a:srgbClr val="3C4653"/>
                </a:solidFill>
                <a:latin typeface="Segoe UI"/>
              </a:rPr>
              <a:t>On declared maintenance the guarded pre-drain removes 55.2% of uplink overload, and on maintenance followed by a stadium-scale surge, 52.2%. Across 473 pairs of those two families it did not lose a single one.</a:t>
            </a:r>
          </a:p>
          <a:p>
            <a:pPr algn="l">
              <a:lnSpc>
                <a:spcPct val="122000"/>
              </a:lnSpc>
            </a:pPr>
            <a:r>
              <a:rPr sz="1240" b="0">
                <a:solidFill>
                  <a:srgbClr val="3C4653"/>
                </a:solidFill>
                <a:latin typeface="Segoe UI"/>
              </a:rPr>
              <a:t/>
            </a:r>
          </a:p>
          <a:p>
            <a:pPr algn="l">
              <a:lnSpc>
                <a:spcPct val="122000"/>
              </a:lnSpc>
            </a:pPr>
            <a:r>
              <a:rPr sz="1240" b="0">
                <a:solidFill>
                  <a:srgbClr val="3C4653"/>
                </a:solidFill>
                <a:latin typeface="Segoe UI"/>
              </a:rPr>
              <a:t>Cohort MPC clears every gate too, at 33.1% and 32.4%, with a tenth of the collateral harm and a tenth of the routing churn.</a:t>
            </a:r>
          </a:p>
        </p:txBody>
      </p:sp>
      <p:sp>
        <p:nvSpPr>
          <p:cNvPr id="26" name="Rectangle 25"/>
          <p:cNvSpPr/>
          <p:nvPr/>
        </p:nvSpPr>
        <p:spPr>
          <a:xfrm>
            <a:off x="6245352" y="3639312"/>
            <a:ext cx="5285232" cy="239572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3803904"/>
            <a:ext cx="4882896" cy="201168"/>
          </a:xfrm>
          <a:prstGeom prst="rect">
            <a:avLst/>
          </a:prstGeom>
          <a:noFill/>
        </p:spPr>
        <p:txBody>
          <a:bodyPr wrap="square" lIns="0" rIns="0" tIns="0" bIns="0" anchor="t">
            <a:spAutoFit/>
          </a:bodyPr>
          <a:lstStyle/>
          <a:p>
            <a:pPr algn="l">
              <a:lnSpc>
                <a:spcPct val="100000"/>
              </a:lnSpc>
            </a:pPr>
            <a:r>
              <a:rPr sz="919" b="1">
                <a:solidFill>
                  <a:srgbClr val="6C7683"/>
                </a:solidFill>
                <a:latin typeface="Consolas"/>
              </a:rPr>
              <a:t>WHAT IT STILL COSTS</a:t>
            </a:r>
          </a:p>
        </p:txBody>
      </p:sp>
      <p:sp>
        <p:nvSpPr>
          <p:cNvPr id="28" name="TextBox 27"/>
          <p:cNvSpPr txBox="1"/>
          <p:nvPr/>
        </p:nvSpPr>
        <p:spPr>
          <a:xfrm>
            <a:off x="6446520" y="4114800"/>
            <a:ext cx="4882896" cy="1755648"/>
          </a:xfrm>
          <a:prstGeom prst="rect">
            <a:avLst/>
          </a:prstGeom>
          <a:noFill/>
        </p:spPr>
        <p:txBody>
          <a:bodyPr wrap="square" lIns="0" rIns="0" tIns="0" bIns="0" anchor="t">
            <a:spAutoFit/>
          </a:bodyPr>
          <a:lstStyle/>
          <a:p>
            <a:pPr algn="l">
              <a:lnSpc>
                <a:spcPct val="122000"/>
              </a:lnSpc>
            </a:pPr>
            <a:r>
              <a:rPr sz="1240" b="0">
                <a:solidFill>
                  <a:srgbClr val="3C4653"/>
                </a:solidFill>
                <a:latin typeface="Segoe UI"/>
              </a:rPr>
              <a:t>When maintenance is announced and then a second, unannounced brownout lands on a box the controller has already drained onto, pre-drain loses in 30.5% of cases. The family is still net positive, but the worst cases are severe.</a:t>
            </a:r>
          </a:p>
          <a:p>
            <a:pPr algn="l">
              <a:lnSpc>
                <a:spcPct val="122000"/>
              </a:lnSpc>
            </a:pPr>
            <a:r>
              <a:rPr sz="1240" b="0">
                <a:solidFill>
                  <a:srgbClr val="3C4653"/>
                </a:solidFill>
                <a:latin typeface="Segoe UI"/>
              </a:rPr>
              <a:t/>
            </a:r>
          </a:p>
          <a:p>
            <a:pPr algn="l">
              <a:lnSpc>
                <a:spcPct val="122000"/>
              </a:lnSpc>
            </a:pPr>
            <a:r>
              <a:rPr sz="1240" b="0">
                <a:solidFill>
                  <a:srgbClr val="3C4653"/>
                </a:solidFill>
                <a:latin typeface="Segoe UI"/>
              </a:rPr>
              <a:t>MPC cuts that exposure to 6.6% of cases. That is the trade C-DOT chooses between.</a:t>
            </a:r>
          </a:p>
        </p:txBody>
      </p:sp>
      <p:sp>
        <p:nvSpPr>
          <p:cNvPr id="29" name="TextBox 28"/>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READ THIS FIRST</a:t>
            </a:r>
          </a:p>
        </p:txBody>
      </p:sp>
      <p:sp>
        <p:nvSpPr>
          <p:cNvPr id="4" name="TextBox 3"/>
          <p:cNvSpPr txBox="1"/>
          <p:nvPr/>
        </p:nvSpPr>
        <p:spPr>
          <a:xfrm>
            <a:off x="658368" y="731520"/>
            <a:ext cx="10872216" cy="822960"/>
          </a:xfrm>
          <a:prstGeom prst="rect">
            <a:avLst/>
          </a:prstGeom>
          <a:noFill/>
        </p:spPr>
        <p:txBody>
          <a:bodyPr wrap="square" lIns="0" rIns="0" tIns="0" bIns="0" anchor="t">
            <a:spAutoFit/>
          </a:bodyPr>
          <a:lstStyle/>
          <a:p>
            <a:pPr algn="l">
              <a:lnSpc>
                <a:spcPct val="100000"/>
              </a:lnSpc>
            </a:pPr>
            <a:r>
              <a:rPr sz="3000" b="0">
                <a:solidFill>
                  <a:srgbClr val="111721"/>
                </a:solidFill>
                <a:latin typeface="Georgia"/>
              </a:rPr>
              <a:t>Five caveats that bound every number in this deck</a:t>
            </a:r>
          </a:p>
        </p:txBody>
      </p:sp>
      <p:sp>
        <p:nvSpPr>
          <p:cNvPr id="5" name="TextBox 4"/>
          <p:cNvSpPr txBox="1"/>
          <p:nvPr/>
        </p:nvSpPr>
        <p:spPr>
          <a:xfrm>
            <a:off x="658368" y="1463040"/>
            <a:ext cx="10424160" cy="548640"/>
          </a:xfrm>
          <a:prstGeom prst="rect">
            <a:avLst/>
          </a:prstGeom>
          <a:noFill/>
        </p:spPr>
        <p:txBody>
          <a:bodyPr wrap="square" lIns="0" rIns="0" tIns="0" bIns="0" anchor="t">
            <a:spAutoFit/>
          </a:bodyPr>
          <a:lstStyle/>
          <a:p>
            <a:pPr algn="l">
              <a:lnSpc>
                <a:spcPct val="125000"/>
              </a:lnSpc>
            </a:pPr>
            <a:r>
              <a:rPr sz="1300" b="0">
                <a:solidFill>
                  <a:srgbClr val="3C4653"/>
                </a:solidFill>
                <a:latin typeface="Segoe UI"/>
              </a:rPr>
              <a:t>None of these are disclaimers added afterwards. Each one changes how a figure on a later slide should be read.</a:t>
            </a:r>
          </a:p>
        </p:txBody>
      </p:sp>
      <p:sp>
        <p:nvSpPr>
          <p:cNvPr id="6" name="Rectangle 5"/>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8816"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00 · THE BIG PICTURE</a:t>
            </a:r>
          </a:p>
        </p:txBody>
      </p:sp>
      <p:sp>
        <p:nvSpPr>
          <p:cNvPr id="8" name="Rectangle 7"/>
          <p:cNvSpPr/>
          <p:nvPr/>
        </p:nvSpPr>
        <p:spPr>
          <a:xfrm>
            <a:off x="658368" y="2194560"/>
            <a:ext cx="5285232" cy="118872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194560"/>
            <a:ext cx="36576" cy="11887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331720"/>
            <a:ext cx="4846320" cy="182880"/>
          </a:xfrm>
          <a:prstGeom prst="rect">
            <a:avLst/>
          </a:prstGeom>
          <a:noFill/>
        </p:spPr>
        <p:txBody>
          <a:bodyPr wrap="square" lIns="0" rIns="0" tIns="0" bIns="0" anchor="t">
            <a:spAutoFit/>
          </a:bodyPr>
          <a:lstStyle/>
          <a:p>
            <a:pPr algn="l">
              <a:lnSpc>
                <a:spcPct val="100000"/>
              </a:lnSpc>
            </a:pPr>
            <a:r>
              <a:rPr sz="860" b="1">
                <a:solidFill>
                  <a:srgbClr val="6C7683"/>
                </a:solidFill>
                <a:latin typeface="Consolas"/>
              </a:rPr>
              <a:t>CAVEAT 1</a:t>
            </a:r>
          </a:p>
        </p:txBody>
      </p:sp>
      <p:sp>
        <p:nvSpPr>
          <p:cNvPr id="11" name="TextBox 10"/>
          <p:cNvSpPr txBox="1"/>
          <p:nvPr/>
        </p:nvSpPr>
        <p:spPr>
          <a:xfrm>
            <a:off x="896112" y="2578608"/>
            <a:ext cx="4846320" cy="237744"/>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This is a shadow controller in simulation.</a:t>
            </a:r>
          </a:p>
        </p:txBody>
      </p:sp>
      <p:sp>
        <p:nvSpPr>
          <p:cNvPr id="12" name="TextBox 11"/>
          <p:cNvSpPr txBox="1"/>
          <p:nvPr/>
        </p:nvSpPr>
        <p:spPr>
          <a:xfrm>
            <a:off x="896112" y="2852928"/>
            <a:ext cx="4846320" cy="457200"/>
          </a:xfrm>
          <a:prstGeom prst="rect">
            <a:avLst/>
          </a:prstGeom>
          <a:noFill/>
        </p:spPr>
        <p:txBody>
          <a:bodyPr wrap="square" lIns="0" rIns="0" tIns="0" bIns="0" anchor="t">
            <a:spAutoFit/>
          </a:bodyPr>
          <a:lstStyle/>
          <a:p>
            <a:pPr algn="l">
              <a:lnSpc>
                <a:spcPct val="118000"/>
              </a:lnSpc>
            </a:pPr>
            <a:r>
              <a:rPr sz="1019" b="0">
                <a:solidFill>
                  <a:srgbClr val="3C4653"/>
                </a:solidFill>
                <a:latin typeface="Segoe UI"/>
              </a:rPr>
              <a:t>No policy touched live traffic. Every record in the project is labelled synthetic and none of it is calibrated to real C-DOT capacity figures.</a:t>
            </a:r>
          </a:p>
        </p:txBody>
      </p:sp>
      <p:sp>
        <p:nvSpPr>
          <p:cNvPr id="13" name="Rectangle 12"/>
          <p:cNvSpPr/>
          <p:nvPr/>
        </p:nvSpPr>
        <p:spPr>
          <a:xfrm>
            <a:off x="658368" y="3511296"/>
            <a:ext cx="5285232" cy="118872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511296"/>
            <a:ext cx="36576" cy="11887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648456"/>
            <a:ext cx="4846320" cy="182880"/>
          </a:xfrm>
          <a:prstGeom prst="rect">
            <a:avLst/>
          </a:prstGeom>
          <a:noFill/>
        </p:spPr>
        <p:txBody>
          <a:bodyPr wrap="square" lIns="0" rIns="0" tIns="0" bIns="0" anchor="t">
            <a:spAutoFit/>
          </a:bodyPr>
          <a:lstStyle/>
          <a:p>
            <a:pPr algn="l">
              <a:lnSpc>
                <a:spcPct val="100000"/>
              </a:lnSpc>
            </a:pPr>
            <a:r>
              <a:rPr sz="860" b="1">
                <a:solidFill>
                  <a:srgbClr val="6C7683"/>
                </a:solidFill>
                <a:latin typeface="Consolas"/>
              </a:rPr>
              <a:t>CAVEAT 2</a:t>
            </a:r>
          </a:p>
        </p:txBody>
      </p:sp>
      <p:sp>
        <p:nvSpPr>
          <p:cNvPr id="16" name="TextBox 15"/>
          <p:cNvSpPr txBox="1"/>
          <p:nvPr/>
        </p:nvSpPr>
        <p:spPr>
          <a:xfrm>
            <a:off x="896112" y="3895344"/>
            <a:ext cx="4846320" cy="237744"/>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Only about 3% of load is controllable.</a:t>
            </a:r>
          </a:p>
        </p:txBody>
      </p:sp>
      <p:sp>
        <p:nvSpPr>
          <p:cNvPr id="17" name="TextBox 16"/>
          <p:cNvSpPr txBox="1"/>
          <p:nvPr/>
        </p:nvSpPr>
        <p:spPr>
          <a:xfrm>
            <a:off x="896112" y="4169663"/>
            <a:ext cx="4846320" cy="457200"/>
          </a:xfrm>
          <a:prstGeom prst="rect">
            <a:avLst/>
          </a:prstGeom>
          <a:noFill/>
        </p:spPr>
        <p:txBody>
          <a:bodyPr wrap="square" lIns="0" rIns="0" tIns="0" bIns="0" anchor="t">
            <a:spAutoFit/>
          </a:bodyPr>
          <a:lstStyle/>
          <a:p>
            <a:pPr algn="l">
              <a:lnSpc>
                <a:spcPct val="118000"/>
              </a:lnSpc>
            </a:pPr>
            <a:r>
              <a:rPr sz="1019" b="0">
                <a:solidFill>
                  <a:srgbClr val="3C4653"/>
                </a:solidFill>
                <a:latin typeface="Segoe UI"/>
              </a:rPr>
              <a:t>The lever is where NEW sessions are placed. Sessions already established are never migrated, so a controller can only steer the margin.</a:t>
            </a:r>
          </a:p>
        </p:txBody>
      </p:sp>
      <p:sp>
        <p:nvSpPr>
          <p:cNvPr id="18" name="Rectangle 17"/>
          <p:cNvSpPr/>
          <p:nvPr/>
        </p:nvSpPr>
        <p:spPr>
          <a:xfrm>
            <a:off x="658368" y="4828031"/>
            <a:ext cx="5285232" cy="118872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828031"/>
            <a:ext cx="36576" cy="11887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4965192"/>
            <a:ext cx="4846320" cy="182880"/>
          </a:xfrm>
          <a:prstGeom prst="rect">
            <a:avLst/>
          </a:prstGeom>
          <a:noFill/>
        </p:spPr>
        <p:txBody>
          <a:bodyPr wrap="square" lIns="0" rIns="0" tIns="0" bIns="0" anchor="t">
            <a:spAutoFit/>
          </a:bodyPr>
          <a:lstStyle/>
          <a:p>
            <a:pPr algn="l">
              <a:lnSpc>
                <a:spcPct val="100000"/>
              </a:lnSpc>
            </a:pPr>
            <a:r>
              <a:rPr sz="860" b="1">
                <a:solidFill>
                  <a:srgbClr val="6C7683"/>
                </a:solidFill>
                <a:latin typeface="Consolas"/>
              </a:rPr>
              <a:t>CAVEAT 3</a:t>
            </a:r>
          </a:p>
        </p:txBody>
      </p:sp>
      <p:sp>
        <p:nvSpPr>
          <p:cNvPr id="21" name="TextBox 20"/>
          <p:cNvSpPr txBox="1"/>
          <p:nvPr/>
        </p:nvSpPr>
        <p:spPr>
          <a:xfrm>
            <a:off x="896112" y="5212079"/>
            <a:ext cx="4846320" cy="237744"/>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Gains are for announced capacity loss only.</a:t>
            </a:r>
          </a:p>
        </p:txBody>
      </p:sp>
      <p:sp>
        <p:nvSpPr>
          <p:cNvPr id="22" name="TextBox 21"/>
          <p:cNvSpPr txBox="1"/>
          <p:nvPr/>
        </p:nvSpPr>
        <p:spPr>
          <a:xfrm>
            <a:off x="896112" y="5486399"/>
            <a:ext cx="4846320" cy="457200"/>
          </a:xfrm>
          <a:prstGeom prst="rect">
            <a:avLst/>
          </a:prstGeom>
          <a:noFill/>
        </p:spPr>
        <p:txBody>
          <a:bodyPr wrap="square" lIns="0" rIns="0" tIns="0" bIns="0" anchor="t">
            <a:spAutoFit/>
          </a:bodyPr>
          <a:lstStyle/>
          <a:p>
            <a:pPr algn="l">
              <a:lnSpc>
                <a:spcPct val="118000"/>
              </a:lnSpc>
            </a:pPr>
            <a:r>
              <a:rPr sz="1019" b="0">
                <a:solidFill>
                  <a:srgbClr val="3C4653"/>
                </a:solidFill>
                <a:latin typeface="Segoe UI"/>
              </a:rPr>
              <a:t>With no declared event the controller publishes bit-exact static output. Both pure-surprise families are deliberate ties, verified byte for byte.</a:t>
            </a:r>
          </a:p>
        </p:txBody>
      </p:sp>
      <p:sp>
        <p:nvSpPr>
          <p:cNvPr id="23" name="Rectangle 22"/>
          <p:cNvSpPr/>
          <p:nvPr/>
        </p:nvSpPr>
        <p:spPr>
          <a:xfrm>
            <a:off x="6245352" y="2194560"/>
            <a:ext cx="5285232" cy="118872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5352" y="2194560"/>
            <a:ext cx="36576" cy="11887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3096" y="2331720"/>
            <a:ext cx="4846320" cy="182880"/>
          </a:xfrm>
          <a:prstGeom prst="rect">
            <a:avLst/>
          </a:prstGeom>
          <a:noFill/>
        </p:spPr>
        <p:txBody>
          <a:bodyPr wrap="square" lIns="0" rIns="0" tIns="0" bIns="0" anchor="t">
            <a:spAutoFit/>
          </a:bodyPr>
          <a:lstStyle/>
          <a:p>
            <a:pPr algn="l">
              <a:lnSpc>
                <a:spcPct val="100000"/>
              </a:lnSpc>
            </a:pPr>
            <a:r>
              <a:rPr sz="860" b="1">
                <a:solidFill>
                  <a:srgbClr val="6C7683"/>
                </a:solidFill>
                <a:latin typeface="Consolas"/>
              </a:rPr>
              <a:t>CAVEAT 4</a:t>
            </a:r>
          </a:p>
        </p:txBody>
      </p:sp>
      <p:sp>
        <p:nvSpPr>
          <p:cNvPr id="26" name="TextBox 25"/>
          <p:cNvSpPr txBox="1"/>
          <p:nvPr/>
        </p:nvSpPr>
        <p:spPr>
          <a:xfrm>
            <a:off x="6483096" y="2578608"/>
            <a:ext cx="4846320" cy="237744"/>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One stress family produced no measurable stress.</a:t>
            </a:r>
          </a:p>
        </p:txBody>
      </p:sp>
      <p:sp>
        <p:nvSpPr>
          <p:cNvPr id="27" name="TextBox 26"/>
          <p:cNvSpPr txBox="1"/>
          <p:nvPr/>
        </p:nvSpPr>
        <p:spPr>
          <a:xfrm>
            <a:off x="6483096" y="2852928"/>
            <a:ext cx="4846320" cy="457200"/>
          </a:xfrm>
          <a:prstGeom prst="rect">
            <a:avLst/>
          </a:prstGeom>
          <a:noFill/>
        </p:spPr>
        <p:txBody>
          <a:bodyPr wrap="square" lIns="0" rIns="0" tIns="0" bIns="0" anchor="t">
            <a:spAutoFit/>
          </a:bodyPr>
          <a:lstStyle/>
          <a:p>
            <a:pPr algn="l">
              <a:lnSpc>
                <a:spcPct val="118000"/>
              </a:lnSpc>
            </a:pPr>
            <a:r>
              <a:rPr sz="1019" b="0">
                <a:solidFill>
                  <a:srgbClr val="3C4653"/>
                </a:solidFill>
                <a:latin typeface="Segoe UI"/>
              </a:rPr>
              <a:t>An unannounced demand surge never overloaded any box, even at 4x arrivals across a zone. That family scores a guaranteed zero, so the headline is conservative.</a:t>
            </a:r>
          </a:p>
        </p:txBody>
      </p:sp>
      <p:sp>
        <p:nvSpPr>
          <p:cNvPr id="28" name="Rectangle 27"/>
          <p:cNvSpPr/>
          <p:nvPr/>
        </p:nvSpPr>
        <p:spPr>
          <a:xfrm>
            <a:off x="6245352" y="3511296"/>
            <a:ext cx="5285232" cy="118872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45352" y="3511296"/>
            <a:ext cx="36576" cy="11887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83096" y="3648456"/>
            <a:ext cx="4846320" cy="182880"/>
          </a:xfrm>
          <a:prstGeom prst="rect">
            <a:avLst/>
          </a:prstGeom>
          <a:noFill/>
        </p:spPr>
        <p:txBody>
          <a:bodyPr wrap="square" lIns="0" rIns="0" tIns="0" bIns="0" anchor="t">
            <a:spAutoFit/>
          </a:bodyPr>
          <a:lstStyle/>
          <a:p>
            <a:pPr algn="l">
              <a:lnSpc>
                <a:spcPct val="100000"/>
              </a:lnSpc>
            </a:pPr>
            <a:r>
              <a:rPr sz="860" b="1">
                <a:solidFill>
                  <a:srgbClr val="6C7683"/>
                </a:solidFill>
                <a:latin typeface="Consolas"/>
              </a:rPr>
              <a:t>CAVEAT 5</a:t>
            </a:r>
          </a:p>
        </p:txBody>
      </p:sp>
      <p:sp>
        <p:nvSpPr>
          <p:cNvPr id="31" name="TextBox 30"/>
          <p:cNvSpPr txBox="1"/>
          <p:nvPr/>
        </p:nvSpPr>
        <p:spPr>
          <a:xfrm>
            <a:off x="6483096" y="3895344"/>
            <a:ext cx="4846320" cy="237744"/>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Chosen on one seed pool, judged on another.</a:t>
            </a:r>
          </a:p>
        </p:txBody>
      </p:sp>
      <p:sp>
        <p:nvSpPr>
          <p:cNvPr id="32" name="TextBox 31"/>
          <p:cNvSpPr txBox="1"/>
          <p:nvPr/>
        </p:nvSpPr>
        <p:spPr>
          <a:xfrm>
            <a:off x="6483096" y="4169663"/>
            <a:ext cx="4846320" cy="457200"/>
          </a:xfrm>
          <a:prstGeom prst="rect">
            <a:avLst/>
          </a:prstGeom>
          <a:noFill/>
        </p:spPr>
        <p:txBody>
          <a:bodyPr wrap="square" lIns="0" rIns="0" tIns="0" bIns="0" anchor="t">
            <a:spAutoFit/>
          </a:bodyPr>
          <a:lstStyle/>
          <a:p>
            <a:pPr algn="l">
              <a:lnSpc>
                <a:spcPct val="118000"/>
              </a:lnSpc>
            </a:pPr>
            <a:r>
              <a:rPr sz="1019" b="0">
                <a:solidFill>
                  <a:srgbClr val="3C4653"/>
                </a:solidFill>
                <a:latin typeface="Segoe UI"/>
              </a:rPr>
              <a:t>The headline numbers come from a pool never inspected before the candidates were frozen. Screening numbers are 3-4 points higher and are not the claim.</a:t>
            </a:r>
          </a:p>
        </p:txBody>
      </p:sp>
      <p:sp>
        <p:nvSpPr>
          <p:cNvPr id="33" name="Rectangle 32"/>
          <p:cNvSpPr/>
          <p:nvPr/>
        </p:nvSpPr>
        <p:spPr>
          <a:xfrm>
            <a:off x="6245352" y="4828032"/>
            <a:ext cx="5285232" cy="118872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45352" y="4828032"/>
            <a:ext cx="36576" cy="1188720"/>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3096" y="4965192"/>
            <a:ext cx="4846320" cy="182880"/>
          </a:xfrm>
          <a:prstGeom prst="rect">
            <a:avLst/>
          </a:prstGeom>
          <a:noFill/>
        </p:spPr>
        <p:txBody>
          <a:bodyPr wrap="square" lIns="0" rIns="0" tIns="0" bIns="0" anchor="t">
            <a:spAutoFit/>
          </a:bodyPr>
          <a:lstStyle/>
          <a:p>
            <a:pPr algn="l">
              <a:lnSpc>
                <a:spcPct val="100000"/>
              </a:lnSpc>
            </a:pPr>
            <a:r>
              <a:rPr sz="860" b="1">
                <a:solidFill>
                  <a:srgbClr val="B5761F"/>
                </a:solidFill>
                <a:latin typeface="Consolas"/>
              </a:rPr>
              <a:t>HOW TO READ THE OPTIMIZER SECTION</a:t>
            </a:r>
          </a:p>
        </p:txBody>
      </p:sp>
      <p:sp>
        <p:nvSpPr>
          <p:cNvPr id="36" name="TextBox 35"/>
          <p:cNvSpPr txBox="1"/>
          <p:nvPr/>
        </p:nvSpPr>
        <p:spPr>
          <a:xfrm>
            <a:off x="6483096" y="5230368"/>
            <a:ext cx="4846320" cy="237744"/>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Experiments 1-6 are the earlier campaign.</a:t>
            </a:r>
          </a:p>
        </p:txBody>
      </p:sp>
      <p:sp>
        <p:nvSpPr>
          <p:cNvPr id="37" name="TextBox 36"/>
          <p:cNvSpPr txBox="1"/>
          <p:nvPr/>
        </p:nvSpPr>
        <p:spPr>
          <a:xfrm>
            <a:off x="6483096" y="5504688"/>
            <a:ext cx="4846320" cy="457200"/>
          </a:xfrm>
          <a:prstGeom prst="rect">
            <a:avLst/>
          </a:prstGeom>
          <a:noFill/>
        </p:spPr>
        <p:txBody>
          <a:bodyPr wrap="square" lIns="0" rIns="0" tIns="0" bIns="0" anchor="t">
            <a:spAutoFit/>
          </a:bodyPr>
          <a:lstStyle/>
          <a:p>
            <a:pPr algn="l">
              <a:lnSpc>
                <a:spcPct val="118000"/>
              </a:lnSpc>
            </a:pPr>
            <a:r>
              <a:rPr sz="1019" b="0">
                <a:solidFill>
                  <a:srgbClr val="3C4653"/>
                </a:solidFill>
                <a:latin typeface="Segoe UI"/>
              </a:rPr>
              <a:t>They remain on the record for method and for the negative results. Experiment 7 supersedes their conclusion.</a:t>
            </a:r>
          </a:p>
        </p:txBody>
      </p:sp>
      <p:sp>
        <p:nvSpPr>
          <p:cNvPr id="38" name="TextBox 37"/>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METHOD</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How we decided what counts as a win</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Every experiment was written down before it ran, with a fixed list of pass/fail checks. Test data sits in three separate pools, and a controller only reaches the next pool by passing every check on the current one.</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00 · THE BIG PICTURE</a:t>
            </a:r>
          </a:p>
        </p:txBody>
      </p:sp>
      <p:pic>
        <p:nvPicPr>
          <p:cNvPr id="8" name="Picture 7" descr="c_firewall.png"/>
          <p:cNvPicPr>
            <a:picLocks noChangeAspect="1"/>
          </p:cNvPicPr>
          <p:nvPr/>
        </p:nvPicPr>
        <p:blipFill>
          <a:blip r:embed="rId2"/>
          <a:stretch>
            <a:fillRect/>
          </a:stretch>
        </p:blipFill>
        <p:spPr>
          <a:xfrm>
            <a:off x="658368" y="2568702"/>
            <a:ext cx="6524975" cy="1915099"/>
          </a:xfrm>
          <a:prstGeom prst="rect">
            <a:avLst/>
          </a:prstGeom>
        </p:spPr>
      </p:pic>
      <p:sp>
        <p:nvSpPr>
          <p:cNvPr id="9" name="Rectangle 8"/>
          <p:cNvSpPr/>
          <p:nvPr/>
        </p:nvSpPr>
        <p:spPr>
          <a:xfrm>
            <a:off x="7509592" y="2618994"/>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2472" y="2550414"/>
            <a:ext cx="3840854" cy="280009"/>
          </a:xfrm>
          <a:prstGeom prst="rect">
            <a:avLst/>
          </a:prstGeom>
          <a:noFill/>
        </p:spPr>
        <p:txBody>
          <a:bodyPr wrap="square" anchor="t" lIns="0" rIns="0" tIns="0" bIns="0">
            <a:spAutoFit/>
          </a:bodyPr>
          <a:lstStyle/>
          <a:p>
            <a:pPr algn="l">
              <a:lnSpc>
                <a:spcPct val="128000"/>
              </a:lnSpc>
            </a:pPr>
            <a:r>
              <a:rPr sz="1160" b="1" i="0">
                <a:solidFill>
                  <a:srgbClr val="111721"/>
                </a:solidFill>
                <a:latin typeface="Segoe UI"/>
              </a:rPr>
              <a:t>One main number, chosen up front</a:t>
            </a:r>
          </a:p>
        </p:txBody>
      </p:sp>
      <p:sp>
        <p:nvSpPr>
          <p:cNvPr id="11" name="TextBox 10"/>
          <p:cNvSpPr txBox="1"/>
          <p:nvPr/>
        </p:nvSpPr>
        <p:spPr>
          <a:xfrm>
            <a:off x="7692472" y="2798419"/>
            <a:ext cx="3840854" cy="462432"/>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Uplink overload area: how far above the safe limit a box goes, times how long it stays there.</a:t>
            </a:r>
          </a:p>
        </p:txBody>
      </p:sp>
      <p:sp>
        <p:nvSpPr>
          <p:cNvPr id="12" name="Rectangle 11"/>
          <p:cNvSpPr/>
          <p:nvPr/>
        </p:nvSpPr>
        <p:spPr>
          <a:xfrm>
            <a:off x="7509592" y="3306571"/>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09592" y="3466592"/>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2472" y="3398011"/>
            <a:ext cx="3840854" cy="280009"/>
          </a:xfrm>
          <a:prstGeom prst="rect">
            <a:avLst/>
          </a:prstGeom>
          <a:noFill/>
        </p:spPr>
        <p:txBody>
          <a:bodyPr wrap="square" anchor="t" lIns="0" rIns="0" tIns="0" bIns="0">
            <a:spAutoFit/>
          </a:bodyPr>
          <a:lstStyle/>
          <a:p>
            <a:pPr algn="l">
              <a:lnSpc>
                <a:spcPct val="128000"/>
              </a:lnSpc>
            </a:pPr>
            <a:r>
              <a:rPr sz="1160" b="1" i="0">
                <a:solidFill>
                  <a:srgbClr val="111721"/>
                </a:solidFill>
                <a:latin typeface="Segoe UI"/>
              </a:rPr>
              <a:t>Every comparison is like-for-like</a:t>
            </a:r>
          </a:p>
        </p:txBody>
      </p:sp>
      <p:sp>
        <p:nvSpPr>
          <p:cNvPr id="15" name="TextBox 14"/>
          <p:cNvSpPr txBox="1"/>
          <p:nvPr/>
        </p:nvSpPr>
        <p:spPr>
          <a:xfrm>
            <a:off x="7692472" y="3646017"/>
            <a:ext cx="3840854" cy="462432"/>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Same day, same random numbers, same failures. Any difference is the controller alone.</a:t>
            </a:r>
          </a:p>
        </p:txBody>
      </p:sp>
      <p:sp>
        <p:nvSpPr>
          <p:cNvPr id="16" name="Rectangle 15"/>
          <p:cNvSpPr/>
          <p:nvPr/>
        </p:nvSpPr>
        <p:spPr>
          <a:xfrm>
            <a:off x="7509592" y="4154169"/>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09592" y="4314189"/>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2472" y="4245610"/>
            <a:ext cx="3840854" cy="280009"/>
          </a:xfrm>
          <a:prstGeom prst="rect">
            <a:avLst/>
          </a:prstGeom>
          <a:noFill/>
        </p:spPr>
        <p:txBody>
          <a:bodyPr wrap="square" anchor="t" lIns="0" rIns="0" tIns="0" bIns="0">
            <a:spAutoFit/>
          </a:bodyPr>
          <a:lstStyle/>
          <a:p>
            <a:pPr algn="l">
              <a:lnSpc>
                <a:spcPct val="128000"/>
              </a:lnSpc>
            </a:pPr>
            <a:r>
              <a:rPr sz="1160" b="1" i="0">
                <a:solidFill>
                  <a:srgbClr val="111721"/>
                </a:solidFill>
                <a:latin typeface="Segoe UI"/>
              </a:rPr>
              <a:t>Error bars are compulsory</a:t>
            </a:r>
          </a:p>
        </p:txBody>
      </p:sp>
      <p:sp>
        <p:nvSpPr>
          <p:cNvPr id="19" name="TextBox 18"/>
          <p:cNvSpPr txBox="1"/>
          <p:nvPr/>
        </p:nvSpPr>
        <p:spPr>
          <a:xfrm>
            <a:off x="7692472" y="4493615"/>
            <a:ext cx="3840854" cy="462432"/>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Average gain, a 95% confidence range, a severity-weighted total, and the single worst day.</a:t>
            </a:r>
          </a:p>
        </p:txBody>
      </p:sp>
      <p:sp>
        <p:nvSpPr>
          <p:cNvPr id="20" name="Rectangle 19"/>
          <p:cNvSpPr/>
          <p:nvPr/>
        </p:nvSpPr>
        <p:spPr>
          <a:xfrm>
            <a:off x="7509592" y="5001768"/>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09592" y="516178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2472" y="5093208"/>
            <a:ext cx="3840854" cy="280009"/>
          </a:xfrm>
          <a:prstGeom prst="rect">
            <a:avLst/>
          </a:prstGeom>
          <a:noFill/>
        </p:spPr>
        <p:txBody>
          <a:bodyPr wrap="square" anchor="t" lIns="0" rIns="0" tIns="0" bIns="0">
            <a:spAutoFit/>
          </a:bodyPr>
          <a:lstStyle/>
          <a:p>
            <a:pPr algn="l">
              <a:lnSpc>
                <a:spcPct val="128000"/>
              </a:lnSpc>
            </a:pPr>
            <a:r>
              <a:rPr sz="1160" b="1" i="0">
                <a:solidFill>
                  <a:srgbClr val="111721"/>
                </a:solidFill>
                <a:latin typeface="Segoe UI"/>
              </a:rPr>
              <a:t>When in doubt, stop</a:t>
            </a:r>
          </a:p>
        </p:txBody>
      </p:sp>
      <p:sp>
        <p:nvSpPr>
          <p:cNvPr id="23" name="TextBox 22"/>
          <p:cNvSpPr txBox="1"/>
          <p:nvPr/>
        </p:nvSpPr>
        <p:spPr>
          <a:xfrm>
            <a:off x="7692472" y="5341213"/>
            <a:ext cx="3840854" cy="462432"/>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Stale data, uncertain telemetry or an infeasible plan all hand control back to the simple rule.</a:t>
            </a:r>
          </a:p>
        </p:txBody>
      </p:sp>
      <p:sp>
        <p:nvSpPr>
          <p:cNvPr id="24" name="TextBox 23"/>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2212848"/>
            <a:ext cx="566928"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340864"/>
            <a:ext cx="914400" cy="274320"/>
          </a:xfrm>
          <a:prstGeom prst="rect">
            <a:avLst/>
          </a:prstGeom>
          <a:noFill/>
        </p:spPr>
        <p:txBody>
          <a:bodyPr wrap="square" anchor="t" lIns="0" rIns="0" tIns="0" bIns="0">
            <a:spAutoFit/>
          </a:bodyPr>
          <a:lstStyle/>
          <a:p>
            <a:pPr algn="l">
              <a:lnSpc>
                <a:spcPct val="100000"/>
              </a:lnSpc>
            </a:pPr>
            <a:r>
              <a:rPr sz="1200" b="1" i="0">
                <a:solidFill>
                  <a:srgbClr val="0F4C5C"/>
                </a:solidFill>
                <a:latin typeface="Consolas"/>
              </a:rPr>
              <a:t>01</a:t>
            </a:r>
          </a:p>
        </p:txBody>
      </p:sp>
      <p:sp>
        <p:nvSpPr>
          <p:cNvPr id="6" name="TextBox 5"/>
          <p:cNvSpPr txBox="1"/>
          <p:nvPr/>
        </p:nvSpPr>
        <p:spPr>
          <a:xfrm>
            <a:off x="1847088" y="2340864"/>
            <a:ext cx="10874959" cy="201168"/>
          </a:xfrm>
          <a:prstGeom prst="rect">
            <a:avLst/>
          </a:prstGeom>
          <a:noFill/>
        </p:spPr>
        <p:txBody>
          <a:bodyPr wrap="square" anchor="t" lIns="0" rIns="0" tIns="0" bIns="0">
            <a:spAutoFit/>
          </a:bodyPr>
          <a:lstStyle/>
          <a:p>
            <a:pPr algn="l">
              <a:lnSpc>
                <a:spcPct val="100000"/>
              </a:lnSpc>
            </a:pPr>
            <a:r>
              <a:rPr sz="1050" b="1" i="0">
                <a:solidFill>
                  <a:srgbClr val="6C7683"/>
                </a:solidFill>
                <a:latin typeface="Consolas"/>
              </a:rPr>
              <a:t>THE SIMULATOR</a:t>
            </a:r>
          </a:p>
        </p:txBody>
      </p:sp>
      <p:sp>
        <p:nvSpPr>
          <p:cNvPr id="7" name="TextBox 6"/>
          <p:cNvSpPr txBox="1"/>
          <p:nvPr/>
        </p:nvSpPr>
        <p:spPr>
          <a:xfrm>
            <a:off x="1847088" y="2615184"/>
            <a:ext cx="9686239" cy="1005840"/>
          </a:xfrm>
          <a:prstGeom prst="rect">
            <a:avLst/>
          </a:prstGeom>
          <a:noFill/>
        </p:spPr>
        <p:txBody>
          <a:bodyPr wrap="square" anchor="t" lIns="0" rIns="0" tIns="0" bIns="0">
            <a:spAutoFit/>
          </a:bodyPr>
          <a:lstStyle/>
          <a:p>
            <a:pPr algn="l">
              <a:lnSpc>
                <a:spcPct val="106000"/>
              </a:lnSpc>
            </a:pPr>
            <a:r>
              <a:rPr sz="3600" b="0" i="0">
                <a:solidFill>
                  <a:srgbClr val="111721"/>
                </a:solidFill>
                <a:latin typeface="Georgia"/>
              </a:rPr>
              <a:t>Building a copy of a national 5G network</a:t>
            </a:r>
          </a:p>
        </p:txBody>
      </p:sp>
      <p:sp>
        <p:nvSpPr>
          <p:cNvPr id="8" name="TextBox 7"/>
          <p:cNvSpPr txBox="1"/>
          <p:nvPr/>
        </p:nvSpPr>
        <p:spPr>
          <a:xfrm>
            <a:off x="1847088" y="3749039"/>
            <a:ext cx="7748991" cy="1097280"/>
          </a:xfrm>
          <a:prstGeom prst="rect">
            <a:avLst/>
          </a:prstGeom>
          <a:noFill/>
        </p:spPr>
        <p:txBody>
          <a:bodyPr wrap="square" anchor="t" lIns="0" rIns="0" tIns="0" bIns="0">
            <a:spAutoFit/>
          </a:bodyPr>
          <a:lstStyle/>
          <a:p>
            <a:pPr algn="l">
              <a:lnSpc>
                <a:spcPct val="145000"/>
              </a:lnSpc>
            </a:pPr>
            <a:r>
              <a:rPr sz="1350" b="0" i="0">
                <a:solidFill>
                  <a:srgbClr val="3C4653"/>
                </a:solidFill>
                <a:latin typeface="Segoe UI"/>
              </a:rPr>
              <a:t>We do not simulate individual data packets — far too slow at this size. We simulate sessions: one starts, uses bandwidth for a while, then ends. We track how much each box is carrying and whether it exceeds its safe limit. Fast enough to run 112 simulated days.</a:t>
            </a:r>
          </a:p>
        </p:txBody>
      </p:sp>
      <p:sp>
        <p:nvSpPr>
          <p:cNvPr id="9" name="TextBox 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THE ENGINE</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What happens in one 30-second step</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Each mechanism draws from its own stream of random numbers, so changing the failure schedule cannot accidentally change which users arrive. Twenty steps — 10 minutes — make one decision round.</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TextBox 7"/>
          <p:cNvSpPr txBox="1"/>
          <p:nvPr/>
        </p:nvSpPr>
        <p:spPr>
          <a:xfrm>
            <a:off x="658368" y="2541269"/>
            <a:ext cx="365760" cy="201168"/>
          </a:xfrm>
          <a:prstGeom prst="rect">
            <a:avLst/>
          </a:prstGeom>
          <a:noFill/>
        </p:spPr>
        <p:txBody>
          <a:bodyPr wrap="square" anchor="t" lIns="0" rIns="0" tIns="0" bIns="0">
            <a:spAutoFit/>
          </a:bodyPr>
          <a:lstStyle/>
          <a:p>
            <a:pPr algn="l">
              <a:lnSpc>
                <a:spcPct val="100000"/>
              </a:lnSpc>
            </a:pPr>
            <a:r>
              <a:rPr sz="960" b="1" i="0">
                <a:solidFill>
                  <a:srgbClr val="0F4C5C"/>
                </a:solidFill>
                <a:latin typeface="Consolas"/>
              </a:rPr>
              <a:t>01</a:t>
            </a:r>
          </a:p>
        </p:txBody>
      </p:sp>
      <p:sp>
        <p:nvSpPr>
          <p:cNvPr id="9" name="TextBox 8"/>
          <p:cNvSpPr txBox="1"/>
          <p:nvPr/>
        </p:nvSpPr>
        <p:spPr>
          <a:xfrm>
            <a:off x="1042415" y="2532126"/>
            <a:ext cx="4824831" cy="274320"/>
          </a:xfrm>
          <a:prstGeom prst="rect">
            <a:avLst/>
          </a:prstGeom>
          <a:noFill/>
        </p:spPr>
        <p:txBody>
          <a:bodyPr wrap="square" anchor="t" lIns="0" rIns="0" tIns="0" bIns="0">
            <a:spAutoFit/>
          </a:bodyPr>
          <a:lstStyle/>
          <a:p>
            <a:pPr algn="l">
              <a:lnSpc>
                <a:spcPct val="133000"/>
              </a:lnSpc>
            </a:pPr>
            <a:r>
              <a:rPr sz="1160" b="1" i="0">
                <a:solidFill>
                  <a:srgbClr val="111721"/>
                </a:solidFill>
                <a:latin typeface="Segoe UI"/>
              </a:rPr>
              <a:t>Time of day. </a:t>
            </a:r>
            <a:r>
              <a:rPr sz="1160" b="0" i="0">
                <a:solidFill>
                  <a:srgbClr val="3C4653"/>
                </a:solidFill>
                <a:latin typeface="Segoe UI"/>
              </a:rPr>
              <a:t>Daily and weekly cycles. Home areas peak in the evening, business areas mid-day, 7–11 hours apart. People move between zones; the total headcount is conserved exactly.</a:t>
            </a:r>
          </a:p>
        </p:txBody>
      </p:sp>
      <p:sp>
        <p:nvSpPr>
          <p:cNvPr id="10" name="Rectangle 9"/>
          <p:cNvSpPr/>
          <p:nvPr/>
        </p:nvSpPr>
        <p:spPr>
          <a:xfrm>
            <a:off x="658368" y="3245357"/>
            <a:ext cx="520887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364229"/>
            <a:ext cx="365760" cy="201168"/>
          </a:xfrm>
          <a:prstGeom prst="rect">
            <a:avLst/>
          </a:prstGeom>
          <a:noFill/>
        </p:spPr>
        <p:txBody>
          <a:bodyPr wrap="square" anchor="t" lIns="0" rIns="0" tIns="0" bIns="0">
            <a:spAutoFit/>
          </a:bodyPr>
          <a:lstStyle/>
          <a:p>
            <a:pPr algn="l">
              <a:lnSpc>
                <a:spcPct val="100000"/>
              </a:lnSpc>
            </a:pPr>
            <a:r>
              <a:rPr sz="960" b="1" i="0">
                <a:solidFill>
                  <a:srgbClr val="0F4C5C"/>
                </a:solidFill>
                <a:latin typeface="Consolas"/>
              </a:rPr>
              <a:t>02</a:t>
            </a:r>
          </a:p>
        </p:txBody>
      </p:sp>
      <p:sp>
        <p:nvSpPr>
          <p:cNvPr id="12" name="TextBox 11"/>
          <p:cNvSpPr txBox="1"/>
          <p:nvPr/>
        </p:nvSpPr>
        <p:spPr>
          <a:xfrm>
            <a:off x="1042415" y="3355086"/>
            <a:ext cx="4824831" cy="274320"/>
          </a:xfrm>
          <a:prstGeom prst="rect">
            <a:avLst/>
          </a:prstGeom>
          <a:noFill/>
        </p:spPr>
        <p:txBody>
          <a:bodyPr wrap="square" anchor="t" lIns="0" rIns="0" tIns="0" bIns="0">
            <a:spAutoFit/>
          </a:bodyPr>
          <a:lstStyle/>
          <a:p>
            <a:pPr algn="l">
              <a:lnSpc>
                <a:spcPct val="133000"/>
              </a:lnSpc>
            </a:pPr>
            <a:r>
              <a:rPr sz="1160" b="1" i="0">
                <a:solidFill>
                  <a:srgbClr val="111721"/>
                </a:solidFill>
                <a:latin typeface="Segoe UI"/>
              </a:rPr>
              <a:t>Scheduled events. </a:t>
            </a:r>
            <a:r>
              <a:rPr sz="1160" b="0" i="0">
                <a:solidFill>
                  <a:srgbClr val="3C4653"/>
                </a:solidFill>
                <a:latin typeface="Segoe UI"/>
              </a:rPr>
              <a:t>A stadium match or planned maintenance is applied only after the moment the controller was actually told about it.</a:t>
            </a:r>
          </a:p>
        </p:txBody>
      </p:sp>
      <p:sp>
        <p:nvSpPr>
          <p:cNvPr id="13" name="Rectangle 12"/>
          <p:cNvSpPr/>
          <p:nvPr/>
        </p:nvSpPr>
        <p:spPr>
          <a:xfrm>
            <a:off x="658368" y="4068318"/>
            <a:ext cx="520887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87190"/>
            <a:ext cx="365760" cy="201168"/>
          </a:xfrm>
          <a:prstGeom prst="rect">
            <a:avLst/>
          </a:prstGeom>
          <a:noFill/>
        </p:spPr>
        <p:txBody>
          <a:bodyPr wrap="square" anchor="t" lIns="0" rIns="0" tIns="0" bIns="0">
            <a:spAutoFit/>
          </a:bodyPr>
          <a:lstStyle/>
          <a:p>
            <a:pPr algn="l">
              <a:lnSpc>
                <a:spcPct val="100000"/>
              </a:lnSpc>
            </a:pPr>
            <a:r>
              <a:rPr sz="960" b="1" i="0">
                <a:solidFill>
                  <a:srgbClr val="0F4C5C"/>
                </a:solidFill>
                <a:latin typeface="Consolas"/>
              </a:rPr>
              <a:t>03</a:t>
            </a:r>
          </a:p>
        </p:txBody>
      </p:sp>
      <p:sp>
        <p:nvSpPr>
          <p:cNvPr id="15" name="TextBox 14"/>
          <p:cNvSpPr txBox="1"/>
          <p:nvPr/>
        </p:nvSpPr>
        <p:spPr>
          <a:xfrm>
            <a:off x="1042415" y="4178046"/>
            <a:ext cx="4824831" cy="274320"/>
          </a:xfrm>
          <a:prstGeom prst="rect">
            <a:avLst/>
          </a:prstGeom>
          <a:noFill/>
        </p:spPr>
        <p:txBody>
          <a:bodyPr wrap="square" anchor="t" lIns="0" rIns="0" tIns="0" bIns="0">
            <a:spAutoFit/>
          </a:bodyPr>
          <a:lstStyle/>
          <a:p>
            <a:pPr algn="l">
              <a:lnSpc>
                <a:spcPct val="133000"/>
              </a:lnSpc>
            </a:pPr>
            <a:r>
              <a:rPr sz="1160" b="1" i="0">
                <a:solidFill>
                  <a:srgbClr val="111721"/>
                </a:solidFill>
                <a:latin typeface="Segoe UI"/>
              </a:rPr>
              <a:t>Random variation. </a:t>
            </a:r>
            <a:r>
              <a:rPr sz="1160" b="0" i="0">
                <a:solidFill>
                  <a:srgbClr val="3C4653"/>
                </a:solidFill>
                <a:latin typeface="Segoe UI"/>
              </a:rPr>
              <a:t>A slow drift where each step partly carries over from the last, plus occasional bursts of random length.</a:t>
            </a:r>
          </a:p>
        </p:txBody>
      </p:sp>
      <p:sp>
        <p:nvSpPr>
          <p:cNvPr id="16" name="Rectangle 15"/>
          <p:cNvSpPr/>
          <p:nvPr/>
        </p:nvSpPr>
        <p:spPr>
          <a:xfrm>
            <a:off x="658368" y="4891278"/>
            <a:ext cx="520887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010150"/>
            <a:ext cx="365760" cy="201168"/>
          </a:xfrm>
          <a:prstGeom prst="rect">
            <a:avLst/>
          </a:prstGeom>
          <a:noFill/>
        </p:spPr>
        <p:txBody>
          <a:bodyPr wrap="square" anchor="t" lIns="0" rIns="0" tIns="0" bIns="0">
            <a:spAutoFit/>
          </a:bodyPr>
          <a:lstStyle/>
          <a:p>
            <a:pPr algn="l">
              <a:lnSpc>
                <a:spcPct val="100000"/>
              </a:lnSpc>
            </a:pPr>
            <a:r>
              <a:rPr sz="960" b="1" i="0">
                <a:solidFill>
                  <a:srgbClr val="0F4C5C"/>
                </a:solidFill>
                <a:latin typeface="Consolas"/>
              </a:rPr>
              <a:t>04</a:t>
            </a:r>
          </a:p>
        </p:txBody>
      </p:sp>
      <p:sp>
        <p:nvSpPr>
          <p:cNvPr id="18" name="TextBox 17"/>
          <p:cNvSpPr txBox="1"/>
          <p:nvPr/>
        </p:nvSpPr>
        <p:spPr>
          <a:xfrm>
            <a:off x="1042415" y="5001006"/>
            <a:ext cx="4824831" cy="274320"/>
          </a:xfrm>
          <a:prstGeom prst="rect">
            <a:avLst/>
          </a:prstGeom>
          <a:noFill/>
        </p:spPr>
        <p:txBody>
          <a:bodyPr wrap="square" anchor="t" lIns="0" rIns="0" tIns="0" bIns="0">
            <a:spAutoFit/>
          </a:bodyPr>
          <a:lstStyle/>
          <a:p>
            <a:pPr algn="l">
              <a:lnSpc>
                <a:spcPct val="133000"/>
              </a:lnSpc>
            </a:pPr>
            <a:r>
              <a:rPr sz="1160" b="1" i="0">
                <a:solidFill>
                  <a:srgbClr val="111721"/>
                </a:solidFill>
                <a:latin typeface="Segoe UI"/>
              </a:rPr>
              <a:t>New sessions arrive. </a:t>
            </a:r>
            <a:r>
              <a:rPr sz="1160" b="0" i="0">
                <a:solidFill>
                  <a:srgbClr val="3C4653"/>
                </a:solidFill>
                <a:latin typeface="Segoe UI"/>
              </a:rPr>
              <a:t>Drawn from a Poisson process whose rate changes over the day.</a:t>
            </a:r>
          </a:p>
        </p:txBody>
      </p:sp>
      <p:sp>
        <p:nvSpPr>
          <p:cNvPr id="19" name="TextBox 18"/>
          <p:cNvSpPr txBox="1"/>
          <p:nvPr/>
        </p:nvSpPr>
        <p:spPr>
          <a:xfrm>
            <a:off x="6324447" y="2541269"/>
            <a:ext cx="365760" cy="201168"/>
          </a:xfrm>
          <a:prstGeom prst="rect">
            <a:avLst/>
          </a:prstGeom>
          <a:noFill/>
        </p:spPr>
        <p:txBody>
          <a:bodyPr wrap="square" anchor="t" lIns="0" rIns="0" tIns="0" bIns="0">
            <a:spAutoFit/>
          </a:bodyPr>
          <a:lstStyle/>
          <a:p>
            <a:pPr algn="l">
              <a:lnSpc>
                <a:spcPct val="100000"/>
              </a:lnSpc>
            </a:pPr>
            <a:r>
              <a:rPr sz="960" b="1" i="0">
                <a:solidFill>
                  <a:srgbClr val="0F4C5C"/>
                </a:solidFill>
                <a:latin typeface="Consolas"/>
              </a:rPr>
              <a:t>05</a:t>
            </a:r>
          </a:p>
        </p:txBody>
      </p:sp>
      <p:sp>
        <p:nvSpPr>
          <p:cNvPr id="20" name="TextBox 19"/>
          <p:cNvSpPr txBox="1"/>
          <p:nvPr/>
        </p:nvSpPr>
        <p:spPr>
          <a:xfrm>
            <a:off x="6708495" y="2532126"/>
            <a:ext cx="4824831" cy="274320"/>
          </a:xfrm>
          <a:prstGeom prst="rect">
            <a:avLst/>
          </a:prstGeom>
          <a:noFill/>
        </p:spPr>
        <p:txBody>
          <a:bodyPr wrap="square" anchor="t" lIns="0" rIns="0" tIns="0" bIns="0">
            <a:spAutoFit/>
          </a:bodyPr>
          <a:lstStyle/>
          <a:p>
            <a:pPr algn="l">
              <a:lnSpc>
                <a:spcPct val="133000"/>
              </a:lnSpc>
            </a:pPr>
            <a:r>
              <a:rPr sz="1160" b="1" i="0">
                <a:solidFill>
                  <a:srgbClr val="111721"/>
                </a:solidFill>
                <a:latin typeface="Segoe UI"/>
              </a:rPr>
              <a:t>Session size and length. </a:t>
            </a:r>
            <a:r>
              <a:rPr sz="1160" b="0" i="0">
                <a:solidFill>
                  <a:srgbClr val="3C4653"/>
                </a:solidFill>
                <a:latin typeface="Segoe UI"/>
              </a:rPr>
              <a:t>Duration from a heavy-tailed distribution — most short, a few very long. Uplink and downlink bandwidth drawn together, so they are correlated.</a:t>
            </a:r>
          </a:p>
        </p:txBody>
      </p:sp>
      <p:sp>
        <p:nvSpPr>
          <p:cNvPr id="21" name="Rectangle 20"/>
          <p:cNvSpPr/>
          <p:nvPr/>
        </p:nvSpPr>
        <p:spPr>
          <a:xfrm>
            <a:off x="6324447" y="3245357"/>
            <a:ext cx="520887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4447" y="3364229"/>
            <a:ext cx="365760" cy="201168"/>
          </a:xfrm>
          <a:prstGeom prst="rect">
            <a:avLst/>
          </a:prstGeom>
          <a:noFill/>
        </p:spPr>
        <p:txBody>
          <a:bodyPr wrap="square" anchor="t" lIns="0" rIns="0" tIns="0" bIns="0">
            <a:spAutoFit/>
          </a:bodyPr>
          <a:lstStyle/>
          <a:p>
            <a:pPr algn="l">
              <a:lnSpc>
                <a:spcPct val="100000"/>
              </a:lnSpc>
            </a:pPr>
            <a:r>
              <a:rPr sz="960" b="1" i="0">
                <a:solidFill>
                  <a:srgbClr val="0F4C5C"/>
                </a:solidFill>
                <a:latin typeface="Consolas"/>
              </a:rPr>
              <a:t>06</a:t>
            </a:r>
          </a:p>
        </p:txBody>
      </p:sp>
      <p:sp>
        <p:nvSpPr>
          <p:cNvPr id="23" name="TextBox 22"/>
          <p:cNvSpPr txBox="1"/>
          <p:nvPr/>
        </p:nvSpPr>
        <p:spPr>
          <a:xfrm>
            <a:off x="6708495" y="3355086"/>
            <a:ext cx="4824831" cy="274320"/>
          </a:xfrm>
          <a:prstGeom prst="rect">
            <a:avLst/>
          </a:prstGeom>
          <a:noFill/>
        </p:spPr>
        <p:txBody>
          <a:bodyPr wrap="square" anchor="t" lIns="0" rIns="0" tIns="0" bIns="0">
            <a:spAutoFit/>
          </a:bodyPr>
          <a:lstStyle/>
          <a:p>
            <a:pPr algn="l">
              <a:lnSpc>
                <a:spcPct val="133000"/>
              </a:lnSpc>
            </a:pPr>
            <a:r>
              <a:rPr sz="1160" b="1" i="0">
                <a:solidFill>
                  <a:srgbClr val="111721"/>
                </a:solidFill>
                <a:latin typeface="Segoe UI"/>
              </a:rPr>
              <a:t>Placement. </a:t>
            </a:r>
            <a:r>
              <a:rPr sz="1160" b="0" i="0">
                <a:solidFill>
                  <a:srgbClr val="3C4653"/>
                </a:solidFill>
                <a:latin typeface="Segoe UI"/>
              </a:rPr>
              <a:t>Each new session goes to a box chosen by whichever rule is active. This is the only lever in the whole system.</a:t>
            </a:r>
          </a:p>
        </p:txBody>
      </p:sp>
      <p:sp>
        <p:nvSpPr>
          <p:cNvPr id="24" name="Rectangle 23"/>
          <p:cNvSpPr/>
          <p:nvPr/>
        </p:nvSpPr>
        <p:spPr>
          <a:xfrm>
            <a:off x="6324447" y="4068318"/>
            <a:ext cx="520887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24447" y="4187190"/>
            <a:ext cx="365760" cy="201168"/>
          </a:xfrm>
          <a:prstGeom prst="rect">
            <a:avLst/>
          </a:prstGeom>
          <a:noFill/>
        </p:spPr>
        <p:txBody>
          <a:bodyPr wrap="square" anchor="t" lIns="0" rIns="0" tIns="0" bIns="0">
            <a:spAutoFit/>
          </a:bodyPr>
          <a:lstStyle/>
          <a:p>
            <a:pPr algn="l">
              <a:lnSpc>
                <a:spcPct val="100000"/>
              </a:lnSpc>
            </a:pPr>
            <a:r>
              <a:rPr sz="960" b="1" i="0">
                <a:solidFill>
                  <a:srgbClr val="0F4C5C"/>
                </a:solidFill>
                <a:latin typeface="Consolas"/>
              </a:rPr>
              <a:t>07</a:t>
            </a:r>
          </a:p>
        </p:txBody>
      </p:sp>
      <p:sp>
        <p:nvSpPr>
          <p:cNvPr id="26" name="TextBox 25"/>
          <p:cNvSpPr txBox="1"/>
          <p:nvPr/>
        </p:nvSpPr>
        <p:spPr>
          <a:xfrm>
            <a:off x="6708495" y="4178046"/>
            <a:ext cx="4824831" cy="274320"/>
          </a:xfrm>
          <a:prstGeom prst="rect">
            <a:avLst/>
          </a:prstGeom>
          <a:noFill/>
        </p:spPr>
        <p:txBody>
          <a:bodyPr wrap="square" anchor="t" lIns="0" rIns="0" tIns="0" bIns="0">
            <a:spAutoFit/>
          </a:bodyPr>
          <a:lstStyle/>
          <a:p>
            <a:pPr algn="l">
              <a:lnSpc>
                <a:spcPct val="133000"/>
              </a:lnSpc>
            </a:pPr>
            <a:r>
              <a:rPr sz="1160" b="1" i="0">
                <a:solidFill>
                  <a:srgbClr val="111721"/>
                </a:solidFill>
                <a:latin typeface="Segoe UI"/>
              </a:rPr>
              <a:t>Capacity check. </a:t>
            </a:r>
            <a:r>
              <a:rPr sz="1160" b="0" i="0">
                <a:solidFill>
                  <a:srgbClr val="3C4653"/>
                </a:solidFill>
                <a:latin typeface="Segoe UI"/>
              </a:rPr>
              <a:t>Apply failures, then count traffic offered, carried, queued, dropped and rejected — separately for uplink and downlink.</a:t>
            </a:r>
          </a:p>
        </p:txBody>
      </p:sp>
      <p:sp>
        <p:nvSpPr>
          <p:cNvPr id="27" name="Rectangle 26"/>
          <p:cNvSpPr/>
          <p:nvPr/>
        </p:nvSpPr>
        <p:spPr>
          <a:xfrm>
            <a:off x="6324447" y="4891278"/>
            <a:ext cx="520887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4447" y="5010150"/>
            <a:ext cx="365760" cy="201168"/>
          </a:xfrm>
          <a:prstGeom prst="rect">
            <a:avLst/>
          </a:prstGeom>
          <a:noFill/>
        </p:spPr>
        <p:txBody>
          <a:bodyPr wrap="square" anchor="t" lIns="0" rIns="0" tIns="0" bIns="0">
            <a:spAutoFit/>
          </a:bodyPr>
          <a:lstStyle/>
          <a:p>
            <a:pPr algn="l">
              <a:lnSpc>
                <a:spcPct val="100000"/>
              </a:lnSpc>
            </a:pPr>
            <a:r>
              <a:rPr sz="960" b="1" i="0">
                <a:solidFill>
                  <a:srgbClr val="0F4C5C"/>
                </a:solidFill>
                <a:latin typeface="Consolas"/>
              </a:rPr>
              <a:t>08</a:t>
            </a:r>
          </a:p>
        </p:txBody>
      </p:sp>
      <p:sp>
        <p:nvSpPr>
          <p:cNvPr id="29" name="TextBox 28"/>
          <p:cNvSpPr txBox="1"/>
          <p:nvPr/>
        </p:nvSpPr>
        <p:spPr>
          <a:xfrm>
            <a:off x="6708495" y="5001006"/>
            <a:ext cx="4824831" cy="274320"/>
          </a:xfrm>
          <a:prstGeom prst="rect">
            <a:avLst/>
          </a:prstGeom>
          <a:noFill/>
        </p:spPr>
        <p:txBody>
          <a:bodyPr wrap="square" anchor="t" lIns="0" rIns="0" tIns="0" bIns="0">
            <a:spAutoFit/>
          </a:bodyPr>
          <a:lstStyle/>
          <a:p>
            <a:pPr algn="l">
              <a:lnSpc>
                <a:spcPct val="133000"/>
              </a:lnSpc>
            </a:pPr>
            <a:r>
              <a:rPr sz="1160" b="1" i="0">
                <a:solidFill>
                  <a:srgbClr val="111721"/>
                </a:solidFill>
                <a:latin typeface="Segoe UI"/>
              </a:rPr>
              <a:t>Emit telemetry. </a:t>
            </a:r>
            <a:r>
              <a:rPr sz="1160" b="0" i="0">
                <a:solidFill>
                  <a:srgbClr val="3C4653"/>
                </a:solidFill>
                <a:latin typeface="Segoe UI"/>
              </a:rPr>
              <a:t>Write counters out, including flags for resets, restarts, and missing or stale readings.</a:t>
            </a:r>
          </a:p>
        </p:txBody>
      </p:sp>
      <p:sp>
        <p:nvSpPr>
          <p:cNvPr id="30" name="TextBox 29"/>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STRUCTURE</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How traffic is grouped</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Demand is split into 96 traffic groups: 8 area types × 12 service classes. Each has its own arrival rate, session length, bandwidth profile and list of boxes it may use. The forecaster predicts per group; the optimizer decides per group.</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Rectangle 7"/>
          <p:cNvSpPr/>
          <p:nvPr/>
        </p:nvSpPr>
        <p:spPr>
          <a:xfrm>
            <a:off x="658368" y="2568702"/>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646426"/>
            <a:ext cx="1792900"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ITEM</a:t>
            </a:r>
          </a:p>
        </p:txBody>
      </p:sp>
      <p:sp>
        <p:nvSpPr>
          <p:cNvPr id="10" name="TextBox 9"/>
          <p:cNvSpPr txBox="1"/>
          <p:nvPr/>
        </p:nvSpPr>
        <p:spPr>
          <a:xfrm>
            <a:off x="2698156" y="2646426"/>
            <a:ext cx="1466651"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VALUE</a:t>
            </a:r>
          </a:p>
        </p:txBody>
      </p:sp>
      <p:sp>
        <p:nvSpPr>
          <p:cNvPr id="11" name="TextBox 10"/>
          <p:cNvSpPr txBox="1"/>
          <p:nvPr/>
        </p:nvSpPr>
        <p:spPr>
          <a:xfrm>
            <a:off x="4329400" y="2646426"/>
            <a:ext cx="7121630"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DETAIL</a:t>
            </a:r>
          </a:p>
        </p:txBody>
      </p:sp>
      <p:sp>
        <p:nvSpPr>
          <p:cNvPr id="12" name="Rectangle 11"/>
          <p:cNvSpPr/>
          <p:nvPr/>
        </p:nvSpPr>
        <p:spPr>
          <a:xfrm>
            <a:off x="658368" y="2843022"/>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2893314"/>
            <a:ext cx="179290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Area types</a:t>
            </a:r>
          </a:p>
        </p:txBody>
      </p:sp>
      <p:sp>
        <p:nvSpPr>
          <p:cNvPr id="14" name="TextBox 13"/>
          <p:cNvSpPr txBox="1"/>
          <p:nvPr/>
        </p:nvSpPr>
        <p:spPr>
          <a:xfrm>
            <a:off x="2698156" y="2893314"/>
            <a:ext cx="1466651"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8</a:t>
            </a:r>
          </a:p>
        </p:txBody>
      </p:sp>
      <p:sp>
        <p:nvSpPr>
          <p:cNvPr id="15" name="TextBox 14"/>
          <p:cNvSpPr txBox="1"/>
          <p:nvPr/>
        </p:nvSpPr>
        <p:spPr>
          <a:xfrm>
            <a:off x="4329400" y="2893314"/>
            <a:ext cx="7121630"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four urban, plus industrial, airport, stadium and rural — detailed next slide</a:t>
            </a:r>
          </a:p>
        </p:txBody>
      </p:sp>
      <p:sp>
        <p:nvSpPr>
          <p:cNvPr id="16" name="Rectangle 15"/>
          <p:cNvSpPr/>
          <p:nvPr/>
        </p:nvSpPr>
        <p:spPr>
          <a:xfrm>
            <a:off x="658368" y="311734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117341"/>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167633"/>
            <a:ext cx="179290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Service types</a:t>
            </a:r>
          </a:p>
        </p:txBody>
      </p:sp>
      <p:sp>
        <p:nvSpPr>
          <p:cNvPr id="19" name="TextBox 18"/>
          <p:cNvSpPr txBox="1"/>
          <p:nvPr/>
        </p:nvSpPr>
        <p:spPr>
          <a:xfrm>
            <a:off x="2698156" y="3167633"/>
            <a:ext cx="1466651"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12</a:t>
            </a:r>
          </a:p>
        </p:txBody>
      </p:sp>
      <p:sp>
        <p:nvSpPr>
          <p:cNvPr id="20" name="TextBox 19"/>
          <p:cNvSpPr txBox="1"/>
          <p:nvPr/>
        </p:nvSpPr>
        <p:spPr>
          <a:xfrm>
            <a:off x="4329400" y="3167633"/>
            <a:ext cx="7121630"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consumer internet, video, voice; enterprise VPN; industry telemetry &amp; control; vehicles; public safety; stadium media; IoT; roaming</a:t>
            </a:r>
          </a:p>
        </p:txBody>
      </p:sp>
      <p:sp>
        <p:nvSpPr>
          <p:cNvPr id="21" name="Rectangle 20"/>
          <p:cNvSpPr/>
          <p:nvPr/>
        </p:nvSpPr>
        <p:spPr>
          <a:xfrm>
            <a:off x="658368" y="339166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3441953"/>
            <a:ext cx="179290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Traffic groups</a:t>
            </a:r>
          </a:p>
        </p:txBody>
      </p:sp>
      <p:sp>
        <p:nvSpPr>
          <p:cNvPr id="23" name="TextBox 22"/>
          <p:cNvSpPr txBox="1"/>
          <p:nvPr/>
        </p:nvSpPr>
        <p:spPr>
          <a:xfrm>
            <a:off x="2698156" y="3441953"/>
            <a:ext cx="1466651"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96</a:t>
            </a:r>
          </a:p>
        </p:txBody>
      </p:sp>
      <p:sp>
        <p:nvSpPr>
          <p:cNvPr id="24" name="TextBox 23"/>
          <p:cNvSpPr txBox="1"/>
          <p:nvPr/>
        </p:nvSpPr>
        <p:spPr>
          <a:xfrm>
            <a:off x="4329400" y="3441953"/>
            <a:ext cx="7121630"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8 area types × 12 service classes</a:t>
            </a:r>
          </a:p>
        </p:txBody>
      </p:sp>
      <p:sp>
        <p:nvSpPr>
          <p:cNvPr id="25" name="Rectangle 24"/>
          <p:cNvSpPr/>
          <p:nvPr/>
        </p:nvSpPr>
        <p:spPr>
          <a:xfrm>
            <a:off x="658368" y="366598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3665981"/>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 y="3716273"/>
            <a:ext cx="179290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UPF boxes</a:t>
            </a:r>
          </a:p>
        </p:txBody>
      </p:sp>
      <p:sp>
        <p:nvSpPr>
          <p:cNvPr id="28" name="TextBox 27"/>
          <p:cNvSpPr txBox="1"/>
          <p:nvPr/>
        </p:nvSpPr>
        <p:spPr>
          <a:xfrm>
            <a:off x="2698156" y="3716273"/>
            <a:ext cx="1466651"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24</a:t>
            </a:r>
          </a:p>
        </p:txBody>
      </p:sp>
      <p:sp>
        <p:nvSpPr>
          <p:cNvPr id="29" name="TextBox 28"/>
          <p:cNvSpPr txBox="1"/>
          <p:nvPr/>
        </p:nvSpPr>
        <p:spPr>
          <a:xfrm>
            <a:off x="4329400" y="3716273"/>
            <a:ext cx="7121630"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16 edge, 4 regional, 4 central; each group may use 6 of them</a:t>
            </a:r>
          </a:p>
        </p:txBody>
      </p:sp>
      <p:sp>
        <p:nvSpPr>
          <p:cNvPr id="30" name="Rectangle 29"/>
          <p:cNvSpPr/>
          <p:nvPr/>
        </p:nvSpPr>
        <p:spPr>
          <a:xfrm>
            <a:off x="658368" y="394030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 y="3990593"/>
            <a:ext cx="179290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Edge box capacity</a:t>
            </a:r>
          </a:p>
        </p:txBody>
      </p:sp>
      <p:sp>
        <p:nvSpPr>
          <p:cNvPr id="32" name="TextBox 31"/>
          <p:cNvSpPr txBox="1"/>
          <p:nvPr/>
        </p:nvSpPr>
        <p:spPr>
          <a:xfrm>
            <a:off x="2698156" y="3990593"/>
            <a:ext cx="1466651"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2.6 / 5.2 Tbps</a:t>
            </a:r>
          </a:p>
        </p:txBody>
      </p:sp>
      <p:sp>
        <p:nvSpPr>
          <p:cNvPr id="33" name="TextBox 32"/>
          <p:cNvSpPr txBox="1"/>
          <p:nvPr/>
        </p:nvSpPr>
        <p:spPr>
          <a:xfrm>
            <a:off x="4329400" y="3990593"/>
            <a:ext cx="7121630"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uplink / downlink, with 78% / 80% treated as the safe operating limit</a:t>
            </a:r>
          </a:p>
        </p:txBody>
      </p:sp>
      <p:sp>
        <p:nvSpPr>
          <p:cNvPr id="34" name="Rectangle 33"/>
          <p:cNvSpPr/>
          <p:nvPr/>
        </p:nvSpPr>
        <p:spPr>
          <a:xfrm>
            <a:off x="658368" y="421462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214621"/>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 y="4264913"/>
            <a:ext cx="179290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Session limit</a:t>
            </a:r>
          </a:p>
        </p:txBody>
      </p:sp>
      <p:sp>
        <p:nvSpPr>
          <p:cNvPr id="37" name="TextBox 36"/>
          <p:cNvSpPr txBox="1"/>
          <p:nvPr/>
        </p:nvSpPr>
        <p:spPr>
          <a:xfrm>
            <a:off x="2698156" y="4264913"/>
            <a:ext cx="1466651"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170 000</a:t>
            </a:r>
          </a:p>
        </p:txBody>
      </p:sp>
      <p:sp>
        <p:nvSpPr>
          <p:cNvPr id="38" name="TextBox 37"/>
          <p:cNvSpPr txBox="1"/>
          <p:nvPr/>
        </p:nvSpPr>
        <p:spPr>
          <a:xfrm>
            <a:off x="4329400" y="4264913"/>
            <a:ext cx="7121630"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per box, with 82% as the safe limit</a:t>
            </a:r>
          </a:p>
        </p:txBody>
      </p:sp>
      <p:sp>
        <p:nvSpPr>
          <p:cNvPr id="39" name="Rectangle 38"/>
          <p:cNvSpPr/>
          <p:nvPr/>
        </p:nvSpPr>
        <p:spPr>
          <a:xfrm>
            <a:off x="658368" y="448894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0664" y="4539233"/>
            <a:ext cx="179290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Network delay</a:t>
            </a:r>
          </a:p>
        </p:txBody>
      </p:sp>
      <p:sp>
        <p:nvSpPr>
          <p:cNvPr id="41" name="TextBox 40"/>
          <p:cNvSpPr txBox="1"/>
          <p:nvPr/>
        </p:nvSpPr>
        <p:spPr>
          <a:xfrm>
            <a:off x="2698156" y="4539233"/>
            <a:ext cx="1466651"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7 / 22 ms</a:t>
            </a:r>
          </a:p>
        </p:txBody>
      </p:sp>
      <p:sp>
        <p:nvSpPr>
          <p:cNvPr id="42" name="TextBox 41"/>
          <p:cNvSpPr txBox="1"/>
          <p:nvPr/>
        </p:nvSpPr>
        <p:spPr>
          <a:xfrm>
            <a:off x="4329400" y="4539233"/>
            <a:ext cx="7121630"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staying in your own zone vs crossing into another</a:t>
            </a:r>
          </a:p>
        </p:txBody>
      </p:sp>
      <p:sp>
        <p:nvSpPr>
          <p:cNvPr id="43" name="Rectangle 42"/>
          <p:cNvSpPr/>
          <p:nvPr/>
        </p:nvSpPr>
        <p:spPr>
          <a:xfrm>
            <a:off x="658368" y="476326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 y="4763261"/>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0664" y="4813553"/>
            <a:ext cx="179290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Simulated users</a:t>
            </a:r>
          </a:p>
        </p:txBody>
      </p:sp>
      <p:sp>
        <p:nvSpPr>
          <p:cNvPr id="46" name="TextBox 45"/>
          <p:cNvSpPr txBox="1"/>
          <p:nvPr/>
        </p:nvSpPr>
        <p:spPr>
          <a:xfrm>
            <a:off x="2698156" y="4813553"/>
            <a:ext cx="1466651"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16 000 000</a:t>
            </a:r>
          </a:p>
        </p:txBody>
      </p:sp>
      <p:sp>
        <p:nvSpPr>
          <p:cNvPr id="47" name="TextBox 46"/>
          <p:cNvSpPr txBox="1"/>
          <p:nvPr/>
        </p:nvSpPr>
        <p:spPr>
          <a:xfrm>
            <a:off x="4329400" y="4813553"/>
            <a:ext cx="7121630"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modelled as population counts, not individual subscriber identities</a:t>
            </a:r>
          </a:p>
        </p:txBody>
      </p:sp>
      <p:sp>
        <p:nvSpPr>
          <p:cNvPr id="48" name="Rectangle 47"/>
          <p:cNvSpPr/>
          <p:nvPr/>
        </p:nvSpPr>
        <p:spPr>
          <a:xfrm>
            <a:off x="658368" y="503758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58368" y="2568702"/>
            <a:ext cx="10874959" cy="2468879"/>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8368" y="5092445"/>
            <a:ext cx="10874959" cy="274320"/>
          </a:xfrm>
          <a:prstGeom prst="rect">
            <a:avLst/>
          </a:prstGeom>
          <a:noFill/>
        </p:spPr>
        <p:txBody>
          <a:bodyPr wrap="square" anchor="t" lIns="0" rIns="0" tIns="0" bIns="0">
            <a:spAutoFit/>
          </a:bodyPr>
          <a:lstStyle/>
          <a:p>
            <a:pPr algn="l">
              <a:lnSpc>
                <a:spcPct val="130000"/>
              </a:lnSpc>
            </a:pPr>
            <a:r>
              <a:rPr sz="980" b="0" i="0">
                <a:solidFill>
                  <a:srgbClr val="6C7683"/>
                </a:solidFill>
                <a:latin typeface="Segoe UI"/>
              </a:rPr>
              <a:t>The capacity numbers are assumptions we chose. C-DOT has not published real per-box capacity, so these are placeholders until we get the real figures.</a:t>
            </a:r>
          </a:p>
        </p:txBody>
      </p:sp>
      <p:sp>
        <p:nvSpPr>
          <p:cNvPr id="51" name="TextBox 50"/>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AREAS</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The eight area types we model</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The simulator does not model geography as a map. It models eight area archetypes, each with its own population scale and its own mix of services. A traffic group is one service class inside one area.</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Rectangle 7"/>
          <p:cNvSpPr/>
          <p:nvPr/>
        </p:nvSpPr>
        <p:spPr>
          <a:xfrm>
            <a:off x="658368" y="2513838"/>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591562"/>
            <a:ext cx="1466651"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AREA</a:t>
            </a:r>
          </a:p>
        </p:txBody>
      </p:sp>
      <p:sp>
        <p:nvSpPr>
          <p:cNvPr id="10" name="TextBox 9"/>
          <p:cNvSpPr txBox="1"/>
          <p:nvPr/>
        </p:nvSpPr>
        <p:spPr>
          <a:xfrm>
            <a:off x="2371907" y="2591562"/>
            <a:ext cx="2227899"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WHAT IT REPRESENTS</a:t>
            </a:r>
          </a:p>
        </p:txBody>
      </p:sp>
      <p:sp>
        <p:nvSpPr>
          <p:cNvPr id="11" name="TextBox 10"/>
          <p:cNvSpPr txBox="1"/>
          <p:nvPr/>
        </p:nvSpPr>
        <p:spPr>
          <a:xfrm>
            <a:off x="4764398" y="2591562"/>
            <a:ext cx="103165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SCALE Z(K)</a:t>
            </a:r>
          </a:p>
        </p:txBody>
      </p:sp>
      <p:sp>
        <p:nvSpPr>
          <p:cNvPr id="12" name="TextBox 11"/>
          <p:cNvSpPr txBox="1"/>
          <p:nvPr/>
        </p:nvSpPr>
        <p:spPr>
          <a:xfrm>
            <a:off x="5960644" y="2591562"/>
            <a:ext cx="2989146"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SERVICES THAT DOMINATE</a:t>
            </a:r>
          </a:p>
        </p:txBody>
      </p:sp>
      <p:sp>
        <p:nvSpPr>
          <p:cNvPr id="13" name="TextBox 12"/>
          <p:cNvSpPr txBox="1"/>
          <p:nvPr/>
        </p:nvSpPr>
        <p:spPr>
          <a:xfrm>
            <a:off x="9114382" y="2591562"/>
            <a:ext cx="2336648"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DAILY SHAPE</a:t>
            </a:r>
          </a:p>
        </p:txBody>
      </p:sp>
      <p:sp>
        <p:nvSpPr>
          <p:cNvPr id="14" name="Rectangle 13"/>
          <p:cNvSpPr/>
          <p:nvPr/>
        </p:nvSpPr>
        <p:spPr>
          <a:xfrm>
            <a:off x="658368" y="2788157"/>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 y="2838450"/>
            <a:ext cx="146665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north-urban</a:t>
            </a:r>
          </a:p>
        </p:txBody>
      </p:sp>
      <p:sp>
        <p:nvSpPr>
          <p:cNvPr id="16" name="TextBox 15"/>
          <p:cNvSpPr txBox="1"/>
          <p:nvPr/>
        </p:nvSpPr>
        <p:spPr>
          <a:xfrm>
            <a:off x="2371907" y="2838450"/>
            <a:ext cx="2227899"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Dense residential</a:t>
            </a:r>
          </a:p>
        </p:txBody>
      </p:sp>
      <p:sp>
        <p:nvSpPr>
          <p:cNvPr id="17" name="TextBox 16"/>
          <p:cNvSpPr txBox="1"/>
          <p:nvPr/>
        </p:nvSpPr>
        <p:spPr>
          <a:xfrm>
            <a:off x="4764398" y="2838450"/>
            <a:ext cx="1031653"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0.70</a:t>
            </a:r>
          </a:p>
        </p:txBody>
      </p:sp>
      <p:sp>
        <p:nvSpPr>
          <p:cNvPr id="18" name="TextBox 17"/>
          <p:cNvSpPr txBox="1"/>
          <p:nvPr/>
        </p:nvSpPr>
        <p:spPr>
          <a:xfrm>
            <a:off x="5960644" y="2838450"/>
            <a:ext cx="2989146"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Consumer video, social, gaming</a:t>
            </a:r>
          </a:p>
        </p:txBody>
      </p:sp>
      <p:sp>
        <p:nvSpPr>
          <p:cNvPr id="19" name="TextBox 18"/>
          <p:cNvSpPr txBox="1"/>
          <p:nvPr/>
        </p:nvSpPr>
        <p:spPr>
          <a:xfrm>
            <a:off x="9114382" y="2838450"/>
            <a:ext cx="2336648"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Evening peak around 20:00</a:t>
            </a:r>
          </a:p>
        </p:txBody>
      </p:sp>
      <p:sp>
        <p:nvSpPr>
          <p:cNvPr id="20" name="Rectangle 19"/>
          <p:cNvSpPr/>
          <p:nvPr/>
        </p:nvSpPr>
        <p:spPr>
          <a:xfrm>
            <a:off x="658368" y="306247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062477"/>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3112769"/>
            <a:ext cx="146665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south-urban</a:t>
            </a:r>
          </a:p>
        </p:txBody>
      </p:sp>
      <p:sp>
        <p:nvSpPr>
          <p:cNvPr id="23" name="TextBox 22"/>
          <p:cNvSpPr txBox="1"/>
          <p:nvPr/>
        </p:nvSpPr>
        <p:spPr>
          <a:xfrm>
            <a:off x="2371907" y="3112769"/>
            <a:ext cx="2227899"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Dense residential</a:t>
            </a:r>
          </a:p>
        </p:txBody>
      </p:sp>
      <p:sp>
        <p:nvSpPr>
          <p:cNvPr id="24" name="TextBox 23"/>
          <p:cNvSpPr txBox="1"/>
          <p:nvPr/>
        </p:nvSpPr>
        <p:spPr>
          <a:xfrm>
            <a:off x="4764398" y="3112769"/>
            <a:ext cx="1031653"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0.80</a:t>
            </a:r>
          </a:p>
        </p:txBody>
      </p:sp>
      <p:sp>
        <p:nvSpPr>
          <p:cNvPr id="25" name="TextBox 24"/>
          <p:cNvSpPr txBox="1"/>
          <p:nvPr/>
        </p:nvSpPr>
        <p:spPr>
          <a:xfrm>
            <a:off x="5960644" y="3112769"/>
            <a:ext cx="2989146"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Consumer video, social, gaming</a:t>
            </a:r>
          </a:p>
        </p:txBody>
      </p:sp>
      <p:sp>
        <p:nvSpPr>
          <p:cNvPr id="26" name="TextBox 25"/>
          <p:cNvSpPr txBox="1"/>
          <p:nvPr/>
        </p:nvSpPr>
        <p:spPr>
          <a:xfrm>
            <a:off x="9114382" y="3112769"/>
            <a:ext cx="2336648"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Evening peak around 20:00</a:t>
            </a:r>
          </a:p>
        </p:txBody>
      </p:sp>
      <p:sp>
        <p:nvSpPr>
          <p:cNvPr id="27" name="Rectangle 26"/>
          <p:cNvSpPr/>
          <p:nvPr/>
        </p:nvSpPr>
        <p:spPr>
          <a:xfrm>
            <a:off x="658368" y="333679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 y="3387089"/>
            <a:ext cx="146665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east-urban</a:t>
            </a:r>
          </a:p>
        </p:txBody>
      </p:sp>
      <p:sp>
        <p:nvSpPr>
          <p:cNvPr id="29" name="TextBox 28"/>
          <p:cNvSpPr txBox="1"/>
          <p:nvPr/>
        </p:nvSpPr>
        <p:spPr>
          <a:xfrm>
            <a:off x="2371907" y="3387089"/>
            <a:ext cx="2227899"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Mixed residential / retail</a:t>
            </a:r>
          </a:p>
        </p:txBody>
      </p:sp>
      <p:sp>
        <p:nvSpPr>
          <p:cNvPr id="30" name="TextBox 29"/>
          <p:cNvSpPr txBox="1"/>
          <p:nvPr/>
        </p:nvSpPr>
        <p:spPr>
          <a:xfrm>
            <a:off x="4764398" y="3387089"/>
            <a:ext cx="1031653"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0.90</a:t>
            </a:r>
          </a:p>
        </p:txBody>
      </p:sp>
      <p:sp>
        <p:nvSpPr>
          <p:cNvPr id="31" name="TextBox 30"/>
          <p:cNvSpPr txBox="1"/>
          <p:nvPr/>
        </p:nvSpPr>
        <p:spPr>
          <a:xfrm>
            <a:off x="5960644" y="3387089"/>
            <a:ext cx="2989146"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Consumer video, voice, enterprise</a:t>
            </a:r>
          </a:p>
        </p:txBody>
      </p:sp>
      <p:sp>
        <p:nvSpPr>
          <p:cNvPr id="32" name="TextBox 31"/>
          <p:cNvSpPr txBox="1"/>
          <p:nvPr/>
        </p:nvSpPr>
        <p:spPr>
          <a:xfrm>
            <a:off x="9114382" y="3387089"/>
            <a:ext cx="2336648"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Broad evening peak</a:t>
            </a:r>
          </a:p>
        </p:txBody>
      </p:sp>
      <p:sp>
        <p:nvSpPr>
          <p:cNvPr id="33" name="Rectangle 32"/>
          <p:cNvSpPr/>
          <p:nvPr/>
        </p:nvSpPr>
        <p:spPr>
          <a:xfrm>
            <a:off x="658368" y="361111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58368" y="3611117"/>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 y="3661409"/>
            <a:ext cx="146665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west-urban</a:t>
            </a:r>
          </a:p>
        </p:txBody>
      </p:sp>
      <p:sp>
        <p:nvSpPr>
          <p:cNvPr id="36" name="TextBox 35"/>
          <p:cNvSpPr txBox="1"/>
          <p:nvPr/>
        </p:nvSpPr>
        <p:spPr>
          <a:xfrm>
            <a:off x="2371907" y="3661409"/>
            <a:ext cx="2227899"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Mixed residential / retail</a:t>
            </a:r>
          </a:p>
        </p:txBody>
      </p:sp>
      <p:sp>
        <p:nvSpPr>
          <p:cNvPr id="37" name="TextBox 36"/>
          <p:cNvSpPr txBox="1"/>
          <p:nvPr/>
        </p:nvSpPr>
        <p:spPr>
          <a:xfrm>
            <a:off x="4764398" y="3661409"/>
            <a:ext cx="1031653"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1.00</a:t>
            </a:r>
          </a:p>
        </p:txBody>
      </p:sp>
      <p:sp>
        <p:nvSpPr>
          <p:cNvPr id="38" name="TextBox 37"/>
          <p:cNvSpPr txBox="1"/>
          <p:nvPr/>
        </p:nvSpPr>
        <p:spPr>
          <a:xfrm>
            <a:off x="5960644" y="3661409"/>
            <a:ext cx="2989146"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Consumer video, voice, enterprise</a:t>
            </a:r>
          </a:p>
        </p:txBody>
      </p:sp>
      <p:sp>
        <p:nvSpPr>
          <p:cNvPr id="39" name="TextBox 38"/>
          <p:cNvSpPr txBox="1"/>
          <p:nvPr/>
        </p:nvSpPr>
        <p:spPr>
          <a:xfrm>
            <a:off x="9114382" y="3661409"/>
            <a:ext cx="2336648"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Broad evening peak</a:t>
            </a:r>
          </a:p>
        </p:txBody>
      </p:sp>
      <p:sp>
        <p:nvSpPr>
          <p:cNvPr id="40" name="Rectangle 39"/>
          <p:cNvSpPr/>
          <p:nvPr/>
        </p:nvSpPr>
        <p:spPr>
          <a:xfrm>
            <a:off x="658368" y="388543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0664" y="3935729"/>
            <a:ext cx="146665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industrial</a:t>
            </a:r>
          </a:p>
        </p:txBody>
      </p:sp>
      <p:sp>
        <p:nvSpPr>
          <p:cNvPr id="42" name="TextBox 41"/>
          <p:cNvSpPr txBox="1"/>
          <p:nvPr/>
        </p:nvSpPr>
        <p:spPr>
          <a:xfrm>
            <a:off x="2371907" y="3935729"/>
            <a:ext cx="2227899"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Factory / logistics estate</a:t>
            </a:r>
          </a:p>
        </p:txBody>
      </p:sp>
      <p:sp>
        <p:nvSpPr>
          <p:cNvPr id="43" name="TextBox 42"/>
          <p:cNvSpPr txBox="1"/>
          <p:nvPr/>
        </p:nvSpPr>
        <p:spPr>
          <a:xfrm>
            <a:off x="4764398" y="3935729"/>
            <a:ext cx="1031653"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1.10</a:t>
            </a:r>
          </a:p>
        </p:txBody>
      </p:sp>
      <p:sp>
        <p:nvSpPr>
          <p:cNvPr id="44" name="TextBox 43"/>
          <p:cNvSpPr txBox="1"/>
          <p:nvPr/>
        </p:nvSpPr>
        <p:spPr>
          <a:xfrm>
            <a:off x="5960644" y="3935729"/>
            <a:ext cx="2989146"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Industrial URLLC, massive IoT, edge AI</a:t>
            </a:r>
          </a:p>
        </p:txBody>
      </p:sp>
      <p:sp>
        <p:nvSpPr>
          <p:cNvPr id="45" name="TextBox 44"/>
          <p:cNvSpPr txBox="1"/>
          <p:nvPr/>
        </p:nvSpPr>
        <p:spPr>
          <a:xfrm>
            <a:off x="9114382" y="3935729"/>
            <a:ext cx="2336648"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Flat-ish, day-shift bias</a:t>
            </a:r>
          </a:p>
        </p:txBody>
      </p:sp>
      <p:sp>
        <p:nvSpPr>
          <p:cNvPr id="46" name="Rectangle 45"/>
          <p:cNvSpPr/>
          <p:nvPr/>
        </p:nvSpPr>
        <p:spPr>
          <a:xfrm>
            <a:off x="658368" y="415975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4159757"/>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0664" y="4210049"/>
            <a:ext cx="146665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airport</a:t>
            </a:r>
          </a:p>
        </p:txBody>
      </p:sp>
      <p:sp>
        <p:nvSpPr>
          <p:cNvPr id="49" name="TextBox 48"/>
          <p:cNvSpPr txBox="1"/>
          <p:nvPr/>
        </p:nvSpPr>
        <p:spPr>
          <a:xfrm>
            <a:off x="2371907" y="4210049"/>
            <a:ext cx="2227899"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Transport hub</a:t>
            </a:r>
          </a:p>
        </p:txBody>
      </p:sp>
      <p:sp>
        <p:nvSpPr>
          <p:cNvPr id="50" name="TextBox 49"/>
          <p:cNvSpPr txBox="1"/>
          <p:nvPr/>
        </p:nvSpPr>
        <p:spPr>
          <a:xfrm>
            <a:off x="4764398" y="4210049"/>
            <a:ext cx="1031653"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1.20</a:t>
            </a:r>
          </a:p>
        </p:txBody>
      </p:sp>
      <p:sp>
        <p:nvSpPr>
          <p:cNvPr id="51" name="TextBox 50"/>
          <p:cNvSpPr txBox="1"/>
          <p:nvPr/>
        </p:nvSpPr>
        <p:spPr>
          <a:xfrm>
            <a:off x="5960644" y="4210049"/>
            <a:ext cx="2989146"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Roaming, voice, video conference, V2X</a:t>
            </a:r>
          </a:p>
        </p:txBody>
      </p:sp>
      <p:sp>
        <p:nvSpPr>
          <p:cNvPr id="52" name="TextBox 51"/>
          <p:cNvSpPr txBox="1"/>
          <p:nvPr/>
        </p:nvSpPr>
        <p:spPr>
          <a:xfrm>
            <a:off x="9114382" y="4210049"/>
            <a:ext cx="2336648"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Twin commute peaks</a:t>
            </a:r>
          </a:p>
        </p:txBody>
      </p:sp>
      <p:sp>
        <p:nvSpPr>
          <p:cNvPr id="53" name="Rectangle 52"/>
          <p:cNvSpPr/>
          <p:nvPr/>
        </p:nvSpPr>
        <p:spPr>
          <a:xfrm>
            <a:off x="658368" y="443407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0664" y="4484369"/>
            <a:ext cx="146665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stadium</a:t>
            </a:r>
          </a:p>
        </p:txBody>
      </p:sp>
      <p:sp>
        <p:nvSpPr>
          <p:cNvPr id="55" name="TextBox 54"/>
          <p:cNvSpPr txBox="1"/>
          <p:nvPr/>
        </p:nvSpPr>
        <p:spPr>
          <a:xfrm>
            <a:off x="2371907" y="4484369"/>
            <a:ext cx="2227899"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Large-event venue</a:t>
            </a:r>
          </a:p>
        </p:txBody>
      </p:sp>
      <p:sp>
        <p:nvSpPr>
          <p:cNvPr id="56" name="TextBox 55"/>
          <p:cNvSpPr txBox="1"/>
          <p:nvPr/>
        </p:nvSpPr>
        <p:spPr>
          <a:xfrm>
            <a:off x="4764398" y="4484369"/>
            <a:ext cx="1031653"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1.30</a:t>
            </a:r>
          </a:p>
        </p:txBody>
      </p:sp>
      <p:sp>
        <p:nvSpPr>
          <p:cNvPr id="57" name="TextBox 56"/>
          <p:cNvSpPr txBox="1"/>
          <p:nvPr/>
        </p:nvSpPr>
        <p:spPr>
          <a:xfrm>
            <a:off x="5960644" y="4484369"/>
            <a:ext cx="2989146"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Social / live upload, video, voice</a:t>
            </a:r>
          </a:p>
        </p:txBody>
      </p:sp>
      <p:sp>
        <p:nvSpPr>
          <p:cNvPr id="58" name="TextBox 57"/>
          <p:cNvSpPr txBox="1"/>
          <p:nvPr/>
        </p:nvSpPr>
        <p:spPr>
          <a:xfrm>
            <a:off x="9114382" y="4484369"/>
            <a:ext cx="2336648"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Idle, then extreme event spikes</a:t>
            </a:r>
          </a:p>
        </p:txBody>
      </p:sp>
      <p:sp>
        <p:nvSpPr>
          <p:cNvPr id="59" name="Rectangle 58"/>
          <p:cNvSpPr/>
          <p:nvPr/>
        </p:nvSpPr>
        <p:spPr>
          <a:xfrm>
            <a:off x="658368" y="470839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58368" y="4708397"/>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0664" y="4758689"/>
            <a:ext cx="146665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rural</a:t>
            </a:r>
          </a:p>
        </p:txBody>
      </p:sp>
      <p:sp>
        <p:nvSpPr>
          <p:cNvPr id="62" name="TextBox 61"/>
          <p:cNvSpPr txBox="1"/>
          <p:nvPr/>
        </p:nvSpPr>
        <p:spPr>
          <a:xfrm>
            <a:off x="2371907" y="4758689"/>
            <a:ext cx="2227899"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Sparse coverage</a:t>
            </a:r>
          </a:p>
        </p:txBody>
      </p:sp>
      <p:sp>
        <p:nvSpPr>
          <p:cNvPr id="63" name="TextBox 62"/>
          <p:cNvSpPr txBox="1"/>
          <p:nvPr/>
        </p:nvSpPr>
        <p:spPr>
          <a:xfrm>
            <a:off x="4764398" y="4758689"/>
            <a:ext cx="1031653"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1.40</a:t>
            </a:r>
          </a:p>
        </p:txBody>
      </p:sp>
      <p:sp>
        <p:nvSpPr>
          <p:cNvPr id="64" name="TextBox 63"/>
          <p:cNvSpPr txBox="1"/>
          <p:nvPr/>
        </p:nvSpPr>
        <p:spPr>
          <a:xfrm>
            <a:off x="5960644" y="4758689"/>
            <a:ext cx="2989146"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Voice, massive IoT, consumer video</a:t>
            </a:r>
          </a:p>
        </p:txBody>
      </p:sp>
      <p:sp>
        <p:nvSpPr>
          <p:cNvPr id="65" name="TextBox 64"/>
          <p:cNvSpPr txBox="1"/>
          <p:nvPr/>
        </p:nvSpPr>
        <p:spPr>
          <a:xfrm>
            <a:off x="9114382" y="4758689"/>
            <a:ext cx="2336648"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Low amplitude, flat</a:t>
            </a:r>
          </a:p>
        </p:txBody>
      </p:sp>
      <p:sp>
        <p:nvSpPr>
          <p:cNvPr id="66" name="Rectangle 65"/>
          <p:cNvSpPr/>
          <p:nvPr/>
        </p:nvSpPr>
        <p:spPr>
          <a:xfrm>
            <a:off x="658368" y="498271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58368" y="2513838"/>
            <a:ext cx="10874959" cy="2468879"/>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58368" y="5257037"/>
            <a:ext cx="10874959" cy="135006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58368" y="5257037"/>
            <a:ext cx="34747" cy="1350060"/>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96112" y="5403341"/>
            <a:ext cx="10417759" cy="201168"/>
          </a:xfrm>
          <a:prstGeom prst="rect">
            <a:avLst/>
          </a:prstGeom>
          <a:noFill/>
        </p:spPr>
        <p:txBody>
          <a:bodyPr wrap="square" anchor="t" lIns="0" rIns="0" tIns="0" bIns="0">
            <a:spAutoFit/>
          </a:bodyPr>
          <a:lstStyle/>
          <a:p>
            <a:pPr algn="l">
              <a:lnSpc>
                <a:spcPct val="100000"/>
              </a:lnSpc>
            </a:pPr>
            <a:r>
              <a:rPr sz="950" b="1" i="0">
                <a:solidFill>
                  <a:srgbClr val="B5761F"/>
                </a:solidFill>
                <a:latin typeface="Consolas"/>
              </a:rPr>
              <a:t>AN HONEST LIMITATION OF THE CURRENT BUILD</a:t>
            </a:r>
          </a:p>
        </p:txBody>
      </p:sp>
      <p:sp>
        <p:nvSpPr>
          <p:cNvPr id="71" name="TextBox 70"/>
          <p:cNvSpPr txBox="1"/>
          <p:nvPr/>
        </p:nvSpPr>
        <p:spPr>
          <a:xfrm>
            <a:off x="896112" y="5659373"/>
            <a:ext cx="10372039" cy="892860"/>
          </a:xfrm>
          <a:prstGeom prst="rect">
            <a:avLst/>
          </a:prstGeom>
          <a:noFill/>
        </p:spPr>
        <p:txBody>
          <a:bodyPr wrap="square" anchor="t" lIns="0" rIns="0" tIns="0" bIns="0">
            <a:spAutoFit/>
          </a:bodyPr>
          <a:lstStyle/>
          <a:p>
            <a:pPr algn="l">
              <a:lnSpc>
                <a:spcPct val="136000"/>
              </a:lnSpc>
            </a:pPr>
            <a:r>
              <a:rPr sz="1160" b="0" i="0">
                <a:solidFill>
                  <a:srgbClr val="3C4653"/>
                </a:solidFill>
                <a:latin typeface="Segoe UI"/>
              </a:rPr>
              <a:t>The area scale is a straight arithmetic ramp — z(k) = 0.70 + 0.10k over the zone index — not a figure calibrated per area type. That is why “rural” carries the largest multiplier: it is last in the list, not busier than a city. The area label drives which services and which daily curve apply; it does not yet drive a realistic population. Replacing this ramp with real per-area subscriber counts is one of the first things operator data would fix.</a:t>
            </a:r>
          </a:p>
        </p:txBody>
      </p:sp>
      <p:sp>
        <p:nvSpPr>
          <p:cNvPr id="72" name="TextBox 71"/>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AREAS</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How the shape of a day differs by area</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Each service class carries its own daily curve, built as a sum of wrapped Gaussian peaks. The area decides which classes are present and how many; the class decides when they are busy.</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Rectangle 7"/>
          <p:cNvSpPr/>
          <p:nvPr/>
        </p:nvSpPr>
        <p:spPr>
          <a:xfrm>
            <a:off x="658368" y="2513838"/>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591562"/>
            <a:ext cx="1575401"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DAILY PROFILE</a:t>
            </a:r>
          </a:p>
        </p:txBody>
      </p:sp>
      <p:sp>
        <p:nvSpPr>
          <p:cNvPr id="10" name="TextBox 9"/>
          <p:cNvSpPr txBox="1"/>
          <p:nvPr/>
        </p:nvSpPr>
        <p:spPr>
          <a:xfrm>
            <a:off x="2480657" y="2591562"/>
            <a:ext cx="3532894"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CURVE</a:t>
            </a:r>
          </a:p>
        </p:txBody>
      </p:sp>
      <p:sp>
        <p:nvSpPr>
          <p:cNvPr id="11" name="TextBox 10"/>
          <p:cNvSpPr txBox="1"/>
          <p:nvPr/>
        </p:nvSpPr>
        <p:spPr>
          <a:xfrm>
            <a:off x="6178143" y="2591562"/>
            <a:ext cx="2989146"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CLASSES THAT USE IT</a:t>
            </a:r>
          </a:p>
        </p:txBody>
      </p:sp>
      <p:sp>
        <p:nvSpPr>
          <p:cNvPr id="12" name="TextBox 11"/>
          <p:cNvSpPr txBox="1"/>
          <p:nvPr/>
        </p:nvSpPr>
        <p:spPr>
          <a:xfrm>
            <a:off x="9331881" y="2591562"/>
            <a:ext cx="2119149"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TYPICAL AREA</a:t>
            </a:r>
          </a:p>
        </p:txBody>
      </p:sp>
      <p:sp>
        <p:nvSpPr>
          <p:cNvPr id="13" name="Rectangle 12"/>
          <p:cNvSpPr/>
          <p:nvPr/>
        </p:nvSpPr>
        <p:spPr>
          <a:xfrm>
            <a:off x="658368" y="2788157"/>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2838450"/>
            <a:ext cx="1575401" cy="21488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Evening</a:t>
            </a:r>
          </a:p>
        </p:txBody>
      </p:sp>
      <p:sp>
        <p:nvSpPr>
          <p:cNvPr id="15" name="TextBox 14"/>
          <p:cNvSpPr txBox="1"/>
          <p:nvPr/>
        </p:nvSpPr>
        <p:spPr>
          <a:xfrm>
            <a:off x="2480657" y="2838450"/>
            <a:ext cx="3532894"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0.42 + 1.18 · peak(20:00, 3.2 h)</a:t>
            </a:r>
          </a:p>
        </p:txBody>
      </p:sp>
      <p:sp>
        <p:nvSpPr>
          <p:cNvPr id="16" name="TextBox 15"/>
          <p:cNvSpPr txBox="1"/>
          <p:nvPr/>
        </p:nvSpPr>
        <p:spPr>
          <a:xfrm>
            <a:off x="6178143" y="2838450"/>
            <a:ext cx="2989146"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Consumer video, social / live</a:t>
            </a:r>
          </a:p>
        </p:txBody>
      </p:sp>
      <p:sp>
        <p:nvSpPr>
          <p:cNvPr id="17" name="TextBox 16"/>
          <p:cNvSpPr txBox="1"/>
          <p:nvPr/>
        </p:nvSpPr>
        <p:spPr>
          <a:xfrm>
            <a:off x="9331881" y="2838450"/>
            <a:ext cx="2119149"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Residential areas</a:t>
            </a:r>
          </a:p>
        </p:txBody>
      </p:sp>
      <p:sp>
        <p:nvSpPr>
          <p:cNvPr id="18" name="Rectangle 17"/>
          <p:cNvSpPr/>
          <p:nvPr/>
        </p:nvSpPr>
        <p:spPr>
          <a:xfrm>
            <a:off x="658368" y="3057905"/>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057905"/>
            <a:ext cx="10874959"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 y="3108198"/>
            <a:ext cx="1575401" cy="21488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Late evening</a:t>
            </a:r>
          </a:p>
        </p:txBody>
      </p:sp>
      <p:sp>
        <p:nvSpPr>
          <p:cNvPr id="21" name="TextBox 20"/>
          <p:cNvSpPr txBox="1"/>
          <p:nvPr/>
        </p:nvSpPr>
        <p:spPr>
          <a:xfrm>
            <a:off x="2480657" y="3108198"/>
            <a:ext cx="3532894"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0.45 + 1.25 · peak(22:00, 3.8 h)</a:t>
            </a:r>
          </a:p>
        </p:txBody>
      </p:sp>
      <p:sp>
        <p:nvSpPr>
          <p:cNvPr id="22" name="TextBox 21"/>
          <p:cNvSpPr txBox="1"/>
          <p:nvPr/>
        </p:nvSpPr>
        <p:spPr>
          <a:xfrm>
            <a:off x="6178143" y="3108198"/>
            <a:ext cx="2989146"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Gaming</a:t>
            </a:r>
          </a:p>
        </p:txBody>
      </p:sp>
      <p:sp>
        <p:nvSpPr>
          <p:cNvPr id="23" name="TextBox 22"/>
          <p:cNvSpPr txBox="1"/>
          <p:nvPr/>
        </p:nvSpPr>
        <p:spPr>
          <a:xfrm>
            <a:off x="9331881" y="3108198"/>
            <a:ext cx="2119149"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Residential areas</a:t>
            </a:r>
          </a:p>
        </p:txBody>
      </p:sp>
      <p:sp>
        <p:nvSpPr>
          <p:cNvPr id="24" name="Rectangle 23"/>
          <p:cNvSpPr/>
          <p:nvPr/>
        </p:nvSpPr>
        <p:spPr>
          <a:xfrm>
            <a:off x="658368" y="3327653"/>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64" y="3377945"/>
            <a:ext cx="1575401" cy="21488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Business</a:t>
            </a:r>
          </a:p>
        </p:txBody>
      </p:sp>
      <p:sp>
        <p:nvSpPr>
          <p:cNvPr id="26" name="TextBox 25"/>
          <p:cNvSpPr txBox="1"/>
          <p:nvPr/>
        </p:nvSpPr>
        <p:spPr>
          <a:xfrm>
            <a:off x="2480657" y="3377945"/>
            <a:ext cx="3532894"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0.28 + 1.32 · peak(13:00, 4.0 h)</a:t>
            </a:r>
          </a:p>
        </p:txBody>
      </p:sp>
      <p:sp>
        <p:nvSpPr>
          <p:cNvPr id="27" name="TextBox 26"/>
          <p:cNvSpPr txBox="1"/>
          <p:nvPr/>
        </p:nvSpPr>
        <p:spPr>
          <a:xfrm>
            <a:off x="6178143" y="3377945"/>
            <a:ext cx="2989146"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Enterprise, video conference, edge AI</a:t>
            </a:r>
          </a:p>
        </p:txBody>
      </p:sp>
      <p:sp>
        <p:nvSpPr>
          <p:cNvPr id="28" name="TextBox 27"/>
          <p:cNvSpPr txBox="1"/>
          <p:nvPr/>
        </p:nvSpPr>
        <p:spPr>
          <a:xfrm>
            <a:off x="9331881" y="3377945"/>
            <a:ext cx="2119149"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Commercial areas</a:t>
            </a:r>
          </a:p>
        </p:txBody>
      </p:sp>
      <p:sp>
        <p:nvSpPr>
          <p:cNvPr id="29" name="Rectangle 28"/>
          <p:cNvSpPr/>
          <p:nvPr/>
        </p:nvSpPr>
        <p:spPr>
          <a:xfrm>
            <a:off x="658368" y="359740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3597401"/>
            <a:ext cx="10874959"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 y="3647693"/>
            <a:ext cx="1575401" cy="21488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Industrial</a:t>
            </a:r>
          </a:p>
        </p:txBody>
      </p:sp>
      <p:sp>
        <p:nvSpPr>
          <p:cNvPr id="32" name="TextBox 31"/>
          <p:cNvSpPr txBox="1"/>
          <p:nvPr/>
        </p:nvSpPr>
        <p:spPr>
          <a:xfrm>
            <a:off x="2480657" y="3647693"/>
            <a:ext cx="3532894"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0.55 + 0.90 · peak(11:00, 5.2 h)</a:t>
            </a:r>
          </a:p>
        </p:txBody>
      </p:sp>
      <p:sp>
        <p:nvSpPr>
          <p:cNvPr id="33" name="TextBox 32"/>
          <p:cNvSpPr txBox="1"/>
          <p:nvPr/>
        </p:nvSpPr>
        <p:spPr>
          <a:xfrm>
            <a:off x="6178143" y="3647693"/>
            <a:ext cx="2989146"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Industrial URLLC</a:t>
            </a:r>
          </a:p>
        </p:txBody>
      </p:sp>
      <p:sp>
        <p:nvSpPr>
          <p:cNvPr id="34" name="TextBox 33"/>
          <p:cNvSpPr txBox="1"/>
          <p:nvPr/>
        </p:nvSpPr>
        <p:spPr>
          <a:xfrm>
            <a:off x="9331881" y="3647693"/>
            <a:ext cx="2119149"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Factory estates</a:t>
            </a:r>
          </a:p>
        </p:txBody>
      </p:sp>
      <p:sp>
        <p:nvSpPr>
          <p:cNvPr id="35" name="Rectangle 34"/>
          <p:cNvSpPr/>
          <p:nvPr/>
        </p:nvSpPr>
        <p:spPr>
          <a:xfrm>
            <a:off x="658368" y="3867149"/>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 y="3917441"/>
            <a:ext cx="1575401" cy="21488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Commute</a:t>
            </a:r>
          </a:p>
        </p:txBody>
      </p:sp>
      <p:sp>
        <p:nvSpPr>
          <p:cNvPr id="37" name="TextBox 36"/>
          <p:cNvSpPr txBox="1"/>
          <p:nvPr/>
        </p:nvSpPr>
        <p:spPr>
          <a:xfrm>
            <a:off x="2480657" y="3917441"/>
            <a:ext cx="3532894"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0.38 + 0.88 · peak(08:00) + 1.00 · peak(18:00)</a:t>
            </a:r>
          </a:p>
        </p:txBody>
      </p:sp>
      <p:sp>
        <p:nvSpPr>
          <p:cNvPr id="38" name="TextBox 37"/>
          <p:cNvSpPr txBox="1"/>
          <p:nvPr/>
        </p:nvSpPr>
        <p:spPr>
          <a:xfrm>
            <a:off x="6178143" y="3917441"/>
            <a:ext cx="2989146"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IMS voice, connected vehicle</a:t>
            </a:r>
          </a:p>
        </p:txBody>
      </p:sp>
      <p:sp>
        <p:nvSpPr>
          <p:cNvPr id="39" name="TextBox 38"/>
          <p:cNvSpPr txBox="1"/>
          <p:nvPr/>
        </p:nvSpPr>
        <p:spPr>
          <a:xfrm>
            <a:off x="9331881" y="3917441"/>
            <a:ext cx="2119149"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Airport, transit</a:t>
            </a:r>
          </a:p>
        </p:txBody>
      </p:sp>
      <p:sp>
        <p:nvSpPr>
          <p:cNvPr id="40" name="Rectangle 39"/>
          <p:cNvSpPr/>
          <p:nvPr/>
        </p:nvSpPr>
        <p:spPr>
          <a:xfrm>
            <a:off x="658368" y="413689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4136897"/>
            <a:ext cx="10874959"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0664" y="4187189"/>
            <a:ext cx="1575401" cy="21488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Overnight</a:t>
            </a:r>
          </a:p>
        </p:txBody>
      </p:sp>
      <p:sp>
        <p:nvSpPr>
          <p:cNvPr id="43" name="TextBox 42"/>
          <p:cNvSpPr txBox="1"/>
          <p:nvPr/>
        </p:nvSpPr>
        <p:spPr>
          <a:xfrm>
            <a:off x="2480657" y="4187189"/>
            <a:ext cx="3532894"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0.30 + 1.35 · peak(02:00, 2.8 h)</a:t>
            </a:r>
          </a:p>
        </p:txBody>
      </p:sp>
      <p:sp>
        <p:nvSpPr>
          <p:cNvPr id="44" name="TextBox 43"/>
          <p:cNvSpPr txBox="1"/>
          <p:nvPr/>
        </p:nvSpPr>
        <p:spPr>
          <a:xfrm>
            <a:off x="6178143" y="4187189"/>
            <a:ext cx="2989146"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Cloud backup</a:t>
            </a:r>
          </a:p>
        </p:txBody>
      </p:sp>
      <p:sp>
        <p:nvSpPr>
          <p:cNvPr id="45" name="TextBox 44"/>
          <p:cNvSpPr txBox="1"/>
          <p:nvPr/>
        </p:nvSpPr>
        <p:spPr>
          <a:xfrm>
            <a:off x="9331881" y="4187189"/>
            <a:ext cx="2119149"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Everywhere</a:t>
            </a:r>
          </a:p>
        </p:txBody>
      </p:sp>
      <p:sp>
        <p:nvSpPr>
          <p:cNvPr id="46" name="Rectangle 45"/>
          <p:cNvSpPr/>
          <p:nvPr/>
        </p:nvSpPr>
        <p:spPr>
          <a:xfrm>
            <a:off x="658368" y="4406645"/>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0664" y="4456937"/>
            <a:ext cx="1575401" cy="21488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Flat</a:t>
            </a:r>
          </a:p>
        </p:txBody>
      </p:sp>
      <p:sp>
        <p:nvSpPr>
          <p:cNvPr id="48" name="TextBox 47"/>
          <p:cNvSpPr txBox="1"/>
          <p:nvPr/>
        </p:nvSpPr>
        <p:spPr>
          <a:xfrm>
            <a:off x="2480657" y="4456937"/>
            <a:ext cx="3532894"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0.92 + 0.08 · sin(2π(h − 6)/24)</a:t>
            </a:r>
          </a:p>
        </p:txBody>
      </p:sp>
      <p:sp>
        <p:nvSpPr>
          <p:cNvPr id="49" name="TextBox 48"/>
          <p:cNvSpPr txBox="1"/>
          <p:nvPr/>
        </p:nvSpPr>
        <p:spPr>
          <a:xfrm>
            <a:off x="6178143" y="4456937"/>
            <a:ext cx="2989146"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Massive IoT, public safety</a:t>
            </a:r>
          </a:p>
        </p:txBody>
      </p:sp>
      <p:sp>
        <p:nvSpPr>
          <p:cNvPr id="50" name="TextBox 49"/>
          <p:cNvSpPr txBox="1"/>
          <p:nvPr/>
        </p:nvSpPr>
        <p:spPr>
          <a:xfrm>
            <a:off x="9331881" y="4456937"/>
            <a:ext cx="2119149" cy="214884"/>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Everywhere</a:t>
            </a:r>
          </a:p>
        </p:txBody>
      </p:sp>
      <p:sp>
        <p:nvSpPr>
          <p:cNvPr id="51" name="Rectangle 50"/>
          <p:cNvSpPr/>
          <p:nvPr/>
        </p:nvSpPr>
        <p:spPr>
          <a:xfrm>
            <a:off x="658368" y="4676393"/>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58368" y="2513838"/>
            <a:ext cx="10874959" cy="2162555"/>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58368" y="4932425"/>
            <a:ext cx="5245455" cy="225780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9536" y="5097017"/>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WHY THE PEAKS MATTER</a:t>
            </a:r>
          </a:p>
        </p:txBody>
      </p:sp>
      <p:sp>
        <p:nvSpPr>
          <p:cNvPr id="55" name="TextBox 54"/>
          <p:cNvSpPr txBox="1"/>
          <p:nvPr/>
        </p:nvSpPr>
        <p:spPr>
          <a:xfrm>
            <a:off x="859536" y="5407914"/>
            <a:ext cx="4843119" cy="1636014"/>
          </a:xfrm>
          <a:prstGeom prst="rect">
            <a:avLst/>
          </a:prstGeom>
          <a:noFill/>
        </p:spPr>
        <p:txBody>
          <a:bodyPr wrap="square" anchor="t" lIns="0" rIns="0" tIns="0" bIns="0">
            <a:spAutoFit/>
          </a:bodyPr>
          <a:lstStyle/>
          <a:p>
            <a:pPr algn="l">
              <a:lnSpc>
                <a:spcPct val="140000"/>
              </a:lnSpc>
            </a:pPr>
            <a:r>
              <a:rPr sz="1130" b="0" i="0">
                <a:solidFill>
                  <a:srgbClr val="3C4653"/>
                </a:solidFill>
                <a:latin typeface="Segoe UI"/>
              </a:rPr>
              <a:t>The business curve bottoms out at 0.28 and peaks at 1.60 — a 5.7× swing across the day. The flat IoT curve moves between 0.84 and 1.00, barely 1.2×.</a:t>
            </a:r>
          </a:p>
          <a:p>
            <a:pPr algn="l">
              <a:lnSpc>
                <a:spcPct val="140000"/>
              </a:lnSpc>
              <a:spcBef>
                <a:spcPts val="800"/>
              </a:spcBef>
            </a:pPr>
            <a:r>
              <a:rPr sz="1130" b="0" i="0">
                <a:solidFill>
                  <a:srgbClr val="3C4653"/>
                </a:solidFill>
                <a:latin typeface="Segoe UI"/>
              </a:rPr>
              <a:t>Because residential and business peaks sit 7 hours apart, the national total never sees one sharp spike. That is exactly why a static capacity split survives so well: the load moves around, but the aggregate stays smooth.</a:t>
            </a:r>
          </a:p>
        </p:txBody>
      </p:sp>
      <p:sp>
        <p:nvSpPr>
          <p:cNvPr id="56" name="Rectangle 55"/>
          <p:cNvSpPr/>
          <p:nvPr/>
        </p:nvSpPr>
        <p:spPr>
          <a:xfrm>
            <a:off x="6287871" y="4932425"/>
            <a:ext cx="5245455" cy="205689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89039" y="5097017"/>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WHAT MULTIPLIES IT</a:t>
            </a:r>
          </a:p>
        </p:txBody>
      </p:sp>
      <p:sp>
        <p:nvSpPr>
          <p:cNvPr id="58" name="TextBox 57"/>
          <p:cNvSpPr txBox="1"/>
          <p:nvPr/>
        </p:nvSpPr>
        <p:spPr>
          <a:xfrm>
            <a:off x="6489039" y="5407914"/>
            <a:ext cx="4843119" cy="1435099"/>
          </a:xfrm>
          <a:prstGeom prst="rect">
            <a:avLst/>
          </a:prstGeom>
          <a:noFill/>
        </p:spPr>
        <p:txBody>
          <a:bodyPr wrap="square" anchor="t" lIns="0" rIns="0" tIns="0" bIns="0">
            <a:spAutoFit/>
          </a:bodyPr>
          <a:lstStyle/>
          <a:p>
            <a:pPr algn="l">
              <a:lnSpc>
                <a:spcPct val="140000"/>
              </a:lnSpc>
            </a:pPr>
            <a:r>
              <a:rPr sz="1130" b="0" i="0">
                <a:solidFill>
                  <a:srgbClr val="3C4653"/>
                </a:solidFill>
                <a:latin typeface="Segoe UI"/>
              </a:rPr>
              <a:t>On top of the daily curve sit three multipliers: a per-service weekend factor (0.45 for enterprise up to 1.35 for social), independent weekly noise drawn from U[0.86, 1.16], and any active surge.</a:t>
            </a:r>
          </a:p>
          <a:p>
            <a:pPr algn="l">
              <a:lnSpc>
                <a:spcPct val="140000"/>
              </a:lnSpc>
              <a:spcBef>
                <a:spcPts val="800"/>
              </a:spcBef>
            </a:pPr>
            <a:r>
              <a:rPr sz="1130" b="0" i="0">
                <a:solidFill>
                  <a:srgbClr val="3C4653"/>
                </a:solidFill>
                <a:latin typeface="Segoe UI"/>
              </a:rPr>
              <a:t>Surges arrive 12 times a week, multiply an area's traffic by 2.5× to 8.0×, and last 2 to 10 hours.</a:t>
            </a:r>
          </a:p>
        </p:txBody>
      </p:sp>
      <p:sp>
        <p:nvSpPr>
          <p:cNvPr id="59" name="TextBox 5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TRAFFIC CLASSES</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The twelve categories of 5G traffic</a:t>
            </a:r>
          </a:p>
        </p:txBody>
      </p:sp>
      <p:sp>
        <p:nvSpPr>
          <p:cNvPr id="5" name="TextBox 4"/>
          <p:cNvSpPr txBox="1"/>
          <p:nvPr/>
        </p:nvSpPr>
        <p:spPr>
          <a:xfrm>
            <a:off x="658368" y="1463040"/>
            <a:ext cx="8482468" cy="1047496"/>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Each class carries a 3GPP 5QI value, its own data network name and slice identifier, its own session length, and its own uplink/downlink balance. Together they span the three families 5G is designed for: broadband, ultra-reliable low-latency, and massive machine-type.</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Rectangle 7"/>
          <p:cNvSpPr/>
          <p:nvPr/>
        </p:nvSpPr>
        <p:spPr>
          <a:xfrm>
            <a:off x="658368" y="2729992"/>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807716"/>
            <a:ext cx="1521026"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CLASS</a:t>
            </a:r>
          </a:p>
        </p:txBody>
      </p:sp>
      <p:sp>
        <p:nvSpPr>
          <p:cNvPr id="10" name="TextBox 9"/>
          <p:cNvSpPr txBox="1"/>
          <p:nvPr/>
        </p:nvSpPr>
        <p:spPr>
          <a:xfrm>
            <a:off x="2426282" y="2807716"/>
            <a:ext cx="379155"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5QI</a:t>
            </a:r>
          </a:p>
        </p:txBody>
      </p:sp>
      <p:sp>
        <p:nvSpPr>
          <p:cNvPr id="11" name="TextBox 10"/>
          <p:cNvSpPr txBox="1"/>
          <p:nvPr/>
        </p:nvSpPr>
        <p:spPr>
          <a:xfrm>
            <a:off x="2970030" y="2807716"/>
            <a:ext cx="1521026"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DATA NETWORK</a:t>
            </a:r>
          </a:p>
        </p:txBody>
      </p:sp>
      <p:sp>
        <p:nvSpPr>
          <p:cNvPr id="12" name="TextBox 11"/>
          <p:cNvSpPr txBox="1"/>
          <p:nvPr/>
        </p:nvSpPr>
        <p:spPr>
          <a:xfrm>
            <a:off x="4655649" y="2807716"/>
            <a:ext cx="1086028"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SESSION LENGTH</a:t>
            </a:r>
          </a:p>
        </p:txBody>
      </p:sp>
      <p:sp>
        <p:nvSpPr>
          <p:cNvPr id="13" name="TextBox 12"/>
          <p:cNvSpPr txBox="1"/>
          <p:nvPr/>
        </p:nvSpPr>
        <p:spPr>
          <a:xfrm>
            <a:off x="5906269" y="2807716"/>
            <a:ext cx="103165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UL / DL MBPS</a:t>
            </a:r>
          </a:p>
        </p:txBody>
      </p:sp>
      <p:sp>
        <p:nvSpPr>
          <p:cNvPr id="14" name="TextBox 13"/>
          <p:cNvSpPr txBox="1"/>
          <p:nvPr/>
        </p:nvSpPr>
        <p:spPr>
          <a:xfrm>
            <a:off x="7102515" y="2807716"/>
            <a:ext cx="922903"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DAILY PROFILE</a:t>
            </a:r>
          </a:p>
        </p:txBody>
      </p:sp>
      <p:sp>
        <p:nvSpPr>
          <p:cNvPr id="15" name="TextBox 14"/>
          <p:cNvSpPr txBox="1"/>
          <p:nvPr/>
        </p:nvSpPr>
        <p:spPr>
          <a:xfrm>
            <a:off x="8190011" y="2807716"/>
            <a:ext cx="651029"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WEEKEND</a:t>
            </a:r>
          </a:p>
        </p:txBody>
      </p:sp>
      <p:sp>
        <p:nvSpPr>
          <p:cNvPr id="16" name="TextBox 15"/>
          <p:cNvSpPr txBox="1"/>
          <p:nvPr/>
        </p:nvSpPr>
        <p:spPr>
          <a:xfrm>
            <a:off x="9005632" y="2807716"/>
            <a:ext cx="2445398"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EXAMPLE</a:t>
            </a:r>
          </a:p>
        </p:txBody>
      </p:sp>
      <p:sp>
        <p:nvSpPr>
          <p:cNvPr id="17" name="Rectangle 16"/>
          <p:cNvSpPr/>
          <p:nvPr/>
        </p:nvSpPr>
        <p:spPr>
          <a:xfrm>
            <a:off x="658368" y="3004312"/>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3054604"/>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Consumer video</a:t>
            </a:r>
          </a:p>
        </p:txBody>
      </p:sp>
      <p:sp>
        <p:nvSpPr>
          <p:cNvPr id="19" name="TextBox 18"/>
          <p:cNvSpPr txBox="1"/>
          <p:nvPr/>
        </p:nvSpPr>
        <p:spPr>
          <a:xfrm>
            <a:off x="2426282" y="3054604"/>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9</a:t>
            </a:r>
          </a:p>
        </p:txBody>
      </p:sp>
      <p:sp>
        <p:nvSpPr>
          <p:cNvPr id="20" name="TextBox 19"/>
          <p:cNvSpPr txBox="1"/>
          <p:nvPr/>
        </p:nvSpPr>
        <p:spPr>
          <a:xfrm>
            <a:off x="2970030" y="3054604"/>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internet-video</a:t>
            </a:r>
          </a:p>
        </p:txBody>
      </p:sp>
      <p:sp>
        <p:nvSpPr>
          <p:cNvPr id="21" name="TextBox 20"/>
          <p:cNvSpPr txBox="1"/>
          <p:nvPr/>
        </p:nvSpPr>
        <p:spPr>
          <a:xfrm>
            <a:off x="4655649" y="3054604"/>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1–12 h</a:t>
            </a:r>
          </a:p>
        </p:txBody>
      </p:sp>
      <p:sp>
        <p:nvSpPr>
          <p:cNvPr id="22" name="TextBox 21"/>
          <p:cNvSpPr txBox="1"/>
          <p:nvPr/>
        </p:nvSpPr>
        <p:spPr>
          <a:xfrm>
            <a:off x="5906269" y="3054604"/>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0.15 / 4.00</a:t>
            </a:r>
          </a:p>
        </p:txBody>
      </p:sp>
      <p:sp>
        <p:nvSpPr>
          <p:cNvPr id="23" name="TextBox 22"/>
          <p:cNvSpPr txBox="1"/>
          <p:nvPr/>
        </p:nvSpPr>
        <p:spPr>
          <a:xfrm>
            <a:off x="7102515" y="3054604"/>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Evening</a:t>
            </a:r>
          </a:p>
        </p:txBody>
      </p:sp>
      <p:sp>
        <p:nvSpPr>
          <p:cNvPr id="24" name="TextBox 23"/>
          <p:cNvSpPr txBox="1"/>
          <p:nvPr/>
        </p:nvSpPr>
        <p:spPr>
          <a:xfrm>
            <a:off x="8190011" y="3054604"/>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1.25</a:t>
            </a:r>
          </a:p>
        </p:txBody>
      </p:sp>
      <p:sp>
        <p:nvSpPr>
          <p:cNvPr id="25" name="TextBox 24"/>
          <p:cNvSpPr txBox="1"/>
          <p:nvPr/>
        </p:nvSpPr>
        <p:spPr>
          <a:xfrm>
            <a:off x="9005632" y="3054604"/>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Streaming to a phone</a:t>
            </a:r>
          </a:p>
        </p:txBody>
      </p:sp>
      <p:sp>
        <p:nvSpPr>
          <p:cNvPr id="26" name="Rectangle 25"/>
          <p:cNvSpPr/>
          <p:nvPr/>
        </p:nvSpPr>
        <p:spPr>
          <a:xfrm>
            <a:off x="658368" y="3221939"/>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 y="3221939"/>
            <a:ext cx="10874959" cy="2176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 y="3272231"/>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Social / live</a:t>
            </a:r>
          </a:p>
        </p:txBody>
      </p:sp>
      <p:sp>
        <p:nvSpPr>
          <p:cNvPr id="29" name="TextBox 28"/>
          <p:cNvSpPr txBox="1"/>
          <p:nvPr/>
        </p:nvSpPr>
        <p:spPr>
          <a:xfrm>
            <a:off x="2426282" y="3272231"/>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8</a:t>
            </a:r>
          </a:p>
        </p:txBody>
      </p:sp>
      <p:sp>
        <p:nvSpPr>
          <p:cNvPr id="30" name="TextBox 29"/>
          <p:cNvSpPr txBox="1"/>
          <p:nvPr/>
        </p:nvSpPr>
        <p:spPr>
          <a:xfrm>
            <a:off x="2970030" y="3272231"/>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social-live</a:t>
            </a:r>
          </a:p>
        </p:txBody>
      </p:sp>
      <p:sp>
        <p:nvSpPr>
          <p:cNvPr id="31" name="TextBox 30"/>
          <p:cNvSpPr txBox="1"/>
          <p:nvPr/>
        </p:nvSpPr>
        <p:spPr>
          <a:xfrm>
            <a:off x="4655649" y="3272231"/>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10 m–2 h</a:t>
            </a:r>
          </a:p>
        </p:txBody>
      </p:sp>
      <p:sp>
        <p:nvSpPr>
          <p:cNvPr id="32" name="TextBox 31"/>
          <p:cNvSpPr txBox="1"/>
          <p:nvPr/>
        </p:nvSpPr>
        <p:spPr>
          <a:xfrm>
            <a:off x="5906269" y="3272231"/>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2.00 / 1.00</a:t>
            </a:r>
          </a:p>
        </p:txBody>
      </p:sp>
      <p:sp>
        <p:nvSpPr>
          <p:cNvPr id="33" name="TextBox 32"/>
          <p:cNvSpPr txBox="1"/>
          <p:nvPr/>
        </p:nvSpPr>
        <p:spPr>
          <a:xfrm>
            <a:off x="7102515" y="3272231"/>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Evening</a:t>
            </a:r>
          </a:p>
        </p:txBody>
      </p:sp>
      <p:sp>
        <p:nvSpPr>
          <p:cNvPr id="34" name="TextBox 33"/>
          <p:cNvSpPr txBox="1"/>
          <p:nvPr/>
        </p:nvSpPr>
        <p:spPr>
          <a:xfrm>
            <a:off x="8190011" y="3272231"/>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1.35</a:t>
            </a:r>
          </a:p>
        </p:txBody>
      </p:sp>
      <p:sp>
        <p:nvSpPr>
          <p:cNvPr id="35" name="TextBox 34"/>
          <p:cNvSpPr txBox="1"/>
          <p:nvPr/>
        </p:nvSpPr>
        <p:spPr>
          <a:xfrm>
            <a:off x="9005632" y="3272231"/>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Uploading from a crowd</a:t>
            </a:r>
          </a:p>
        </p:txBody>
      </p:sp>
      <p:sp>
        <p:nvSpPr>
          <p:cNvPr id="36" name="Rectangle 35"/>
          <p:cNvSpPr/>
          <p:nvPr/>
        </p:nvSpPr>
        <p:spPr>
          <a:xfrm>
            <a:off x="658368" y="3439566"/>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0664" y="3489858"/>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Gaming</a:t>
            </a:r>
          </a:p>
        </p:txBody>
      </p:sp>
      <p:sp>
        <p:nvSpPr>
          <p:cNvPr id="38" name="TextBox 37"/>
          <p:cNvSpPr txBox="1"/>
          <p:nvPr/>
        </p:nvSpPr>
        <p:spPr>
          <a:xfrm>
            <a:off x="2426282" y="3489858"/>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3</a:t>
            </a:r>
          </a:p>
        </p:txBody>
      </p:sp>
      <p:sp>
        <p:nvSpPr>
          <p:cNvPr id="39" name="TextBox 38"/>
          <p:cNvSpPr txBox="1"/>
          <p:nvPr/>
        </p:nvSpPr>
        <p:spPr>
          <a:xfrm>
            <a:off x="2970030" y="3489858"/>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gaming</a:t>
            </a:r>
          </a:p>
        </p:txBody>
      </p:sp>
      <p:sp>
        <p:nvSpPr>
          <p:cNvPr id="40" name="TextBox 39"/>
          <p:cNvSpPr txBox="1"/>
          <p:nvPr/>
        </p:nvSpPr>
        <p:spPr>
          <a:xfrm>
            <a:off x="4655649" y="3489858"/>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40 m–6 h</a:t>
            </a:r>
          </a:p>
        </p:txBody>
      </p:sp>
      <p:sp>
        <p:nvSpPr>
          <p:cNvPr id="41" name="TextBox 40"/>
          <p:cNvSpPr txBox="1"/>
          <p:nvPr/>
        </p:nvSpPr>
        <p:spPr>
          <a:xfrm>
            <a:off x="5906269" y="3489858"/>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0.20 / 0.40</a:t>
            </a:r>
          </a:p>
        </p:txBody>
      </p:sp>
      <p:sp>
        <p:nvSpPr>
          <p:cNvPr id="42" name="TextBox 41"/>
          <p:cNvSpPr txBox="1"/>
          <p:nvPr/>
        </p:nvSpPr>
        <p:spPr>
          <a:xfrm>
            <a:off x="7102515" y="3489858"/>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Late</a:t>
            </a:r>
          </a:p>
        </p:txBody>
      </p:sp>
      <p:sp>
        <p:nvSpPr>
          <p:cNvPr id="43" name="TextBox 42"/>
          <p:cNvSpPr txBox="1"/>
          <p:nvPr/>
        </p:nvSpPr>
        <p:spPr>
          <a:xfrm>
            <a:off x="8190011" y="3489858"/>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1.30</a:t>
            </a:r>
          </a:p>
        </p:txBody>
      </p:sp>
      <p:sp>
        <p:nvSpPr>
          <p:cNvPr id="44" name="TextBox 43"/>
          <p:cNvSpPr txBox="1"/>
          <p:nvPr/>
        </p:nvSpPr>
        <p:spPr>
          <a:xfrm>
            <a:off x="9005632" y="3489858"/>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Latency-sensitive play</a:t>
            </a:r>
          </a:p>
        </p:txBody>
      </p:sp>
      <p:sp>
        <p:nvSpPr>
          <p:cNvPr id="45" name="Rectangle 44"/>
          <p:cNvSpPr/>
          <p:nvPr/>
        </p:nvSpPr>
        <p:spPr>
          <a:xfrm>
            <a:off x="658368" y="3657193"/>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58368" y="3657193"/>
            <a:ext cx="10874959" cy="2176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0664" y="3707485"/>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IMS voice</a:t>
            </a:r>
          </a:p>
        </p:txBody>
      </p:sp>
      <p:sp>
        <p:nvSpPr>
          <p:cNvPr id="48" name="TextBox 47"/>
          <p:cNvSpPr txBox="1"/>
          <p:nvPr/>
        </p:nvSpPr>
        <p:spPr>
          <a:xfrm>
            <a:off x="2426282" y="3707485"/>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a:t>
            </a:r>
          </a:p>
        </p:txBody>
      </p:sp>
      <p:sp>
        <p:nvSpPr>
          <p:cNvPr id="49" name="TextBox 48"/>
          <p:cNvSpPr txBox="1"/>
          <p:nvPr/>
        </p:nvSpPr>
        <p:spPr>
          <a:xfrm>
            <a:off x="2970030" y="3707485"/>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ims-voice</a:t>
            </a:r>
          </a:p>
        </p:txBody>
      </p:sp>
      <p:sp>
        <p:nvSpPr>
          <p:cNvPr id="50" name="TextBox 49"/>
          <p:cNvSpPr txBox="1"/>
          <p:nvPr/>
        </p:nvSpPr>
        <p:spPr>
          <a:xfrm>
            <a:off x="4655649" y="3707485"/>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10 m–4 h</a:t>
            </a:r>
          </a:p>
        </p:txBody>
      </p:sp>
      <p:sp>
        <p:nvSpPr>
          <p:cNvPr id="51" name="TextBox 50"/>
          <p:cNvSpPr txBox="1"/>
          <p:nvPr/>
        </p:nvSpPr>
        <p:spPr>
          <a:xfrm>
            <a:off x="5906269" y="3707485"/>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0.08 / 0.08</a:t>
            </a:r>
          </a:p>
        </p:txBody>
      </p:sp>
      <p:sp>
        <p:nvSpPr>
          <p:cNvPr id="52" name="TextBox 51"/>
          <p:cNvSpPr txBox="1"/>
          <p:nvPr/>
        </p:nvSpPr>
        <p:spPr>
          <a:xfrm>
            <a:off x="7102515" y="3707485"/>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Commute</a:t>
            </a:r>
          </a:p>
        </p:txBody>
      </p:sp>
      <p:sp>
        <p:nvSpPr>
          <p:cNvPr id="53" name="TextBox 52"/>
          <p:cNvSpPr txBox="1"/>
          <p:nvPr/>
        </p:nvSpPr>
        <p:spPr>
          <a:xfrm>
            <a:off x="8190011" y="3707485"/>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0.90</a:t>
            </a:r>
          </a:p>
        </p:txBody>
      </p:sp>
      <p:sp>
        <p:nvSpPr>
          <p:cNvPr id="54" name="TextBox 53"/>
          <p:cNvSpPr txBox="1"/>
          <p:nvPr/>
        </p:nvSpPr>
        <p:spPr>
          <a:xfrm>
            <a:off x="9005632" y="3707485"/>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Carrier voice calls</a:t>
            </a:r>
          </a:p>
        </p:txBody>
      </p:sp>
      <p:sp>
        <p:nvSpPr>
          <p:cNvPr id="55" name="Rectangle 54"/>
          <p:cNvSpPr/>
          <p:nvPr/>
        </p:nvSpPr>
        <p:spPr>
          <a:xfrm>
            <a:off x="658368" y="387482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40664" y="3925112"/>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Enterprise</a:t>
            </a:r>
          </a:p>
        </p:txBody>
      </p:sp>
      <p:sp>
        <p:nvSpPr>
          <p:cNvPr id="57" name="TextBox 56"/>
          <p:cNvSpPr txBox="1"/>
          <p:nvPr/>
        </p:nvSpPr>
        <p:spPr>
          <a:xfrm>
            <a:off x="2426282" y="3925112"/>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7</a:t>
            </a:r>
          </a:p>
        </p:txBody>
      </p:sp>
      <p:sp>
        <p:nvSpPr>
          <p:cNvPr id="58" name="TextBox 57"/>
          <p:cNvSpPr txBox="1"/>
          <p:nvPr/>
        </p:nvSpPr>
        <p:spPr>
          <a:xfrm>
            <a:off x="2970030" y="3925112"/>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enterprise</a:t>
            </a:r>
          </a:p>
        </p:txBody>
      </p:sp>
      <p:sp>
        <p:nvSpPr>
          <p:cNvPr id="59" name="TextBox 58"/>
          <p:cNvSpPr txBox="1"/>
          <p:nvPr/>
        </p:nvSpPr>
        <p:spPr>
          <a:xfrm>
            <a:off x="4655649" y="3925112"/>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30 m–8 h</a:t>
            </a:r>
          </a:p>
        </p:txBody>
      </p:sp>
      <p:sp>
        <p:nvSpPr>
          <p:cNvPr id="60" name="TextBox 59"/>
          <p:cNvSpPr txBox="1"/>
          <p:nvPr/>
        </p:nvSpPr>
        <p:spPr>
          <a:xfrm>
            <a:off x="5906269" y="3925112"/>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1.00 / 2.00</a:t>
            </a:r>
          </a:p>
        </p:txBody>
      </p:sp>
      <p:sp>
        <p:nvSpPr>
          <p:cNvPr id="61" name="TextBox 60"/>
          <p:cNvSpPr txBox="1"/>
          <p:nvPr/>
        </p:nvSpPr>
        <p:spPr>
          <a:xfrm>
            <a:off x="7102515" y="3925112"/>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Business</a:t>
            </a:r>
          </a:p>
        </p:txBody>
      </p:sp>
      <p:sp>
        <p:nvSpPr>
          <p:cNvPr id="62" name="TextBox 61"/>
          <p:cNvSpPr txBox="1"/>
          <p:nvPr/>
        </p:nvSpPr>
        <p:spPr>
          <a:xfrm>
            <a:off x="8190011" y="3925112"/>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0.45</a:t>
            </a:r>
          </a:p>
        </p:txBody>
      </p:sp>
      <p:sp>
        <p:nvSpPr>
          <p:cNvPr id="63" name="TextBox 62"/>
          <p:cNvSpPr txBox="1"/>
          <p:nvPr/>
        </p:nvSpPr>
        <p:spPr>
          <a:xfrm>
            <a:off x="9005632" y="3925112"/>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Office VPN and web</a:t>
            </a:r>
          </a:p>
        </p:txBody>
      </p:sp>
      <p:sp>
        <p:nvSpPr>
          <p:cNvPr id="64" name="Rectangle 63"/>
          <p:cNvSpPr/>
          <p:nvPr/>
        </p:nvSpPr>
        <p:spPr>
          <a:xfrm>
            <a:off x="658368" y="409244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58368" y="4092447"/>
            <a:ext cx="10874959" cy="2176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40664" y="4142739"/>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Video conference</a:t>
            </a:r>
          </a:p>
        </p:txBody>
      </p:sp>
      <p:sp>
        <p:nvSpPr>
          <p:cNvPr id="67" name="TextBox 66"/>
          <p:cNvSpPr txBox="1"/>
          <p:nvPr/>
        </p:nvSpPr>
        <p:spPr>
          <a:xfrm>
            <a:off x="2426282" y="4142739"/>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2</a:t>
            </a:r>
          </a:p>
        </p:txBody>
      </p:sp>
      <p:sp>
        <p:nvSpPr>
          <p:cNvPr id="68" name="TextBox 67"/>
          <p:cNvSpPr txBox="1"/>
          <p:nvPr/>
        </p:nvSpPr>
        <p:spPr>
          <a:xfrm>
            <a:off x="2970030" y="4142739"/>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enterprise-rtc</a:t>
            </a:r>
          </a:p>
        </p:txBody>
      </p:sp>
      <p:sp>
        <p:nvSpPr>
          <p:cNvPr id="69" name="TextBox 68"/>
          <p:cNvSpPr txBox="1"/>
          <p:nvPr/>
        </p:nvSpPr>
        <p:spPr>
          <a:xfrm>
            <a:off x="4655649" y="4142739"/>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30 m–6 h</a:t>
            </a:r>
          </a:p>
        </p:txBody>
      </p:sp>
      <p:sp>
        <p:nvSpPr>
          <p:cNvPr id="70" name="TextBox 69"/>
          <p:cNvSpPr txBox="1"/>
          <p:nvPr/>
        </p:nvSpPr>
        <p:spPr>
          <a:xfrm>
            <a:off x="5906269" y="4142739"/>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1.50 / 1.50</a:t>
            </a:r>
          </a:p>
        </p:txBody>
      </p:sp>
      <p:sp>
        <p:nvSpPr>
          <p:cNvPr id="71" name="TextBox 70"/>
          <p:cNvSpPr txBox="1"/>
          <p:nvPr/>
        </p:nvSpPr>
        <p:spPr>
          <a:xfrm>
            <a:off x="7102515" y="4142739"/>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Business</a:t>
            </a:r>
          </a:p>
        </p:txBody>
      </p:sp>
      <p:sp>
        <p:nvSpPr>
          <p:cNvPr id="72" name="TextBox 71"/>
          <p:cNvSpPr txBox="1"/>
          <p:nvPr/>
        </p:nvSpPr>
        <p:spPr>
          <a:xfrm>
            <a:off x="8190011" y="4142739"/>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0.50</a:t>
            </a:r>
          </a:p>
        </p:txBody>
      </p:sp>
      <p:sp>
        <p:nvSpPr>
          <p:cNvPr id="73" name="TextBox 72"/>
          <p:cNvSpPr txBox="1"/>
          <p:nvPr/>
        </p:nvSpPr>
        <p:spPr>
          <a:xfrm>
            <a:off x="9005632" y="4142739"/>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Symmetric real-time</a:t>
            </a:r>
          </a:p>
        </p:txBody>
      </p:sp>
      <p:sp>
        <p:nvSpPr>
          <p:cNvPr id="74" name="Rectangle 73"/>
          <p:cNvSpPr/>
          <p:nvPr/>
        </p:nvSpPr>
        <p:spPr>
          <a:xfrm>
            <a:off x="658368" y="4310075"/>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40664" y="4360367"/>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Industrial URLLC</a:t>
            </a:r>
          </a:p>
        </p:txBody>
      </p:sp>
      <p:sp>
        <p:nvSpPr>
          <p:cNvPr id="76" name="TextBox 75"/>
          <p:cNvSpPr txBox="1"/>
          <p:nvPr/>
        </p:nvSpPr>
        <p:spPr>
          <a:xfrm>
            <a:off x="2426282" y="4360367"/>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82</a:t>
            </a:r>
          </a:p>
        </p:txBody>
      </p:sp>
      <p:sp>
        <p:nvSpPr>
          <p:cNvPr id="77" name="TextBox 76"/>
          <p:cNvSpPr txBox="1"/>
          <p:nvPr/>
        </p:nvSpPr>
        <p:spPr>
          <a:xfrm>
            <a:off x="2970030" y="4360367"/>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factory-control</a:t>
            </a:r>
          </a:p>
        </p:txBody>
      </p:sp>
      <p:sp>
        <p:nvSpPr>
          <p:cNvPr id="78" name="TextBox 77"/>
          <p:cNvSpPr txBox="1"/>
          <p:nvPr/>
        </p:nvSpPr>
        <p:spPr>
          <a:xfrm>
            <a:off x="4655649" y="4360367"/>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4–24 h</a:t>
            </a:r>
          </a:p>
        </p:txBody>
      </p:sp>
      <p:sp>
        <p:nvSpPr>
          <p:cNvPr id="79" name="TextBox 78"/>
          <p:cNvSpPr txBox="1"/>
          <p:nvPr/>
        </p:nvSpPr>
        <p:spPr>
          <a:xfrm>
            <a:off x="5906269" y="4360367"/>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0.10 / 0.08</a:t>
            </a:r>
          </a:p>
        </p:txBody>
      </p:sp>
      <p:sp>
        <p:nvSpPr>
          <p:cNvPr id="80" name="TextBox 79"/>
          <p:cNvSpPr txBox="1"/>
          <p:nvPr/>
        </p:nvSpPr>
        <p:spPr>
          <a:xfrm>
            <a:off x="7102515" y="4360367"/>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Industrial</a:t>
            </a:r>
          </a:p>
        </p:txBody>
      </p:sp>
      <p:sp>
        <p:nvSpPr>
          <p:cNvPr id="81" name="TextBox 80"/>
          <p:cNvSpPr txBox="1"/>
          <p:nvPr/>
        </p:nvSpPr>
        <p:spPr>
          <a:xfrm>
            <a:off x="8190011" y="4360367"/>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0.75</a:t>
            </a:r>
          </a:p>
        </p:txBody>
      </p:sp>
      <p:sp>
        <p:nvSpPr>
          <p:cNvPr id="82" name="TextBox 81"/>
          <p:cNvSpPr txBox="1"/>
          <p:nvPr/>
        </p:nvSpPr>
        <p:spPr>
          <a:xfrm>
            <a:off x="9005632" y="4360367"/>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Machine control loops</a:t>
            </a:r>
          </a:p>
        </p:txBody>
      </p:sp>
      <p:sp>
        <p:nvSpPr>
          <p:cNvPr id="83" name="Rectangle 82"/>
          <p:cNvSpPr/>
          <p:nvPr/>
        </p:nvSpPr>
        <p:spPr>
          <a:xfrm>
            <a:off x="658368" y="452770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58368" y="4527702"/>
            <a:ext cx="10874959" cy="2176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40664" y="4577994"/>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Massive IoT</a:t>
            </a:r>
          </a:p>
        </p:txBody>
      </p:sp>
      <p:sp>
        <p:nvSpPr>
          <p:cNvPr id="86" name="TextBox 85"/>
          <p:cNvSpPr txBox="1"/>
          <p:nvPr/>
        </p:nvSpPr>
        <p:spPr>
          <a:xfrm>
            <a:off x="2426282" y="4577994"/>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9</a:t>
            </a:r>
          </a:p>
        </p:txBody>
      </p:sp>
      <p:sp>
        <p:nvSpPr>
          <p:cNvPr id="87" name="TextBox 86"/>
          <p:cNvSpPr txBox="1"/>
          <p:nvPr/>
        </p:nvSpPr>
        <p:spPr>
          <a:xfrm>
            <a:off x="2970030" y="4577994"/>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mmtc</a:t>
            </a:r>
          </a:p>
        </p:txBody>
      </p:sp>
      <p:sp>
        <p:nvSpPr>
          <p:cNvPr id="88" name="TextBox 87"/>
          <p:cNvSpPr txBox="1"/>
          <p:nvPr/>
        </p:nvSpPr>
        <p:spPr>
          <a:xfrm>
            <a:off x="4655649" y="4577994"/>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6–48 h</a:t>
            </a:r>
          </a:p>
        </p:txBody>
      </p:sp>
      <p:sp>
        <p:nvSpPr>
          <p:cNvPr id="89" name="TextBox 88"/>
          <p:cNvSpPr txBox="1"/>
          <p:nvPr/>
        </p:nvSpPr>
        <p:spPr>
          <a:xfrm>
            <a:off x="5906269" y="4577994"/>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0.020 / 0.004</a:t>
            </a:r>
          </a:p>
        </p:txBody>
      </p:sp>
      <p:sp>
        <p:nvSpPr>
          <p:cNvPr id="90" name="TextBox 89"/>
          <p:cNvSpPr txBox="1"/>
          <p:nvPr/>
        </p:nvSpPr>
        <p:spPr>
          <a:xfrm>
            <a:off x="7102515" y="4577994"/>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Flat</a:t>
            </a:r>
          </a:p>
        </p:txBody>
      </p:sp>
      <p:sp>
        <p:nvSpPr>
          <p:cNvPr id="91" name="TextBox 90"/>
          <p:cNvSpPr txBox="1"/>
          <p:nvPr/>
        </p:nvSpPr>
        <p:spPr>
          <a:xfrm>
            <a:off x="8190011" y="4577994"/>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1.00</a:t>
            </a:r>
          </a:p>
        </p:txBody>
      </p:sp>
      <p:sp>
        <p:nvSpPr>
          <p:cNvPr id="92" name="TextBox 91"/>
          <p:cNvSpPr txBox="1"/>
          <p:nvPr/>
        </p:nvSpPr>
        <p:spPr>
          <a:xfrm>
            <a:off x="9005632" y="4577994"/>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Meters and sensors</a:t>
            </a:r>
          </a:p>
        </p:txBody>
      </p:sp>
      <p:sp>
        <p:nvSpPr>
          <p:cNvPr id="93" name="Rectangle 92"/>
          <p:cNvSpPr/>
          <p:nvPr/>
        </p:nvSpPr>
        <p:spPr>
          <a:xfrm>
            <a:off x="658368" y="4745329"/>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40664" y="4795621"/>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Connected vehicle</a:t>
            </a:r>
          </a:p>
        </p:txBody>
      </p:sp>
      <p:sp>
        <p:nvSpPr>
          <p:cNvPr id="95" name="TextBox 94"/>
          <p:cNvSpPr txBox="1"/>
          <p:nvPr/>
        </p:nvSpPr>
        <p:spPr>
          <a:xfrm>
            <a:off x="2426282" y="4795621"/>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84</a:t>
            </a:r>
          </a:p>
        </p:txBody>
      </p:sp>
      <p:sp>
        <p:nvSpPr>
          <p:cNvPr id="96" name="TextBox 95"/>
          <p:cNvSpPr txBox="1"/>
          <p:nvPr/>
        </p:nvSpPr>
        <p:spPr>
          <a:xfrm>
            <a:off x="2970030" y="4795621"/>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v2x</a:t>
            </a:r>
          </a:p>
        </p:txBody>
      </p:sp>
      <p:sp>
        <p:nvSpPr>
          <p:cNvPr id="97" name="TextBox 96"/>
          <p:cNvSpPr txBox="1"/>
          <p:nvPr/>
        </p:nvSpPr>
        <p:spPr>
          <a:xfrm>
            <a:off x="4655649" y="4795621"/>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5 m–1 h</a:t>
            </a:r>
          </a:p>
        </p:txBody>
      </p:sp>
      <p:sp>
        <p:nvSpPr>
          <p:cNvPr id="98" name="TextBox 97"/>
          <p:cNvSpPr txBox="1"/>
          <p:nvPr/>
        </p:nvSpPr>
        <p:spPr>
          <a:xfrm>
            <a:off x="5906269" y="4795621"/>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0.50 / 1.00</a:t>
            </a:r>
          </a:p>
        </p:txBody>
      </p:sp>
      <p:sp>
        <p:nvSpPr>
          <p:cNvPr id="99" name="TextBox 98"/>
          <p:cNvSpPr txBox="1"/>
          <p:nvPr/>
        </p:nvSpPr>
        <p:spPr>
          <a:xfrm>
            <a:off x="7102515" y="4795621"/>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Commute</a:t>
            </a:r>
          </a:p>
        </p:txBody>
      </p:sp>
      <p:sp>
        <p:nvSpPr>
          <p:cNvPr id="100" name="TextBox 99"/>
          <p:cNvSpPr txBox="1"/>
          <p:nvPr/>
        </p:nvSpPr>
        <p:spPr>
          <a:xfrm>
            <a:off x="8190011" y="4795621"/>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0.80</a:t>
            </a:r>
          </a:p>
        </p:txBody>
      </p:sp>
      <p:sp>
        <p:nvSpPr>
          <p:cNvPr id="101" name="TextBox 100"/>
          <p:cNvSpPr txBox="1"/>
          <p:nvPr/>
        </p:nvSpPr>
        <p:spPr>
          <a:xfrm>
            <a:off x="9005632" y="4795621"/>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V2X telemetry</a:t>
            </a:r>
          </a:p>
        </p:txBody>
      </p:sp>
      <p:sp>
        <p:nvSpPr>
          <p:cNvPr id="102" name="Rectangle 101"/>
          <p:cNvSpPr/>
          <p:nvPr/>
        </p:nvSpPr>
        <p:spPr>
          <a:xfrm>
            <a:off x="658368" y="4962956"/>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58368" y="4962956"/>
            <a:ext cx="10874959" cy="2176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40664" y="5013248"/>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Edge AI</a:t>
            </a:r>
          </a:p>
        </p:txBody>
      </p:sp>
      <p:sp>
        <p:nvSpPr>
          <p:cNvPr id="105" name="TextBox 104"/>
          <p:cNvSpPr txBox="1"/>
          <p:nvPr/>
        </p:nvSpPr>
        <p:spPr>
          <a:xfrm>
            <a:off x="2426282" y="5013248"/>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7</a:t>
            </a:r>
          </a:p>
        </p:txBody>
      </p:sp>
      <p:sp>
        <p:nvSpPr>
          <p:cNvPr id="106" name="TextBox 105"/>
          <p:cNvSpPr txBox="1"/>
          <p:nvPr/>
        </p:nvSpPr>
        <p:spPr>
          <a:xfrm>
            <a:off x="2970030" y="5013248"/>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edge-inference</a:t>
            </a:r>
          </a:p>
        </p:txBody>
      </p:sp>
      <p:sp>
        <p:nvSpPr>
          <p:cNvPr id="107" name="TextBox 106"/>
          <p:cNvSpPr txBox="1"/>
          <p:nvPr/>
        </p:nvSpPr>
        <p:spPr>
          <a:xfrm>
            <a:off x="4655649" y="5013248"/>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10 m–2 h</a:t>
            </a:r>
          </a:p>
        </p:txBody>
      </p:sp>
      <p:sp>
        <p:nvSpPr>
          <p:cNvPr id="108" name="TextBox 107"/>
          <p:cNvSpPr txBox="1"/>
          <p:nvPr/>
        </p:nvSpPr>
        <p:spPr>
          <a:xfrm>
            <a:off x="5906269" y="5013248"/>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3.00 / 6.00</a:t>
            </a:r>
          </a:p>
        </p:txBody>
      </p:sp>
      <p:sp>
        <p:nvSpPr>
          <p:cNvPr id="109" name="TextBox 108"/>
          <p:cNvSpPr txBox="1"/>
          <p:nvPr/>
        </p:nvSpPr>
        <p:spPr>
          <a:xfrm>
            <a:off x="7102515" y="5013248"/>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Business</a:t>
            </a:r>
          </a:p>
        </p:txBody>
      </p:sp>
      <p:sp>
        <p:nvSpPr>
          <p:cNvPr id="110" name="TextBox 109"/>
          <p:cNvSpPr txBox="1"/>
          <p:nvPr/>
        </p:nvSpPr>
        <p:spPr>
          <a:xfrm>
            <a:off x="8190011" y="5013248"/>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0.70</a:t>
            </a:r>
          </a:p>
        </p:txBody>
      </p:sp>
      <p:sp>
        <p:nvSpPr>
          <p:cNvPr id="111" name="TextBox 110"/>
          <p:cNvSpPr txBox="1"/>
          <p:nvPr/>
        </p:nvSpPr>
        <p:spPr>
          <a:xfrm>
            <a:off x="9005632" y="5013248"/>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Inference at the edge</a:t>
            </a:r>
          </a:p>
        </p:txBody>
      </p:sp>
      <p:sp>
        <p:nvSpPr>
          <p:cNvPr id="112" name="Rectangle 111"/>
          <p:cNvSpPr/>
          <p:nvPr/>
        </p:nvSpPr>
        <p:spPr>
          <a:xfrm>
            <a:off x="658368" y="5180583"/>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40664" y="5230875"/>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Cloud backup</a:t>
            </a:r>
          </a:p>
        </p:txBody>
      </p:sp>
      <p:sp>
        <p:nvSpPr>
          <p:cNvPr id="114" name="TextBox 113"/>
          <p:cNvSpPr txBox="1"/>
          <p:nvPr/>
        </p:nvSpPr>
        <p:spPr>
          <a:xfrm>
            <a:off x="2426282" y="5230875"/>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9</a:t>
            </a:r>
          </a:p>
        </p:txBody>
      </p:sp>
      <p:sp>
        <p:nvSpPr>
          <p:cNvPr id="115" name="TextBox 114"/>
          <p:cNvSpPr txBox="1"/>
          <p:nvPr/>
        </p:nvSpPr>
        <p:spPr>
          <a:xfrm>
            <a:off x="2970030" y="5230875"/>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enterprise-backup</a:t>
            </a:r>
          </a:p>
        </p:txBody>
      </p:sp>
      <p:sp>
        <p:nvSpPr>
          <p:cNvPr id="116" name="TextBox 115"/>
          <p:cNvSpPr txBox="1"/>
          <p:nvPr/>
        </p:nvSpPr>
        <p:spPr>
          <a:xfrm>
            <a:off x="4655649" y="5230875"/>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1–12 h</a:t>
            </a:r>
          </a:p>
        </p:txBody>
      </p:sp>
      <p:sp>
        <p:nvSpPr>
          <p:cNvPr id="117" name="TextBox 116"/>
          <p:cNvSpPr txBox="1"/>
          <p:nvPr/>
        </p:nvSpPr>
        <p:spPr>
          <a:xfrm>
            <a:off x="5906269" y="5230875"/>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8.00 / 2.00</a:t>
            </a:r>
          </a:p>
        </p:txBody>
      </p:sp>
      <p:sp>
        <p:nvSpPr>
          <p:cNvPr id="118" name="TextBox 117"/>
          <p:cNvSpPr txBox="1"/>
          <p:nvPr/>
        </p:nvSpPr>
        <p:spPr>
          <a:xfrm>
            <a:off x="7102515" y="5230875"/>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Overnight</a:t>
            </a:r>
          </a:p>
        </p:txBody>
      </p:sp>
      <p:sp>
        <p:nvSpPr>
          <p:cNvPr id="119" name="TextBox 118"/>
          <p:cNvSpPr txBox="1"/>
          <p:nvPr/>
        </p:nvSpPr>
        <p:spPr>
          <a:xfrm>
            <a:off x="8190011" y="5230875"/>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1.15</a:t>
            </a:r>
          </a:p>
        </p:txBody>
      </p:sp>
      <p:sp>
        <p:nvSpPr>
          <p:cNvPr id="120" name="TextBox 119"/>
          <p:cNvSpPr txBox="1"/>
          <p:nvPr/>
        </p:nvSpPr>
        <p:spPr>
          <a:xfrm>
            <a:off x="9005632" y="5230875"/>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Bulk upload</a:t>
            </a:r>
          </a:p>
        </p:txBody>
      </p:sp>
      <p:sp>
        <p:nvSpPr>
          <p:cNvPr id="121" name="Rectangle 120"/>
          <p:cNvSpPr/>
          <p:nvPr/>
        </p:nvSpPr>
        <p:spPr>
          <a:xfrm>
            <a:off x="658368" y="539821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658368" y="5398211"/>
            <a:ext cx="10874959" cy="2176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40664" y="5448503"/>
            <a:ext cx="1521026" cy="162763"/>
          </a:xfrm>
          <a:prstGeom prst="rect">
            <a:avLst/>
          </a:prstGeom>
          <a:noFill/>
        </p:spPr>
        <p:txBody>
          <a:bodyPr wrap="square" anchor="t" lIns="0" rIns="0" tIns="0" bIns="0">
            <a:spAutoFit/>
          </a:bodyPr>
          <a:lstStyle/>
          <a:p>
            <a:pPr algn="l">
              <a:lnSpc>
                <a:spcPct val="112000"/>
              </a:lnSpc>
            </a:pPr>
            <a:r>
              <a:rPr sz="929" b="1" i="0">
                <a:solidFill>
                  <a:srgbClr val="111721"/>
                </a:solidFill>
                <a:latin typeface="Segoe UI"/>
              </a:rPr>
              <a:t>Public safety</a:t>
            </a:r>
          </a:p>
        </p:txBody>
      </p:sp>
      <p:sp>
        <p:nvSpPr>
          <p:cNvPr id="124" name="TextBox 123"/>
          <p:cNvSpPr txBox="1"/>
          <p:nvPr/>
        </p:nvSpPr>
        <p:spPr>
          <a:xfrm>
            <a:off x="2426282" y="5448503"/>
            <a:ext cx="379155"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65</a:t>
            </a:r>
          </a:p>
        </p:txBody>
      </p:sp>
      <p:sp>
        <p:nvSpPr>
          <p:cNvPr id="125" name="TextBox 124"/>
          <p:cNvSpPr txBox="1"/>
          <p:nvPr/>
        </p:nvSpPr>
        <p:spPr>
          <a:xfrm>
            <a:off x="2970030" y="5448503"/>
            <a:ext cx="1521026"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mission-critical</a:t>
            </a:r>
          </a:p>
        </p:txBody>
      </p:sp>
      <p:sp>
        <p:nvSpPr>
          <p:cNvPr id="126" name="TextBox 125"/>
          <p:cNvSpPr txBox="1"/>
          <p:nvPr/>
        </p:nvSpPr>
        <p:spPr>
          <a:xfrm>
            <a:off x="4655649" y="5448503"/>
            <a:ext cx="1086028"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20 m–3 h</a:t>
            </a:r>
          </a:p>
        </p:txBody>
      </p:sp>
      <p:sp>
        <p:nvSpPr>
          <p:cNvPr id="127" name="TextBox 126"/>
          <p:cNvSpPr txBox="1"/>
          <p:nvPr/>
        </p:nvSpPr>
        <p:spPr>
          <a:xfrm>
            <a:off x="5906269" y="5448503"/>
            <a:ext cx="1031653"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2.00 / 2.00</a:t>
            </a:r>
          </a:p>
        </p:txBody>
      </p:sp>
      <p:sp>
        <p:nvSpPr>
          <p:cNvPr id="128" name="TextBox 127"/>
          <p:cNvSpPr txBox="1"/>
          <p:nvPr/>
        </p:nvSpPr>
        <p:spPr>
          <a:xfrm>
            <a:off x="7102515" y="5448503"/>
            <a:ext cx="922903"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Flat</a:t>
            </a:r>
          </a:p>
        </p:txBody>
      </p:sp>
      <p:sp>
        <p:nvSpPr>
          <p:cNvPr id="129" name="TextBox 128"/>
          <p:cNvSpPr txBox="1"/>
          <p:nvPr/>
        </p:nvSpPr>
        <p:spPr>
          <a:xfrm>
            <a:off x="8190011" y="5448503"/>
            <a:ext cx="651029" cy="162763"/>
          </a:xfrm>
          <a:prstGeom prst="rect">
            <a:avLst/>
          </a:prstGeom>
          <a:noFill/>
        </p:spPr>
        <p:txBody>
          <a:bodyPr wrap="square" anchor="t" lIns="0" rIns="0" tIns="0" bIns="0">
            <a:spAutoFit/>
          </a:bodyPr>
          <a:lstStyle/>
          <a:p>
            <a:pPr algn="r">
              <a:lnSpc>
                <a:spcPct val="112000"/>
              </a:lnSpc>
            </a:pPr>
            <a:r>
              <a:rPr sz="910" b="0" i="0">
                <a:solidFill>
                  <a:srgbClr val="3C4653"/>
                </a:solidFill>
                <a:latin typeface="Consolas"/>
              </a:rPr>
              <a:t>1.00</a:t>
            </a:r>
          </a:p>
        </p:txBody>
      </p:sp>
      <p:sp>
        <p:nvSpPr>
          <p:cNvPr id="130" name="TextBox 129"/>
          <p:cNvSpPr txBox="1"/>
          <p:nvPr/>
        </p:nvSpPr>
        <p:spPr>
          <a:xfrm>
            <a:off x="9005632" y="5448503"/>
            <a:ext cx="2445398" cy="162763"/>
          </a:xfrm>
          <a:prstGeom prst="rect">
            <a:avLst/>
          </a:prstGeom>
          <a:noFill/>
        </p:spPr>
        <p:txBody>
          <a:bodyPr wrap="square" anchor="t" lIns="0" rIns="0" tIns="0" bIns="0">
            <a:spAutoFit/>
          </a:bodyPr>
          <a:lstStyle/>
          <a:p>
            <a:pPr algn="l">
              <a:lnSpc>
                <a:spcPct val="112000"/>
              </a:lnSpc>
            </a:pPr>
            <a:r>
              <a:rPr sz="910" b="0" i="0">
                <a:solidFill>
                  <a:srgbClr val="3C4653"/>
                </a:solidFill>
                <a:latin typeface="Segoe UI"/>
              </a:rPr>
              <a:t>Mission-critical push</a:t>
            </a:r>
          </a:p>
        </p:txBody>
      </p:sp>
      <p:sp>
        <p:nvSpPr>
          <p:cNvPr id="131" name="Rectangle 130"/>
          <p:cNvSpPr/>
          <p:nvPr/>
        </p:nvSpPr>
        <p:spPr>
          <a:xfrm>
            <a:off x="658368" y="5615838"/>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658368" y="2729992"/>
            <a:ext cx="10874959" cy="2885846"/>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58368" y="5729224"/>
            <a:ext cx="10874959" cy="548640"/>
          </a:xfrm>
          <a:prstGeom prst="rect">
            <a:avLst/>
          </a:prstGeom>
          <a:noFill/>
        </p:spPr>
        <p:txBody>
          <a:bodyPr wrap="square" anchor="t" lIns="0" rIns="0" tIns="0" bIns="0">
            <a:spAutoFit/>
          </a:bodyPr>
          <a:lstStyle/>
          <a:p>
            <a:pPr algn="l">
              <a:lnSpc>
                <a:spcPct val="140000"/>
              </a:lnSpc>
            </a:pPr>
            <a:r>
              <a:rPr sz="1019" b="0" i="0">
                <a:solidFill>
                  <a:srgbClr val="6C7683"/>
                </a:solidFill>
                <a:latin typeface="Segoe UI"/>
              </a:rPr>
              <a:t>Eight areas × twelve classes = 96 traffic groups. The steering key is (area, data network, slice); 5QI is carried as descriptive metadata because it is not assumed to be a UPF-selection key. Base arrival rates run from 22.4 sessions per 30 s (cloud backup) to 448 (massive IoT) per group.</a:t>
            </a:r>
          </a:p>
        </p:txBody>
      </p:sp>
      <p:sp>
        <p:nvSpPr>
          <p:cNvPr id="134" name="TextBox 133"/>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PLAIN ENGLISH · TRAFFIC MODEL</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The mathematics is four familiar ideas stacked together</a:t>
            </a:r>
          </a:p>
        </p:txBody>
      </p:sp>
      <p:sp>
        <p:nvSpPr>
          <p:cNvPr id="5" name="TextBox 4"/>
          <p:cNvSpPr txBox="1"/>
          <p:nvPr/>
        </p:nvSpPr>
        <p:spPr>
          <a:xfrm>
            <a:off x="658368" y="1417320"/>
            <a:ext cx="10872216" cy="475488"/>
          </a:xfrm>
          <a:prstGeom prst="rect">
            <a:avLst/>
          </a:prstGeom>
          <a:noFill/>
        </p:spPr>
        <p:txBody>
          <a:bodyPr wrap="square" lIns="0" rIns="0" tIns="0" bIns="0" anchor="t">
            <a:spAutoFit/>
          </a:bodyPr>
          <a:lstStyle/>
          <a:p>
            <a:pPr algn="l">
              <a:lnSpc>
                <a:spcPct val="120000"/>
              </a:lnSpc>
            </a:pPr>
            <a:r>
              <a:rPr sz="1250" b="0">
                <a:solidFill>
                  <a:srgbClr val="3C4653"/>
                </a:solidFill>
                <a:latin typeface="Segoe UI"/>
              </a:rPr>
              <a:t>The formula on the next slide is bookkeeping, not magic. Read it from left to right.</a:t>
            </a:r>
          </a:p>
        </p:txBody>
      </p:sp>
      <p:sp>
        <p:nvSpPr>
          <p:cNvPr id="6" name="Rectangle 5"/>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01 · THE SIMULATOR</a:t>
            </a:r>
          </a:p>
        </p:txBody>
      </p:sp>
      <p:sp>
        <p:nvSpPr>
          <p:cNvPr id="8" name="TextBox 7"/>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16</a:t>
            </a:r>
          </a:p>
        </p:txBody>
      </p:sp>
      <p:sp>
        <p:nvSpPr>
          <p:cNvPr id="9" name="Rectangle 8"/>
          <p:cNvSpPr/>
          <p:nvPr/>
        </p:nvSpPr>
        <p:spPr>
          <a:xfrm>
            <a:off x="658368" y="2048256"/>
            <a:ext cx="5321808" cy="1664208"/>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048256"/>
            <a:ext cx="45720" cy="16642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2194560"/>
            <a:ext cx="4919472" cy="182880"/>
          </a:xfrm>
          <a:prstGeom prst="rect">
            <a:avLst/>
          </a:prstGeom>
          <a:noFill/>
        </p:spPr>
        <p:txBody>
          <a:bodyPr wrap="square" lIns="0" rIns="0" tIns="0" bIns="0" anchor="t">
            <a:spAutoFit/>
          </a:bodyPr>
          <a:lstStyle/>
          <a:p>
            <a:pPr algn="l">
              <a:lnSpc>
                <a:spcPct val="100000"/>
              </a:lnSpc>
            </a:pPr>
            <a:r>
              <a:rPr sz="880" b="1">
                <a:solidFill>
                  <a:srgbClr val="0F4C5C"/>
                </a:solidFill>
                <a:latin typeface="Consolas"/>
              </a:rPr>
              <a:t>01 · BASELINE</a:t>
            </a:r>
          </a:p>
        </p:txBody>
      </p:sp>
      <p:sp>
        <p:nvSpPr>
          <p:cNvPr id="12" name="TextBox 11"/>
          <p:cNvSpPr txBox="1"/>
          <p:nvPr/>
        </p:nvSpPr>
        <p:spPr>
          <a:xfrm>
            <a:off x="859536" y="2441448"/>
            <a:ext cx="4919472" cy="310896"/>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How busy is this service normally?</a:t>
            </a:r>
          </a:p>
        </p:txBody>
      </p:sp>
      <p:sp>
        <p:nvSpPr>
          <p:cNvPr id="13" name="TextBox 12"/>
          <p:cNvSpPr txBox="1"/>
          <p:nvPr/>
        </p:nvSpPr>
        <p:spPr>
          <a:xfrm>
            <a:off x="859536" y="2807208"/>
            <a:ext cx="4919472" cy="768096"/>
          </a:xfrm>
          <a:prstGeom prst="rect">
            <a:avLst/>
          </a:prstGeom>
          <a:noFill/>
        </p:spPr>
        <p:txBody>
          <a:bodyPr wrap="square" lIns="0" rIns="0" tIns="0" bIns="0" anchor="t">
            <a:spAutoFit/>
          </a:bodyPr>
          <a:lstStyle/>
          <a:p>
            <a:pPr algn="l">
              <a:lnSpc>
                <a:spcPct val="116000"/>
              </a:lnSpc>
            </a:pPr>
            <a:r>
              <a:rPr sz="1080" b="0">
                <a:solidFill>
                  <a:srgbClr val="3C4653"/>
                </a:solidFill>
                <a:latin typeface="Segoe UI"/>
              </a:rPr>
              <a:t>Each area and service class starts with an average session-arrival rate. This fixes the scale, not the exact future.</a:t>
            </a:r>
          </a:p>
        </p:txBody>
      </p:sp>
      <p:sp>
        <p:nvSpPr>
          <p:cNvPr id="14" name="Rectangle 13"/>
          <p:cNvSpPr/>
          <p:nvPr/>
        </p:nvSpPr>
        <p:spPr>
          <a:xfrm>
            <a:off x="6190488" y="2048256"/>
            <a:ext cx="5321808" cy="1664208"/>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0488" y="2048256"/>
            <a:ext cx="45720" cy="16642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655" y="2194560"/>
            <a:ext cx="4919472" cy="182880"/>
          </a:xfrm>
          <a:prstGeom prst="rect">
            <a:avLst/>
          </a:prstGeom>
          <a:noFill/>
        </p:spPr>
        <p:txBody>
          <a:bodyPr wrap="square" lIns="0" rIns="0" tIns="0" bIns="0" anchor="t">
            <a:spAutoFit/>
          </a:bodyPr>
          <a:lstStyle/>
          <a:p>
            <a:pPr algn="l">
              <a:lnSpc>
                <a:spcPct val="100000"/>
              </a:lnSpc>
            </a:pPr>
            <a:r>
              <a:rPr sz="880" b="1">
                <a:solidFill>
                  <a:srgbClr val="0F4C5C"/>
                </a:solidFill>
                <a:latin typeface="Consolas"/>
              </a:rPr>
              <a:t>02 · SHAPE</a:t>
            </a:r>
          </a:p>
        </p:txBody>
      </p:sp>
      <p:sp>
        <p:nvSpPr>
          <p:cNvPr id="17" name="TextBox 16"/>
          <p:cNvSpPr txBox="1"/>
          <p:nvPr/>
        </p:nvSpPr>
        <p:spPr>
          <a:xfrm>
            <a:off x="6391655" y="2441448"/>
            <a:ext cx="4919472" cy="310896"/>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What time and day is it?</a:t>
            </a:r>
          </a:p>
        </p:txBody>
      </p:sp>
      <p:sp>
        <p:nvSpPr>
          <p:cNvPr id="18" name="TextBox 17"/>
          <p:cNvSpPr txBox="1"/>
          <p:nvPr/>
        </p:nvSpPr>
        <p:spPr>
          <a:xfrm>
            <a:off x="6391655" y="2807208"/>
            <a:ext cx="4919472" cy="768096"/>
          </a:xfrm>
          <a:prstGeom prst="rect">
            <a:avLst/>
          </a:prstGeom>
          <a:noFill/>
        </p:spPr>
        <p:txBody>
          <a:bodyPr wrap="square" lIns="0" rIns="0" tIns="0" bIns="0" anchor="t">
            <a:spAutoFit/>
          </a:bodyPr>
          <a:lstStyle/>
          <a:p>
            <a:pPr algn="l">
              <a:lnSpc>
                <a:spcPct val="116000"/>
              </a:lnSpc>
            </a:pPr>
            <a:r>
              <a:rPr sz="1080" b="0">
                <a:solidFill>
                  <a:srgbClr val="3C4653"/>
                </a:solidFill>
                <a:latin typeface="Segoe UI"/>
              </a:rPr>
              <a:t>Daily and weekly curves multiply the baseline. Residential traffic peaks in the evening; enterprise traffic peaks during working hours.</a:t>
            </a:r>
          </a:p>
        </p:txBody>
      </p:sp>
      <p:sp>
        <p:nvSpPr>
          <p:cNvPr id="19" name="Rectangle 18"/>
          <p:cNvSpPr/>
          <p:nvPr/>
        </p:nvSpPr>
        <p:spPr>
          <a:xfrm>
            <a:off x="658368" y="3968496"/>
            <a:ext cx="5321808" cy="1664208"/>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3968496"/>
            <a:ext cx="45720" cy="16642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919472" cy="182880"/>
          </a:xfrm>
          <a:prstGeom prst="rect">
            <a:avLst/>
          </a:prstGeom>
          <a:noFill/>
        </p:spPr>
        <p:txBody>
          <a:bodyPr wrap="square" lIns="0" rIns="0" tIns="0" bIns="0" anchor="t">
            <a:spAutoFit/>
          </a:bodyPr>
          <a:lstStyle/>
          <a:p>
            <a:pPr algn="l">
              <a:lnSpc>
                <a:spcPct val="100000"/>
              </a:lnSpc>
            </a:pPr>
            <a:r>
              <a:rPr sz="880" b="1">
                <a:solidFill>
                  <a:srgbClr val="0F4C5C"/>
                </a:solidFill>
                <a:latin typeface="Consolas"/>
              </a:rPr>
              <a:t>03 · RANDOMNESS</a:t>
            </a:r>
          </a:p>
        </p:txBody>
      </p:sp>
      <p:sp>
        <p:nvSpPr>
          <p:cNvPr id="22" name="TextBox 21"/>
          <p:cNvSpPr txBox="1"/>
          <p:nvPr/>
        </p:nvSpPr>
        <p:spPr>
          <a:xfrm>
            <a:off x="859536" y="4361688"/>
            <a:ext cx="4919472" cy="310896"/>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What makes today different?</a:t>
            </a:r>
          </a:p>
        </p:txBody>
      </p:sp>
      <p:sp>
        <p:nvSpPr>
          <p:cNvPr id="23" name="TextBox 22"/>
          <p:cNvSpPr txBox="1"/>
          <p:nvPr/>
        </p:nvSpPr>
        <p:spPr>
          <a:xfrm>
            <a:off x="859536" y="4727448"/>
            <a:ext cx="4919472" cy="768096"/>
          </a:xfrm>
          <a:prstGeom prst="rect">
            <a:avLst/>
          </a:prstGeom>
          <a:noFill/>
        </p:spPr>
        <p:txBody>
          <a:bodyPr wrap="square" lIns="0" rIns="0" tIns="0" bIns="0" anchor="t">
            <a:spAutoFit/>
          </a:bodyPr>
          <a:lstStyle/>
          <a:p>
            <a:pPr algn="l">
              <a:lnSpc>
                <a:spcPct val="116000"/>
              </a:lnSpc>
            </a:pPr>
            <a:r>
              <a:rPr sz="1080" b="0">
                <a:solidFill>
                  <a:srgbClr val="3C4653"/>
                </a:solidFill>
                <a:latin typeface="Segoe UI"/>
              </a:rPr>
              <a:t>Seeded random variation adds persistence, bursts and events. Separate random streams keep arrivals, failures and movement independent.</a:t>
            </a:r>
          </a:p>
        </p:txBody>
      </p:sp>
      <p:sp>
        <p:nvSpPr>
          <p:cNvPr id="24" name="Rectangle 23"/>
          <p:cNvSpPr/>
          <p:nvPr/>
        </p:nvSpPr>
        <p:spPr>
          <a:xfrm>
            <a:off x="6190488" y="3968496"/>
            <a:ext cx="5321808" cy="1664208"/>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0488" y="3968496"/>
            <a:ext cx="45720" cy="16642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1655" y="4114800"/>
            <a:ext cx="4919472" cy="182880"/>
          </a:xfrm>
          <a:prstGeom prst="rect">
            <a:avLst/>
          </a:prstGeom>
          <a:noFill/>
        </p:spPr>
        <p:txBody>
          <a:bodyPr wrap="square" lIns="0" rIns="0" tIns="0" bIns="0" anchor="t">
            <a:spAutoFit/>
          </a:bodyPr>
          <a:lstStyle/>
          <a:p>
            <a:pPr algn="l">
              <a:lnSpc>
                <a:spcPct val="100000"/>
              </a:lnSpc>
            </a:pPr>
            <a:r>
              <a:rPr sz="880" b="1">
                <a:solidFill>
                  <a:srgbClr val="0F4C5C"/>
                </a:solidFill>
                <a:latin typeface="Consolas"/>
              </a:rPr>
              <a:t>04 · SESSIONS</a:t>
            </a:r>
          </a:p>
        </p:txBody>
      </p:sp>
      <p:sp>
        <p:nvSpPr>
          <p:cNvPr id="27" name="TextBox 26"/>
          <p:cNvSpPr txBox="1"/>
          <p:nvPr/>
        </p:nvSpPr>
        <p:spPr>
          <a:xfrm>
            <a:off x="6391655" y="4361688"/>
            <a:ext cx="4919472" cy="310896"/>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How long does each decision remain?</a:t>
            </a:r>
          </a:p>
        </p:txBody>
      </p:sp>
      <p:sp>
        <p:nvSpPr>
          <p:cNvPr id="28" name="TextBox 27"/>
          <p:cNvSpPr txBox="1"/>
          <p:nvPr/>
        </p:nvSpPr>
        <p:spPr>
          <a:xfrm>
            <a:off x="6391655" y="4727448"/>
            <a:ext cx="4919472" cy="768096"/>
          </a:xfrm>
          <a:prstGeom prst="rect">
            <a:avLst/>
          </a:prstGeom>
          <a:noFill/>
        </p:spPr>
        <p:txBody>
          <a:bodyPr wrap="square" lIns="0" rIns="0" tIns="0" bIns="0" anchor="t">
            <a:spAutoFit/>
          </a:bodyPr>
          <a:lstStyle/>
          <a:p>
            <a:pPr algn="l">
              <a:lnSpc>
                <a:spcPct val="116000"/>
              </a:lnSpc>
            </a:pPr>
            <a:r>
              <a:rPr sz="1080" b="0">
                <a:solidFill>
                  <a:srgbClr val="3C4653"/>
                </a:solidFill>
                <a:latin typeface="Segoe UI"/>
              </a:rPr>
              <a:t>Arrivals become sessions with bandwidth and duration. Long-lived sessions create committed load that future decisions cannot undo.</a:t>
            </a:r>
          </a:p>
        </p:txBody>
      </p:sp>
      <p:sp>
        <p:nvSpPr>
          <p:cNvPr id="29" name="Rectangle 28"/>
          <p:cNvSpPr/>
          <p:nvPr/>
        </p:nvSpPr>
        <p:spPr>
          <a:xfrm>
            <a:off x="658368" y="5916168"/>
            <a:ext cx="10872216" cy="292608"/>
          </a:xfrm>
          <a:prstGeom prst="rect">
            <a:avLst/>
          </a:prstGeom>
          <a:solidFill>
            <a:srgbClr val="EC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59" y="5971032"/>
            <a:ext cx="10543032" cy="164592"/>
          </a:xfrm>
          <a:prstGeom prst="rect">
            <a:avLst/>
          </a:prstGeom>
          <a:noFill/>
        </p:spPr>
        <p:txBody>
          <a:bodyPr wrap="square" lIns="0" rIns="0" tIns="0" bIns="0" anchor="t">
            <a:spAutoFit/>
          </a:bodyPr>
          <a:lstStyle/>
          <a:p>
            <a:pPr algn="l">
              <a:lnSpc>
                <a:spcPct val="100000"/>
              </a:lnSpc>
            </a:pPr>
            <a:r>
              <a:rPr sz="930" b="1">
                <a:solidFill>
                  <a:srgbClr val="2E7D5B"/>
                </a:solidFill>
                <a:latin typeface="Consolas"/>
              </a:rPr>
              <a:t>OUTPUT CHECK · offered = carried + queued + dropped + rejected. If this identity fails, stop.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THE MODEL</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How traffic is generated, mathematically</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Every quantity below is drawn from a named distribution with a seeded, independent random stream. Same manifest, same seed, same result — bit for bit.</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pic>
        <p:nvPicPr>
          <p:cNvPr id="8" name="Picture 7" descr="eq_a.png"/>
          <p:cNvPicPr>
            <a:picLocks noChangeAspect="1"/>
          </p:cNvPicPr>
          <p:nvPr/>
        </p:nvPicPr>
        <p:blipFill>
          <a:blip r:embed="rId2"/>
          <a:stretch>
            <a:fillRect/>
          </a:stretch>
        </p:blipFill>
        <p:spPr>
          <a:xfrm>
            <a:off x="658368" y="2389124"/>
            <a:ext cx="10874959" cy="3011903"/>
          </a:xfrm>
          <a:prstGeom prst="rect">
            <a:avLst/>
          </a:prstGeom>
        </p:spPr>
      </p:pic>
      <p:sp>
        <p:nvSpPr>
          <p:cNvPr id="9" name="TextBox 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THE MODEL</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The realism layer added on top</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The 16-week corpus above uses fixed per-class rates and uniform session lengths. traffic-model/2.0 replaces those with correlated, heavy-tailed processes — and every one is re-fitted from the simulator's own output to check it came out right.</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pic>
        <p:nvPicPr>
          <p:cNvPr id="8" name="Picture 7" descr="eq_b.png"/>
          <p:cNvPicPr>
            <a:picLocks noChangeAspect="1"/>
          </p:cNvPicPr>
          <p:nvPr/>
        </p:nvPicPr>
        <p:blipFill>
          <a:blip r:embed="rId2"/>
          <a:stretch>
            <a:fillRect/>
          </a:stretch>
        </p:blipFill>
        <p:spPr>
          <a:xfrm>
            <a:off x="658368" y="2568702"/>
            <a:ext cx="10874959" cy="2070513"/>
          </a:xfrm>
          <a:prstGeom prst="rect">
            <a:avLst/>
          </a:prstGeom>
        </p:spPr>
      </p:pic>
      <p:sp>
        <p:nvSpPr>
          <p:cNvPr id="9" name="Rectangle 8"/>
          <p:cNvSpPr/>
          <p:nvPr/>
        </p:nvSpPr>
        <p:spPr>
          <a:xfrm>
            <a:off x="658368" y="4950111"/>
            <a:ext cx="10874959" cy="117043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4950111"/>
            <a:ext cx="34747" cy="1170432"/>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5096415"/>
            <a:ext cx="10417759" cy="201168"/>
          </a:xfrm>
          <a:prstGeom prst="rect">
            <a:avLst/>
          </a:prstGeom>
          <a:noFill/>
        </p:spPr>
        <p:txBody>
          <a:bodyPr wrap="square" anchor="t" lIns="0" rIns="0" tIns="0" bIns="0">
            <a:spAutoFit/>
          </a:bodyPr>
          <a:lstStyle/>
          <a:p>
            <a:pPr algn="l">
              <a:lnSpc>
                <a:spcPct val="100000"/>
              </a:lnSpc>
            </a:pPr>
            <a:r>
              <a:rPr sz="950" b="1" i="0">
                <a:solidFill>
                  <a:srgbClr val="0F4C5C"/>
                </a:solidFill>
                <a:latin typeface="Consolas"/>
              </a:rPr>
              <a:t>WHY BOTH MODELS EXIST</a:t>
            </a:r>
          </a:p>
        </p:txBody>
      </p:sp>
      <p:sp>
        <p:nvSpPr>
          <p:cNvPr id="12" name="TextBox 11"/>
          <p:cNvSpPr txBox="1"/>
          <p:nvPr/>
        </p:nvSpPr>
        <p:spPr>
          <a:xfrm>
            <a:off x="896112" y="5352447"/>
            <a:ext cx="10372039" cy="713232"/>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The 16-week training corpus was generated before the realism layer was built, so every throughput number in this deck comes from the simpler generator. The realism layer is validated and ready, but regenerating 112 days of history with it is a fresh multi-hour cluster run — one of the first items in the simulator backlog.</a:t>
            </a:r>
          </a:p>
        </p:txBody>
      </p:sp>
      <p:sp>
        <p:nvSpPr>
          <p:cNvPr id="13" name="TextBox 12"/>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STRESS</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Daily cycles, surges and failures</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We model three kinds of stress and keep them independent. If surges and failures always happened together, a controller could score well just by spotting one and assuming the other.</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Rectangle 7"/>
          <p:cNvSpPr/>
          <p:nvPr/>
        </p:nvSpPr>
        <p:spPr>
          <a:xfrm>
            <a:off x="658368" y="2532126"/>
            <a:ext cx="3417722" cy="213969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715005"/>
            <a:ext cx="3015386" cy="201168"/>
          </a:xfrm>
          <a:prstGeom prst="rect">
            <a:avLst/>
          </a:prstGeom>
          <a:noFill/>
        </p:spPr>
        <p:txBody>
          <a:bodyPr wrap="square" anchor="t" lIns="0" rIns="0" tIns="0" bIns="0">
            <a:spAutoFit/>
          </a:bodyPr>
          <a:lstStyle/>
          <a:p>
            <a:pPr algn="l">
              <a:lnSpc>
                <a:spcPct val="100000"/>
              </a:lnSpc>
            </a:pPr>
            <a:r>
              <a:rPr sz="919" b="1" i="0">
                <a:solidFill>
                  <a:srgbClr val="0F4C5C"/>
                </a:solidFill>
                <a:latin typeface="Consolas"/>
              </a:rPr>
              <a:t>DAILY CYCLE</a:t>
            </a:r>
          </a:p>
        </p:txBody>
      </p:sp>
      <p:sp>
        <p:nvSpPr>
          <p:cNvPr id="10" name="TextBox 9"/>
          <p:cNvSpPr txBox="1"/>
          <p:nvPr/>
        </p:nvSpPr>
        <p:spPr>
          <a:xfrm>
            <a:off x="859536" y="2989326"/>
            <a:ext cx="3015386" cy="1554480"/>
          </a:xfrm>
          <a:prstGeom prst="rect">
            <a:avLst/>
          </a:prstGeom>
          <a:noFill/>
        </p:spPr>
        <p:txBody>
          <a:bodyPr wrap="square" anchor="t" lIns="0" rIns="0" tIns="0" bIns="0">
            <a:spAutoFit/>
          </a:bodyPr>
          <a:lstStyle/>
          <a:p>
            <a:pPr algn="l">
              <a:lnSpc>
                <a:spcPct val="136000"/>
              </a:lnSpc>
            </a:pPr>
            <a:r>
              <a:rPr sz="1100" b="0" i="0">
                <a:solidFill>
                  <a:srgbClr val="3C4653"/>
                </a:solidFill>
                <a:latin typeface="Segoe UI"/>
              </a:rPr>
              <a:t>Traffic rises and falls over the day and the week. Residential and business zones peak 7 to 11 hours apart, so the network never sees one single national peak. Weekends change both the height and the shape of the curve.</a:t>
            </a:r>
          </a:p>
        </p:txBody>
      </p:sp>
      <p:sp>
        <p:nvSpPr>
          <p:cNvPr id="11" name="Rectangle 10"/>
          <p:cNvSpPr/>
          <p:nvPr/>
        </p:nvSpPr>
        <p:spPr>
          <a:xfrm>
            <a:off x="4386986" y="2532126"/>
            <a:ext cx="3417722" cy="213969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8154" y="2715005"/>
            <a:ext cx="3015386" cy="201168"/>
          </a:xfrm>
          <a:prstGeom prst="rect">
            <a:avLst/>
          </a:prstGeom>
          <a:noFill/>
        </p:spPr>
        <p:txBody>
          <a:bodyPr wrap="square" anchor="t" lIns="0" rIns="0" tIns="0" bIns="0">
            <a:spAutoFit/>
          </a:bodyPr>
          <a:lstStyle/>
          <a:p>
            <a:pPr algn="l">
              <a:lnSpc>
                <a:spcPct val="100000"/>
              </a:lnSpc>
            </a:pPr>
            <a:r>
              <a:rPr sz="919" b="1" i="0">
                <a:solidFill>
                  <a:srgbClr val="0F4C5C"/>
                </a:solidFill>
                <a:latin typeface="Consolas"/>
              </a:rPr>
              <a:t>EVENT SURGE — A STADIUM MATCH</a:t>
            </a:r>
          </a:p>
        </p:txBody>
      </p:sp>
      <p:sp>
        <p:nvSpPr>
          <p:cNvPr id="13" name="TextBox 12"/>
          <p:cNvSpPr txBox="1"/>
          <p:nvPr/>
        </p:nvSpPr>
        <p:spPr>
          <a:xfrm>
            <a:off x="4588154" y="2989326"/>
            <a:ext cx="3015386" cy="1554480"/>
          </a:xfrm>
          <a:prstGeom prst="rect">
            <a:avLst/>
          </a:prstGeom>
          <a:noFill/>
        </p:spPr>
        <p:txBody>
          <a:bodyPr wrap="square" anchor="t" lIns="0" rIns="0" tIns="0" bIns="0">
            <a:spAutoFit/>
          </a:bodyPr>
          <a:lstStyle/>
          <a:p>
            <a:pPr algn="l">
              <a:lnSpc>
                <a:spcPct val="136000"/>
              </a:lnSpc>
            </a:pPr>
            <a:r>
              <a:rPr sz="1100" b="0" i="0">
                <a:solidFill>
                  <a:srgbClr val="3C4653"/>
                </a:solidFill>
                <a:latin typeface="Segoe UI"/>
              </a:rPr>
              <a:t>Six phases, each multiplying the normal arrival rate: crowd arrives ×1.5, kick-off ×2.1, match ×1.7, half-time uploads ×3.2, final whistle ×2.6, then a long exit tail. Upload-heavy services react hardest. Some events are announced two hours ahead; others are deliberately kept a surprise.</a:t>
            </a:r>
          </a:p>
        </p:txBody>
      </p:sp>
      <p:sp>
        <p:nvSpPr>
          <p:cNvPr id="14" name="Rectangle 13"/>
          <p:cNvSpPr/>
          <p:nvPr/>
        </p:nvSpPr>
        <p:spPr>
          <a:xfrm>
            <a:off x="8115604" y="2532126"/>
            <a:ext cx="3417722" cy="213969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6772" y="2715005"/>
            <a:ext cx="3015386" cy="201168"/>
          </a:xfrm>
          <a:prstGeom prst="rect">
            <a:avLst/>
          </a:prstGeom>
          <a:noFill/>
        </p:spPr>
        <p:txBody>
          <a:bodyPr wrap="square" anchor="t" lIns="0" rIns="0" tIns="0" bIns="0">
            <a:spAutoFit/>
          </a:bodyPr>
          <a:lstStyle/>
          <a:p>
            <a:pPr algn="l">
              <a:lnSpc>
                <a:spcPct val="100000"/>
              </a:lnSpc>
            </a:pPr>
            <a:r>
              <a:rPr sz="919" b="1" i="0">
                <a:solidFill>
                  <a:srgbClr val="0F4C5C"/>
                </a:solidFill>
                <a:latin typeface="Consolas"/>
              </a:rPr>
              <a:t>EQUIPMENT FAILURES</a:t>
            </a:r>
          </a:p>
        </p:txBody>
      </p:sp>
      <p:sp>
        <p:nvSpPr>
          <p:cNvPr id="16" name="TextBox 15"/>
          <p:cNvSpPr txBox="1"/>
          <p:nvPr/>
        </p:nvSpPr>
        <p:spPr>
          <a:xfrm>
            <a:off x="8316772" y="2989326"/>
            <a:ext cx="3015386" cy="1554480"/>
          </a:xfrm>
          <a:prstGeom prst="rect">
            <a:avLst/>
          </a:prstGeom>
          <a:noFill/>
        </p:spPr>
        <p:txBody>
          <a:bodyPr wrap="square" anchor="t" lIns="0" rIns="0" tIns="0" bIns="0">
            <a:spAutoFit/>
          </a:bodyPr>
          <a:lstStyle/>
          <a:p>
            <a:pPr algn="l">
              <a:lnSpc>
                <a:spcPct val="136000"/>
              </a:lnSpc>
            </a:pPr>
            <a:r>
              <a:rPr sz="1100" b="0" i="0">
                <a:solidFill>
                  <a:srgbClr val="3C4653"/>
                </a:solidFill>
                <a:latin typeface="Segoe UI"/>
              </a:rPr>
              <a:t>A box can lose part of its capacity — down to 45% — go almost fully offline (we leave 1% so the maths stays finite), suffer extra network delay, or restart. Recovery windows are modelled too.</a:t>
            </a:r>
          </a:p>
        </p:txBody>
      </p:sp>
      <p:sp>
        <p:nvSpPr>
          <p:cNvPr id="17" name="Rectangle 16"/>
          <p:cNvSpPr/>
          <p:nvPr/>
        </p:nvSpPr>
        <p:spPr>
          <a:xfrm>
            <a:off x="658368" y="4872990"/>
            <a:ext cx="2134758"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001006"/>
            <a:ext cx="1878726" cy="384048"/>
          </a:xfrm>
          <a:prstGeom prst="rect">
            <a:avLst/>
          </a:prstGeom>
          <a:noFill/>
        </p:spPr>
        <p:txBody>
          <a:bodyPr wrap="square" anchor="t" lIns="0" rIns="0" tIns="0" bIns="0">
            <a:spAutoFit/>
          </a:bodyPr>
          <a:lstStyle/>
          <a:p>
            <a:pPr algn="l">
              <a:lnSpc>
                <a:spcPct val="100000"/>
              </a:lnSpc>
            </a:pPr>
            <a:r>
              <a:rPr sz="2000" b="0" i="0">
                <a:solidFill>
                  <a:srgbClr val="0F4C5C"/>
                </a:solidFill>
                <a:latin typeface="Georgia"/>
              </a:rPr>
              <a:t>×3.2</a:t>
            </a:r>
          </a:p>
        </p:txBody>
      </p:sp>
      <p:sp>
        <p:nvSpPr>
          <p:cNvPr id="19" name="TextBox 18"/>
          <p:cNvSpPr txBox="1"/>
          <p:nvPr/>
        </p:nvSpPr>
        <p:spPr>
          <a:xfrm>
            <a:off x="804672" y="5403342"/>
            <a:ext cx="1878726"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HALF-TIME</a:t>
            </a:r>
          </a:p>
          <a:p>
            <a:pPr algn="l">
              <a:lnSpc>
                <a:spcPct val="130000"/>
              </a:lnSpc>
              <a:spcBef>
                <a:spcPts val="0"/>
              </a:spcBef>
            </a:pPr>
            <a:r>
              <a:rPr sz="819" b="0" i="0">
                <a:solidFill>
                  <a:srgbClr val="6C7683"/>
                </a:solidFill>
                <a:latin typeface="Consolas"/>
              </a:rPr>
              <a:t>UPLOAD SURGE</a:t>
            </a:r>
          </a:p>
        </p:txBody>
      </p:sp>
      <p:sp>
        <p:nvSpPr>
          <p:cNvPr id="20" name="Rectangle 19"/>
          <p:cNvSpPr/>
          <p:nvPr/>
        </p:nvSpPr>
        <p:spPr>
          <a:xfrm>
            <a:off x="2843418" y="4872990"/>
            <a:ext cx="2134758"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89722" y="5001006"/>
            <a:ext cx="1878726" cy="384048"/>
          </a:xfrm>
          <a:prstGeom prst="rect">
            <a:avLst/>
          </a:prstGeom>
          <a:noFill/>
        </p:spPr>
        <p:txBody>
          <a:bodyPr wrap="square" anchor="t" lIns="0" rIns="0" tIns="0" bIns="0">
            <a:spAutoFit/>
          </a:bodyPr>
          <a:lstStyle/>
          <a:p>
            <a:pPr algn="l">
              <a:lnSpc>
                <a:spcPct val="100000"/>
              </a:lnSpc>
            </a:pPr>
            <a:r>
              <a:rPr sz="2000" b="0" i="0">
                <a:solidFill>
                  <a:srgbClr val="B5761F"/>
                </a:solidFill>
                <a:latin typeface="Georgia"/>
              </a:rPr>
              <a:t>×0.45</a:t>
            </a:r>
          </a:p>
        </p:txBody>
      </p:sp>
      <p:sp>
        <p:nvSpPr>
          <p:cNvPr id="22" name="TextBox 21"/>
          <p:cNvSpPr txBox="1"/>
          <p:nvPr/>
        </p:nvSpPr>
        <p:spPr>
          <a:xfrm>
            <a:off x="2989722" y="5403342"/>
            <a:ext cx="1878726"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BROWNOUT</a:t>
            </a:r>
          </a:p>
          <a:p>
            <a:pPr algn="l">
              <a:lnSpc>
                <a:spcPct val="130000"/>
              </a:lnSpc>
              <a:spcBef>
                <a:spcPts val="0"/>
              </a:spcBef>
            </a:pPr>
            <a:r>
              <a:rPr sz="819" b="0" i="0">
                <a:solidFill>
                  <a:srgbClr val="6C7683"/>
                </a:solidFill>
                <a:latin typeface="Consolas"/>
              </a:rPr>
              <a:t>CAPACITY LEFT</a:t>
            </a:r>
          </a:p>
        </p:txBody>
      </p:sp>
      <p:sp>
        <p:nvSpPr>
          <p:cNvPr id="23" name="Rectangle 22"/>
          <p:cNvSpPr/>
          <p:nvPr/>
        </p:nvSpPr>
        <p:spPr>
          <a:xfrm>
            <a:off x="5028468" y="4872990"/>
            <a:ext cx="2134758"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74772" y="5001006"/>
            <a:ext cx="1878726" cy="384048"/>
          </a:xfrm>
          <a:prstGeom prst="rect">
            <a:avLst/>
          </a:prstGeom>
          <a:noFill/>
        </p:spPr>
        <p:txBody>
          <a:bodyPr wrap="square" anchor="t" lIns="0" rIns="0" tIns="0" bIns="0">
            <a:spAutoFit/>
          </a:bodyPr>
          <a:lstStyle/>
          <a:p>
            <a:pPr algn="l">
              <a:lnSpc>
                <a:spcPct val="100000"/>
              </a:lnSpc>
            </a:pPr>
            <a:r>
              <a:rPr sz="2000" b="0" i="0">
                <a:solidFill>
                  <a:srgbClr val="9C3B35"/>
                </a:solidFill>
                <a:latin typeface="Georgia"/>
              </a:rPr>
              <a:t>1</a:t>
            </a:r>
            <a:r>
              <a:rPr sz="1000" b="0" i="0">
                <a:solidFill>
                  <a:srgbClr val="6C7683"/>
                </a:solidFill>
                <a:latin typeface="Consolas"/>
              </a:rPr>
              <a:t>%</a:t>
            </a:r>
          </a:p>
        </p:txBody>
      </p:sp>
      <p:sp>
        <p:nvSpPr>
          <p:cNvPr id="25" name="TextBox 24"/>
          <p:cNvSpPr txBox="1"/>
          <p:nvPr/>
        </p:nvSpPr>
        <p:spPr>
          <a:xfrm>
            <a:off x="5174772" y="5403342"/>
            <a:ext cx="1878726"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NEAR-TOTAL OUTAGE</a:t>
            </a:r>
          </a:p>
          <a:p>
            <a:pPr algn="l">
              <a:lnSpc>
                <a:spcPct val="130000"/>
              </a:lnSpc>
              <a:spcBef>
                <a:spcPts val="0"/>
              </a:spcBef>
            </a:pPr>
            <a:r>
              <a:rPr sz="819" b="0" i="0">
                <a:solidFill>
                  <a:srgbClr val="6C7683"/>
                </a:solidFill>
                <a:latin typeface="Consolas"/>
              </a:rPr>
              <a:t>CAPACITY LEFT</a:t>
            </a:r>
          </a:p>
        </p:txBody>
      </p:sp>
      <p:sp>
        <p:nvSpPr>
          <p:cNvPr id="26" name="Rectangle 25"/>
          <p:cNvSpPr/>
          <p:nvPr/>
        </p:nvSpPr>
        <p:spPr>
          <a:xfrm>
            <a:off x="7213518" y="4872990"/>
            <a:ext cx="2134758"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59822" y="5001006"/>
            <a:ext cx="1878726" cy="384048"/>
          </a:xfrm>
          <a:prstGeom prst="rect">
            <a:avLst/>
          </a:prstGeom>
          <a:noFill/>
        </p:spPr>
        <p:txBody>
          <a:bodyPr wrap="square" anchor="t" lIns="0" rIns="0" tIns="0" bIns="0">
            <a:spAutoFit/>
          </a:bodyPr>
          <a:lstStyle/>
          <a:p>
            <a:pPr algn="l">
              <a:lnSpc>
                <a:spcPct val="100000"/>
              </a:lnSpc>
            </a:pPr>
            <a:r>
              <a:rPr sz="2000" b="0" i="0">
                <a:solidFill>
                  <a:srgbClr val="0F4C5C"/>
                </a:solidFill>
                <a:latin typeface="Georgia"/>
              </a:rPr>
              <a:t>2 h</a:t>
            </a:r>
          </a:p>
        </p:txBody>
      </p:sp>
      <p:sp>
        <p:nvSpPr>
          <p:cNvPr id="28" name="TextBox 27"/>
          <p:cNvSpPr txBox="1"/>
          <p:nvPr/>
        </p:nvSpPr>
        <p:spPr>
          <a:xfrm>
            <a:off x="7359822" y="5403342"/>
            <a:ext cx="1878726"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NOTICE FOR A</a:t>
            </a:r>
          </a:p>
          <a:p>
            <a:pPr algn="l">
              <a:lnSpc>
                <a:spcPct val="130000"/>
              </a:lnSpc>
              <a:spcBef>
                <a:spcPts val="0"/>
              </a:spcBef>
            </a:pPr>
            <a:r>
              <a:rPr sz="819" b="0" i="0">
                <a:solidFill>
                  <a:srgbClr val="6C7683"/>
                </a:solidFill>
                <a:latin typeface="Consolas"/>
              </a:rPr>
              <a:t>PLANNED FAILURE</a:t>
            </a:r>
          </a:p>
        </p:txBody>
      </p:sp>
      <p:sp>
        <p:nvSpPr>
          <p:cNvPr id="29" name="Rectangle 28"/>
          <p:cNvSpPr/>
          <p:nvPr/>
        </p:nvSpPr>
        <p:spPr>
          <a:xfrm>
            <a:off x="9398568" y="4872990"/>
            <a:ext cx="2134758"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44872" y="5001006"/>
            <a:ext cx="1878726" cy="384048"/>
          </a:xfrm>
          <a:prstGeom prst="rect">
            <a:avLst/>
          </a:prstGeom>
          <a:noFill/>
        </p:spPr>
        <p:txBody>
          <a:bodyPr wrap="square" anchor="t" lIns="0" rIns="0" tIns="0" bIns="0">
            <a:spAutoFit/>
          </a:bodyPr>
          <a:lstStyle/>
          <a:p>
            <a:pPr algn="l">
              <a:lnSpc>
                <a:spcPct val="100000"/>
              </a:lnSpc>
            </a:pPr>
            <a:r>
              <a:rPr sz="2000" b="0" i="0">
                <a:solidFill>
                  <a:srgbClr val="9C3B35"/>
                </a:solidFill>
                <a:latin typeface="Georgia"/>
              </a:rPr>
              <a:t>0</a:t>
            </a:r>
          </a:p>
        </p:txBody>
      </p:sp>
      <p:sp>
        <p:nvSpPr>
          <p:cNvPr id="31" name="TextBox 30"/>
          <p:cNvSpPr txBox="1"/>
          <p:nvPr/>
        </p:nvSpPr>
        <p:spPr>
          <a:xfrm>
            <a:off x="9544872" y="5403342"/>
            <a:ext cx="1878726"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NOTICE FOR A</a:t>
            </a:r>
          </a:p>
          <a:p>
            <a:pPr algn="l">
              <a:lnSpc>
                <a:spcPct val="130000"/>
              </a:lnSpc>
              <a:spcBef>
                <a:spcPts val="0"/>
              </a:spcBef>
            </a:pPr>
            <a:r>
              <a:rPr sz="819" b="0" i="0">
                <a:solidFill>
                  <a:srgbClr val="6C7683"/>
                </a:solidFill>
                <a:latin typeface="Consolas"/>
              </a:rPr>
              <a:t>SURPRISE SURGE</a:t>
            </a:r>
          </a:p>
        </p:txBody>
      </p:sp>
      <p:sp>
        <p:nvSpPr>
          <p:cNvPr id="32" name="TextBox 31"/>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ONE SIMULATED DAY</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Demand, capacity, and a planned brownout</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pic>
        <p:nvPicPr>
          <p:cNvPr id="7" name="Picture 6" descr="c_upfday.png"/>
          <p:cNvPicPr>
            <a:picLocks noChangeAspect="1"/>
          </p:cNvPicPr>
          <p:nvPr/>
        </p:nvPicPr>
        <p:blipFill>
          <a:blip r:embed="rId2"/>
          <a:stretch>
            <a:fillRect/>
          </a:stretch>
        </p:blipFill>
        <p:spPr>
          <a:xfrm>
            <a:off x="658368" y="1298448"/>
            <a:ext cx="7612471" cy="3337600"/>
          </a:xfrm>
          <a:prstGeom prst="rect">
            <a:avLst/>
          </a:prstGeom>
        </p:spPr>
      </p:pic>
      <p:sp>
        <p:nvSpPr>
          <p:cNvPr id="8" name="Rectangle 7"/>
          <p:cNvSpPr/>
          <p:nvPr/>
        </p:nvSpPr>
        <p:spPr>
          <a:xfrm>
            <a:off x="8488338" y="1421892"/>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71218" y="1353312"/>
            <a:ext cx="2862108" cy="275132"/>
          </a:xfrm>
          <a:prstGeom prst="rect">
            <a:avLst/>
          </a:prstGeom>
          <a:noFill/>
        </p:spPr>
        <p:txBody>
          <a:bodyPr wrap="square" anchor="t" lIns="0" rIns="0" tIns="0" bIns="0">
            <a:spAutoFit/>
          </a:bodyPr>
          <a:lstStyle/>
          <a:p>
            <a:pPr algn="l">
              <a:lnSpc>
                <a:spcPct val="128000"/>
              </a:lnSpc>
            </a:pPr>
            <a:r>
              <a:rPr sz="1130" b="1" i="0">
                <a:solidFill>
                  <a:srgbClr val="111721"/>
                </a:solidFill>
                <a:latin typeface="Segoe UI"/>
              </a:rPr>
              <a:t>What the top panel shows</a:t>
            </a:r>
          </a:p>
        </p:txBody>
      </p:sp>
      <p:sp>
        <p:nvSpPr>
          <p:cNvPr id="10" name="TextBox 9"/>
          <p:cNvSpPr txBox="1"/>
          <p:nvPr/>
        </p:nvSpPr>
        <p:spPr>
          <a:xfrm>
            <a:off x="8671218" y="1596440"/>
            <a:ext cx="2862108" cy="632612"/>
          </a:xfrm>
          <a:prstGeom prst="rect">
            <a:avLst/>
          </a:prstGeom>
          <a:noFill/>
        </p:spPr>
        <p:txBody>
          <a:bodyPr wrap="square" anchor="t" lIns="0" rIns="0" tIns="0" bIns="0">
            <a:spAutoFit/>
          </a:bodyPr>
          <a:lstStyle/>
          <a:p>
            <a:pPr algn="l">
              <a:lnSpc>
                <a:spcPct val="134000"/>
              </a:lnSpc>
            </a:pPr>
            <a:r>
              <a:rPr sz="1060" b="0" i="0">
                <a:solidFill>
                  <a:srgbClr val="3C4653"/>
                </a:solidFill>
                <a:latin typeface="Segoe UI"/>
              </a:rPr>
              <a:t>Uplink demand on a Delhi-NCR edge box, rising through the evening as the stadium fills.</a:t>
            </a:r>
          </a:p>
        </p:txBody>
      </p:sp>
      <p:sp>
        <p:nvSpPr>
          <p:cNvPr id="11" name="Rectangle 10"/>
          <p:cNvSpPr/>
          <p:nvPr/>
        </p:nvSpPr>
        <p:spPr>
          <a:xfrm>
            <a:off x="8488338" y="2265629"/>
            <a:ext cx="304498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88338" y="2416505"/>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71218" y="2347925"/>
            <a:ext cx="2862108" cy="275132"/>
          </a:xfrm>
          <a:prstGeom prst="rect">
            <a:avLst/>
          </a:prstGeom>
          <a:noFill/>
        </p:spPr>
        <p:txBody>
          <a:bodyPr wrap="square" anchor="t" lIns="0" rIns="0" tIns="0" bIns="0">
            <a:spAutoFit/>
          </a:bodyPr>
          <a:lstStyle/>
          <a:p>
            <a:pPr algn="l">
              <a:lnSpc>
                <a:spcPct val="128000"/>
              </a:lnSpc>
            </a:pPr>
            <a:r>
              <a:rPr sz="1130" b="1" i="0">
                <a:solidFill>
                  <a:srgbClr val="111721"/>
                </a:solidFill>
                <a:latin typeface="Segoe UI"/>
              </a:rPr>
              <a:t>What the bottom panel shows</a:t>
            </a:r>
          </a:p>
        </p:txBody>
      </p:sp>
      <p:sp>
        <p:nvSpPr>
          <p:cNvPr id="14" name="TextBox 13"/>
          <p:cNvSpPr txBox="1"/>
          <p:nvPr/>
        </p:nvSpPr>
        <p:spPr>
          <a:xfrm>
            <a:off x="8671218" y="2591054"/>
            <a:ext cx="2862108" cy="632612"/>
          </a:xfrm>
          <a:prstGeom prst="rect">
            <a:avLst/>
          </a:prstGeom>
          <a:noFill/>
        </p:spPr>
        <p:txBody>
          <a:bodyPr wrap="square" anchor="t" lIns="0" rIns="0" tIns="0" bIns="0">
            <a:spAutoFit/>
          </a:bodyPr>
          <a:lstStyle/>
          <a:p>
            <a:pPr algn="l">
              <a:lnSpc>
                <a:spcPct val="134000"/>
              </a:lnSpc>
            </a:pPr>
            <a:r>
              <a:rPr sz="1060" b="0" i="0">
                <a:solidFill>
                  <a:srgbClr val="3C4653"/>
                </a:solidFill>
                <a:latin typeface="Segoe UI"/>
              </a:rPr>
              <a:t>How close that box is to its safe limit — the number the controller actually reacts to.</a:t>
            </a:r>
          </a:p>
        </p:txBody>
      </p:sp>
      <p:sp>
        <p:nvSpPr>
          <p:cNvPr id="15" name="Rectangle 14"/>
          <p:cNvSpPr/>
          <p:nvPr/>
        </p:nvSpPr>
        <p:spPr>
          <a:xfrm>
            <a:off x="8488338" y="3260242"/>
            <a:ext cx="304498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88338" y="341111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71218" y="3342538"/>
            <a:ext cx="2862108" cy="275132"/>
          </a:xfrm>
          <a:prstGeom prst="rect">
            <a:avLst/>
          </a:prstGeom>
          <a:noFill/>
        </p:spPr>
        <p:txBody>
          <a:bodyPr wrap="square" anchor="t" lIns="0" rIns="0" tIns="0" bIns="0">
            <a:spAutoFit/>
          </a:bodyPr>
          <a:lstStyle/>
          <a:p>
            <a:pPr algn="l">
              <a:lnSpc>
                <a:spcPct val="128000"/>
              </a:lnSpc>
            </a:pPr>
            <a:r>
              <a:rPr sz="1130" b="1" i="0">
                <a:solidFill>
                  <a:srgbClr val="111721"/>
                </a:solidFill>
                <a:latin typeface="Segoe UI"/>
              </a:rPr>
              <a:t>The brownout at 12:30</a:t>
            </a:r>
          </a:p>
        </p:txBody>
      </p:sp>
      <p:sp>
        <p:nvSpPr>
          <p:cNvPr id="18" name="TextBox 17"/>
          <p:cNvSpPr txBox="1"/>
          <p:nvPr/>
        </p:nvSpPr>
        <p:spPr>
          <a:xfrm>
            <a:off x="8671218" y="3585667"/>
            <a:ext cx="2862108" cy="452221"/>
          </a:xfrm>
          <a:prstGeom prst="rect">
            <a:avLst/>
          </a:prstGeom>
          <a:noFill/>
        </p:spPr>
        <p:txBody>
          <a:bodyPr wrap="square" anchor="t" lIns="0" rIns="0" tIns="0" bIns="0">
            <a:spAutoFit/>
          </a:bodyPr>
          <a:lstStyle/>
          <a:p>
            <a:pPr algn="l">
              <a:lnSpc>
                <a:spcPct val="134000"/>
              </a:lnSpc>
            </a:pPr>
            <a:r>
              <a:rPr sz="1060" b="0" i="0">
                <a:solidFill>
                  <a:srgbClr val="3C4653"/>
                </a:solidFill>
                <a:latin typeface="Segoe UI"/>
              </a:rPr>
              <a:t>Safe uplink capacity drops from 2 028 to 912.6 Mbps for 90 minutes.</a:t>
            </a:r>
          </a:p>
        </p:txBody>
      </p:sp>
      <p:sp>
        <p:nvSpPr>
          <p:cNvPr id="19" name="Rectangle 18"/>
          <p:cNvSpPr/>
          <p:nvPr/>
        </p:nvSpPr>
        <p:spPr>
          <a:xfrm>
            <a:off x="8488338" y="4074464"/>
            <a:ext cx="304498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88338" y="4225340"/>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71218" y="4156760"/>
            <a:ext cx="2862108" cy="275132"/>
          </a:xfrm>
          <a:prstGeom prst="rect">
            <a:avLst/>
          </a:prstGeom>
          <a:noFill/>
        </p:spPr>
        <p:txBody>
          <a:bodyPr wrap="square" anchor="t" lIns="0" rIns="0" tIns="0" bIns="0">
            <a:spAutoFit/>
          </a:bodyPr>
          <a:lstStyle/>
          <a:p>
            <a:pPr algn="l">
              <a:lnSpc>
                <a:spcPct val="128000"/>
              </a:lnSpc>
            </a:pPr>
            <a:r>
              <a:rPr sz="1130" b="1" i="0">
                <a:solidFill>
                  <a:srgbClr val="111721"/>
                </a:solidFill>
                <a:latin typeface="Segoe UI"/>
              </a:rPr>
              <a:t>Why it matters</a:t>
            </a:r>
          </a:p>
        </p:txBody>
      </p:sp>
      <p:sp>
        <p:nvSpPr>
          <p:cNvPr id="22" name="TextBox 21"/>
          <p:cNvSpPr txBox="1"/>
          <p:nvPr/>
        </p:nvSpPr>
        <p:spPr>
          <a:xfrm>
            <a:off x="8671218" y="4399889"/>
            <a:ext cx="2862108" cy="632612"/>
          </a:xfrm>
          <a:prstGeom prst="rect">
            <a:avLst/>
          </a:prstGeom>
          <a:noFill/>
        </p:spPr>
        <p:txBody>
          <a:bodyPr wrap="square" anchor="t" lIns="0" rIns="0" tIns="0" bIns="0">
            <a:spAutoFit/>
          </a:bodyPr>
          <a:lstStyle/>
          <a:p>
            <a:pPr algn="l">
              <a:lnSpc>
                <a:spcPct val="134000"/>
              </a:lnSpc>
            </a:pPr>
            <a:r>
              <a:rPr sz="1060" b="0" i="0">
                <a:solidFill>
                  <a:srgbClr val="3C4653"/>
                </a:solidFill>
                <a:latin typeface="Segoe UI"/>
              </a:rPr>
              <a:t>Demand barely changes. But headroom halves, so utilisation jumps from 16% to 38%.</a:t>
            </a:r>
          </a:p>
        </p:txBody>
      </p:sp>
      <p:sp>
        <p:nvSpPr>
          <p:cNvPr id="23" name="Rectangle 22"/>
          <p:cNvSpPr/>
          <p:nvPr/>
        </p:nvSpPr>
        <p:spPr>
          <a:xfrm>
            <a:off x="8488338" y="5069078"/>
            <a:ext cx="304498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88338" y="5219954"/>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71218" y="5151374"/>
            <a:ext cx="2862108" cy="275132"/>
          </a:xfrm>
          <a:prstGeom prst="rect">
            <a:avLst/>
          </a:prstGeom>
          <a:noFill/>
        </p:spPr>
        <p:txBody>
          <a:bodyPr wrap="square" anchor="t" lIns="0" rIns="0" tIns="0" bIns="0">
            <a:spAutoFit/>
          </a:bodyPr>
          <a:lstStyle/>
          <a:p>
            <a:pPr algn="l">
              <a:lnSpc>
                <a:spcPct val="128000"/>
              </a:lnSpc>
            </a:pPr>
            <a:r>
              <a:rPr sz="1130" b="1" i="0">
                <a:solidFill>
                  <a:srgbClr val="111721"/>
                </a:solidFill>
                <a:latin typeface="Segoe UI"/>
              </a:rPr>
              <a:t>The controller knew at 10:30</a:t>
            </a:r>
          </a:p>
        </p:txBody>
      </p:sp>
      <p:sp>
        <p:nvSpPr>
          <p:cNvPr id="26" name="TextBox 25"/>
          <p:cNvSpPr txBox="1"/>
          <p:nvPr/>
        </p:nvSpPr>
        <p:spPr>
          <a:xfrm>
            <a:off x="8671218" y="5394502"/>
            <a:ext cx="2862108" cy="632612"/>
          </a:xfrm>
          <a:prstGeom prst="rect">
            <a:avLst/>
          </a:prstGeom>
          <a:noFill/>
        </p:spPr>
        <p:txBody>
          <a:bodyPr wrap="square" anchor="t" lIns="0" rIns="0" tIns="0" bIns="0">
            <a:spAutoFit/>
          </a:bodyPr>
          <a:lstStyle/>
          <a:p>
            <a:pPr algn="l">
              <a:lnSpc>
                <a:spcPct val="134000"/>
              </a:lnSpc>
            </a:pPr>
            <a:r>
              <a:rPr sz="1060" b="0" i="0">
                <a:solidFill>
                  <a:srgbClr val="3C4653"/>
                </a:solidFill>
                <a:latin typeface="Segoe UI"/>
              </a:rPr>
              <a:t>Exactly two hours of warning — enough time to stop sending new sessions there.</a:t>
            </a:r>
          </a:p>
        </p:txBody>
      </p:sp>
      <p:sp>
        <p:nvSpPr>
          <p:cNvPr id="27" name="TextBox 26"/>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VERIFICATION</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We test the simulator against itself</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Claiming a simulator is realistic is easy. We check it instead: take its own output, re-fit every distribution from that output, and compare against what we asked for.</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Rectangle 7"/>
          <p:cNvSpPr/>
          <p:nvPr/>
        </p:nvSpPr>
        <p:spPr>
          <a:xfrm>
            <a:off x="658368" y="2297684"/>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425700"/>
            <a:ext cx="1514551"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0.0</a:t>
            </a:r>
            <a:r>
              <a:rPr sz="950" b="0" i="0">
                <a:solidFill>
                  <a:srgbClr val="6C7683"/>
                </a:solidFill>
                <a:latin typeface="Consolas"/>
              </a:rPr>
              <a:t> bytes</a:t>
            </a:r>
          </a:p>
        </p:txBody>
      </p:sp>
      <p:sp>
        <p:nvSpPr>
          <p:cNvPr id="10" name="TextBox 9"/>
          <p:cNvSpPr txBox="1"/>
          <p:nvPr/>
        </p:nvSpPr>
        <p:spPr>
          <a:xfrm>
            <a:off x="804672" y="2882900"/>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TRAFFIC THAT</a:t>
            </a:r>
          </a:p>
          <a:p>
            <a:pPr algn="l">
              <a:lnSpc>
                <a:spcPct val="130000"/>
              </a:lnSpc>
              <a:spcBef>
                <a:spcPts val="0"/>
              </a:spcBef>
            </a:pPr>
            <a:r>
              <a:rPr sz="819" b="0" i="0">
                <a:solidFill>
                  <a:srgbClr val="6C7683"/>
                </a:solidFill>
                <a:latin typeface="Consolas"/>
              </a:rPr>
              <a:t>DOESN'T ADD UP</a:t>
            </a:r>
          </a:p>
        </p:txBody>
      </p:sp>
      <p:sp>
        <p:nvSpPr>
          <p:cNvPr id="11" name="Rectangle 10"/>
          <p:cNvSpPr/>
          <p:nvPr/>
        </p:nvSpPr>
        <p:spPr>
          <a:xfrm>
            <a:off x="2479243" y="2297684"/>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25547" y="2425700"/>
            <a:ext cx="1514551"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0.8198</a:t>
            </a:r>
          </a:p>
        </p:txBody>
      </p:sp>
      <p:sp>
        <p:nvSpPr>
          <p:cNvPr id="13" name="TextBox 12"/>
          <p:cNvSpPr txBox="1"/>
          <p:nvPr/>
        </p:nvSpPr>
        <p:spPr>
          <a:xfrm>
            <a:off x="2625547" y="2882900"/>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MEASURED DRIFT</a:t>
            </a:r>
          </a:p>
          <a:p>
            <a:pPr algn="l">
              <a:lnSpc>
                <a:spcPct val="130000"/>
              </a:lnSpc>
              <a:spcBef>
                <a:spcPts val="0"/>
              </a:spcBef>
            </a:pPr>
            <a:r>
              <a:rPr sz="819" b="0" i="0">
                <a:solidFill>
                  <a:srgbClr val="6C7683"/>
                </a:solidFill>
                <a:latin typeface="Consolas"/>
              </a:rPr>
              <a:t>WE ASKED FOR 0.8200</a:t>
            </a:r>
          </a:p>
        </p:txBody>
      </p:sp>
      <p:sp>
        <p:nvSpPr>
          <p:cNvPr id="14" name="Rectangle 13"/>
          <p:cNvSpPr/>
          <p:nvPr/>
        </p:nvSpPr>
        <p:spPr>
          <a:xfrm>
            <a:off x="4300118" y="2297684"/>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6422" y="2425700"/>
            <a:ext cx="1514551"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0.00</a:t>
            </a:r>
            <a:r>
              <a:rPr sz="950" b="0" i="0">
                <a:solidFill>
                  <a:srgbClr val="6C7683"/>
                </a:solidFill>
                <a:latin typeface="Consolas"/>
              </a:rPr>
              <a:t>%</a:t>
            </a:r>
          </a:p>
        </p:txBody>
      </p:sp>
      <p:sp>
        <p:nvSpPr>
          <p:cNvPr id="16" name="TextBox 15"/>
          <p:cNvSpPr txBox="1"/>
          <p:nvPr/>
        </p:nvSpPr>
        <p:spPr>
          <a:xfrm>
            <a:off x="4446422" y="2882900"/>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SESSION-LENGTH</a:t>
            </a:r>
          </a:p>
          <a:p>
            <a:pPr algn="l">
              <a:lnSpc>
                <a:spcPct val="130000"/>
              </a:lnSpc>
              <a:spcBef>
                <a:spcPts val="0"/>
              </a:spcBef>
            </a:pPr>
            <a:r>
              <a:rPr sz="819" b="0" i="0">
                <a:solidFill>
                  <a:srgbClr val="6C7683"/>
                </a:solidFill>
                <a:latin typeface="Consolas"/>
              </a:rPr>
              <a:t>ERROR</a:t>
            </a:r>
          </a:p>
        </p:txBody>
      </p:sp>
      <p:sp>
        <p:nvSpPr>
          <p:cNvPr id="17" name="Rectangle 16"/>
          <p:cNvSpPr/>
          <p:nvPr/>
        </p:nvSpPr>
        <p:spPr>
          <a:xfrm>
            <a:off x="6120993" y="2297684"/>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297" y="2425700"/>
            <a:ext cx="1514551"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0.31</a:t>
            </a:r>
            <a:r>
              <a:rPr sz="950" b="0" i="0">
                <a:solidFill>
                  <a:srgbClr val="6C7683"/>
                </a:solidFill>
                <a:latin typeface="Consolas"/>
              </a:rPr>
              <a:t>%</a:t>
            </a:r>
          </a:p>
        </p:txBody>
      </p:sp>
      <p:sp>
        <p:nvSpPr>
          <p:cNvPr id="19" name="TextBox 18"/>
          <p:cNvSpPr txBox="1"/>
          <p:nvPr/>
        </p:nvSpPr>
        <p:spPr>
          <a:xfrm>
            <a:off x="6267297" y="2882900"/>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BANDWIDTH</a:t>
            </a:r>
          </a:p>
          <a:p>
            <a:pPr algn="l">
              <a:lnSpc>
                <a:spcPct val="130000"/>
              </a:lnSpc>
              <a:spcBef>
                <a:spcPts val="0"/>
              </a:spcBef>
            </a:pPr>
            <a:r>
              <a:rPr sz="819" b="0" i="0">
                <a:solidFill>
                  <a:srgbClr val="6C7683"/>
                </a:solidFill>
                <a:latin typeface="Consolas"/>
              </a:rPr>
              <a:t>ERROR</a:t>
            </a:r>
          </a:p>
        </p:txBody>
      </p:sp>
      <p:sp>
        <p:nvSpPr>
          <p:cNvPr id="20" name="Rectangle 19"/>
          <p:cNvSpPr/>
          <p:nvPr/>
        </p:nvSpPr>
        <p:spPr>
          <a:xfrm>
            <a:off x="7941868" y="2297684"/>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8172" y="2425700"/>
            <a:ext cx="1514551"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EXACT</a:t>
            </a:r>
          </a:p>
        </p:txBody>
      </p:sp>
      <p:sp>
        <p:nvSpPr>
          <p:cNvPr id="22" name="TextBox 21"/>
          <p:cNvSpPr txBox="1"/>
          <p:nvPr/>
        </p:nvSpPr>
        <p:spPr>
          <a:xfrm>
            <a:off x="8088172" y="2882900"/>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PEOPLE COUNTED</a:t>
            </a:r>
          </a:p>
          <a:p>
            <a:pPr algn="l">
              <a:lnSpc>
                <a:spcPct val="130000"/>
              </a:lnSpc>
              <a:spcBef>
                <a:spcPts val="0"/>
              </a:spcBef>
            </a:pPr>
            <a:r>
              <a:rPr sz="819" b="0" i="0">
                <a:solidFill>
                  <a:srgbClr val="6C7683"/>
                </a:solidFill>
                <a:latin typeface="Consolas"/>
              </a:rPr>
              <a:t>IN AND OUT</a:t>
            </a:r>
          </a:p>
        </p:txBody>
      </p:sp>
      <p:sp>
        <p:nvSpPr>
          <p:cNvPr id="23" name="Rectangle 22"/>
          <p:cNvSpPr/>
          <p:nvPr/>
        </p:nvSpPr>
        <p:spPr>
          <a:xfrm>
            <a:off x="9762744" y="2297684"/>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09048" y="2425700"/>
            <a:ext cx="1514551"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0</a:t>
            </a:r>
          </a:p>
        </p:txBody>
      </p:sp>
      <p:sp>
        <p:nvSpPr>
          <p:cNvPr id="25" name="TextBox 24"/>
          <p:cNvSpPr txBox="1"/>
          <p:nvPr/>
        </p:nvSpPr>
        <p:spPr>
          <a:xfrm>
            <a:off x="9909048" y="2882900"/>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SESSIONS SENT TO A</a:t>
            </a:r>
          </a:p>
          <a:p>
            <a:pPr algn="l">
              <a:lnSpc>
                <a:spcPct val="130000"/>
              </a:lnSpc>
              <a:spcBef>
                <a:spcPts val="0"/>
              </a:spcBef>
            </a:pPr>
            <a:r>
              <a:rPr sz="819" b="0" i="0">
                <a:solidFill>
                  <a:srgbClr val="6C7683"/>
                </a:solidFill>
                <a:latin typeface="Consolas"/>
              </a:rPr>
              <a:t>BANNED OR DEAD BOX</a:t>
            </a:r>
          </a:p>
        </p:txBody>
      </p:sp>
      <p:sp>
        <p:nvSpPr>
          <p:cNvPr id="26" name="Rectangle 25"/>
          <p:cNvSpPr/>
          <p:nvPr/>
        </p:nvSpPr>
        <p:spPr>
          <a:xfrm>
            <a:off x="658368" y="3468116"/>
            <a:ext cx="5245455" cy="23774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3632708"/>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ONE SIMULATED DAY, IN BYTES</a:t>
            </a:r>
          </a:p>
        </p:txBody>
      </p:sp>
      <p:sp>
        <p:nvSpPr>
          <p:cNvPr id="28" name="TextBox 27"/>
          <p:cNvSpPr txBox="1"/>
          <p:nvPr/>
        </p:nvSpPr>
        <p:spPr>
          <a:xfrm>
            <a:off x="859536" y="3943604"/>
            <a:ext cx="4843119" cy="1755647"/>
          </a:xfrm>
          <a:prstGeom prst="rect">
            <a:avLst/>
          </a:prstGeom>
          <a:noFill/>
        </p:spPr>
        <p:txBody>
          <a:bodyPr wrap="square" anchor="t" lIns="0" rIns="0" tIns="0" bIns="0">
            <a:spAutoFit/>
          </a:bodyPr>
          <a:lstStyle/>
          <a:p>
            <a:pPr algn="l">
              <a:lnSpc>
                <a:spcPct val="140000"/>
              </a:lnSpc>
            </a:pPr>
            <a:r>
              <a:rPr sz="1200" b="0" i="0">
                <a:solidFill>
                  <a:srgbClr val="3C4653"/>
                </a:solidFill>
                <a:latin typeface="Segoe UI"/>
              </a:rPr>
              <a:t>A single day carries 377.2 TB down and 113.8 TB up.</a:t>
            </a:r>
          </a:p>
          <a:p>
            <a:pPr algn="l">
              <a:lnSpc>
                <a:spcPct val="140000"/>
              </a:lnSpc>
              <a:spcBef>
                <a:spcPts val="800"/>
              </a:spcBef>
            </a:pPr>
            <a:r>
              <a:rPr sz="1200" b="0" i="0">
                <a:solidFill>
                  <a:srgbClr val="3C4653"/>
                </a:solidFill>
                <a:latin typeface="Segoe UI"/>
              </a:rPr>
              <a:t>Of that, 239.6 GB down and 81.2 GB up are dropped. Nothing is rejected, and nothing is left stuck in a queue at the end of the day.</a:t>
            </a:r>
          </a:p>
          <a:p>
            <a:pPr algn="l">
              <a:lnSpc>
                <a:spcPct val="140000"/>
              </a:lnSpc>
              <a:spcBef>
                <a:spcPts val="800"/>
              </a:spcBef>
            </a:pPr>
            <a:r>
              <a:rPr sz="1200" b="0" i="0">
                <a:solidFill>
                  <a:srgbClr val="3C4653"/>
                </a:solidFill>
                <a:latin typeface="Segoe UI"/>
              </a:rPr>
              <a:t>Every byte is accounted for. The maximum discrepancy across the whole run is exactly zero.</a:t>
            </a:r>
          </a:p>
        </p:txBody>
      </p:sp>
      <p:sp>
        <p:nvSpPr>
          <p:cNvPr id="29" name="Rectangle 28"/>
          <p:cNvSpPr/>
          <p:nvPr/>
        </p:nvSpPr>
        <p:spPr>
          <a:xfrm>
            <a:off x="6287871" y="3468116"/>
            <a:ext cx="5245455" cy="287324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89039" y="3632708"/>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WHAT WE ARE NOT CLAIMING</a:t>
            </a:r>
          </a:p>
        </p:txBody>
      </p:sp>
      <p:sp>
        <p:nvSpPr>
          <p:cNvPr id="31" name="TextBox 30"/>
          <p:cNvSpPr txBox="1"/>
          <p:nvPr/>
        </p:nvSpPr>
        <p:spPr>
          <a:xfrm>
            <a:off x="6489039" y="3943604"/>
            <a:ext cx="4843119" cy="2251455"/>
          </a:xfrm>
          <a:prstGeom prst="rect">
            <a:avLst/>
          </a:prstGeom>
          <a:noFill/>
        </p:spPr>
        <p:txBody>
          <a:bodyPr wrap="square" anchor="t" lIns="0" rIns="0" tIns="0" bIns="0">
            <a:spAutoFit/>
          </a:bodyPr>
          <a:lstStyle/>
          <a:p>
            <a:pPr algn="l">
              <a:lnSpc>
                <a:spcPct val="140000"/>
              </a:lnSpc>
            </a:pPr>
            <a:r>
              <a:rPr sz="1200" b="0" i="0">
                <a:solidFill>
                  <a:srgbClr val="3C4653"/>
                </a:solidFill>
                <a:latin typeface="Segoe UI"/>
              </a:rPr>
              <a:t>The shapes come from published 3GPP standards and public measurement studies — how many service classes exist, how a stadium crowd behaves, how session lengths are distributed.</a:t>
            </a:r>
          </a:p>
          <a:p>
            <a:pPr algn="l">
              <a:lnSpc>
                <a:spcPct val="140000"/>
              </a:lnSpc>
              <a:spcBef>
                <a:spcPts val="800"/>
              </a:spcBef>
            </a:pPr>
            <a:r>
              <a:rPr sz="1200" b="0" i="0">
                <a:solidFill>
                  <a:srgbClr val="3C4653"/>
                </a:solidFill>
                <a:latin typeface="Segoe UI"/>
              </a:rPr>
              <a:t>The absolute numbers — Mbps per session, box capacity, queue size — are our own assumptions.</a:t>
            </a:r>
          </a:p>
          <a:p>
            <a:pPr algn="l">
              <a:lnSpc>
                <a:spcPct val="140000"/>
              </a:lnSpc>
              <a:spcBef>
                <a:spcPts val="800"/>
              </a:spcBef>
            </a:pPr>
            <a:r>
              <a:rPr sz="1200" b="0" i="0">
                <a:solidFill>
                  <a:srgbClr val="3C4653"/>
                </a:solidFill>
                <a:latin typeface="Segoe UI"/>
              </a:rPr>
              <a:t>Honest claim: standards-based, statistically verified synthetic traffic at national scale, not yet matched to real C-DOT measurements.</a:t>
            </a:r>
          </a:p>
        </p:txBody>
      </p:sp>
      <p:sp>
        <p:nvSpPr>
          <p:cNvPr id="32" name="TextBox 31"/>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DATA QUALITY</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We deliberately break the telemetry</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A model trained on perfect counters will fail the moment it meets a real network. So the measurement channel is generated separately from the truth, and we inject faults on purpose.</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Rectangle 7"/>
          <p:cNvSpPr/>
          <p:nvPr/>
        </p:nvSpPr>
        <p:spPr>
          <a:xfrm>
            <a:off x="658368" y="2532126"/>
            <a:ext cx="1647899"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60142"/>
            <a:ext cx="1391867" cy="384048"/>
          </a:xfrm>
          <a:prstGeom prst="rect">
            <a:avLst/>
          </a:prstGeom>
          <a:noFill/>
        </p:spPr>
        <p:txBody>
          <a:bodyPr wrap="square" anchor="t" lIns="0" rIns="0" tIns="0" bIns="0">
            <a:spAutoFit/>
          </a:bodyPr>
          <a:lstStyle/>
          <a:p>
            <a:pPr algn="l">
              <a:lnSpc>
                <a:spcPct val="100000"/>
              </a:lnSpc>
            </a:pPr>
            <a:r>
              <a:rPr sz="2000" b="0" i="0">
                <a:solidFill>
                  <a:srgbClr val="B5761F"/>
                </a:solidFill>
                <a:latin typeface="Georgia"/>
              </a:rPr>
              <a:t>0.8</a:t>
            </a:r>
            <a:r>
              <a:rPr sz="1000" b="0" i="0">
                <a:solidFill>
                  <a:srgbClr val="6C7683"/>
                </a:solidFill>
                <a:latin typeface="Consolas"/>
              </a:rPr>
              <a:t>%</a:t>
            </a:r>
          </a:p>
        </p:txBody>
      </p:sp>
      <p:sp>
        <p:nvSpPr>
          <p:cNvPr id="10" name="TextBox 9"/>
          <p:cNvSpPr txBox="1"/>
          <p:nvPr/>
        </p:nvSpPr>
        <p:spPr>
          <a:xfrm>
            <a:off x="804672" y="3062478"/>
            <a:ext cx="1391867"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READINGS THAT</a:t>
            </a:r>
          </a:p>
          <a:p>
            <a:pPr algn="l">
              <a:lnSpc>
                <a:spcPct val="130000"/>
              </a:lnSpc>
              <a:spcBef>
                <a:spcPts val="0"/>
              </a:spcBef>
            </a:pPr>
            <a:r>
              <a:rPr sz="819" b="0" i="0">
                <a:solidFill>
                  <a:srgbClr val="6C7683"/>
                </a:solidFill>
                <a:latin typeface="Consolas"/>
              </a:rPr>
              <a:t>GO MISSING</a:t>
            </a:r>
          </a:p>
        </p:txBody>
      </p:sp>
      <p:sp>
        <p:nvSpPr>
          <p:cNvPr id="11" name="Rectangle 10"/>
          <p:cNvSpPr/>
          <p:nvPr/>
        </p:nvSpPr>
        <p:spPr>
          <a:xfrm>
            <a:off x="2356559" y="2532126"/>
            <a:ext cx="1647899"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02863" y="2660142"/>
            <a:ext cx="1391867" cy="384048"/>
          </a:xfrm>
          <a:prstGeom prst="rect">
            <a:avLst/>
          </a:prstGeom>
          <a:noFill/>
        </p:spPr>
        <p:txBody>
          <a:bodyPr wrap="square" anchor="t" lIns="0" rIns="0" tIns="0" bIns="0">
            <a:spAutoFit/>
          </a:bodyPr>
          <a:lstStyle/>
          <a:p>
            <a:pPr algn="l">
              <a:lnSpc>
                <a:spcPct val="100000"/>
              </a:lnSpc>
            </a:pPr>
            <a:r>
              <a:rPr sz="2000" b="0" i="0">
                <a:solidFill>
                  <a:srgbClr val="B5761F"/>
                </a:solidFill>
                <a:latin typeface="Georgia"/>
              </a:rPr>
              <a:t>0.4</a:t>
            </a:r>
            <a:r>
              <a:rPr sz="1000" b="0" i="0">
                <a:solidFill>
                  <a:srgbClr val="6C7683"/>
                </a:solidFill>
                <a:latin typeface="Consolas"/>
              </a:rPr>
              <a:t>%</a:t>
            </a:r>
          </a:p>
        </p:txBody>
      </p:sp>
      <p:sp>
        <p:nvSpPr>
          <p:cNvPr id="13" name="TextBox 12"/>
          <p:cNvSpPr txBox="1"/>
          <p:nvPr/>
        </p:nvSpPr>
        <p:spPr>
          <a:xfrm>
            <a:off x="2502863" y="3062478"/>
            <a:ext cx="1391867"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READINGS THAT</a:t>
            </a:r>
          </a:p>
          <a:p>
            <a:pPr algn="l">
              <a:lnSpc>
                <a:spcPct val="130000"/>
              </a:lnSpc>
              <a:spcBef>
                <a:spcPts val="0"/>
              </a:spcBef>
            </a:pPr>
            <a:r>
              <a:rPr sz="819" b="0" i="0">
                <a:solidFill>
                  <a:srgbClr val="6C7683"/>
                </a:solidFill>
                <a:latin typeface="Consolas"/>
              </a:rPr>
              <a:t>ARE STALE</a:t>
            </a:r>
          </a:p>
        </p:txBody>
      </p:sp>
      <p:sp>
        <p:nvSpPr>
          <p:cNvPr id="14" name="Rectangle 13"/>
          <p:cNvSpPr/>
          <p:nvPr/>
        </p:nvSpPr>
        <p:spPr>
          <a:xfrm>
            <a:off x="4054751" y="2532126"/>
            <a:ext cx="1647899"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1055" y="2660142"/>
            <a:ext cx="1391867" cy="384048"/>
          </a:xfrm>
          <a:prstGeom prst="rect">
            <a:avLst/>
          </a:prstGeom>
          <a:noFill/>
        </p:spPr>
        <p:txBody>
          <a:bodyPr wrap="square" anchor="t" lIns="0" rIns="0" tIns="0" bIns="0">
            <a:spAutoFit/>
          </a:bodyPr>
          <a:lstStyle/>
          <a:p>
            <a:pPr algn="l">
              <a:lnSpc>
                <a:spcPct val="100000"/>
              </a:lnSpc>
            </a:pPr>
            <a:r>
              <a:rPr sz="2000" b="0" i="0">
                <a:solidFill>
                  <a:srgbClr val="B5761F"/>
                </a:solidFill>
                <a:latin typeface="Georgia"/>
              </a:rPr>
              <a:t>0.08</a:t>
            </a:r>
            <a:r>
              <a:rPr sz="1000" b="0" i="0">
                <a:solidFill>
                  <a:srgbClr val="6C7683"/>
                </a:solidFill>
                <a:latin typeface="Consolas"/>
              </a:rPr>
              <a:t>%</a:t>
            </a:r>
          </a:p>
        </p:txBody>
      </p:sp>
      <p:sp>
        <p:nvSpPr>
          <p:cNvPr id="16" name="TextBox 15"/>
          <p:cNvSpPr txBox="1"/>
          <p:nvPr/>
        </p:nvSpPr>
        <p:spPr>
          <a:xfrm>
            <a:off x="4201055" y="3062478"/>
            <a:ext cx="1391867"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COUNTER</a:t>
            </a:r>
          </a:p>
          <a:p>
            <a:pPr algn="l">
              <a:lnSpc>
                <a:spcPct val="130000"/>
              </a:lnSpc>
              <a:spcBef>
                <a:spcPts val="0"/>
              </a:spcBef>
            </a:pPr>
            <a:r>
              <a:rPr sz="819" b="0" i="0">
                <a:solidFill>
                  <a:srgbClr val="6C7683"/>
                </a:solidFill>
                <a:latin typeface="Consolas"/>
              </a:rPr>
              <a:t>RESETS</a:t>
            </a:r>
          </a:p>
        </p:txBody>
      </p:sp>
      <p:sp>
        <p:nvSpPr>
          <p:cNvPr id="17" name="Rectangle 16"/>
          <p:cNvSpPr/>
          <p:nvPr/>
        </p:nvSpPr>
        <p:spPr>
          <a:xfrm>
            <a:off x="5752943" y="2532126"/>
            <a:ext cx="1647899"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99247" y="2660142"/>
            <a:ext cx="1391867" cy="384048"/>
          </a:xfrm>
          <a:prstGeom prst="rect">
            <a:avLst/>
          </a:prstGeom>
          <a:noFill/>
        </p:spPr>
        <p:txBody>
          <a:bodyPr wrap="square" anchor="t" lIns="0" rIns="0" tIns="0" bIns="0">
            <a:spAutoFit/>
          </a:bodyPr>
          <a:lstStyle/>
          <a:p>
            <a:pPr algn="l">
              <a:lnSpc>
                <a:spcPct val="100000"/>
              </a:lnSpc>
            </a:pPr>
            <a:r>
              <a:rPr sz="2000" b="0" i="0">
                <a:solidFill>
                  <a:srgbClr val="B5761F"/>
                </a:solidFill>
                <a:latin typeface="Georgia"/>
              </a:rPr>
              <a:t>0.04</a:t>
            </a:r>
            <a:r>
              <a:rPr sz="1000" b="0" i="0">
                <a:solidFill>
                  <a:srgbClr val="6C7683"/>
                </a:solidFill>
                <a:latin typeface="Consolas"/>
              </a:rPr>
              <a:t>%</a:t>
            </a:r>
          </a:p>
        </p:txBody>
      </p:sp>
      <p:sp>
        <p:nvSpPr>
          <p:cNvPr id="19" name="TextBox 18"/>
          <p:cNvSpPr txBox="1"/>
          <p:nvPr/>
        </p:nvSpPr>
        <p:spPr>
          <a:xfrm>
            <a:off x="5899247" y="3062478"/>
            <a:ext cx="1391867"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PROCESS</a:t>
            </a:r>
          </a:p>
          <a:p>
            <a:pPr algn="l">
              <a:lnSpc>
                <a:spcPct val="130000"/>
              </a:lnSpc>
              <a:spcBef>
                <a:spcPts val="0"/>
              </a:spcBef>
            </a:pPr>
            <a:r>
              <a:rPr sz="819" b="0" i="0">
                <a:solidFill>
                  <a:srgbClr val="6C7683"/>
                </a:solidFill>
                <a:latin typeface="Consolas"/>
              </a:rPr>
              <a:t>RESTARTS</a:t>
            </a:r>
          </a:p>
        </p:txBody>
      </p:sp>
      <p:sp>
        <p:nvSpPr>
          <p:cNvPr id="20" name="TextBox 19"/>
          <p:cNvSpPr txBox="1"/>
          <p:nvPr/>
        </p:nvSpPr>
        <p:spPr>
          <a:xfrm>
            <a:off x="658368" y="3665981"/>
            <a:ext cx="6742474" cy="914400"/>
          </a:xfrm>
          <a:prstGeom prst="rect">
            <a:avLst/>
          </a:prstGeom>
          <a:noFill/>
        </p:spPr>
        <p:txBody>
          <a:bodyPr wrap="square" anchor="t" lIns="0" rIns="0" tIns="0" bIns="0">
            <a:spAutoFit/>
          </a:bodyPr>
          <a:lstStyle/>
          <a:p>
            <a:pPr algn="l">
              <a:lnSpc>
                <a:spcPct val="140000"/>
              </a:lnSpc>
            </a:pPr>
            <a:r>
              <a:rPr sz="1220" b="0" i="0">
                <a:solidFill>
                  <a:srgbClr val="3C4653"/>
                </a:solidFill>
                <a:latin typeface="Segoe UI"/>
              </a:rPr>
              <a:t>The clean-up layer then has to earn its numbers back. It never bridges across a counter reset, and it discards impossible values rather than smoothing them into something that merely looks plausible.</a:t>
            </a:r>
          </a:p>
        </p:txBody>
      </p:sp>
      <p:sp>
        <p:nvSpPr>
          <p:cNvPr id="21" name="Rectangle 20"/>
          <p:cNvSpPr/>
          <p:nvPr/>
        </p:nvSpPr>
        <p:spPr>
          <a:xfrm>
            <a:off x="658368" y="4763262"/>
            <a:ext cx="10874959" cy="117043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763262"/>
            <a:ext cx="34747" cy="1170432"/>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909566"/>
            <a:ext cx="10417759" cy="201168"/>
          </a:xfrm>
          <a:prstGeom prst="rect">
            <a:avLst/>
          </a:prstGeom>
          <a:noFill/>
        </p:spPr>
        <p:txBody>
          <a:bodyPr wrap="square" anchor="t" lIns="0" rIns="0" tIns="0" bIns="0">
            <a:spAutoFit/>
          </a:bodyPr>
          <a:lstStyle/>
          <a:p>
            <a:pPr algn="l">
              <a:lnSpc>
                <a:spcPct val="100000"/>
              </a:lnSpc>
            </a:pPr>
            <a:r>
              <a:rPr sz="950" b="1" i="0">
                <a:solidFill>
                  <a:srgbClr val="9C3B35"/>
                </a:solidFill>
                <a:latin typeface="Consolas"/>
              </a:rPr>
              <a:t>OUR BIGGEST PROCESS MISTAKE — CAUGHT BY THE CHECKS, NOT BY LUCK</a:t>
            </a:r>
          </a:p>
        </p:txBody>
      </p:sp>
      <p:sp>
        <p:nvSpPr>
          <p:cNvPr id="24" name="TextBox 23"/>
          <p:cNvSpPr txBox="1"/>
          <p:nvPr/>
        </p:nvSpPr>
        <p:spPr>
          <a:xfrm>
            <a:off x="896112" y="5165598"/>
            <a:ext cx="10372039" cy="713232"/>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Two complete rounds of forecast training data were thrown away because telemetry quality was averaged over a whole time bucket instead of using the latest reading from the relevant boxes — which is what the live system actually does. Eleven cluster jobs were cancelled. No protected test data was touched. We restarted from version 3.</a:t>
            </a:r>
          </a:p>
        </p:txBody>
      </p:sp>
      <p:sp>
        <p:nvSpPr>
          <p:cNvPr id="25" name="TextBox 24"/>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SCALE</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The numbers at full size</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16 weeks of history at 30-second resolution: 112 days, 322 560 steps, 16 128 decision rounds.</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TextBox 7"/>
          <p:cNvSpPr txBox="1"/>
          <p:nvPr/>
        </p:nvSpPr>
        <p:spPr>
          <a:xfrm>
            <a:off x="658368" y="2261108"/>
            <a:ext cx="5245455"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THE CONFIGURATION</a:t>
            </a:r>
          </a:p>
        </p:txBody>
      </p:sp>
      <p:sp>
        <p:nvSpPr>
          <p:cNvPr id="9" name="Rectangle 8"/>
          <p:cNvSpPr/>
          <p:nvPr/>
        </p:nvSpPr>
        <p:spPr>
          <a:xfrm>
            <a:off x="658368" y="2517140"/>
            <a:ext cx="5245455"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 y="2594864"/>
            <a:ext cx="2877772"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ITEM</a:t>
            </a:r>
          </a:p>
        </p:txBody>
      </p:sp>
      <p:sp>
        <p:nvSpPr>
          <p:cNvPr id="11" name="TextBox 10"/>
          <p:cNvSpPr txBox="1"/>
          <p:nvPr/>
        </p:nvSpPr>
        <p:spPr>
          <a:xfrm>
            <a:off x="3783028" y="2594864"/>
            <a:ext cx="2038499"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VALUE</a:t>
            </a:r>
          </a:p>
        </p:txBody>
      </p:sp>
      <p:sp>
        <p:nvSpPr>
          <p:cNvPr id="12" name="Rectangle 11"/>
          <p:cNvSpPr/>
          <p:nvPr/>
        </p:nvSpPr>
        <p:spPr>
          <a:xfrm>
            <a:off x="658368" y="2791460"/>
            <a:ext cx="5245455"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2841752"/>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Time simulated</a:t>
            </a:r>
          </a:p>
        </p:txBody>
      </p:sp>
      <p:sp>
        <p:nvSpPr>
          <p:cNvPr id="14" name="TextBox 13"/>
          <p:cNvSpPr txBox="1"/>
          <p:nvPr/>
        </p:nvSpPr>
        <p:spPr>
          <a:xfrm>
            <a:off x="3783028" y="2841752"/>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16 weeks / 112 days</a:t>
            </a:r>
          </a:p>
        </p:txBody>
      </p:sp>
      <p:sp>
        <p:nvSpPr>
          <p:cNvPr id="15" name="Rectangle 14"/>
          <p:cNvSpPr/>
          <p:nvPr/>
        </p:nvSpPr>
        <p:spPr>
          <a:xfrm>
            <a:off x="658368" y="2994456"/>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2994456"/>
            <a:ext cx="5245455" cy="2029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 y="3044748"/>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Step size</a:t>
            </a:r>
          </a:p>
        </p:txBody>
      </p:sp>
      <p:sp>
        <p:nvSpPr>
          <p:cNvPr id="18" name="TextBox 17"/>
          <p:cNvSpPr txBox="1"/>
          <p:nvPr/>
        </p:nvSpPr>
        <p:spPr>
          <a:xfrm>
            <a:off x="3783028" y="3044748"/>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30 s</a:t>
            </a:r>
          </a:p>
        </p:txBody>
      </p:sp>
      <p:sp>
        <p:nvSpPr>
          <p:cNvPr id="19" name="Rectangle 18"/>
          <p:cNvSpPr/>
          <p:nvPr/>
        </p:nvSpPr>
        <p:spPr>
          <a:xfrm>
            <a:off x="658368" y="3197453"/>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 y="3247745"/>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Total steps</a:t>
            </a:r>
          </a:p>
        </p:txBody>
      </p:sp>
      <p:sp>
        <p:nvSpPr>
          <p:cNvPr id="21" name="TextBox 20"/>
          <p:cNvSpPr txBox="1"/>
          <p:nvPr/>
        </p:nvSpPr>
        <p:spPr>
          <a:xfrm>
            <a:off x="3783028" y="3247745"/>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322 560</a:t>
            </a:r>
          </a:p>
        </p:txBody>
      </p:sp>
      <p:sp>
        <p:nvSpPr>
          <p:cNvPr id="22" name="Rectangle 21"/>
          <p:cNvSpPr/>
          <p:nvPr/>
        </p:nvSpPr>
        <p:spPr>
          <a:xfrm>
            <a:off x="658368" y="3400450"/>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400450"/>
            <a:ext cx="5245455" cy="2029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 y="3450742"/>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Decision round</a:t>
            </a:r>
          </a:p>
        </p:txBody>
      </p:sp>
      <p:sp>
        <p:nvSpPr>
          <p:cNvPr id="25" name="TextBox 24"/>
          <p:cNvSpPr txBox="1"/>
          <p:nvPr/>
        </p:nvSpPr>
        <p:spPr>
          <a:xfrm>
            <a:off x="3783028" y="3450742"/>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10 min / 20 steps</a:t>
            </a:r>
          </a:p>
        </p:txBody>
      </p:sp>
      <p:sp>
        <p:nvSpPr>
          <p:cNvPr id="26" name="Rectangle 25"/>
          <p:cNvSpPr/>
          <p:nvPr/>
        </p:nvSpPr>
        <p:spPr>
          <a:xfrm>
            <a:off x="658368" y="3603447"/>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 y="3653739"/>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Decision rounds</a:t>
            </a:r>
          </a:p>
        </p:txBody>
      </p:sp>
      <p:sp>
        <p:nvSpPr>
          <p:cNvPr id="28" name="TextBox 27"/>
          <p:cNvSpPr txBox="1"/>
          <p:nvPr/>
        </p:nvSpPr>
        <p:spPr>
          <a:xfrm>
            <a:off x="3783028" y="3653739"/>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16 128</a:t>
            </a:r>
          </a:p>
        </p:txBody>
      </p:sp>
      <p:sp>
        <p:nvSpPr>
          <p:cNvPr id="29" name="Rectangle 28"/>
          <p:cNvSpPr/>
          <p:nvPr/>
        </p:nvSpPr>
        <p:spPr>
          <a:xfrm>
            <a:off x="658368" y="3806443"/>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3806443"/>
            <a:ext cx="5245455" cy="2029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 y="3856735"/>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Training rows</a:t>
            </a:r>
          </a:p>
        </p:txBody>
      </p:sp>
      <p:sp>
        <p:nvSpPr>
          <p:cNvPr id="32" name="TextBox 31"/>
          <p:cNvSpPr txBox="1"/>
          <p:nvPr/>
        </p:nvSpPr>
        <p:spPr>
          <a:xfrm>
            <a:off x="3783028" y="3856735"/>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1 548 288</a:t>
            </a:r>
          </a:p>
        </p:txBody>
      </p:sp>
      <p:sp>
        <p:nvSpPr>
          <p:cNvPr id="33" name="Rectangle 32"/>
          <p:cNvSpPr/>
          <p:nvPr/>
        </p:nvSpPr>
        <p:spPr>
          <a:xfrm>
            <a:off x="658368" y="4009440"/>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64" y="4059732"/>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Per-box records</a:t>
            </a:r>
          </a:p>
        </p:txBody>
      </p:sp>
      <p:sp>
        <p:nvSpPr>
          <p:cNvPr id="35" name="TextBox 34"/>
          <p:cNvSpPr txBox="1"/>
          <p:nvPr/>
        </p:nvSpPr>
        <p:spPr>
          <a:xfrm>
            <a:off x="3783028" y="4059732"/>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7 741 440</a:t>
            </a:r>
          </a:p>
        </p:txBody>
      </p:sp>
      <p:sp>
        <p:nvSpPr>
          <p:cNvPr id="36" name="Rectangle 35"/>
          <p:cNvSpPr/>
          <p:nvPr/>
        </p:nvSpPr>
        <p:spPr>
          <a:xfrm>
            <a:off x="658368" y="4212437"/>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58368" y="4212437"/>
            <a:ext cx="5245455" cy="2029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0664" y="4262729"/>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Arrival counts stored</a:t>
            </a:r>
          </a:p>
        </p:txBody>
      </p:sp>
      <p:sp>
        <p:nvSpPr>
          <p:cNvPr id="39" name="TextBox 38"/>
          <p:cNvSpPr txBox="1"/>
          <p:nvPr/>
        </p:nvSpPr>
        <p:spPr>
          <a:xfrm>
            <a:off x="3783028" y="4262729"/>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30 965 760</a:t>
            </a:r>
          </a:p>
        </p:txBody>
      </p:sp>
      <p:sp>
        <p:nvSpPr>
          <p:cNvPr id="40" name="Rectangle 39"/>
          <p:cNvSpPr/>
          <p:nvPr/>
        </p:nvSpPr>
        <p:spPr>
          <a:xfrm>
            <a:off x="658368" y="4415434"/>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0664" y="4465726"/>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Box × group records</a:t>
            </a:r>
          </a:p>
        </p:txBody>
      </p:sp>
      <p:sp>
        <p:nvSpPr>
          <p:cNvPr id="42" name="TextBox 41"/>
          <p:cNvSpPr txBox="1"/>
          <p:nvPr/>
        </p:nvSpPr>
        <p:spPr>
          <a:xfrm>
            <a:off x="3783028" y="4465726"/>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9 289 728</a:t>
            </a:r>
          </a:p>
        </p:txBody>
      </p:sp>
      <p:sp>
        <p:nvSpPr>
          <p:cNvPr id="43" name="Rectangle 42"/>
          <p:cNvSpPr/>
          <p:nvPr/>
        </p:nvSpPr>
        <p:spPr>
          <a:xfrm>
            <a:off x="658368" y="4618431"/>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 y="4618431"/>
            <a:ext cx="5245455" cy="2029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0664" y="4668723"/>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Scheduled events</a:t>
            </a:r>
          </a:p>
        </p:txBody>
      </p:sp>
      <p:sp>
        <p:nvSpPr>
          <p:cNvPr id="46" name="TextBox 45"/>
          <p:cNvSpPr txBox="1"/>
          <p:nvPr/>
        </p:nvSpPr>
        <p:spPr>
          <a:xfrm>
            <a:off x="3783028" y="4668723"/>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258 656</a:t>
            </a:r>
          </a:p>
        </p:txBody>
      </p:sp>
      <p:sp>
        <p:nvSpPr>
          <p:cNvPr id="47" name="Rectangle 46"/>
          <p:cNvSpPr/>
          <p:nvPr/>
        </p:nvSpPr>
        <p:spPr>
          <a:xfrm>
            <a:off x="658368" y="4821428"/>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0664" y="4871720"/>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Sessions routed</a:t>
            </a:r>
          </a:p>
        </p:txBody>
      </p:sp>
      <p:sp>
        <p:nvSpPr>
          <p:cNvPr id="49" name="TextBox 48"/>
          <p:cNvSpPr txBox="1"/>
          <p:nvPr/>
        </p:nvSpPr>
        <p:spPr>
          <a:xfrm>
            <a:off x="3783028" y="4871720"/>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 4.39 billion</a:t>
            </a:r>
          </a:p>
        </p:txBody>
      </p:sp>
      <p:sp>
        <p:nvSpPr>
          <p:cNvPr id="50" name="Rectangle 49"/>
          <p:cNvSpPr/>
          <p:nvPr/>
        </p:nvSpPr>
        <p:spPr>
          <a:xfrm>
            <a:off x="658368" y="5024424"/>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58368" y="5024424"/>
            <a:ext cx="5245455" cy="2029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0664" y="5074716"/>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Output data size</a:t>
            </a:r>
          </a:p>
        </p:txBody>
      </p:sp>
      <p:sp>
        <p:nvSpPr>
          <p:cNvPr id="53" name="TextBox 52"/>
          <p:cNvSpPr txBox="1"/>
          <p:nvPr/>
        </p:nvSpPr>
        <p:spPr>
          <a:xfrm>
            <a:off x="3783028" y="5074716"/>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 9.6 GiB</a:t>
            </a:r>
          </a:p>
        </p:txBody>
      </p:sp>
      <p:sp>
        <p:nvSpPr>
          <p:cNvPr id="54" name="Rectangle 53"/>
          <p:cNvSpPr/>
          <p:nvPr/>
        </p:nvSpPr>
        <p:spPr>
          <a:xfrm>
            <a:off x="658368" y="5227421"/>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0664" y="5277713"/>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Estimated run time</a:t>
            </a:r>
          </a:p>
        </p:txBody>
      </p:sp>
      <p:sp>
        <p:nvSpPr>
          <p:cNvPr id="56" name="TextBox 55"/>
          <p:cNvSpPr txBox="1"/>
          <p:nvPr/>
        </p:nvSpPr>
        <p:spPr>
          <a:xfrm>
            <a:off x="3783028" y="5277713"/>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9 h 31 m</a:t>
            </a:r>
          </a:p>
        </p:txBody>
      </p:sp>
      <p:sp>
        <p:nvSpPr>
          <p:cNvPr id="57" name="Rectangle 56"/>
          <p:cNvSpPr/>
          <p:nvPr/>
        </p:nvSpPr>
        <p:spPr>
          <a:xfrm>
            <a:off x="658368" y="5430418"/>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58368" y="2517140"/>
            <a:ext cx="5245455" cy="2913278"/>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87871" y="2261108"/>
            <a:ext cx="5245455"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ONE MEASURED DAY</a:t>
            </a:r>
          </a:p>
        </p:txBody>
      </p:sp>
      <p:sp>
        <p:nvSpPr>
          <p:cNvPr id="60" name="Rectangle 59"/>
          <p:cNvSpPr/>
          <p:nvPr/>
        </p:nvSpPr>
        <p:spPr>
          <a:xfrm>
            <a:off x="6287871" y="2517140"/>
            <a:ext cx="5245455"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70167" y="2594864"/>
            <a:ext cx="2877772"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MEASUREMENT</a:t>
            </a:r>
          </a:p>
        </p:txBody>
      </p:sp>
      <p:sp>
        <p:nvSpPr>
          <p:cNvPr id="62" name="TextBox 61"/>
          <p:cNvSpPr txBox="1"/>
          <p:nvPr/>
        </p:nvSpPr>
        <p:spPr>
          <a:xfrm>
            <a:off x="9412531" y="2594864"/>
            <a:ext cx="2038499"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VALUE</a:t>
            </a:r>
          </a:p>
        </p:txBody>
      </p:sp>
      <p:sp>
        <p:nvSpPr>
          <p:cNvPr id="63" name="Rectangle 62"/>
          <p:cNvSpPr/>
          <p:nvPr/>
        </p:nvSpPr>
        <p:spPr>
          <a:xfrm>
            <a:off x="6287871" y="2791460"/>
            <a:ext cx="5245455"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287871" y="2791460"/>
            <a:ext cx="5245455" cy="202996"/>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0167" y="2841752"/>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New sessions started</a:t>
            </a:r>
          </a:p>
        </p:txBody>
      </p:sp>
      <p:sp>
        <p:nvSpPr>
          <p:cNvPr id="66" name="TextBox 65"/>
          <p:cNvSpPr txBox="1"/>
          <p:nvPr/>
        </p:nvSpPr>
        <p:spPr>
          <a:xfrm>
            <a:off x="9412531" y="2841752"/>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39 156 949 / day</a:t>
            </a:r>
          </a:p>
        </p:txBody>
      </p:sp>
      <p:sp>
        <p:nvSpPr>
          <p:cNvPr id="67" name="Rectangle 66"/>
          <p:cNvSpPr/>
          <p:nvPr/>
        </p:nvSpPr>
        <p:spPr>
          <a:xfrm>
            <a:off x="6287871" y="2994456"/>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287871" y="2994456"/>
            <a:ext cx="5245455" cy="2029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70167" y="3044748"/>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Average arrival rate</a:t>
            </a:r>
          </a:p>
        </p:txBody>
      </p:sp>
      <p:sp>
        <p:nvSpPr>
          <p:cNvPr id="70" name="TextBox 69"/>
          <p:cNvSpPr txBox="1"/>
          <p:nvPr/>
        </p:nvSpPr>
        <p:spPr>
          <a:xfrm>
            <a:off x="9412531" y="3044748"/>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453 sessions/s</a:t>
            </a:r>
          </a:p>
        </p:txBody>
      </p:sp>
      <p:sp>
        <p:nvSpPr>
          <p:cNvPr id="71" name="Rectangle 70"/>
          <p:cNvSpPr/>
          <p:nvPr/>
        </p:nvSpPr>
        <p:spPr>
          <a:xfrm>
            <a:off x="6287871" y="3197453"/>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370167" y="3247745"/>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Sessions active at day end</a:t>
            </a:r>
          </a:p>
        </p:txBody>
      </p:sp>
      <p:sp>
        <p:nvSpPr>
          <p:cNvPr id="73" name="TextBox 72"/>
          <p:cNvSpPr txBox="1"/>
          <p:nvPr/>
        </p:nvSpPr>
        <p:spPr>
          <a:xfrm>
            <a:off x="9412531" y="3247745"/>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12 758 353</a:t>
            </a:r>
          </a:p>
        </p:txBody>
      </p:sp>
      <p:sp>
        <p:nvSpPr>
          <p:cNvPr id="74" name="Rectangle 73"/>
          <p:cNvSpPr/>
          <p:nvPr/>
        </p:nvSpPr>
        <p:spPr>
          <a:xfrm>
            <a:off x="6287871" y="3400450"/>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87871" y="3400450"/>
            <a:ext cx="5245455" cy="2029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370167" y="3450742"/>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Steady-state active sessions</a:t>
            </a:r>
          </a:p>
        </p:txBody>
      </p:sp>
      <p:sp>
        <p:nvSpPr>
          <p:cNvPr id="77" name="TextBox 76"/>
          <p:cNvSpPr txBox="1"/>
          <p:nvPr/>
        </p:nvSpPr>
        <p:spPr>
          <a:xfrm>
            <a:off x="9412531" y="3450742"/>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13 422 319</a:t>
            </a:r>
          </a:p>
        </p:txBody>
      </p:sp>
      <p:sp>
        <p:nvSpPr>
          <p:cNvPr id="78" name="Rectangle 77"/>
          <p:cNvSpPr/>
          <p:nvPr/>
        </p:nvSpPr>
        <p:spPr>
          <a:xfrm>
            <a:off x="6287871" y="3603447"/>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370167" y="3653739"/>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Average session length</a:t>
            </a:r>
          </a:p>
        </p:txBody>
      </p:sp>
      <p:sp>
        <p:nvSpPr>
          <p:cNvPr id="80" name="TextBox 79"/>
          <p:cNvSpPr txBox="1"/>
          <p:nvPr/>
        </p:nvSpPr>
        <p:spPr>
          <a:xfrm>
            <a:off x="9412531" y="3653739"/>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8.23 h</a:t>
            </a:r>
          </a:p>
        </p:txBody>
      </p:sp>
      <p:sp>
        <p:nvSpPr>
          <p:cNvPr id="81" name="Rectangle 80"/>
          <p:cNvSpPr/>
          <p:nvPr/>
        </p:nvSpPr>
        <p:spPr>
          <a:xfrm>
            <a:off x="6287871" y="3806443"/>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287871" y="3806443"/>
            <a:ext cx="5245455" cy="202996"/>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370167" y="3856735"/>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Uplink, average / peak</a:t>
            </a:r>
          </a:p>
        </p:txBody>
      </p:sp>
      <p:sp>
        <p:nvSpPr>
          <p:cNvPr id="84" name="TextBox 83"/>
          <p:cNvSpPr txBox="1"/>
          <p:nvPr/>
        </p:nvSpPr>
        <p:spPr>
          <a:xfrm>
            <a:off x="9412531" y="3856735"/>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3.22 / 4.09 Tbps</a:t>
            </a:r>
          </a:p>
        </p:txBody>
      </p:sp>
      <p:sp>
        <p:nvSpPr>
          <p:cNvPr id="85" name="Rectangle 84"/>
          <p:cNvSpPr/>
          <p:nvPr/>
        </p:nvSpPr>
        <p:spPr>
          <a:xfrm>
            <a:off x="6287871" y="4009440"/>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287871" y="4009440"/>
            <a:ext cx="5245455" cy="202996"/>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370167" y="4059732"/>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Downlink, average / peak</a:t>
            </a:r>
          </a:p>
        </p:txBody>
      </p:sp>
      <p:sp>
        <p:nvSpPr>
          <p:cNvPr id="88" name="TextBox 87"/>
          <p:cNvSpPr txBox="1"/>
          <p:nvPr/>
        </p:nvSpPr>
        <p:spPr>
          <a:xfrm>
            <a:off x="9412531" y="4059732"/>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8.15 / 15.34 Tbps</a:t>
            </a:r>
          </a:p>
        </p:txBody>
      </p:sp>
      <p:sp>
        <p:nvSpPr>
          <p:cNvPr id="89" name="Rectangle 88"/>
          <p:cNvSpPr/>
          <p:nvPr/>
        </p:nvSpPr>
        <p:spPr>
          <a:xfrm>
            <a:off x="6287871" y="4212437"/>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87871" y="4212437"/>
            <a:ext cx="5245455" cy="2029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70167" y="4262729"/>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Actually carried, up / down</a:t>
            </a:r>
          </a:p>
        </p:txBody>
      </p:sp>
      <p:sp>
        <p:nvSpPr>
          <p:cNvPr id="92" name="TextBox 91"/>
          <p:cNvSpPr txBox="1"/>
          <p:nvPr/>
        </p:nvSpPr>
        <p:spPr>
          <a:xfrm>
            <a:off x="9412531" y="4262729"/>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3.18 / 8.03 Tbps</a:t>
            </a:r>
          </a:p>
        </p:txBody>
      </p:sp>
      <p:sp>
        <p:nvSpPr>
          <p:cNvPr id="93" name="Rectangle 92"/>
          <p:cNvSpPr/>
          <p:nvPr/>
        </p:nvSpPr>
        <p:spPr>
          <a:xfrm>
            <a:off x="6287871" y="4415434"/>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87871" y="4415434"/>
            <a:ext cx="5245455" cy="202996"/>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70167" y="4465726"/>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Total data offered</a:t>
            </a:r>
          </a:p>
        </p:txBody>
      </p:sp>
      <p:sp>
        <p:nvSpPr>
          <p:cNvPr id="96" name="TextBox 95"/>
          <p:cNvSpPr txBox="1"/>
          <p:nvPr/>
        </p:nvSpPr>
        <p:spPr>
          <a:xfrm>
            <a:off x="9412531" y="4465726"/>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122.84 PB / day</a:t>
            </a:r>
          </a:p>
        </p:txBody>
      </p:sp>
      <p:sp>
        <p:nvSpPr>
          <p:cNvPr id="97" name="Rectangle 96"/>
          <p:cNvSpPr/>
          <p:nvPr/>
        </p:nvSpPr>
        <p:spPr>
          <a:xfrm>
            <a:off x="6287871" y="4618431"/>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287871" y="4618431"/>
            <a:ext cx="5245455" cy="2029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370167" y="4668723"/>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Total data carried</a:t>
            </a:r>
          </a:p>
        </p:txBody>
      </p:sp>
      <p:sp>
        <p:nvSpPr>
          <p:cNvPr id="100" name="TextBox 99"/>
          <p:cNvSpPr txBox="1"/>
          <p:nvPr/>
        </p:nvSpPr>
        <p:spPr>
          <a:xfrm>
            <a:off x="9412531" y="4668723"/>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121.08 PB / day</a:t>
            </a:r>
          </a:p>
        </p:txBody>
      </p:sp>
      <p:sp>
        <p:nvSpPr>
          <p:cNvPr id="101" name="Rectangle 100"/>
          <p:cNvSpPr/>
          <p:nvPr/>
        </p:nvSpPr>
        <p:spPr>
          <a:xfrm>
            <a:off x="6287871" y="4821428"/>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370167" y="4871720"/>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Largest queue, up / down</a:t>
            </a:r>
          </a:p>
        </p:txBody>
      </p:sp>
      <p:sp>
        <p:nvSpPr>
          <p:cNvPr id="103" name="TextBox 102"/>
          <p:cNvSpPr txBox="1"/>
          <p:nvPr/>
        </p:nvSpPr>
        <p:spPr>
          <a:xfrm>
            <a:off x="9412531" y="4871720"/>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8.94 / 17.88 GiB</a:t>
            </a:r>
          </a:p>
        </p:txBody>
      </p:sp>
      <p:sp>
        <p:nvSpPr>
          <p:cNvPr id="104" name="Rectangle 103"/>
          <p:cNvSpPr/>
          <p:nvPr/>
        </p:nvSpPr>
        <p:spPr>
          <a:xfrm>
            <a:off x="6287871" y="5024424"/>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287871" y="5024424"/>
            <a:ext cx="5245455" cy="2029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370167" y="5074716"/>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Run time for one day</a:t>
            </a:r>
          </a:p>
        </p:txBody>
      </p:sp>
      <p:sp>
        <p:nvSpPr>
          <p:cNvPr id="107" name="TextBox 106"/>
          <p:cNvSpPr txBox="1"/>
          <p:nvPr/>
        </p:nvSpPr>
        <p:spPr>
          <a:xfrm>
            <a:off x="9412531" y="5074716"/>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5 m 06 s</a:t>
            </a:r>
          </a:p>
        </p:txBody>
      </p:sp>
      <p:sp>
        <p:nvSpPr>
          <p:cNvPr id="108" name="Rectangle 107"/>
          <p:cNvSpPr/>
          <p:nvPr/>
        </p:nvSpPr>
        <p:spPr>
          <a:xfrm>
            <a:off x="6287871" y="5227421"/>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370167" y="5277713"/>
            <a:ext cx="2877772" cy="148132"/>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Peak memory used</a:t>
            </a:r>
          </a:p>
        </p:txBody>
      </p:sp>
      <p:sp>
        <p:nvSpPr>
          <p:cNvPr id="110" name="TextBox 109"/>
          <p:cNvSpPr txBox="1"/>
          <p:nvPr/>
        </p:nvSpPr>
        <p:spPr>
          <a:xfrm>
            <a:off x="9412531" y="5277713"/>
            <a:ext cx="2038499" cy="148132"/>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602 MiB</a:t>
            </a:r>
          </a:p>
        </p:txBody>
      </p:sp>
      <p:sp>
        <p:nvSpPr>
          <p:cNvPr id="111" name="Rectangle 110"/>
          <p:cNvSpPr/>
          <p:nvPr/>
        </p:nvSpPr>
        <p:spPr>
          <a:xfrm>
            <a:off x="6287871" y="5430418"/>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6287871" y="2517140"/>
            <a:ext cx="5245455" cy="2913278"/>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KEY NUMBERS · THROUGHPUT</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How much traffic actually moves</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All figures are measured from the completed seed-20260805 calibration day at the 16-million-user scale. “Offered” is what the users asked for; “carried” is what the network actually delivered.</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Rectangle 7"/>
          <p:cNvSpPr/>
          <p:nvPr/>
        </p:nvSpPr>
        <p:spPr>
          <a:xfrm>
            <a:off x="658368" y="2532126"/>
            <a:ext cx="1770583" cy="10058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60142"/>
            <a:ext cx="1514551" cy="384048"/>
          </a:xfrm>
          <a:prstGeom prst="rect">
            <a:avLst/>
          </a:prstGeom>
          <a:noFill/>
        </p:spPr>
        <p:txBody>
          <a:bodyPr wrap="square" anchor="t" lIns="0" rIns="0" tIns="0" bIns="0">
            <a:spAutoFit/>
          </a:bodyPr>
          <a:lstStyle/>
          <a:p>
            <a:pPr algn="l">
              <a:lnSpc>
                <a:spcPct val="100000"/>
              </a:lnSpc>
            </a:pPr>
            <a:r>
              <a:rPr sz="1900" b="0" i="0">
                <a:solidFill>
                  <a:srgbClr val="0F4C5C"/>
                </a:solidFill>
                <a:latin typeface="Georgia"/>
              </a:rPr>
              <a:t>11.21</a:t>
            </a:r>
            <a:r>
              <a:rPr sz="950" b="0" i="0">
                <a:solidFill>
                  <a:srgbClr val="6C7683"/>
                </a:solidFill>
                <a:latin typeface="Consolas"/>
              </a:rPr>
              <a:t> Tbps</a:t>
            </a:r>
          </a:p>
        </p:txBody>
      </p:sp>
      <p:sp>
        <p:nvSpPr>
          <p:cNvPr id="10" name="TextBox 9"/>
          <p:cNvSpPr txBox="1"/>
          <p:nvPr/>
        </p:nvSpPr>
        <p:spPr>
          <a:xfrm>
            <a:off x="804672" y="315391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CARRIED, INSTANTANEOUS</a:t>
            </a:r>
          </a:p>
          <a:p>
            <a:pPr algn="l">
              <a:lnSpc>
                <a:spcPct val="130000"/>
              </a:lnSpc>
              <a:spcBef>
                <a:spcPts val="0"/>
              </a:spcBef>
            </a:pPr>
            <a:r>
              <a:rPr sz="819" b="0" i="0">
                <a:solidFill>
                  <a:srgbClr val="6C7683"/>
                </a:solidFill>
                <a:latin typeface="Consolas"/>
              </a:rPr>
              <a:t>AVERAGE, BOTH DIRECTIONS</a:t>
            </a:r>
          </a:p>
        </p:txBody>
      </p:sp>
      <p:sp>
        <p:nvSpPr>
          <p:cNvPr id="11" name="Rectangle 10"/>
          <p:cNvSpPr/>
          <p:nvPr/>
        </p:nvSpPr>
        <p:spPr>
          <a:xfrm>
            <a:off x="2479243" y="2532126"/>
            <a:ext cx="1770583" cy="10058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25547" y="2660142"/>
            <a:ext cx="1514551" cy="384048"/>
          </a:xfrm>
          <a:prstGeom prst="rect">
            <a:avLst/>
          </a:prstGeom>
          <a:noFill/>
        </p:spPr>
        <p:txBody>
          <a:bodyPr wrap="square" anchor="t" lIns="0" rIns="0" tIns="0" bIns="0">
            <a:spAutoFit/>
          </a:bodyPr>
          <a:lstStyle/>
          <a:p>
            <a:pPr algn="l">
              <a:lnSpc>
                <a:spcPct val="100000"/>
              </a:lnSpc>
            </a:pPr>
            <a:r>
              <a:rPr sz="1900" b="0" i="0">
                <a:solidFill>
                  <a:srgbClr val="0F4C5C"/>
                </a:solidFill>
                <a:latin typeface="Georgia"/>
              </a:rPr>
              <a:t>3.18</a:t>
            </a:r>
            <a:r>
              <a:rPr sz="950" b="0" i="0">
                <a:solidFill>
                  <a:srgbClr val="6C7683"/>
                </a:solidFill>
                <a:latin typeface="Consolas"/>
              </a:rPr>
              <a:t> Tbps</a:t>
            </a:r>
          </a:p>
        </p:txBody>
      </p:sp>
      <p:sp>
        <p:nvSpPr>
          <p:cNvPr id="13" name="TextBox 12"/>
          <p:cNvSpPr txBox="1"/>
          <p:nvPr/>
        </p:nvSpPr>
        <p:spPr>
          <a:xfrm>
            <a:off x="2625547" y="315391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CARRIED</a:t>
            </a:r>
          </a:p>
          <a:p>
            <a:pPr algn="l">
              <a:lnSpc>
                <a:spcPct val="130000"/>
              </a:lnSpc>
              <a:spcBef>
                <a:spcPts val="0"/>
              </a:spcBef>
            </a:pPr>
            <a:r>
              <a:rPr sz="819" b="0" i="0">
                <a:solidFill>
                  <a:srgbClr val="6C7683"/>
                </a:solidFill>
                <a:latin typeface="Consolas"/>
              </a:rPr>
              <a:t>UPLINK</a:t>
            </a:r>
          </a:p>
        </p:txBody>
      </p:sp>
      <p:sp>
        <p:nvSpPr>
          <p:cNvPr id="14" name="Rectangle 13"/>
          <p:cNvSpPr/>
          <p:nvPr/>
        </p:nvSpPr>
        <p:spPr>
          <a:xfrm>
            <a:off x="4300118" y="2532126"/>
            <a:ext cx="1770583" cy="10058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6422" y="2660142"/>
            <a:ext cx="1514551" cy="384048"/>
          </a:xfrm>
          <a:prstGeom prst="rect">
            <a:avLst/>
          </a:prstGeom>
          <a:noFill/>
        </p:spPr>
        <p:txBody>
          <a:bodyPr wrap="square" anchor="t" lIns="0" rIns="0" tIns="0" bIns="0">
            <a:spAutoFit/>
          </a:bodyPr>
          <a:lstStyle/>
          <a:p>
            <a:pPr algn="l">
              <a:lnSpc>
                <a:spcPct val="100000"/>
              </a:lnSpc>
            </a:pPr>
            <a:r>
              <a:rPr sz="1900" b="0" i="0">
                <a:solidFill>
                  <a:srgbClr val="0F4C5C"/>
                </a:solidFill>
                <a:latin typeface="Georgia"/>
              </a:rPr>
              <a:t>8.03</a:t>
            </a:r>
            <a:r>
              <a:rPr sz="950" b="0" i="0">
                <a:solidFill>
                  <a:srgbClr val="6C7683"/>
                </a:solidFill>
                <a:latin typeface="Consolas"/>
              </a:rPr>
              <a:t> Tbps</a:t>
            </a:r>
          </a:p>
        </p:txBody>
      </p:sp>
      <p:sp>
        <p:nvSpPr>
          <p:cNvPr id="16" name="TextBox 15"/>
          <p:cNvSpPr txBox="1"/>
          <p:nvPr/>
        </p:nvSpPr>
        <p:spPr>
          <a:xfrm>
            <a:off x="4446422" y="315391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CARRIED</a:t>
            </a:r>
          </a:p>
          <a:p>
            <a:pPr algn="l">
              <a:lnSpc>
                <a:spcPct val="130000"/>
              </a:lnSpc>
              <a:spcBef>
                <a:spcPts val="0"/>
              </a:spcBef>
            </a:pPr>
            <a:r>
              <a:rPr sz="819" b="0" i="0">
                <a:solidFill>
                  <a:srgbClr val="6C7683"/>
                </a:solidFill>
                <a:latin typeface="Consolas"/>
              </a:rPr>
              <a:t>DOWNLINK</a:t>
            </a:r>
          </a:p>
        </p:txBody>
      </p:sp>
      <p:sp>
        <p:nvSpPr>
          <p:cNvPr id="17" name="Rectangle 16"/>
          <p:cNvSpPr/>
          <p:nvPr/>
        </p:nvSpPr>
        <p:spPr>
          <a:xfrm>
            <a:off x="6120993" y="2532126"/>
            <a:ext cx="1770583" cy="10058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297" y="2660142"/>
            <a:ext cx="1514551" cy="384048"/>
          </a:xfrm>
          <a:prstGeom prst="rect">
            <a:avLst/>
          </a:prstGeom>
          <a:noFill/>
        </p:spPr>
        <p:txBody>
          <a:bodyPr wrap="square" anchor="t" lIns="0" rIns="0" tIns="0" bIns="0">
            <a:spAutoFit/>
          </a:bodyPr>
          <a:lstStyle/>
          <a:p>
            <a:pPr algn="l">
              <a:lnSpc>
                <a:spcPct val="100000"/>
              </a:lnSpc>
            </a:pPr>
            <a:r>
              <a:rPr sz="1900" b="0" i="0">
                <a:solidFill>
                  <a:srgbClr val="B5761F"/>
                </a:solidFill>
                <a:latin typeface="Georgia"/>
              </a:rPr>
              <a:t>19.43</a:t>
            </a:r>
            <a:r>
              <a:rPr sz="950" b="0" i="0">
                <a:solidFill>
                  <a:srgbClr val="6C7683"/>
                </a:solidFill>
                <a:latin typeface="Consolas"/>
              </a:rPr>
              <a:t> Tbps</a:t>
            </a:r>
          </a:p>
        </p:txBody>
      </p:sp>
      <p:sp>
        <p:nvSpPr>
          <p:cNvPr id="19" name="TextBox 18"/>
          <p:cNvSpPr txBox="1"/>
          <p:nvPr/>
        </p:nvSpPr>
        <p:spPr>
          <a:xfrm>
            <a:off x="6267297" y="315391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PEAK OFFERED</a:t>
            </a:r>
          </a:p>
          <a:p>
            <a:pPr algn="l">
              <a:lnSpc>
                <a:spcPct val="130000"/>
              </a:lnSpc>
              <a:spcBef>
                <a:spcPts val="0"/>
              </a:spcBef>
            </a:pPr>
            <a:r>
              <a:rPr sz="819" b="0" i="0">
                <a:solidFill>
                  <a:srgbClr val="6C7683"/>
                </a:solidFill>
                <a:latin typeface="Consolas"/>
              </a:rPr>
              <a:t>BOTH DIRECTIONS</a:t>
            </a:r>
          </a:p>
        </p:txBody>
      </p:sp>
      <p:sp>
        <p:nvSpPr>
          <p:cNvPr id="20" name="Rectangle 19"/>
          <p:cNvSpPr/>
          <p:nvPr/>
        </p:nvSpPr>
        <p:spPr>
          <a:xfrm>
            <a:off x="7941868" y="2532126"/>
            <a:ext cx="1770583" cy="10058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8172" y="2660142"/>
            <a:ext cx="1514551" cy="384048"/>
          </a:xfrm>
          <a:prstGeom prst="rect">
            <a:avLst/>
          </a:prstGeom>
          <a:noFill/>
        </p:spPr>
        <p:txBody>
          <a:bodyPr wrap="square" anchor="t" lIns="0" rIns="0" tIns="0" bIns="0">
            <a:spAutoFit/>
          </a:bodyPr>
          <a:lstStyle/>
          <a:p>
            <a:pPr algn="l">
              <a:lnSpc>
                <a:spcPct val="100000"/>
              </a:lnSpc>
            </a:pPr>
            <a:r>
              <a:rPr sz="1900" b="0" i="0">
                <a:solidFill>
                  <a:srgbClr val="0F4C5C"/>
                </a:solidFill>
                <a:latin typeface="Georgia"/>
              </a:rPr>
              <a:t>121.08</a:t>
            </a:r>
            <a:r>
              <a:rPr sz="950" b="0" i="0">
                <a:solidFill>
                  <a:srgbClr val="6C7683"/>
                </a:solidFill>
                <a:latin typeface="Consolas"/>
              </a:rPr>
              <a:t> PB</a:t>
            </a:r>
          </a:p>
        </p:txBody>
      </p:sp>
      <p:sp>
        <p:nvSpPr>
          <p:cNvPr id="22" name="TextBox 21"/>
          <p:cNvSpPr txBox="1"/>
          <p:nvPr/>
        </p:nvSpPr>
        <p:spPr>
          <a:xfrm>
            <a:off x="8088172" y="315391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CARRIED</a:t>
            </a:r>
          </a:p>
          <a:p>
            <a:pPr algn="l">
              <a:lnSpc>
                <a:spcPct val="130000"/>
              </a:lnSpc>
              <a:spcBef>
                <a:spcPts val="0"/>
              </a:spcBef>
            </a:pPr>
            <a:r>
              <a:rPr sz="819" b="0" i="0">
                <a:solidFill>
                  <a:srgbClr val="6C7683"/>
                </a:solidFill>
                <a:latin typeface="Consolas"/>
              </a:rPr>
              <a:t>PER DAY</a:t>
            </a:r>
          </a:p>
        </p:txBody>
      </p:sp>
      <p:sp>
        <p:nvSpPr>
          <p:cNvPr id="23" name="Rectangle 22"/>
          <p:cNvSpPr/>
          <p:nvPr/>
        </p:nvSpPr>
        <p:spPr>
          <a:xfrm>
            <a:off x="9762744" y="2532126"/>
            <a:ext cx="1770583" cy="100584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09048" y="2660142"/>
            <a:ext cx="1514551" cy="384048"/>
          </a:xfrm>
          <a:prstGeom prst="rect">
            <a:avLst/>
          </a:prstGeom>
          <a:noFill/>
        </p:spPr>
        <p:txBody>
          <a:bodyPr wrap="square" anchor="t" lIns="0" rIns="0" tIns="0" bIns="0">
            <a:spAutoFit/>
          </a:bodyPr>
          <a:lstStyle/>
          <a:p>
            <a:pPr algn="l">
              <a:lnSpc>
                <a:spcPct val="100000"/>
              </a:lnSpc>
            </a:pPr>
            <a:r>
              <a:rPr sz="1900" b="0" i="0">
                <a:solidFill>
                  <a:srgbClr val="9C3B35"/>
                </a:solidFill>
                <a:latin typeface="Georgia"/>
              </a:rPr>
              <a:t>1.43</a:t>
            </a:r>
            <a:r>
              <a:rPr sz="950" b="0" i="0">
                <a:solidFill>
                  <a:srgbClr val="6C7683"/>
                </a:solidFill>
                <a:latin typeface="Consolas"/>
              </a:rPr>
              <a:t>%</a:t>
            </a:r>
          </a:p>
        </p:txBody>
      </p:sp>
      <p:sp>
        <p:nvSpPr>
          <p:cNvPr id="25" name="TextBox 24"/>
          <p:cNvSpPr txBox="1"/>
          <p:nvPr/>
        </p:nvSpPr>
        <p:spPr>
          <a:xfrm>
            <a:off x="9909048" y="3153918"/>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OFFERED TRAFFIC</a:t>
            </a:r>
          </a:p>
          <a:p>
            <a:pPr algn="l">
              <a:lnSpc>
                <a:spcPct val="130000"/>
              </a:lnSpc>
              <a:spcBef>
                <a:spcPts val="0"/>
              </a:spcBef>
            </a:pPr>
            <a:r>
              <a:rPr sz="819" b="0" i="0">
                <a:solidFill>
                  <a:srgbClr val="6C7683"/>
                </a:solidFill>
                <a:latin typeface="Consolas"/>
              </a:rPr>
              <a:t>NOT DELIVERED</a:t>
            </a:r>
          </a:p>
        </p:txBody>
      </p:sp>
      <p:sp>
        <p:nvSpPr>
          <p:cNvPr id="26" name="Rectangle 25"/>
          <p:cNvSpPr/>
          <p:nvPr/>
        </p:nvSpPr>
        <p:spPr>
          <a:xfrm>
            <a:off x="658368" y="3702557"/>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 y="3780281"/>
            <a:ext cx="2662897"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MEASURE</a:t>
            </a:r>
          </a:p>
        </p:txBody>
      </p:sp>
      <p:sp>
        <p:nvSpPr>
          <p:cNvPr id="28" name="TextBox 27"/>
          <p:cNvSpPr txBox="1"/>
          <p:nvPr/>
        </p:nvSpPr>
        <p:spPr>
          <a:xfrm>
            <a:off x="3568153" y="3780281"/>
            <a:ext cx="1357902"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UPLINK</a:t>
            </a:r>
          </a:p>
        </p:txBody>
      </p:sp>
      <p:sp>
        <p:nvSpPr>
          <p:cNvPr id="29" name="TextBox 28"/>
          <p:cNvSpPr txBox="1"/>
          <p:nvPr/>
        </p:nvSpPr>
        <p:spPr>
          <a:xfrm>
            <a:off x="5090647" y="3780281"/>
            <a:ext cx="1357902"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DOWNLINK</a:t>
            </a:r>
          </a:p>
        </p:txBody>
      </p:sp>
      <p:sp>
        <p:nvSpPr>
          <p:cNvPr id="30" name="TextBox 29"/>
          <p:cNvSpPr txBox="1"/>
          <p:nvPr/>
        </p:nvSpPr>
        <p:spPr>
          <a:xfrm>
            <a:off x="6613141" y="3780281"/>
            <a:ext cx="1792900"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BOTH DIRECTIONS</a:t>
            </a:r>
          </a:p>
        </p:txBody>
      </p:sp>
      <p:sp>
        <p:nvSpPr>
          <p:cNvPr id="31" name="TextBox 30"/>
          <p:cNvSpPr txBox="1"/>
          <p:nvPr/>
        </p:nvSpPr>
        <p:spPr>
          <a:xfrm>
            <a:off x="8570634" y="3780281"/>
            <a:ext cx="2880396"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NOTE</a:t>
            </a:r>
          </a:p>
        </p:txBody>
      </p:sp>
      <p:sp>
        <p:nvSpPr>
          <p:cNvPr id="32" name="Rectangle 31"/>
          <p:cNvSpPr/>
          <p:nvPr/>
        </p:nvSpPr>
        <p:spPr>
          <a:xfrm>
            <a:off x="658368" y="3976877"/>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 y="4027169"/>
            <a:ext cx="2662897" cy="205739"/>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Offered / demand, average</a:t>
            </a:r>
          </a:p>
        </p:txBody>
      </p:sp>
      <p:sp>
        <p:nvSpPr>
          <p:cNvPr id="34" name="TextBox 33"/>
          <p:cNvSpPr txBox="1"/>
          <p:nvPr/>
        </p:nvSpPr>
        <p:spPr>
          <a:xfrm>
            <a:off x="3568153" y="4027169"/>
            <a:ext cx="1357902"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3.22 Tbps</a:t>
            </a:r>
          </a:p>
        </p:txBody>
      </p:sp>
      <p:sp>
        <p:nvSpPr>
          <p:cNvPr id="35" name="TextBox 34"/>
          <p:cNvSpPr txBox="1"/>
          <p:nvPr/>
        </p:nvSpPr>
        <p:spPr>
          <a:xfrm>
            <a:off x="5090647" y="4027169"/>
            <a:ext cx="1357902"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8.15 Tbps</a:t>
            </a:r>
          </a:p>
        </p:txBody>
      </p:sp>
      <p:sp>
        <p:nvSpPr>
          <p:cNvPr id="36" name="TextBox 35"/>
          <p:cNvSpPr txBox="1"/>
          <p:nvPr/>
        </p:nvSpPr>
        <p:spPr>
          <a:xfrm>
            <a:off x="6613141" y="4027169"/>
            <a:ext cx="1792900"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11.37 Tbps</a:t>
            </a:r>
          </a:p>
        </p:txBody>
      </p:sp>
      <p:sp>
        <p:nvSpPr>
          <p:cNvPr id="37" name="TextBox 36"/>
          <p:cNvSpPr txBox="1"/>
          <p:nvPr/>
        </p:nvSpPr>
        <p:spPr>
          <a:xfrm>
            <a:off x="8570634" y="4027169"/>
            <a:ext cx="2880396" cy="205739"/>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what users asked for</a:t>
            </a:r>
          </a:p>
        </p:txBody>
      </p:sp>
      <p:sp>
        <p:nvSpPr>
          <p:cNvPr id="38" name="Rectangle 37"/>
          <p:cNvSpPr/>
          <p:nvPr/>
        </p:nvSpPr>
        <p:spPr>
          <a:xfrm>
            <a:off x="658368" y="423748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58368" y="4237482"/>
            <a:ext cx="10874959" cy="260603"/>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0664" y="4287773"/>
            <a:ext cx="2662897" cy="205739"/>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Carried, instantaneous average</a:t>
            </a:r>
          </a:p>
        </p:txBody>
      </p:sp>
      <p:sp>
        <p:nvSpPr>
          <p:cNvPr id="41" name="TextBox 40"/>
          <p:cNvSpPr txBox="1"/>
          <p:nvPr/>
        </p:nvSpPr>
        <p:spPr>
          <a:xfrm>
            <a:off x="3568153" y="4287773"/>
            <a:ext cx="1357902"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3.18 Tbps</a:t>
            </a:r>
          </a:p>
        </p:txBody>
      </p:sp>
      <p:sp>
        <p:nvSpPr>
          <p:cNvPr id="42" name="TextBox 41"/>
          <p:cNvSpPr txBox="1"/>
          <p:nvPr/>
        </p:nvSpPr>
        <p:spPr>
          <a:xfrm>
            <a:off x="5090647" y="4287773"/>
            <a:ext cx="1357902"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8.03 Tbps</a:t>
            </a:r>
          </a:p>
        </p:txBody>
      </p:sp>
      <p:sp>
        <p:nvSpPr>
          <p:cNvPr id="43" name="TextBox 42"/>
          <p:cNvSpPr txBox="1"/>
          <p:nvPr/>
        </p:nvSpPr>
        <p:spPr>
          <a:xfrm>
            <a:off x="6613141" y="4287773"/>
            <a:ext cx="1792900"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11.21 Tbps</a:t>
            </a:r>
          </a:p>
        </p:txBody>
      </p:sp>
      <p:sp>
        <p:nvSpPr>
          <p:cNvPr id="44" name="TextBox 43"/>
          <p:cNvSpPr txBox="1"/>
          <p:nvPr/>
        </p:nvSpPr>
        <p:spPr>
          <a:xfrm>
            <a:off x="8570634" y="4287773"/>
            <a:ext cx="2880396" cy="205739"/>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what the network delivered</a:t>
            </a:r>
          </a:p>
        </p:txBody>
      </p:sp>
      <p:sp>
        <p:nvSpPr>
          <p:cNvPr id="45" name="Rectangle 44"/>
          <p:cNvSpPr/>
          <p:nvPr/>
        </p:nvSpPr>
        <p:spPr>
          <a:xfrm>
            <a:off x="658368" y="4498086"/>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0664" y="4548378"/>
            <a:ext cx="2662897" cy="205739"/>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Offered / demand, peak</a:t>
            </a:r>
          </a:p>
        </p:txBody>
      </p:sp>
      <p:sp>
        <p:nvSpPr>
          <p:cNvPr id="47" name="TextBox 46"/>
          <p:cNvSpPr txBox="1"/>
          <p:nvPr/>
        </p:nvSpPr>
        <p:spPr>
          <a:xfrm>
            <a:off x="3568153" y="4548378"/>
            <a:ext cx="1357902"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4.09 Tbps</a:t>
            </a:r>
          </a:p>
        </p:txBody>
      </p:sp>
      <p:sp>
        <p:nvSpPr>
          <p:cNvPr id="48" name="TextBox 47"/>
          <p:cNvSpPr txBox="1"/>
          <p:nvPr/>
        </p:nvSpPr>
        <p:spPr>
          <a:xfrm>
            <a:off x="5090647" y="4548378"/>
            <a:ext cx="1357902" cy="205739"/>
          </a:xfrm>
          <a:prstGeom prst="rect">
            <a:avLst/>
          </a:prstGeom>
          <a:noFill/>
        </p:spPr>
        <p:txBody>
          <a:bodyPr wrap="square" anchor="t" lIns="0" rIns="0" tIns="0" bIns="0">
            <a:spAutoFit/>
          </a:bodyPr>
          <a:lstStyle/>
          <a:p>
            <a:pPr algn="r">
              <a:lnSpc>
                <a:spcPct val="112000"/>
              </a:lnSpc>
            </a:pPr>
            <a:r>
              <a:rPr sz="960" b="0" i="0">
                <a:solidFill>
                  <a:srgbClr val="B5761F"/>
                </a:solidFill>
                <a:latin typeface="Consolas"/>
              </a:rPr>
              <a:t>15.34 Tbps</a:t>
            </a:r>
          </a:p>
        </p:txBody>
      </p:sp>
      <p:sp>
        <p:nvSpPr>
          <p:cNvPr id="49" name="TextBox 48"/>
          <p:cNvSpPr txBox="1"/>
          <p:nvPr/>
        </p:nvSpPr>
        <p:spPr>
          <a:xfrm>
            <a:off x="6613141" y="4548378"/>
            <a:ext cx="1792900"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19.43 Tbps</a:t>
            </a:r>
          </a:p>
        </p:txBody>
      </p:sp>
      <p:sp>
        <p:nvSpPr>
          <p:cNvPr id="50" name="TextBox 49"/>
          <p:cNvSpPr txBox="1"/>
          <p:nvPr/>
        </p:nvSpPr>
        <p:spPr>
          <a:xfrm>
            <a:off x="8570634" y="4548378"/>
            <a:ext cx="2880396" cy="205739"/>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highest 30-second step of the day</a:t>
            </a:r>
          </a:p>
        </p:txBody>
      </p:sp>
      <p:sp>
        <p:nvSpPr>
          <p:cNvPr id="51" name="Rectangle 50"/>
          <p:cNvSpPr/>
          <p:nvPr/>
        </p:nvSpPr>
        <p:spPr>
          <a:xfrm>
            <a:off x="658368" y="475869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58368" y="4758690"/>
            <a:ext cx="10874959"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0664" y="4808982"/>
            <a:ext cx="2662897" cy="205739"/>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Peak-to-average ratio</a:t>
            </a:r>
          </a:p>
        </p:txBody>
      </p:sp>
      <p:sp>
        <p:nvSpPr>
          <p:cNvPr id="54" name="TextBox 53"/>
          <p:cNvSpPr txBox="1"/>
          <p:nvPr/>
        </p:nvSpPr>
        <p:spPr>
          <a:xfrm>
            <a:off x="3568153" y="4808982"/>
            <a:ext cx="1357902"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1.27×</a:t>
            </a:r>
          </a:p>
        </p:txBody>
      </p:sp>
      <p:sp>
        <p:nvSpPr>
          <p:cNvPr id="55" name="TextBox 54"/>
          <p:cNvSpPr txBox="1"/>
          <p:nvPr/>
        </p:nvSpPr>
        <p:spPr>
          <a:xfrm>
            <a:off x="5090647" y="4808982"/>
            <a:ext cx="1357902"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1.88×</a:t>
            </a:r>
          </a:p>
        </p:txBody>
      </p:sp>
      <p:sp>
        <p:nvSpPr>
          <p:cNvPr id="56" name="TextBox 55"/>
          <p:cNvSpPr txBox="1"/>
          <p:nvPr/>
        </p:nvSpPr>
        <p:spPr>
          <a:xfrm>
            <a:off x="6613141" y="4808982"/>
            <a:ext cx="1792900"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1.71×</a:t>
            </a:r>
          </a:p>
        </p:txBody>
      </p:sp>
      <p:sp>
        <p:nvSpPr>
          <p:cNvPr id="57" name="TextBox 56"/>
          <p:cNvSpPr txBox="1"/>
          <p:nvPr/>
        </p:nvSpPr>
        <p:spPr>
          <a:xfrm>
            <a:off x="8570634" y="4808982"/>
            <a:ext cx="2880396" cy="205739"/>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downlink is far burstier</a:t>
            </a:r>
          </a:p>
        </p:txBody>
      </p:sp>
      <p:sp>
        <p:nvSpPr>
          <p:cNvPr id="58" name="Rectangle 57"/>
          <p:cNvSpPr/>
          <p:nvPr/>
        </p:nvSpPr>
        <p:spPr>
          <a:xfrm>
            <a:off x="658368" y="5019294"/>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0664" y="5069586"/>
            <a:ext cx="2662897" cy="205739"/>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Delivered fraction</a:t>
            </a:r>
          </a:p>
        </p:txBody>
      </p:sp>
      <p:sp>
        <p:nvSpPr>
          <p:cNvPr id="60" name="TextBox 59"/>
          <p:cNvSpPr txBox="1"/>
          <p:nvPr/>
        </p:nvSpPr>
        <p:spPr>
          <a:xfrm>
            <a:off x="3568153" y="5069586"/>
            <a:ext cx="1357902" cy="205739"/>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98.76%</a:t>
            </a:r>
          </a:p>
        </p:txBody>
      </p:sp>
      <p:sp>
        <p:nvSpPr>
          <p:cNvPr id="61" name="TextBox 60"/>
          <p:cNvSpPr txBox="1"/>
          <p:nvPr/>
        </p:nvSpPr>
        <p:spPr>
          <a:xfrm>
            <a:off x="5090647" y="5069586"/>
            <a:ext cx="1357902" cy="205739"/>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98.53%</a:t>
            </a:r>
          </a:p>
        </p:txBody>
      </p:sp>
      <p:sp>
        <p:nvSpPr>
          <p:cNvPr id="62" name="TextBox 61"/>
          <p:cNvSpPr txBox="1"/>
          <p:nvPr/>
        </p:nvSpPr>
        <p:spPr>
          <a:xfrm>
            <a:off x="6613141" y="5069586"/>
            <a:ext cx="1792900" cy="205739"/>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98.57%</a:t>
            </a:r>
          </a:p>
        </p:txBody>
      </p:sp>
      <p:sp>
        <p:nvSpPr>
          <p:cNvPr id="63" name="TextBox 62"/>
          <p:cNvSpPr txBox="1"/>
          <p:nvPr/>
        </p:nvSpPr>
        <p:spPr>
          <a:xfrm>
            <a:off x="8570634" y="5069586"/>
            <a:ext cx="2880396" cy="205739"/>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the rest is dropped at an overloaded box</a:t>
            </a:r>
          </a:p>
        </p:txBody>
      </p:sp>
      <p:sp>
        <p:nvSpPr>
          <p:cNvPr id="64" name="Rectangle 63"/>
          <p:cNvSpPr/>
          <p:nvPr/>
        </p:nvSpPr>
        <p:spPr>
          <a:xfrm>
            <a:off x="658368" y="5279898"/>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58368" y="5279898"/>
            <a:ext cx="10874959"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40664" y="5330190"/>
            <a:ext cx="2662897" cy="205739"/>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Aggregate daily volume, offered</a:t>
            </a:r>
          </a:p>
        </p:txBody>
      </p:sp>
      <p:sp>
        <p:nvSpPr>
          <p:cNvPr id="67" name="TextBox 66"/>
          <p:cNvSpPr txBox="1"/>
          <p:nvPr/>
        </p:nvSpPr>
        <p:spPr>
          <a:xfrm>
            <a:off x="3568153" y="5330190"/>
            <a:ext cx="1357902"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a:t>
            </a:r>
          </a:p>
        </p:txBody>
      </p:sp>
      <p:sp>
        <p:nvSpPr>
          <p:cNvPr id="68" name="TextBox 67"/>
          <p:cNvSpPr txBox="1"/>
          <p:nvPr/>
        </p:nvSpPr>
        <p:spPr>
          <a:xfrm>
            <a:off x="5090647" y="5330190"/>
            <a:ext cx="1357902"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a:t>
            </a:r>
          </a:p>
        </p:txBody>
      </p:sp>
      <p:sp>
        <p:nvSpPr>
          <p:cNvPr id="69" name="TextBox 68"/>
          <p:cNvSpPr txBox="1"/>
          <p:nvPr/>
        </p:nvSpPr>
        <p:spPr>
          <a:xfrm>
            <a:off x="6613141" y="5330190"/>
            <a:ext cx="1792900"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122.84 PB / day</a:t>
            </a:r>
          </a:p>
        </p:txBody>
      </p:sp>
      <p:sp>
        <p:nvSpPr>
          <p:cNvPr id="70" name="TextBox 69"/>
          <p:cNvSpPr txBox="1"/>
          <p:nvPr/>
        </p:nvSpPr>
        <p:spPr>
          <a:xfrm>
            <a:off x="8570634" y="5330190"/>
            <a:ext cx="2880396" cy="205739"/>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
            </a:r>
          </a:p>
        </p:txBody>
      </p:sp>
      <p:sp>
        <p:nvSpPr>
          <p:cNvPr id="71" name="Rectangle 70"/>
          <p:cNvSpPr/>
          <p:nvPr/>
        </p:nvSpPr>
        <p:spPr>
          <a:xfrm>
            <a:off x="658368" y="554050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58368" y="5540502"/>
            <a:ext cx="10874959" cy="260603"/>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40664" y="5590794"/>
            <a:ext cx="2662897" cy="205739"/>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Aggregate daily volume, carried</a:t>
            </a:r>
          </a:p>
        </p:txBody>
      </p:sp>
      <p:sp>
        <p:nvSpPr>
          <p:cNvPr id="74" name="TextBox 73"/>
          <p:cNvSpPr txBox="1"/>
          <p:nvPr/>
        </p:nvSpPr>
        <p:spPr>
          <a:xfrm>
            <a:off x="3568153" y="5590794"/>
            <a:ext cx="1357902"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a:t>
            </a:r>
          </a:p>
        </p:txBody>
      </p:sp>
      <p:sp>
        <p:nvSpPr>
          <p:cNvPr id="75" name="TextBox 74"/>
          <p:cNvSpPr txBox="1"/>
          <p:nvPr/>
        </p:nvSpPr>
        <p:spPr>
          <a:xfrm>
            <a:off x="5090647" y="5590794"/>
            <a:ext cx="1357902" cy="205739"/>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a:t>
            </a:r>
          </a:p>
        </p:txBody>
      </p:sp>
      <p:sp>
        <p:nvSpPr>
          <p:cNvPr id="76" name="TextBox 75"/>
          <p:cNvSpPr txBox="1"/>
          <p:nvPr/>
        </p:nvSpPr>
        <p:spPr>
          <a:xfrm>
            <a:off x="6613141" y="5590794"/>
            <a:ext cx="1792900" cy="205739"/>
          </a:xfrm>
          <a:prstGeom prst="rect">
            <a:avLst/>
          </a:prstGeom>
          <a:noFill/>
        </p:spPr>
        <p:txBody>
          <a:bodyPr wrap="square" anchor="t" lIns="0" rIns="0" tIns="0" bIns="0">
            <a:spAutoFit/>
          </a:bodyPr>
          <a:lstStyle/>
          <a:p>
            <a:pPr algn="r">
              <a:lnSpc>
                <a:spcPct val="112000"/>
              </a:lnSpc>
            </a:pPr>
            <a:r>
              <a:rPr sz="960" b="0" i="0">
                <a:solidFill>
                  <a:srgbClr val="0F4C5C"/>
                </a:solidFill>
                <a:latin typeface="Consolas"/>
              </a:rPr>
              <a:t>121.08 PB / day</a:t>
            </a:r>
          </a:p>
        </p:txBody>
      </p:sp>
      <p:sp>
        <p:nvSpPr>
          <p:cNvPr id="77" name="TextBox 76"/>
          <p:cNvSpPr txBox="1"/>
          <p:nvPr/>
        </p:nvSpPr>
        <p:spPr>
          <a:xfrm>
            <a:off x="8570634" y="5590794"/>
            <a:ext cx="2880396" cy="205739"/>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1.76 PB / day lost</a:t>
            </a:r>
          </a:p>
        </p:txBody>
      </p:sp>
      <p:sp>
        <p:nvSpPr>
          <p:cNvPr id="78" name="Rectangle 77"/>
          <p:cNvSpPr/>
          <p:nvPr/>
        </p:nvSpPr>
        <p:spPr>
          <a:xfrm>
            <a:off x="658368" y="5801106"/>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58368" y="3702557"/>
            <a:ext cx="10874959" cy="2098548"/>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58368" y="5787390"/>
            <a:ext cx="10874959" cy="548640"/>
          </a:xfrm>
          <a:prstGeom prst="rect">
            <a:avLst/>
          </a:prstGeom>
          <a:noFill/>
        </p:spPr>
        <p:txBody>
          <a:bodyPr wrap="square" anchor="t" lIns="0" rIns="0" tIns="0" bIns="0">
            <a:spAutoFit/>
          </a:bodyPr>
          <a:lstStyle/>
          <a:p>
            <a:pPr algn="l">
              <a:lnSpc>
                <a:spcPct val="140000"/>
              </a:lnSpc>
            </a:pPr>
            <a:r>
              <a:rPr sz="1040" b="0" i="0">
                <a:solidFill>
                  <a:srgbClr val="6C7683"/>
                </a:solidFill>
                <a:latin typeface="Segoe UI"/>
              </a:rPr>
              <a:t>Consistency check: 121.08 PB per day × 8 bits ÷ 86 400 s = 11.21 Tbps. The daily aggregate and the instantaneous average agree exactly, which is what you want before trusting either of them.</a:t>
            </a:r>
          </a:p>
        </p:txBody>
      </p:sp>
      <p:sp>
        <p:nvSpPr>
          <p:cNvPr id="81" name="TextBox 80"/>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KEY NUMBERS · THROUGHPUT</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What that means per session, per box, per step</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Everything below is derived from the measured figures on the previous slide. The arithmetic is shown so it can be checked.</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Rectangle 7"/>
          <p:cNvSpPr/>
          <p:nvPr/>
        </p:nvSpPr>
        <p:spPr>
          <a:xfrm>
            <a:off x="658368" y="2279396"/>
            <a:ext cx="5245455"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357120"/>
            <a:ext cx="2143408"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PER SESSION</a:t>
            </a:r>
          </a:p>
        </p:txBody>
      </p:sp>
      <p:sp>
        <p:nvSpPr>
          <p:cNvPr id="10" name="TextBox 9"/>
          <p:cNvSpPr txBox="1"/>
          <p:nvPr/>
        </p:nvSpPr>
        <p:spPr>
          <a:xfrm>
            <a:off x="3048664" y="2357120"/>
            <a:ext cx="989408"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VALUE</a:t>
            </a:r>
          </a:p>
        </p:txBody>
      </p:sp>
      <p:sp>
        <p:nvSpPr>
          <p:cNvPr id="11" name="TextBox 10"/>
          <p:cNvSpPr txBox="1"/>
          <p:nvPr/>
        </p:nvSpPr>
        <p:spPr>
          <a:xfrm>
            <a:off x="4202664" y="2357120"/>
            <a:ext cx="1618862"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HOW IT IS DERIVED</a:t>
            </a:r>
          </a:p>
        </p:txBody>
      </p:sp>
      <p:sp>
        <p:nvSpPr>
          <p:cNvPr id="12" name="Rectangle 11"/>
          <p:cNvSpPr/>
          <p:nvPr/>
        </p:nvSpPr>
        <p:spPr>
          <a:xfrm>
            <a:off x="658368" y="2553716"/>
            <a:ext cx="5245455"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2604008"/>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Sessions started per day</a:t>
            </a:r>
          </a:p>
        </p:txBody>
      </p:sp>
      <p:sp>
        <p:nvSpPr>
          <p:cNvPr id="14" name="TextBox 13"/>
          <p:cNvSpPr txBox="1"/>
          <p:nvPr/>
        </p:nvSpPr>
        <p:spPr>
          <a:xfrm>
            <a:off x="3048664" y="2604008"/>
            <a:ext cx="989408"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39 156 949</a:t>
            </a:r>
          </a:p>
        </p:txBody>
      </p:sp>
      <p:sp>
        <p:nvSpPr>
          <p:cNvPr id="15" name="TextBox 14"/>
          <p:cNvSpPr txBox="1"/>
          <p:nvPr/>
        </p:nvSpPr>
        <p:spPr>
          <a:xfrm>
            <a:off x="4202664" y="2604008"/>
            <a:ext cx="1618862"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measured</a:t>
            </a:r>
          </a:p>
        </p:txBody>
      </p:sp>
      <p:sp>
        <p:nvSpPr>
          <p:cNvPr id="16" name="Rectangle 15"/>
          <p:cNvSpPr/>
          <p:nvPr/>
        </p:nvSpPr>
        <p:spPr>
          <a:xfrm>
            <a:off x="658368" y="2798775"/>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2798775"/>
            <a:ext cx="5245455" cy="2450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2849067"/>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Session arrival rate</a:t>
            </a:r>
          </a:p>
        </p:txBody>
      </p:sp>
      <p:sp>
        <p:nvSpPr>
          <p:cNvPr id="19" name="TextBox 18"/>
          <p:cNvSpPr txBox="1"/>
          <p:nvPr/>
        </p:nvSpPr>
        <p:spPr>
          <a:xfrm>
            <a:off x="3048664" y="2849067"/>
            <a:ext cx="989408"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453.21 / s</a:t>
            </a:r>
          </a:p>
        </p:txBody>
      </p:sp>
      <p:sp>
        <p:nvSpPr>
          <p:cNvPr id="20" name="TextBox 19"/>
          <p:cNvSpPr txBox="1"/>
          <p:nvPr/>
        </p:nvSpPr>
        <p:spPr>
          <a:xfrm>
            <a:off x="4202664" y="2849067"/>
            <a:ext cx="1618862"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39 156 949 ÷ 86 400</a:t>
            </a:r>
          </a:p>
        </p:txBody>
      </p:sp>
      <p:sp>
        <p:nvSpPr>
          <p:cNvPr id="21" name="Rectangle 20"/>
          <p:cNvSpPr/>
          <p:nvPr/>
        </p:nvSpPr>
        <p:spPr>
          <a:xfrm>
            <a:off x="658368" y="3043834"/>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3094126"/>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New sessions per 30-second step</a:t>
            </a:r>
          </a:p>
        </p:txBody>
      </p:sp>
      <p:sp>
        <p:nvSpPr>
          <p:cNvPr id="23" name="TextBox 22"/>
          <p:cNvSpPr txBox="1"/>
          <p:nvPr/>
        </p:nvSpPr>
        <p:spPr>
          <a:xfrm>
            <a:off x="3048664" y="3094126"/>
            <a:ext cx="989408"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13 596</a:t>
            </a:r>
          </a:p>
        </p:txBody>
      </p:sp>
      <p:sp>
        <p:nvSpPr>
          <p:cNvPr id="24" name="TextBox 23"/>
          <p:cNvSpPr txBox="1"/>
          <p:nvPr/>
        </p:nvSpPr>
        <p:spPr>
          <a:xfrm>
            <a:off x="4202664" y="3094126"/>
            <a:ext cx="1618862"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453.21 × 30</a:t>
            </a:r>
          </a:p>
        </p:txBody>
      </p:sp>
      <p:sp>
        <p:nvSpPr>
          <p:cNvPr id="25" name="Rectangle 24"/>
          <p:cNvSpPr/>
          <p:nvPr/>
        </p:nvSpPr>
        <p:spPr>
          <a:xfrm>
            <a:off x="658368" y="3288893"/>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3288893"/>
            <a:ext cx="5245455" cy="2450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 y="3339185"/>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Average session length</a:t>
            </a:r>
          </a:p>
        </p:txBody>
      </p:sp>
      <p:sp>
        <p:nvSpPr>
          <p:cNvPr id="28" name="TextBox 27"/>
          <p:cNvSpPr txBox="1"/>
          <p:nvPr/>
        </p:nvSpPr>
        <p:spPr>
          <a:xfrm>
            <a:off x="3048664" y="3339185"/>
            <a:ext cx="989408"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8.23 h</a:t>
            </a:r>
          </a:p>
        </p:txBody>
      </p:sp>
      <p:sp>
        <p:nvSpPr>
          <p:cNvPr id="29" name="TextBox 28"/>
          <p:cNvSpPr txBox="1"/>
          <p:nvPr/>
        </p:nvSpPr>
        <p:spPr>
          <a:xfrm>
            <a:off x="4202664" y="3339185"/>
            <a:ext cx="1618862"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class-weighted mean</a:t>
            </a:r>
          </a:p>
        </p:txBody>
      </p:sp>
      <p:sp>
        <p:nvSpPr>
          <p:cNvPr id="30" name="Rectangle 29"/>
          <p:cNvSpPr/>
          <p:nvPr/>
        </p:nvSpPr>
        <p:spPr>
          <a:xfrm>
            <a:off x="658368" y="3533952"/>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 y="3584244"/>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Sessions active at any moment</a:t>
            </a:r>
          </a:p>
        </p:txBody>
      </p:sp>
      <p:sp>
        <p:nvSpPr>
          <p:cNvPr id="32" name="TextBox 31"/>
          <p:cNvSpPr txBox="1"/>
          <p:nvPr/>
        </p:nvSpPr>
        <p:spPr>
          <a:xfrm>
            <a:off x="3048664" y="3584244"/>
            <a:ext cx="989408"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13.42 M</a:t>
            </a:r>
          </a:p>
        </p:txBody>
      </p:sp>
      <p:sp>
        <p:nvSpPr>
          <p:cNvPr id="33" name="TextBox 32"/>
          <p:cNvSpPr txBox="1"/>
          <p:nvPr/>
        </p:nvSpPr>
        <p:spPr>
          <a:xfrm>
            <a:off x="4202664" y="3584244"/>
            <a:ext cx="1618862"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Little's Law: 453.21 × 29 628 s</a:t>
            </a:r>
          </a:p>
        </p:txBody>
      </p:sp>
      <p:sp>
        <p:nvSpPr>
          <p:cNvPr id="34" name="Rectangle 33"/>
          <p:cNvSpPr/>
          <p:nvPr/>
        </p:nvSpPr>
        <p:spPr>
          <a:xfrm>
            <a:off x="658368" y="3779011"/>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3779011"/>
            <a:ext cx="5245455" cy="245059"/>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 y="3829303"/>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Data carried per session</a:t>
            </a:r>
          </a:p>
        </p:txBody>
      </p:sp>
      <p:sp>
        <p:nvSpPr>
          <p:cNvPr id="37" name="TextBox 36"/>
          <p:cNvSpPr txBox="1"/>
          <p:nvPr/>
        </p:nvSpPr>
        <p:spPr>
          <a:xfrm>
            <a:off x="3048664" y="3829303"/>
            <a:ext cx="989408"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3.09 GB</a:t>
            </a:r>
          </a:p>
        </p:txBody>
      </p:sp>
      <p:sp>
        <p:nvSpPr>
          <p:cNvPr id="38" name="TextBox 37"/>
          <p:cNvSpPr txBox="1"/>
          <p:nvPr/>
        </p:nvSpPr>
        <p:spPr>
          <a:xfrm>
            <a:off x="4202664" y="3829303"/>
            <a:ext cx="1618862"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121.08 PB ÷ 39.16 M</a:t>
            </a:r>
          </a:p>
        </p:txBody>
      </p:sp>
      <p:sp>
        <p:nvSpPr>
          <p:cNvPr id="39" name="Rectangle 38"/>
          <p:cNvSpPr/>
          <p:nvPr/>
        </p:nvSpPr>
        <p:spPr>
          <a:xfrm>
            <a:off x="658368" y="4024071"/>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 y="4024071"/>
            <a:ext cx="5245455" cy="245059"/>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0664" y="4074363"/>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Throughput per active session</a:t>
            </a:r>
          </a:p>
        </p:txBody>
      </p:sp>
      <p:sp>
        <p:nvSpPr>
          <p:cNvPr id="42" name="TextBox 41"/>
          <p:cNvSpPr txBox="1"/>
          <p:nvPr/>
        </p:nvSpPr>
        <p:spPr>
          <a:xfrm>
            <a:off x="3048664" y="4074363"/>
            <a:ext cx="989408"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0.835 Mbps</a:t>
            </a:r>
          </a:p>
        </p:txBody>
      </p:sp>
      <p:sp>
        <p:nvSpPr>
          <p:cNvPr id="43" name="TextBox 42"/>
          <p:cNvSpPr txBox="1"/>
          <p:nvPr/>
        </p:nvSpPr>
        <p:spPr>
          <a:xfrm>
            <a:off x="4202664" y="4074363"/>
            <a:ext cx="1618862"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11.21 Tbps ÷ 13.42 M</a:t>
            </a:r>
          </a:p>
        </p:txBody>
      </p:sp>
      <p:sp>
        <p:nvSpPr>
          <p:cNvPr id="44" name="Rectangle 43"/>
          <p:cNvSpPr/>
          <p:nvPr/>
        </p:nvSpPr>
        <p:spPr>
          <a:xfrm>
            <a:off x="658368" y="4269130"/>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58368" y="4269130"/>
            <a:ext cx="5245455" cy="2450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0664" y="4319422"/>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 uplink share</a:t>
            </a:r>
          </a:p>
        </p:txBody>
      </p:sp>
      <p:sp>
        <p:nvSpPr>
          <p:cNvPr id="47" name="TextBox 46"/>
          <p:cNvSpPr txBox="1"/>
          <p:nvPr/>
        </p:nvSpPr>
        <p:spPr>
          <a:xfrm>
            <a:off x="3048664" y="4319422"/>
            <a:ext cx="989408"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0.237 Mbps</a:t>
            </a:r>
          </a:p>
        </p:txBody>
      </p:sp>
      <p:sp>
        <p:nvSpPr>
          <p:cNvPr id="48" name="TextBox 47"/>
          <p:cNvSpPr txBox="1"/>
          <p:nvPr/>
        </p:nvSpPr>
        <p:spPr>
          <a:xfrm>
            <a:off x="4202664" y="4319422"/>
            <a:ext cx="1618862"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3.18 Tbps ÷ 13.42 M</a:t>
            </a:r>
          </a:p>
        </p:txBody>
      </p:sp>
      <p:sp>
        <p:nvSpPr>
          <p:cNvPr id="49" name="Rectangle 48"/>
          <p:cNvSpPr/>
          <p:nvPr/>
        </p:nvSpPr>
        <p:spPr>
          <a:xfrm>
            <a:off x="658368" y="4514189"/>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0664" y="4564481"/>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 downlink share</a:t>
            </a:r>
          </a:p>
        </p:txBody>
      </p:sp>
      <p:sp>
        <p:nvSpPr>
          <p:cNvPr id="51" name="TextBox 50"/>
          <p:cNvSpPr txBox="1"/>
          <p:nvPr/>
        </p:nvSpPr>
        <p:spPr>
          <a:xfrm>
            <a:off x="3048664" y="4564481"/>
            <a:ext cx="989408"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0.598 Mbps</a:t>
            </a:r>
          </a:p>
        </p:txBody>
      </p:sp>
      <p:sp>
        <p:nvSpPr>
          <p:cNvPr id="52" name="TextBox 51"/>
          <p:cNvSpPr txBox="1"/>
          <p:nvPr/>
        </p:nvSpPr>
        <p:spPr>
          <a:xfrm>
            <a:off x="4202664" y="4564481"/>
            <a:ext cx="1618862"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8.03 Tbps ÷ 13.42 M</a:t>
            </a:r>
          </a:p>
        </p:txBody>
      </p:sp>
      <p:sp>
        <p:nvSpPr>
          <p:cNvPr id="53" name="Rectangle 52"/>
          <p:cNvSpPr/>
          <p:nvPr/>
        </p:nvSpPr>
        <p:spPr>
          <a:xfrm>
            <a:off x="658368" y="4759248"/>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58368" y="2279396"/>
            <a:ext cx="5245455" cy="2479852"/>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87871" y="2279396"/>
            <a:ext cx="5245455"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70167" y="2357120"/>
            <a:ext cx="2143408"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PER BOX AND PER STEP</a:t>
            </a:r>
          </a:p>
        </p:txBody>
      </p:sp>
      <p:sp>
        <p:nvSpPr>
          <p:cNvPr id="57" name="TextBox 56"/>
          <p:cNvSpPr txBox="1"/>
          <p:nvPr/>
        </p:nvSpPr>
        <p:spPr>
          <a:xfrm>
            <a:off x="8678168" y="2357120"/>
            <a:ext cx="1199226"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VALUE</a:t>
            </a:r>
          </a:p>
        </p:txBody>
      </p:sp>
      <p:sp>
        <p:nvSpPr>
          <p:cNvPr id="58" name="TextBox 57"/>
          <p:cNvSpPr txBox="1"/>
          <p:nvPr/>
        </p:nvSpPr>
        <p:spPr>
          <a:xfrm>
            <a:off x="10041986" y="2357120"/>
            <a:ext cx="1409044"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HOW IT IS DERIVED</a:t>
            </a:r>
          </a:p>
        </p:txBody>
      </p:sp>
      <p:sp>
        <p:nvSpPr>
          <p:cNvPr id="59" name="Rectangle 58"/>
          <p:cNvSpPr/>
          <p:nvPr/>
        </p:nvSpPr>
        <p:spPr>
          <a:xfrm>
            <a:off x="6287871" y="2553716"/>
            <a:ext cx="5245455"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87871" y="2553716"/>
            <a:ext cx="5245455" cy="245059"/>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70167" y="2604008"/>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Data carried per 30-second step</a:t>
            </a:r>
          </a:p>
        </p:txBody>
      </p:sp>
      <p:sp>
        <p:nvSpPr>
          <p:cNvPr id="62" name="TextBox 61"/>
          <p:cNvSpPr txBox="1"/>
          <p:nvPr/>
        </p:nvSpPr>
        <p:spPr>
          <a:xfrm>
            <a:off x="8678168" y="2604008"/>
            <a:ext cx="1199226"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42.04 TB</a:t>
            </a:r>
          </a:p>
        </p:txBody>
      </p:sp>
      <p:sp>
        <p:nvSpPr>
          <p:cNvPr id="63" name="TextBox 62"/>
          <p:cNvSpPr txBox="1"/>
          <p:nvPr/>
        </p:nvSpPr>
        <p:spPr>
          <a:xfrm>
            <a:off x="10041986" y="2604008"/>
            <a:ext cx="1409044"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121.08 PB ÷ 2 880 steps</a:t>
            </a:r>
          </a:p>
        </p:txBody>
      </p:sp>
      <p:sp>
        <p:nvSpPr>
          <p:cNvPr id="64" name="Rectangle 63"/>
          <p:cNvSpPr/>
          <p:nvPr/>
        </p:nvSpPr>
        <p:spPr>
          <a:xfrm>
            <a:off x="6287871" y="2798775"/>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87871" y="2798775"/>
            <a:ext cx="5245455" cy="2450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70167" y="2849067"/>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Carried per UPF, average</a:t>
            </a:r>
          </a:p>
        </p:txBody>
      </p:sp>
      <p:sp>
        <p:nvSpPr>
          <p:cNvPr id="67" name="TextBox 66"/>
          <p:cNvSpPr txBox="1"/>
          <p:nvPr/>
        </p:nvSpPr>
        <p:spPr>
          <a:xfrm>
            <a:off x="8678168" y="2849067"/>
            <a:ext cx="1199226"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467 Gbps</a:t>
            </a:r>
          </a:p>
        </p:txBody>
      </p:sp>
      <p:sp>
        <p:nvSpPr>
          <p:cNvPr id="68" name="TextBox 67"/>
          <p:cNvSpPr txBox="1"/>
          <p:nvPr/>
        </p:nvSpPr>
        <p:spPr>
          <a:xfrm>
            <a:off x="10041986" y="2849067"/>
            <a:ext cx="1409044"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11.21 Tbps ÷ 24 boxes</a:t>
            </a:r>
          </a:p>
        </p:txBody>
      </p:sp>
      <p:sp>
        <p:nvSpPr>
          <p:cNvPr id="69" name="Rectangle 68"/>
          <p:cNvSpPr/>
          <p:nvPr/>
        </p:nvSpPr>
        <p:spPr>
          <a:xfrm>
            <a:off x="6287871" y="3043834"/>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70167" y="3094126"/>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 uplink per UPF</a:t>
            </a:r>
          </a:p>
        </p:txBody>
      </p:sp>
      <p:sp>
        <p:nvSpPr>
          <p:cNvPr id="71" name="TextBox 70"/>
          <p:cNvSpPr txBox="1"/>
          <p:nvPr/>
        </p:nvSpPr>
        <p:spPr>
          <a:xfrm>
            <a:off x="8678168" y="3094126"/>
            <a:ext cx="1199226"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132.5 Gbps</a:t>
            </a:r>
          </a:p>
        </p:txBody>
      </p:sp>
      <p:sp>
        <p:nvSpPr>
          <p:cNvPr id="72" name="TextBox 71"/>
          <p:cNvSpPr txBox="1"/>
          <p:nvPr/>
        </p:nvSpPr>
        <p:spPr>
          <a:xfrm>
            <a:off x="10041986" y="3094126"/>
            <a:ext cx="1409044"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3.18 Tbps ÷ 24</a:t>
            </a:r>
          </a:p>
        </p:txBody>
      </p:sp>
      <p:sp>
        <p:nvSpPr>
          <p:cNvPr id="73" name="Rectangle 72"/>
          <p:cNvSpPr/>
          <p:nvPr/>
        </p:nvSpPr>
        <p:spPr>
          <a:xfrm>
            <a:off x="6287871" y="3288893"/>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87871" y="3288893"/>
            <a:ext cx="5245455" cy="2450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370167" y="3339185"/>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 downlink per UPF</a:t>
            </a:r>
          </a:p>
        </p:txBody>
      </p:sp>
      <p:sp>
        <p:nvSpPr>
          <p:cNvPr id="76" name="TextBox 75"/>
          <p:cNvSpPr txBox="1"/>
          <p:nvPr/>
        </p:nvSpPr>
        <p:spPr>
          <a:xfrm>
            <a:off x="8678168" y="3339185"/>
            <a:ext cx="1199226"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334.6 Gbps</a:t>
            </a:r>
          </a:p>
        </p:txBody>
      </p:sp>
      <p:sp>
        <p:nvSpPr>
          <p:cNvPr id="77" name="TextBox 76"/>
          <p:cNvSpPr txBox="1"/>
          <p:nvPr/>
        </p:nvSpPr>
        <p:spPr>
          <a:xfrm>
            <a:off x="10041986" y="3339185"/>
            <a:ext cx="1409044"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8.03 Tbps ÷ 24</a:t>
            </a:r>
          </a:p>
        </p:txBody>
      </p:sp>
      <p:sp>
        <p:nvSpPr>
          <p:cNvPr id="78" name="Rectangle 77"/>
          <p:cNvSpPr/>
          <p:nvPr/>
        </p:nvSpPr>
        <p:spPr>
          <a:xfrm>
            <a:off x="6287871" y="3533952"/>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370167" y="3584244"/>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Session setups per UPF</a:t>
            </a:r>
          </a:p>
        </p:txBody>
      </p:sp>
      <p:sp>
        <p:nvSpPr>
          <p:cNvPr id="80" name="TextBox 79"/>
          <p:cNvSpPr txBox="1"/>
          <p:nvPr/>
        </p:nvSpPr>
        <p:spPr>
          <a:xfrm>
            <a:off x="8678168" y="3584244"/>
            <a:ext cx="1199226"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18.9 / s</a:t>
            </a:r>
          </a:p>
        </p:txBody>
      </p:sp>
      <p:sp>
        <p:nvSpPr>
          <p:cNvPr id="81" name="TextBox 80"/>
          <p:cNvSpPr txBox="1"/>
          <p:nvPr/>
        </p:nvSpPr>
        <p:spPr>
          <a:xfrm>
            <a:off x="10041986" y="3584244"/>
            <a:ext cx="1409044"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453.21 ÷ 24</a:t>
            </a:r>
          </a:p>
        </p:txBody>
      </p:sp>
      <p:sp>
        <p:nvSpPr>
          <p:cNvPr id="82" name="Rectangle 81"/>
          <p:cNvSpPr/>
          <p:nvPr/>
        </p:nvSpPr>
        <p:spPr>
          <a:xfrm>
            <a:off x="6287871" y="3779011"/>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287871" y="3779011"/>
            <a:ext cx="5245455" cy="2450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370167" y="3829303"/>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Active sessions per UPF</a:t>
            </a:r>
          </a:p>
        </p:txBody>
      </p:sp>
      <p:sp>
        <p:nvSpPr>
          <p:cNvPr id="85" name="TextBox 84"/>
          <p:cNvSpPr txBox="1"/>
          <p:nvPr/>
        </p:nvSpPr>
        <p:spPr>
          <a:xfrm>
            <a:off x="8678168" y="3829303"/>
            <a:ext cx="1199226"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559 000</a:t>
            </a:r>
          </a:p>
        </p:txBody>
      </p:sp>
      <p:sp>
        <p:nvSpPr>
          <p:cNvPr id="86" name="TextBox 85"/>
          <p:cNvSpPr txBox="1"/>
          <p:nvPr/>
        </p:nvSpPr>
        <p:spPr>
          <a:xfrm>
            <a:off x="10041986" y="3829303"/>
            <a:ext cx="1409044"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13.42 M ÷ 24</a:t>
            </a:r>
          </a:p>
        </p:txBody>
      </p:sp>
      <p:sp>
        <p:nvSpPr>
          <p:cNvPr id="87" name="Rectangle 86"/>
          <p:cNvSpPr/>
          <p:nvPr/>
        </p:nvSpPr>
        <p:spPr>
          <a:xfrm>
            <a:off x="6287871" y="4024071"/>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370167" y="4074363"/>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Fleet rated capacity</a:t>
            </a:r>
          </a:p>
        </p:txBody>
      </p:sp>
      <p:sp>
        <p:nvSpPr>
          <p:cNvPr id="89" name="TextBox 88"/>
          <p:cNvSpPr txBox="1"/>
          <p:nvPr/>
        </p:nvSpPr>
        <p:spPr>
          <a:xfrm>
            <a:off x="8678168" y="4074363"/>
            <a:ext cx="1199226"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20.48 / 46.72 Tbps</a:t>
            </a:r>
          </a:p>
        </p:txBody>
      </p:sp>
      <p:sp>
        <p:nvSpPr>
          <p:cNvPr id="90" name="TextBox 89"/>
          <p:cNvSpPr txBox="1"/>
          <p:nvPr/>
        </p:nvSpPr>
        <p:spPr>
          <a:xfrm>
            <a:off x="10041986" y="4074363"/>
            <a:ext cx="1409044"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UL / DL across 24 boxes</a:t>
            </a:r>
          </a:p>
        </p:txBody>
      </p:sp>
      <p:sp>
        <p:nvSpPr>
          <p:cNvPr id="91" name="Rectangle 90"/>
          <p:cNvSpPr/>
          <p:nvPr/>
        </p:nvSpPr>
        <p:spPr>
          <a:xfrm>
            <a:off x="6287871" y="4269130"/>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287871" y="4269130"/>
            <a:ext cx="5245455" cy="2450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370167" y="4319422"/>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Fleet safe capacity</a:t>
            </a:r>
          </a:p>
        </p:txBody>
      </p:sp>
      <p:sp>
        <p:nvSpPr>
          <p:cNvPr id="94" name="TextBox 93"/>
          <p:cNvSpPr txBox="1"/>
          <p:nvPr/>
        </p:nvSpPr>
        <p:spPr>
          <a:xfrm>
            <a:off x="8678168" y="4319422"/>
            <a:ext cx="1199226"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15.83 / 36.17 Tbps</a:t>
            </a:r>
          </a:p>
        </p:txBody>
      </p:sp>
      <p:sp>
        <p:nvSpPr>
          <p:cNvPr id="95" name="TextBox 94"/>
          <p:cNvSpPr txBox="1"/>
          <p:nvPr/>
        </p:nvSpPr>
        <p:spPr>
          <a:xfrm>
            <a:off x="10041986" y="4319422"/>
            <a:ext cx="1409044"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after 75–80% safe thresholds</a:t>
            </a:r>
          </a:p>
        </p:txBody>
      </p:sp>
      <p:sp>
        <p:nvSpPr>
          <p:cNvPr id="96" name="Rectangle 95"/>
          <p:cNvSpPr/>
          <p:nvPr/>
        </p:nvSpPr>
        <p:spPr>
          <a:xfrm>
            <a:off x="6287871" y="4514189"/>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287871" y="4514189"/>
            <a:ext cx="5245455" cy="245059"/>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370167" y="4564481"/>
            <a:ext cx="2143408" cy="190195"/>
          </a:xfrm>
          <a:prstGeom prst="rect">
            <a:avLst/>
          </a:prstGeom>
          <a:noFill/>
        </p:spPr>
        <p:txBody>
          <a:bodyPr wrap="square" anchor="t" lIns="0" rIns="0" tIns="0" bIns="0">
            <a:spAutoFit/>
          </a:bodyPr>
          <a:lstStyle/>
          <a:p>
            <a:pPr algn="l">
              <a:lnSpc>
                <a:spcPct val="112000"/>
              </a:lnSpc>
            </a:pPr>
            <a:r>
              <a:rPr sz="939" b="1" i="0">
                <a:solidFill>
                  <a:srgbClr val="111721"/>
                </a:solidFill>
                <a:latin typeface="Segoe UI"/>
              </a:rPr>
              <a:t>Utilisation of safe capacity</a:t>
            </a:r>
          </a:p>
        </p:txBody>
      </p:sp>
      <p:sp>
        <p:nvSpPr>
          <p:cNvPr id="99" name="TextBox 98"/>
          <p:cNvSpPr txBox="1"/>
          <p:nvPr/>
        </p:nvSpPr>
        <p:spPr>
          <a:xfrm>
            <a:off x="8678168" y="4564481"/>
            <a:ext cx="1199226" cy="190195"/>
          </a:xfrm>
          <a:prstGeom prst="rect">
            <a:avLst/>
          </a:prstGeom>
          <a:noFill/>
        </p:spPr>
        <p:txBody>
          <a:bodyPr wrap="square" anchor="t" lIns="0" rIns="0" tIns="0" bIns="0">
            <a:spAutoFit/>
          </a:bodyPr>
          <a:lstStyle/>
          <a:p>
            <a:pPr algn="r">
              <a:lnSpc>
                <a:spcPct val="112000"/>
              </a:lnSpc>
            </a:pPr>
            <a:r>
              <a:rPr sz="919" b="0" i="0">
                <a:solidFill>
                  <a:srgbClr val="3C4653"/>
                </a:solidFill>
                <a:latin typeface="Consolas"/>
              </a:rPr>
              <a:t>20.1% / 22.2%</a:t>
            </a:r>
          </a:p>
        </p:txBody>
      </p:sp>
      <p:sp>
        <p:nvSpPr>
          <p:cNvPr id="100" name="TextBox 99"/>
          <p:cNvSpPr txBox="1"/>
          <p:nvPr/>
        </p:nvSpPr>
        <p:spPr>
          <a:xfrm>
            <a:off x="10041986" y="4564481"/>
            <a:ext cx="1409044" cy="190195"/>
          </a:xfrm>
          <a:prstGeom prst="rect">
            <a:avLst/>
          </a:prstGeom>
          <a:noFill/>
        </p:spPr>
        <p:txBody>
          <a:bodyPr wrap="square" anchor="t" lIns="0" rIns="0" tIns="0" bIns="0">
            <a:spAutoFit/>
          </a:bodyPr>
          <a:lstStyle/>
          <a:p>
            <a:pPr algn="l">
              <a:lnSpc>
                <a:spcPct val="112000"/>
              </a:lnSpc>
            </a:pPr>
            <a:r>
              <a:rPr sz="919" b="0" i="0">
                <a:solidFill>
                  <a:srgbClr val="3C4653"/>
                </a:solidFill>
                <a:latin typeface="Segoe UI"/>
              </a:rPr>
              <a:t>uplink / downlink</a:t>
            </a:r>
          </a:p>
        </p:txBody>
      </p:sp>
      <p:sp>
        <p:nvSpPr>
          <p:cNvPr id="101" name="Rectangle 100"/>
          <p:cNvSpPr/>
          <p:nvPr/>
        </p:nvSpPr>
        <p:spPr>
          <a:xfrm>
            <a:off x="6287871" y="4759248"/>
            <a:ext cx="524545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287871" y="2279396"/>
            <a:ext cx="5245455" cy="2479852"/>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58368" y="5033568"/>
            <a:ext cx="10874959" cy="135006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58368" y="5033568"/>
            <a:ext cx="34747" cy="1350060"/>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96112" y="5179872"/>
            <a:ext cx="10417759" cy="201168"/>
          </a:xfrm>
          <a:prstGeom prst="rect">
            <a:avLst/>
          </a:prstGeom>
          <a:noFill/>
        </p:spPr>
        <p:txBody>
          <a:bodyPr wrap="square" anchor="t" lIns="0" rIns="0" tIns="0" bIns="0">
            <a:spAutoFit/>
          </a:bodyPr>
          <a:lstStyle/>
          <a:p>
            <a:pPr algn="l">
              <a:lnSpc>
                <a:spcPct val="100000"/>
              </a:lnSpc>
            </a:pPr>
            <a:r>
              <a:rPr sz="950" b="1" i="0">
                <a:solidFill>
                  <a:srgbClr val="9C3B35"/>
                </a:solidFill>
                <a:latin typeface="Consolas"/>
              </a:rPr>
              <a:t>THE NUMBER THAT EXPLAINS THE WHOLE OPTIMIZER RESULT</a:t>
            </a:r>
          </a:p>
        </p:txBody>
      </p:sp>
      <p:sp>
        <p:nvSpPr>
          <p:cNvPr id="106" name="TextBox 105"/>
          <p:cNvSpPr txBox="1"/>
          <p:nvPr/>
        </p:nvSpPr>
        <p:spPr>
          <a:xfrm>
            <a:off x="896112" y="5435904"/>
            <a:ext cx="10372039" cy="892860"/>
          </a:xfrm>
          <a:prstGeom prst="rect">
            <a:avLst/>
          </a:prstGeom>
          <a:noFill/>
        </p:spPr>
        <p:txBody>
          <a:bodyPr wrap="square" anchor="t" lIns="0" rIns="0" tIns="0" bIns="0">
            <a:spAutoFit/>
          </a:bodyPr>
          <a:lstStyle/>
          <a:p>
            <a:pPr algn="l">
              <a:lnSpc>
                <a:spcPct val="136000"/>
              </a:lnSpc>
            </a:pPr>
            <a:r>
              <a:rPr sz="1160" b="0" i="0">
                <a:solidFill>
                  <a:srgbClr val="3C4653"/>
                </a:solidFill>
                <a:latin typeface="Segoe UI"/>
              </a:rPr>
              <a:t>Across the fleet, the network runs at about 20% of its safe capacity. There is no aggregate shortage of capacity anywhere in this system. Every overload event is local and temporary — one box, during one surge or one failure. That is why a controller that redistributes load has so little to win, and why the failure-knowledge result in section 03 matters more than any demand forecast.</a:t>
            </a:r>
          </a:p>
        </p:txBody>
      </p:sp>
      <p:sp>
        <p:nvSpPr>
          <p:cNvPr id="107" name="TextBox 106"/>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PERSPECTIVE</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Is this really C-DOT scale? Partly.</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7" name="Rectangle 6"/>
          <p:cNvSpPr/>
          <p:nvPr/>
        </p:nvSpPr>
        <p:spPr>
          <a:xfrm>
            <a:off x="658368" y="1554480"/>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632204"/>
            <a:ext cx="1901650"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COMPARISON</a:t>
            </a:r>
          </a:p>
        </p:txBody>
      </p:sp>
      <p:sp>
        <p:nvSpPr>
          <p:cNvPr id="9" name="TextBox 8"/>
          <p:cNvSpPr txBox="1"/>
          <p:nvPr/>
        </p:nvSpPr>
        <p:spPr>
          <a:xfrm>
            <a:off x="2806906" y="1632204"/>
            <a:ext cx="2662897"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OUR SIMULATION</a:t>
            </a:r>
          </a:p>
        </p:txBody>
      </p:sp>
      <p:sp>
        <p:nvSpPr>
          <p:cNvPr id="10" name="TextBox 9"/>
          <p:cNvSpPr txBox="1"/>
          <p:nvPr/>
        </p:nvSpPr>
        <p:spPr>
          <a:xfrm>
            <a:off x="5634395" y="1632204"/>
            <a:ext cx="2227899"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PUBLIC C-DOT FIGURES</a:t>
            </a:r>
          </a:p>
        </p:txBody>
      </p:sp>
      <p:sp>
        <p:nvSpPr>
          <p:cNvPr id="11" name="TextBox 10"/>
          <p:cNvSpPr txBox="1"/>
          <p:nvPr/>
        </p:nvSpPr>
        <p:spPr>
          <a:xfrm>
            <a:off x="8026886" y="1632204"/>
            <a:ext cx="3424144"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WHAT IT MEANS</a:t>
            </a:r>
          </a:p>
        </p:txBody>
      </p:sp>
      <p:sp>
        <p:nvSpPr>
          <p:cNvPr id="12" name="Rectangle 11"/>
          <p:cNvSpPr/>
          <p:nvPr/>
        </p:nvSpPr>
        <p:spPr>
          <a:xfrm>
            <a:off x="658368" y="1828800"/>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1879092"/>
            <a:ext cx="190165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Users / subscribers</a:t>
            </a:r>
          </a:p>
        </p:txBody>
      </p:sp>
      <p:sp>
        <p:nvSpPr>
          <p:cNvPr id="14" name="TextBox 13"/>
          <p:cNvSpPr txBox="1"/>
          <p:nvPr/>
        </p:nvSpPr>
        <p:spPr>
          <a:xfrm>
            <a:off x="2806906" y="1879092"/>
            <a:ext cx="266289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16 M nominal, ≈13.4 M active sessions</a:t>
            </a:r>
          </a:p>
        </p:txBody>
      </p:sp>
      <p:sp>
        <p:nvSpPr>
          <p:cNvPr id="15" name="TextBox 14"/>
          <p:cNvSpPr txBox="1"/>
          <p:nvPr/>
        </p:nvSpPr>
        <p:spPr>
          <a:xfrm>
            <a:off x="5634395" y="1879092"/>
            <a:ext cx="222789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≈12 million subscribers</a:t>
            </a:r>
          </a:p>
        </p:txBody>
      </p:sp>
      <p:sp>
        <p:nvSpPr>
          <p:cNvPr id="16" name="TextBox 15"/>
          <p:cNvSpPr txBox="1"/>
          <p:nvPr/>
        </p:nvSpPr>
        <p:spPr>
          <a:xfrm>
            <a:off x="8026886" y="1879092"/>
            <a:ext cx="3424144"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Same order of magnitude — but sessions are not subscribers</a:t>
            </a:r>
          </a:p>
        </p:txBody>
      </p:sp>
      <p:sp>
        <p:nvSpPr>
          <p:cNvPr id="17" name="Rectangle 16"/>
          <p:cNvSpPr/>
          <p:nvPr/>
        </p:nvSpPr>
        <p:spPr>
          <a:xfrm>
            <a:off x="658368" y="210312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103120"/>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 y="2153412"/>
            <a:ext cx="190165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Data per day</a:t>
            </a:r>
          </a:p>
        </p:txBody>
      </p:sp>
      <p:sp>
        <p:nvSpPr>
          <p:cNvPr id="20" name="TextBox 19"/>
          <p:cNvSpPr txBox="1"/>
          <p:nvPr/>
        </p:nvSpPr>
        <p:spPr>
          <a:xfrm>
            <a:off x="2806906" y="2153412"/>
            <a:ext cx="266289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121.08 PB carried</a:t>
            </a:r>
          </a:p>
        </p:txBody>
      </p:sp>
      <p:sp>
        <p:nvSpPr>
          <p:cNvPr id="21" name="TextBox 20"/>
          <p:cNvSpPr txBox="1"/>
          <p:nvPr/>
        </p:nvSpPr>
        <p:spPr>
          <a:xfrm>
            <a:off x="5634395" y="2153412"/>
            <a:ext cx="222789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more than 3 PB</a:t>
            </a:r>
          </a:p>
        </p:txBody>
      </p:sp>
      <p:sp>
        <p:nvSpPr>
          <p:cNvPr id="22" name="TextBox 21"/>
          <p:cNvSpPr txBox="1"/>
          <p:nvPr/>
        </p:nvSpPr>
        <p:spPr>
          <a:xfrm>
            <a:off x="8026886" y="2153412"/>
            <a:ext cx="3424144"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We are about 40× higher</a:t>
            </a:r>
          </a:p>
        </p:txBody>
      </p:sp>
      <p:sp>
        <p:nvSpPr>
          <p:cNvPr id="23" name="Rectangle 22"/>
          <p:cNvSpPr/>
          <p:nvPr/>
        </p:nvSpPr>
        <p:spPr>
          <a:xfrm>
            <a:off x="658368" y="2377439"/>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 y="2427732"/>
            <a:ext cx="190165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Network granularity</a:t>
            </a:r>
          </a:p>
        </p:txBody>
      </p:sp>
      <p:sp>
        <p:nvSpPr>
          <p:cNvPr id="25" name="TextBox 24"/>
          <p:cNvSpPr txBox="1"/>
          <p:nvPr/>
        </p:nvSpPr>
        <p:spPr>
          <a:xfrm>
            <a:off x="2806906" y="2427732"/>
            <a:ext cx="266289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8 logical zones</a:t>
            </a:r>
          </a:p>
        </p:txBody>
      </p:sp>
      <p:sp>
        <p:nvSpPr>
          <p:cNvPr id="26" name="TextBox 25"/>
          <p:cNvSpPr txBox="1"/>
          <p:nvPr/>
        </p:nvSpPr>
        <p:spPr>
          <a:xfrm>
            <a:off x="5634395" y="2427732"/>
            <a:ext cx="222789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75 000+ radio sites</a:t>
            </a:r>
          </a:p>
        </p:txBody>
      </p:sp>
      <p:sp>
        <p:nvSpPr>
          <p:cNvPr id="27" name="TextBox 26"/>
          <p:cNvSpPr txBox="1"/>
          <p:nvPr/>
        </p:nvSpPr>
        <p:spPr>
          <a:xfrm>
            <a:off x="8026886" y="2427732"/>
            <a:ext cx="3424144"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Ours is far coarser</a:t>
            </a:r>
          </a:p>
        </p:txBody>
      </p:sp>
      <p:sp>
        <p:nvSpPr>
          <p:cNvPr id="28" name="Rectangle 27"/>
          <p:cNvSpPr/>
          <p:nvPr/>
        </p:nvSpPr>
        <p:spPr>
          <a:xfrm>
            <a:off x="658368" y="2651759"/>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2651759"/>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 y="2702051"/>
            <a:ext cx="190165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UPF boxes</a:t>
            </a:r>
          </a:p>
        </p:txBody>
      </p:sp>
      <p:sp>
        <p:nvSpPr>
          <p:cNvPr id="31" name="TextBox 30"/>
          <p:cNvSpPr txBox="1"/>
          <p:nvPr/>
        </p:nvSpPr>
        <p:spPr>
          <a:xfrm>
            <a:off x="2806906" y="2702051"/>
            <a:ext cx="266289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24 synthetic</a:t>
            </a:r>
          </a:p>
        </p:txBody>
      </p:sp>
      <p:sp>
        <p:nvSpPr>
          <p:cNvPr id="32" name="TextBox 31"/>
          <p:cNvSpPr txBox="1"/>
          <p:nvPr/>
        </p:nvSpPr>
        <p:spPr>
          <a:xfrm>
            <a:off x="5634395" y="2702051"/>
            <a:ext cx="222789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not published</a:t>
            </a:r>
          </a:p>
        </p:txBody>
      </p:sp>
      <p:sp>
        <p:nvSpPr>
          <p:cNvPr id="33" name="TextBox 32"/>
          <p:cNvSpPr txBox="1"/>
          <p:nvPr/>
        </p:nvSpPr>
        <p:spPr>
          <a:xfrm>
            <a:off x="8026886" y="2702051"/>
            <a:ext cx="3424144"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Cannot compare</a:t>
            </a:r>
          </a:p>
        </p:txBody>
      </p:sp>
      <p:sp>
        <p:nvSpPr>
          <p:cNvPr id="34" name="Rectangle 33"/>
          <p:cNvSpPr/>
          <p:nvPr/>
        </p:nvSpPr>
        <p:spPr>
          <a:xfrm>
            <a:off x="658368" y="2926079"/>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 y="2976371"/>
            <a:ext cx="190165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Per-box capacity</a:t>
            </a:r>
          </a:p>
        </p:txBody>
      </p:sp>
      <p:sp>
        <p:nvSpPr>
          <p:cNvPr id="36" name="TextBox 35"/>
          <p:cNvSpPr txBox="1"/>
          <p:nvPr/>
        </p:nvSpPr>
        <p:spPr>
          <a:xfrm>
            <a:off x="2806906" y="2976371"/>
            <a:ext cx="266289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up to 1.92 / 3.84 Tbps</a:t>
            </a:r>
          </a:p>
        </p:txBody>
      </p:sp>
      <p:sp>
        <p:nvSpPr>
          <p:cNvPr id="37" name="TextBox 36"/>
          <p:cNvSpPr txBox="1"/>
          <p:nvPr/>
        </p:nvSpPr>
        <p:spPr>
          <a:xfrm>
            <a:off x="5634395" y="2976371"/>
            <a:ext cx="222789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not published</a:t>
            </a:r>
          </a:p>
        </p:txBody>
      </p:sp>
      <p:sp>
        <p:nvSpPr>
          <p:cNvPr id="38" name="TextBox 37"/>
          <p:cNvSpPr txBox="1"/>
          <p:nvPr/>
        </p:nvSpPr>
        <p:spPr>
          <a:xfrm>
            <a:off x="8026886" y="2976371"/>
            <a:ext cx="3424144"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Our own stress assumption</a:t>
            </a:r>
          </a:p>
        </p:txBody>
      </p:sp>
      <p:sp>
        <p:nvSpPr>
          <p:cNvPr id="39" name="Rectangle 38"/>
          <p:cNvSpPr/>
          <p:nvPr/>
        </p:nvSpPr>
        <p:spPr>
          <a:xfrm>
            <a:off x="658368" y="3200399"/>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 y="3200399"/>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0664" y="3250691"/>
            <a:ext cx="190165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Telemetry format</a:t>
            </a:r>
          </a:p>
        </p:txBody>
      </p:sp>
      <p:sp>
        <p:nvSpPr>
          <p:cNvPr id="42" name="TextBox 41"/>
          <p:cNvSpPr txBox="1"/>
          <p:nvPr/>
        </p:nvSpPr>
        <p:spPr>
          <a:xfrm>
            <a:off x="2806906" y="3250691"/>
            <a:ext cx="266289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our own schema</a:t>
            </a:r>
          </a:p>
        </p:txBody>
      </p:sp>
      <p:sp>
        <p:nvSpPr>
          <p:cNvPr id="43" name="TextBox 42"/>
          <p:cNvSpPr txBox="1"/>
          <p:nvPr/>
        </p:nvSpPr>
        <p:spPr>
          <a:xfrm>
            <a:off x="5634395" y="3250691"/>
            <a:ext cx="222789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not published</a:t>
            </a:r>
          </a:p>
        </p:txBody>
      </p:sp>
      <p:sp>
        <p:nvSpPr>
          <p:cNvPr id="44" name="TextBox 43"/>
          <p:cNvSpPr txBox="1"/>
          <p:nvPr/>
        </p:nvSpPr>
        <p:spPr>
          <a:xfrm>
            <a:off x="8026886" y="3250691"/>
            <a:ext cx="3424144" cy="2194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Must come from C-DOT</a:t>
            </a:r>
          </a:p>
        </p:txBody>
      </p:sp>
      <p:sp>
        <p:nvSpPr>
          <p:cNvPr id="45" name="Rectangle 44"/>
          <p:cNvSpPr/>
          <p:nvPr/>
        </p:nvSpPr>
        <p:spPr>
          <a:xfrm>
            <a:off x="658368" y="3474719"/>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58368" y="1554480"/>
            <a:ext cx="10874959" cy="1920239"/>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3621024"/>
            <a:ext cx="10874959" cy="963167"/>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58368" y="3621024"/>
            <a:ext cx="34747" cy="963167"/>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96112" y="3767328"/>
            <a:ext cx="10417759" cy="201168"/>
          </a:xfrm>
          <a:prstGeom prst="rect">
            <a:avLst/>
          </a:prstGeom>
          <a:noFill/>
        </p:spPr>
        <p:txBody>
          <a:bodyPr wrap="square" anchor="t" lIns="0" rIns="0" tIns="0" bIns="0">
            <a:spAutoFit/>
          </a:bodyPr>
          <a:lstStyle/>
          <a:p>
            <a:pPr algn="l">
              <a:lnSpc>
                <a:spcPct val="100000"/>
              </a:lnSpc>
            </a:pPr>
            <a:r>
              <a:rPr sz="950" b="1" i="0">
                <a:solidFill>
                  <a:srgbClr val="B5761F"/>
                </a:solidFill>
                <a:latin typeface="Consolas"/>
              </a:rPr>
              <a:t>SO WHAT SHOULD WE SAY?</a:t>
            </a:r>
          </a:p>
        </p:txBody>
      </p:sp>
      <p:sp>
        <p:nvSpPr>
          <p:cNvPr id="50" name="TextBox 49"/>
          <p:cNvSpPr txBox="1"/>
          <p:nvPr/>
        </p:nvSpPr>
        <p:spPr>
          <a:xfrm>
            <a:off x="896112" y="4023360"/>
            <a:ext cx="10372039" cy="505967"/>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Our session count is in the same range as one public national deployment figure. Our traffic volume is much higher and our network detail is much coarser. The defensible phrase is “national scale”, not “C-DOT scale”.</a:t>
            </a:r>
          </a:p>
        </p:txBody>
      </p:sp>
      <p:sp>
        <p:nvSpPr>
          <p:cNvPr id="51" name="TextBox 50"/>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SCALING UP · STAGE 1</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Prove memory stays flat</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A 112-day run produces far more data than fits in memory. If the simulator accumulated it, the run length would be capped by RAM. It does not — and this is the measurement that proves it.</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pic>
        <p:nvPicPr>
          <p:cNvPr id="8" name="Picture 7" descr="c_mem.png"/>
          <p:cNvPicPr>
            <a:picLocks noChangeAspect="1"/>
          </p:cNvPicPr>
          <p:nvPr/>
        </p:nvPicPr>
        <p:blipFill>
          <a:blip r:embed="rId2"/>
          <a:stretch>
            <a:fillRect/>
          </a:stretch>
        </p:blipFill>
        <p:spPr>
          <a:xfrm>
            <a:off x="658368" y="2568702"/>
            <a:ext cx="6742474" cy="1488738"/>
          </a:xfrm>
          <a:prstGeom prst="rect">
            <a:avLst/>
          </a:prstGeom>
        </p:spPr>
      </p:pic>
      <p:sp>
        <p:nvSpPr>
          <p:cNvPr id="9" name="Rectangle 8"/>
          <p:cNvSpPr/>
          <p:nvPr/>
        </p:nvSpPr>
        <p:spPr>
          <a:xfrm>
            <a:off x="7727091" y="2655570"/>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971" y="2586990"/>
            <a:ext cx="3623355"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Seven times the length</a:t>
            </a:r>
          </a:p>
        </p:txBody>
      </p:sp>
      <p:sp>
        <p:nvSpPr>
          <p:cNvPr id="11" name="TextBox 10"/>
          <p:cNvSpPr txBox="1"/>
          <p:nvPr/>
        </p:nvSpPr>
        <p:spPr>
          <a:xfrm>
            <a:off x="7909971" y="2831744"/>
            <a:ext cx="3623355"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used only 4.1% more memory, against a 20% limit.</a:t>
            </a:r>
          </a:p>
        </p:txBody>
      </p:sp>
      <p:sp>
        <p:nvSpPr>
          <p:cNvPr id="12" name="Rectangle 11"/>
          <p:cNvSpPr/>
          <p:nvPr/>
        </p:nvSpPr>
        <p:spPr>
          <a:xfrm>
            <a:off x="7727091" y="3323945"/>
            <a:ext cx="380623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27091" y="3474821"/>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971" y="3406241"/>
            <a:ext cx="3623355"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The richer traffic model</a:t>
            </a:r>
          </a:p>
        </p:txBody>
      </p:sp>
      <p:sp>
        <p:nvSpPr>
          <p:cNvPr id="15" name="TextBox 14"/>
          <p:cNvSpPr txBox="1"/>
          <p:nvPr/>
        </p:nvSpPr>
        <p:spPr>
          <a:xfrm>
            <a:off x="7909971" y="3650996"/>
            <a:ext cx="3623355"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added 23.7% run time and slightly less memory. Both pass.</a:t>
            </a:r>
          </a:p>
        </p:txBody>
      </p:sp>
      <p:sp>
        <p:nvSpPr>
          <p:cNvPr id="16" name="Rectangle 15"/>
          <p:cNvSpPr/>
          <p:nvPr/>
        </p:nvSpPr>
        <p:spPr>
          <a:xfrm>
            <a:off x="7727091" y="4143197"/>
            <a:ext cx="380623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27091" y="4294073"/>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971" y="4225493"/>
            <a:ext cx="3623355"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Why this matters</a:t>
            </a:r>
          </a:p>
        </p:txBody>
      </p:sp>
      <p:sp>
        <p:nvSpPr>
          <p:cNvPr id="19" name="TextBox 18"/>
          <p:cNvSpPr txBox="1"/>
          <p:nvPr/>
        </p:nvSpPr>
        <p:spPr>
          <a:xfrm>
            <a:off x="7909971" y="4470247"/>
            <a:ext cx="3623355"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It is what lets 12 nodes run 384 jobs without ever touching swap.</a:t>
            </a:r>
          </a:p>
        </p:txBody>
      </p:sp>
      <p:sp>
        <p:nvSpPr>
          <p:cNvPr id="20" name="Rectangle 19"/>
          <p:cNvSpPr/>
          <p:nvPr/>
        </p:nvSpPr>
        <p:spPr>
          <a:xfrm>
            <a:off x="658368" y="4123181"/>
            <a:ext cx="5245455" cy="264363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287773"/>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WHAT RSS MEANS</a:t>
            </a:r>
          </a:p>
        </p:txBody>
      </p:sp>
      <p:sp>
        <p:nvSpPr>
          <p:cNvPr id="22" name="TextBox 21"/>
          <p:cNvSpPr txBox="1"/>
          <p:nvPr/>
        </p:nvSpPr>
        <p:spPr>
          <a:xfrm>
            <a:off x="859536" y="4598670"/>
            <a:ext cx="4843119" cy="2021839"/>
          </a:xfrm>
          <a:prstGeom prst="rect">
            <a:avLst/>
          </a:prstGeom>
          <a:noFill/>
        </p:spPr>
        <p:txBody>
          <a:bodyPr wrap="square" anchor="t" lIns="0" rIns="0" tIns="0" bIns="0">
            <a:spAutoFit/>
          </a:bodyPr>
          <a:lstStyle/>
          <a:p>
            <a:pPr algn="l">
              <a:lnSpc>
                <a:spcPct val="140000"/>
              </a:lnSpc>
            </a:pPr>
            <a:r>
              <a:rPr sz="1120" b="0" i="0">
                <a:solidFill>
                  <a:srgbClr val="3C4653"/>
                </a:solidFill>
                <a:latin typeface="Segoe UI"/>
              </a:rPr>
              <a:t>RSS — Resident Set Size — is how much physical RAM a process is occupying right now. It excludes anything swapped out to disk, so it is the honest measure of what a worker costs the node.</a:t>
            </a:r>
          </a:p>
          <a:p>
            <a:pPr algn="l">
              <a:lnSpc>
                <a:spcPct val="140000"/>
              </a:lnSpc>
              <a:spcBef>
                <a:spcPts val="800"/>
              </a:spcBef>
            </a:pPr>
            <a:r>
              <a:rPr sz="1120" b="0" i="0">
                <a:solidFill>
                  <a:srgbClr val="3C4653"/>
                </a:solidFill>
                <a:latin typeface="Segoe UI"/>
              </a:rPr>
              <a:t>We read it from the Linux kernel directly: the VmRSS field of /proc/&lt;pid&gt;/status, sampled by the parent for every worker. Swap comes from VmSwap alongside it — which is how we can state that swap stayed at exactly zero. “Peak RSS” is the highest value seen across the run.</a:t>
            </a:r>
          </a:p>
        </p:txBody>
      </p:sp>
      <p:sp>
        <p:nvSpPr>
          <p:cNvPr id="23" name="Rectangle 22"/>
          <p:cNvSpPr/>
          <p:nvPr/>
        </p:nvSpPr>
        <p:spPr>
          <a:xfrm>
            <a:off x="6287871" y="4123181"/>
            <a:ext cx="5245455" cy="2842767"/>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9039" y="4287773"/>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WHERE THE DATA ACTUALLY GOES</a:t>
            </a:r>
          </a:p>
        </p:txBody>
      </p:sp>
      <p:sp>
        <p:nvSpPr>
          <p:cNvPr id="25" name="TextBox 24"/>
          <p:cNvSpPr txBox="1"/>
          <p:nvPr/>
        </p:nvSpPr>
        <p:spPr>
          <a:xfrm>
            <a:off x="6489039" y="4598670"/>
            <a:ext cx="4843119" cy="2220975"/>
          </a:xfrm>
          <a:prstGeom prst="rect">
            <a:avLst/>
          </a:prstGeom>
          <a:noFill/>
        </p:spPr>
        <p:txBody>
          <a:bodyPr wrap="square" anchor="t" lIns="0" rIns="0" tIns="0" bIns="0">
            <a:spAutoFit/>
          </a:bodyPr>
          <a:lstStyle/>
          <a:p>
            <a:pPr algn="l">
              <a:lnSpc>
                <a:spcPct val="140000"/>
              </a:lnSpc>
            </a:pPr>
            <a:r>
              <a:rPr sz="1120" b="0" i="0">
                <a:solidFill>
                  <a:srgbClr val="3C4653"/>
                </a:solidFill>
                <a:latin typeface="Segoe UI"/>
              </a:rPr>
              <a:t>The simulator keeps at most one buffer of step rows in memory — 4 096 rows at the largest setting. When it fills, the buffer is written out as a compressed Parquet segment and cleared. Memory therefore tracks the buffer size, not the length of the run.</a:t>
            </a:r>
          </a:p>
          <a:p>
            <a:pPr algn="l">
              <a:lnSpc>
                <a:spcPct val="140000"/>
              </a:lnSpc>
              <a:spcBef>
                <a:spcPts val="800"/>
              </a:spcBef>
            </a:pPr>
            <a:r>
              <a:rPr sz="1120" b="0" i="0">
                <a:solidFill>
                  <a:srgbClr val="3C4653"/>
                </a:solidFill>
                <a:latin typeface="Segoe UI"/>
              </a:rPr>
              <a:t>Those segments are written to scratch disk on the node the worker is already running on — not streamed over the network. Only when the shard finishes is the result copied once to the shared cluster filesystem, with a metadata file written last as the commit marker.</a:t>
            </a:r>
          </a:p>
        </p:txBody>
      </p:sp>
      <p:sp>
        <p:nvSpPr>
          <p:cNvPr id="26" name="TextBox 25"/>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SCALING UP · STAGE 2</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How many workers fit on one node?</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Each node has 125 CPUs and 125 GB of RAM. We tried four settings, three times each, and required at least 70% CPU efficiency.</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pic>
        <p:nvPicPr>
          <p:cNvPr id="8" name="Picture 7" descr="c_packing.png"/>
          <p:cNvPicPr>
            <a:picLocks noChangeAspect="1"/>
          </p:cNvPicPr>
          <p:nvPr/>
        </p:nvPicPr>
        <p:blipFill>
          <a:blip r:embed="rId2"/>
          <a:stretch>
            <a:fillRect/>
          </a:stretch>
        </p:blipFill>
        <p:spPr>
          <a:xfrm>
            <a:off x="658368" y="2334260"/>
            <a:ext cx="6959973" cy="2252148"/>
          </a:xfrm>
          <a:prstGeom prst="rect">
            <a:avLst/>
          </a:prstGeom>
        </p:spPr>
      </p:pic>
      <p:sp>
        <p:nvSpPr>
          <p:cNvPr id="9" name="Rectangle 8"/>
          <p:cNvSpPr/>
          <p:nvPr/>
        </p:nvSpPr>
        <p:spPr>
          <a:xfrm>
            <a:off x="7944590" y="2384552"/>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7470" y="2315972"/>
            <a:ext cx="3405856"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8 workers passed</a:t>
            </a:r>
          </a:p>
        </p:txBody>
      </p:sp>
      <p:sp>
        <p:nvSpPr>
          <p:cNvPr id="11" name="TextBox 10"/>
          <p:cNvSpPr txBox="1"/>
          <p:nvPr/>
        </p:nvSpPr>
        <p:spPr>
          <a:xfrm>
            <a:off x="8127470" y="2560726"/>
            <a:ext cx="3405856"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at 71.2% CPU efficiency — the only setting that fully cleared the bar.</a:t>
            </a:r>
          </a:p>
        </p:txBody>
      </p:sp>
      <p:sp>
        <p:nvSpPr>
          <p:cNvPr id="12" name="Rectangle 11"/>
          <p:cNvSpPr/>
          <p:nvPr/>
        </p:nvSpPr>
        <p:spPr>
          <a:xfrm>
            <a:off x="7944590" y="3062071"/>
            <a:ext cx="3588736"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44590" y="3222091"/>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7470" y="3153511"/>
            <a:ext cx="3405856"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16 and 32 failed</a:t>
            </a:r>
          </a:p>
        </p:txBody>
      </p:sp>
      <p:sp>
        <p:nvSpPr>
          <p:cNvPr id="15" name="TextBox 14"/>
          <p:cNvSpPr txBox="1"/>
          <p:nvPr/>
        </p:nvSpPr>
        <p:spPr>
          <a:xfrm>
            <a:off x="8127470" y="3398266"/>
            <a:ext cx="3405856" cy="273532"/>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at 67.0% and 68.6%, both below 70%.</a:t>
            </a:r>
          </a:p>
        </p:txBody>
      </p:sp>
      <p:sp>
        <p:nvSpPr>
          <p:cNvPr id="16" name="Rectangle 15"/>
          <p:cNvSpPr/>
          <p:nvPr/>
        </p:nvSpPr>
        <p:spPr>
          <a:xfrm>
            <a:off x="7944590" y="3717518"/>
            <a:ext cx="3588736"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44590" y="387753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7470" y="3808958"/>
            <a:ext cx="3405856"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64 never finished</a:t>
            </a:r>
          </a:p>
        </p:txBody>
      </p:sp>
      <p:sp>
        <p:nvSpPr>
          <p:cNvPr id="19" name="TextBox 18"/>
          <p:cNvSpPr txBox="1"/>
          <p:nvPr/>
        </p:nvSpPr>
        <p:spPr>
          <a:xfrm>
            <a:off x="8127470" y="4053713"/>
            <a:ext cx="3405856" cy="273532"/>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all three required repetitions.</a:t>
            </a:r>
          </a:p>
        </p:txBody>
      </p:sp>
      <p:sp>
        <p:nvSpPr>
          <p:cNvPr id="20" name="Rectangle 19"/>
          <p:cNvSpPr/>
          <p:nvPr/>
        </p:nvSpPr>
        <p:spPr>
          <a:xfrm>
            <a:off x="7944590" y="4372965"/>
            <a:ext cx="3588736"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44590" y="4532985"/>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7470" y="4464405"/>
            <a:ext cx="3405856"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Memory was never the problem</a:t>
            </a:r>
          </a:p>
        </p:txBody>
      </p:sp>
      <p:sp>
        <p:nvSpPr>
          <p:cNvPr id="23" name="TextBox 22"/>
          <p:cNvSpPr txBox="1"/>
          <p:nvPr/>
        </p:nvSpPr>
        <p:spPr>
          <a:xfrm>
            <a:off x="8127470" y="4709159"/>
            <a:ext cx="3405856"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even 32 workers used under 16% of the node's RAM. Something else is serialising.</a:t>
            </a:r>
          </a:p>
        </p:txBody>
      </p:sp>
      <p:sp>
        <p:nvSpPr>
          <p:cNvPr id="24" name="TextBox 23"/>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SCALING UP · STAGE 3</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From 2 nodes to 4 to 12</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Each node works on its own slice of the job list. Moving to 4 nodes requires a clean 2-node report; going beyond 4 requires a clean 4-node report on the exact same inputs — so a small unrelated test can never unlock the big expensive run.</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pic>
        <p:nvPicPr>
          <p:cNvPr id="8" name="Picture 7" descr="c_scale.png"/>
          <p:cNvPicPr>
            <a:picLocks noChangeAspect="1"/>
          </p:cNvPicPr>
          <p:nvPr/>
        </p:nvPicPr>
        <p:blipFill>
          <a:blip r:embed="rId2"/>
          <a:stretch>
            <a:fillRect/>
          </a:stretch>
        </p:blipFill>
        <p:spPr>
          <a:xfrm>
            <a:off x="658368" y="2532126"/>
            <a:ext cx="6524975" cy="2252232"/>
          </a:xfrm>
          <a:prstGeom prst="rect">
            <a:avLst/>
          </a:prstGeom>
        </p:spPr>
      </p:pic>
      <p:sp>
        <p:nvSpPr>
          <p:cNvPr id="9" name="Rectangle 8"/>
          <p:cNvSpPr/>
          <p:nvPr/>
        </p:nvSpPr>
        <p:spPr>
          <a:xfrm>
            <a:off x="7509592" y="2586990"/>
            <a:ext cx="1307716"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55896" y="2715006"/>
            <a:ext cx="1051684" cy="384048"/>
          </a:xfrm>
          <a:prstGeom prst="rect">
            <a:avLst/>
          </a:prstGeom>
          <a:noFill/>
        </p:spPr>
        <p:txBody>
          <a:bodyPr wrap="square" anchor="t" lIns="0" rIns="0" tIns="0" bIns="0">
            <a:spAutoFit/>
          </a:bodyPr>
          <a:lstStyle/>
          <a:p>
            <a:pPr algn="l">
              <a:lnSpc>
                <a:spcPct val="100000"/>
              </a:lnSpc>
            </a:pPr>
            <a:r>
              <a:rPr sz="1900" b="0" i="0">
                <a:solidFill>
                  <a:srgbClr val="0F4C5C"/>
                </a:solidFill>
                <a:latin typeface="Georgia"/>
              </a:rPr>
              <a:t>12</a:t>
            </a:r>
          </a:p>
        </p:txBody>
      </p:sp>
      <p:sp>
        <p:nvSpPr>
          <p:cNvPr id="11" name="TextBox 10"/>
          <p:cNvSpPr txBox="1"/>
          <p:nvPr/>
        </p:nvSpPr>
        <p:spPr>
          <a:xfrm>
            <a:off x="7655896" y="3117342"/>
            <a:ext cx="1051684"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NODES</a:t>
            </a:r>
          </a:p>
          <a:p>
            <a:pPr algn="l">
              <a:lnSpc>
                <a:spcPct val="130000"/>
              </a:lnSpc>
              <a:spcBef>
                <a:spcPts val="0"/>
              </a:spcBef>
            </a:pPr>
            <a:r>
              <a:rPr sz="819" b="0" i="0">
                <a:solidFill>
                  <a:srgbClr val="6C7683"/>
                </a:solidFill>
                <a:latin typeface="Consolas"/>
              </a:rPr>
              <a:t>USED</a:t>
            </a:r>
          </a:p>
        </p:txBody>
      </p:sp>
      <p:sp>
        <p:nvSpPr>
          <p:cNvPr id="12" name="Rectangle 11"/>
          <p:cNvSpPr/>
          <p:nvPr/>
        </p:nvSpPr>
        <p:spPr>
          <a:xfrm>
            <a:off x="8867601" y="2586990"/>
            <a:ext cx="1307716"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13905" y="2715006"/>
            <a:ext cx="1051684" cy="384048"/>
          </a:xfrm>
          <a:prstGeom prst="rect">
            <a:avLst/>
          </a:prstGeom>
          <a:noFill/>
        </p:spPr>
        <p:txBody>
          <a:bodyPr wrap="square" anchor="t" lIns="0" rIns="0" tIns="0" bIns="0">
            <a:spAutoFit/>
          </a:bodyPr>
          <a:lstStyle/>
          <a:p>
            <a:pPr algn="l">
              <a:lnSpc>
                <a:spcPct val="100000"/>
              </a:lnSpc>
            </a:pPr>
            <a:r>
              <a:rPr sz="1900" b="0" i="0">
                <a:solidFill>
                  <a:srgbClr val="0F4C5C"/>
                </a:solidFill>
                <a:latin typeface="Georgia"/>
              </a:rPr>
              <a:t>384</a:t>
            </a:r>
          </a:p>
        </p:txBody>
      </p:sp>
      <p:sp>
        <p:nvSpPr>
          <p:cNvPr id="14" name="TextBox 13"/>
          <p:cNvSpPr txBox="1"/>
          <p:nvPr/>
        </p:nvSpPr>
        <p:spPr>
          <a:xfrm>
            <a:off x="9013905" y="3117342"/>
            <a:ext cx="1051684"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JOBS</a:t>
            </a:r>
          </a:p>
          <a:p>
            <a:pPr algn="l">
              <a:lnSpc>
                <a:spcPct val="130000"/>
              </a:lnSpc>
              <a:spcBef>
                <a:spcPts val="0"/>
              </a:spcBef>
            </a:pPr>
            <a:r>
              <a:rPr sz="819" b="0" i="0">
                <a:solidFill>
                  <a:srgbClr val="6C7683"/>
                </a:solidFill>
                <a:latin typeface="Consolas"/>
              </a:rPr>
              <a:t>COMPLETED</a:t>
            </a:r>
          </a:p>
        </p:txBody>
      </p:sp>
      <p:sp>
        <p:nvSpPr>
          <p:cNvPr id="15" name="Rectangle 14"/>
          <p:cNvSpPr/>
          <p:nvPr/>
        </p:nvSpPr>
        <p:spPr>
          <a:xfrm>
            <a:off x="10225610" y="2586990"/>
            <a:ext cx="1307716"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71914" y="2715006"/>
            <a:ext cx="1051684" cy="384048"/>
          </a:xfrm>
          <a:prstGeom prst="rect">
            <a:avLst/>
          </a:prstGeom>
          <a:noFill/>
        </p:spPr>
        <p:txBody>
          <a:bodyPr wrap="square" anchor="t" lIns="0" rIns="0" tIns="0" bIns="0">
            <a:spAutoFit/>
          </a:bodyPr>
          <a:lstStyle/>
          <a:p>
            <a:pPr algn="l">
              <a:lnSpc>
                <a:spcPct val="100000"/>
              </a:lnSpc>
            </a:pPr>
            <a:r>
              <a:rPr sz="1900" b="0" i="0">
                <a:solidFill>
                  <a:srgbClr val="0F4C5C"/>
                </a:solidFill>
                <a:latin typeface="Georgia"/>
              </a:rPr>
              <a:t>85.4</a:t>
            </a:r>
            <a:r>
              <a:rPr sz="950" b="0" i="0">
                <a:solidFill>
                  <a:srgbClr val="6C7683"/>
                </a:solidFill>
                <a:latin typeface="Consolas"/>
              </a:rPr>
              <a:t> min</a:t>
            </a:r>
          </a:p>
        </p:txBody>
      </p:sp>
      <p:sp>
        <p:nvSpPr>
          <p:cNvPr id="17" name="TextBox 16"/>
          <p:cNvSpPr txBox="1"/>
          <p:nvPr/>
        </p:nvSpPr>
        <p:spPr>
          <a:xfrm>
            <a:off x="10371914" y="3117342"/>
            <a:ext cx="1051684"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TOTAL TIME</a:t>
            </a:r>
          </a:p>
          <a:p>
            <a:pPr algn="l">
              <a:lnSpc>
                <a:spcPct val="130000"/>
              </a:lnSpc>
              <a:spcBef>
                <a:spcPts val="0"/>
              </a:spcBef>
            </a:pPr>
            <a:r>
              <a:rPr sz="819" b="0" i="0">
                <a:solidFill>
                  <a:srgbClr val="6C7683"/>
                </a:solidFill>
                <a:latin typeface="Consolas"/>
              </a:rPr>
              <a:t>ON 12 NODES</a:t>
            </a:r>
          </a:p>
        </p:txBody>
      </p:sp>
      <p:sp>
        <p:nvSpPr>
          <p:cNvPr id="18" name="Rectangle 17"/>
          <p:cNvSpPr/>
          <p:nvPr/>
        </p:nvSpPr>
        <p:spPr>
          <a:xfrm>
            <a:off x="7509592" y="3611118"/>
            <a:ext cx="1307716"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55896" y="3739133"/>
            <a:ext cx="1051684"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90.9</a:t>
            </a:r>
            <a:r>
              <a:rPr sz="950" b="0" i="0">
                <a:solidFill>
                  <a:srgbClr val="6C7683"/>
                </a:solidFill>
                <a:latin typeface="Consolas"/>
              </a:rPr>
              <a:t>%</a:t>
            </a:r>
          </a:p>
        </p:txBody>
      </p:sp>
      <p:sp>
        <p:nvSpPr>
          <p:cNvPr id="20" name="TextBox 19"/>
          <p:cNvSpPr txBox="1"/>
          <p:nvPr/>
        </p:nvSpPr>
        <p:spPr>
          <a:xfrm>
            <a:off x="7655896" y="4141470"/>
            <a:ext cx="1051684"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CPU EFFICIENCY</a:t>
            </a:r>
          </a:p>
          <a:p>
            <a:pPr algn="l">
              <a:lnSpc>
                <a:spcPct val="130000"/>
              </a:lnSpc>
              <a:spcBef>
                <a:spcPts val="0"/>
              </a:spcBef>
            </a:pPr>
            <a:r>
              <a:rPr sz="819" b="0" i="0">
                <a:solidFill>
                  <a:srgbClr val="6C7683"/>
                </a:solidFill>
                <a:latin typeface="Consolas"/>
              </a:rPr>
              <a:t>WORST NODE 89.1%</a:t>
            </a:r>
          </a:p>
        </p:txBody>
      </p:sp>
      <p:sp>
        <p:nvSpPr>
          <p:cNvPr id="21" name="Rectangle 20"/>
          <p:cNvSpPr/>
          <p:nvPr/>
        </p:nvSpPr>
        <p:spPr>
          <a:xfrm>
            <a:off x="8867601" y="3611118"/>
            <a:ext cx="1307716"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13905" y="3739133"/>
            <a:ext cx="1051684"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5.4</a:t>
            </a:r>
            <a:r>
              <a:rPr sz="950" b="0" i="0">
                <a:solidFill>
                  <a:srgbClr val="6C7683"/>
                </a:solidFill>
                <a:latin typeface="Consolas"/>
              </a:rPr>
              <a:t> GiB</a:t>
            </a:r>
          </a:p>
        </p:txBody>
      </p:sp>
      <p:sp>
        <p:nvSpPr>
          <p:cNvPr id="23" name="TextBox 22"/>
          <p:cNvSpPr txBox="1"/>
          <p:nvPr/>
        </p:nvSpPr>
        <p:spPr>
          <a:xfrm>
            <a:off x="9013905" y="4141470"/>
            <a:ext cx="1051684"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PEAK MEMORY</a:t>
            </a:r>
          </a:p>
          <a:p>
            <a:pPr algn="l">
              <a:lnSpc>
                <a:spcPct val="130000"/>
              </a:lnSpc>
              <a:spcBef>
                <a:spcPts val="0"/>
              </a:spcBef>
            </a:pPr>
            <a:r>
              <a:rPr sz="819" b="0" i="0">
                <a:solidFill>
                  <a:srgbClr val="6C7683"/>
                </a:solidFill>
                <a:latin typeface="Consolas"/>
              </a:rPr>
              <a:t>OUT OF 120 GIB</a:t>
            </a:r>
          </a:p>
        </p:txBody>
      </p:sp>
      <p:sp>
        <p:nvSpPr>
          <p:cNvPr id="24" name="Rectangle 23"/>
          <p:cNvSpPr/>
          <p:nvPr/>
        </p:nvSpPr>
        <p:spPr>
          <a:xfrm>
            <a:off x="10225610" y="3611118"/>
            <a:ext cx="1307716"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71914" y="3739133"/>
            <a:ext cx="1051684"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0</a:t>
            </a:r>
          </a:p>
        </p:txBody>
      </p:sp>
      <p:sp>
        <p:nvSpPr>
          <p:cNvPr id="26" name="TextBox 25"/>
          <p:cNvSpPr txBox="1"/>
          <p:nvPr/>
        </p:nvSpPr>
        <p:spPr>
          <a:xfrm>
            <a:off x="10371914" y="4141470"/>
            <a:ext cx="1051684"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CRASHES, SWAPS</a:t>
            </a:r>
          </a:p>
          <a:p>
            <a:pPr algn="l">
              <a:lnSpc>
                <a:spcPct val="130000"/>
              </a:lnSpc>
              <a:spcBef>
                <a:spcPts val="0"/>
              </a:spcBef>
            </a:pPr>
            <a:r>
              <a:rPr sz="819" b="0" i="0">
                <a:solidFill>
                  <a:srgbClr val="6C7683"/>
                </a:solidFill>
                <a:latin typeface="Consolas"/>
              </a:rPr>
              <a:t>OR LOST JOBS</a:t>
            </a:r>
          </a:p>
        </p:txBody>
      </p:sp>
      <p:sp>
        <p:nvSpPr>
          <p:cNvPr id="27" name="TextBox 26"/>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SCALING UP · RESULT</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How much headroom was left</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pic>
        <p:nvPicPr>
          <p:cNvPr id="7" name="Picture 6" descr="c_headroom.png"/>
          <p:cNvPicPr>
            <a:picLocks noChangeAspect="1"/>
          </p:cNvPicPr>
          <p:nvPr/>
        </p:nvPicPr>
        <p:blipFill>
          <a:blip r:embed="rId2"/>
          <a:stretch>
            <a:fillRect/>
          </a:stretch>
        </p:blipFill>
        <p:spPr>
          <a:xfrm>
            <a:off x="658368" y="1554480"/>
            <a:ext cx="7829970" cy="1479792"/>
          </a:xfrm>
          <a:prstGeom prst="rect">
            <a:avLst/>
          </a:prstGeom>
        </p:spPr>
      </p:pic>
      <p:sp>
        <p:nvSpPr>
          <p:cNvPr id="8" name="TextBox 7"/>
          <p:cNvSpPr txBox="1"/>
          <p:nvPr/>
        </p:nvSpPr>
        <p:spPr>
          <a:xfrm>
            <a:off x="658368" y="3236976"/>
            <a:ext cx="7829970" cy="548640"/>
          </a:xfrm>
          <a:prstGeom prst="rect">
            <a:avLst/>
          </a:prstGeom>
          <a:noFill/>
        </p:spPr>
        <p:txBody>
          <a:bodyPr wrap="square" anchor="t" lIns="0" rIns="0" tIns="0" bIns="0">
            <a:spAutoFit/>
          </a:bodyPr>
          <a:lstStyle/>
          <a:p>
            <a:pPr algn="l">
              <a:lnSpc>
                <a:spcPct val="138000"/>
              </a:lnSpc>
            </a:pPr>
            <a:r>
              <a:rPr sz="1200" b="0" i="0">
                <a:solidFill>
                  <a:srgbClr val="3C4653"/>
                </a:solidFill>
                <a:latin typeface="Segoe UI"/>
              </a:rPr>
              <a:t>Every node passed every check. Peak memory never went above 4.5% of what was allocated, and the machine never had to swap to disk. That is the direct payoff of the memory work in stage 1.</a:t>
            </a:r>
          </a:p>
        </p:txBody>
      </p:sp>
      <p:sp>
        <p:nvSpPr>
          <p:cNvPr id="9" name="Rectangle 8"/>
          <p:cNvSpPr/>
          <p:nvPr/>
        </p:nvSpPr>
        <p:spPr>
          <a:xfrm>
            <a:off x="8814587" y="1659636"/>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97467" y="1591056"/>
            <a:ext cx="2535859"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What this does not measure</a:t>
            </a:r>
          </a:p>
        </p:txBody>
      </p:sp>
      <p:sp>
        <p:nvSpPr>
          <p:cNvPr id="11" name="TextBox 10"/>
          <p:cNvSpPr txBox="1"/>
          <p:nvPr/>
        </p:nvSpPr>
        <p:spPr>
          <a:xfrm>
            <a:off x="8997467" y="1832559"/>
            <a:ext cx="2535859" cy="984885"/>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This is campaign throughput — how fast we can run experiments. It is not a measurement of how fast a live control loop would respond.</a:t>
            </a:r>
          </a:p>
        </p:txBody>
      </p:sp>
      <p:sp>
        <p:nvSpPr>
          <p:cNvPr id="12" name="Rectangle 11"/>
          <p:cNvSpPr/>
          <p:nvPr/>
        </p:nvSpPr>
        <p:spPr>
          <a:xfrm>
            <a:off x="8814587" y="2872308"/>
            <a:ext cx="271873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14587" y="3041472"/>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97467" y="2972892"/>
            <a:ext cx="2535859"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Where the ceiling is</a:t>
            </a:r>
          </a:p>
        </p:txBody>
      </p:sp>
      <p:sp>
        <p:nvSpPr>
          <p:cNvPr id="15" name="TextBox 14"/>
          <p:cNvSpPr txBox="1"/>
          <p:nvPr/>
        </p:nvSpPr>
        <p:spPr>
          <a:xfrm>
            <a:off x="8997467" y="3214395"/>
            <a:ext cx="2535859" cy="627507"/>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Nothing in the design caps it at 12 nodes. We just need a clean 12-node report to unlock 24 or 48.</a:t>
            </a:r>
          </a:p>
        </p:txBody>
      </p:sp>
      <p:sp>
        <p:nvSpPr>
          <p:cNvPr id="16" name="TextBox 15"/>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NEGATIVE RESULTS</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What did not work on the cluster</a:t>
            </a:r>
          </a:p>
        </p:txBody>
      </p:sp>
      <p:sp>
        <p:nvSpPr>
          <p:cNvPr id="5" name="TextBox 4"/>
          <p:cNvSpPr txBox="1"/>
          <p:nvPr/>
        </p:nvSpPr>
        <p:spPr>
          <a:xfrm>
            <a:off x="658368" y="1463040"/>
            <a:ext cx="8482468" cy="344170"/>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About half the scale-up effort went into things that failed. Each one changed the design.</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8" name="Rectangle 7"/>
          <p:cNvSpPr/>
          <p:nvPr/>
        </p:nvSpPr>
        <p:spPr>
          <a:xfrm>
            <a:off x="658368" y="2099818"/>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177542"/>
            <a:ext cx="2445398"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WHAT WE TRIED</a:t>
            </a:r>
          </a:p>
        </p:txBody>
      </p:sp>
      <p:sp>
        <p:nvSpPr>
          <p:cNvPr id="10" name="TextBox 9"/>
          <p:cNvSpPr txBox="1"/>
          <p:nvPr/>
        </p:nvSpPr>
        <p:spPr>
          <a:xfrm>
            <a:off x="3350654" y="2177542"/>
            <a:ext cx="3532894"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WHAT HAPPENED</a:t>
            </a:r>
          </a:p>
        </p:txBody>
      </p:sp>
      <p:sp>
        <p:nvSpPr>
          <p:cNvPr id="11" name="TextBox 10"/>
          <p:cNvSpPr txBox="1"/>
          <p:nvPr/>
        </p:nvSpPr>
        <p:spPr>
          <a:xfrm>
            <a:off x="7048140" y="2177542"/>
            <a:ext cx="4402890"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WHAT WE DID INSTEAD</a:t>
            </a:r>
          </a:p>
        </p:txBody>
      </p:sp>
      <p:sp>
        <p:nvSpPr>
          <p:cNvPr id="12" name="Rectangle 11"/>
          <p:cNvSpPr/>
          <p:nvPr/>
        </p:nvSpPr>
        <p:spPr>
          <a:xfrm>
            <a:off x="658368" y="2374138"/>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2424430"/>
            <a:ext cx="2445398" cy="3337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Asking for local scratch disk</a:t>
            </a:r>
          </a:p>
        </p:txBody>
      </p:sp>
      <p:sp>
        <p:nvSpPr>
          <p:cNvPr id="14" name="TextBox 13"/>
          <p:cNvSpPr txBox="1"/>
          <p:nvPr/>
        </p:nvSpPr>
        <p:spPr>
          <a:xfrm>
            <a:off x="3350654" y="2424430"/>
            <a:ext cx="3532894" cy="333756"/>
          </a:xfrm>
          <a:prstGeom prst="rect">
            <a:avLst/>
          </a:prstGeom>
          <a:noFill/>
        </p:spPr>
        <p:txBody>
          <a:bodyPr wrap="square" anchor="t" lIns="0" rIns="0" tIns="0" bIns="0">
            <a:spAutoFit/>
          </a:bodyPr>
          <a:lstStyle/>
          <a:p>
            <a:pPr algn="l">
              <a:lnSpc>
                <a:spcPct val="112000"/>
              </a:lnSpc>
            </a:pPr>
            <a:r>
              <a:rPr sz="960" b="0" i="0">
                <a:solidFill>
                  <a:srgbClr val="9C3B35"/>
                </a:solidFill>
                <a:latin typeface="Segoe UI"/>
              </a:rPr>
              <a:t>REJECTED — C-DOT's scheduler has no such resource</a:t>
            </a:r>
          </a:p>
        </p:txBody>
      </p:sp>
      <p:sp>
        <p:nvSpPr>
          <p:cNvPr id="15" name="TextBox 14"/>
          <p:cNvSpPr txBox="1"/>
          <p:nvPr/>
        </p:nvSpPr>
        <p:spPr>
          <a:xfrm>
            <a:off x="7048140" y="2424430"/>
            <a:ext cx="4402890" cy="3337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Fall back to the node's own /tmp with an operator-supplied disk budget</a:t>
            </a:r>
          </a:p>
        </p:txBody>
      </p:sp>
      <p:sp>
        <p:nvSpPr>
          <p:cNvPr id="16" name="Rectangle 15"/>
          <p:cNvSpPr/>
          <p:nvPr/>
        </p:nvSpPr>
        <p:spPr>
          <a:xfrm>
            <a:off x="658368" y="2762758"/>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2762758"/>
            <a:ext cx="10874959" cy="3886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2813050"/>
            <a:ext cx="2445398" cy="3337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Requesting memory separately</a:t>
            </a:r>
          </a:p>
        </p:txBody>
      </p:sp>
      <p:sp>
        <p:nvSpPr>
          <p:cNvPr id="19" name="TextBox 18"/>
          <p:cNvSpPr txBox="1"/>
          <p:nvPr/>
        </p:nvSpPr>
        <p:spPr>
          <a:xfrm>
            <a:off x="3350654" y="2813050"/>
            <a:ext cx="3532894" cy="333756"/>
          </a:xfrm>
          <a:prstGeom prst="rect">
            <a:avLst/>
          </a:prstGeom>
          <a:noFill/>
        </p:spPr>
        <p:txBody>
          <a:bodyPr wrap="square" anchor="t" lIns="0" rIns="0" tIns="0" bIns="0">
            <a:spAutoFit/>
          </a:bodyPr>
          <a:lstStyle/>
          <a:p>
            <a:pPr algn="l">
              <a:lnSpc>
                <a:spcPct val="112000"/>
              </a:lnSpc>
            </a:pPr>
            <a:r>
              <a:rPr sz="960" b="0" i="0">
                <a:solidFill>
                  <a:srgbClr val="9C3B35"/>
                </a:solidFill>
                <a:latin typeface="Segoe UI"/>
              </a:rPr>
              <a:t>REJECTED — refused when node placement is also specified</a:t>
            </a:r>
          </a:p>
        </p:txBody>
      </p:sp>
      <p:sp>
        <p:nvSpPr>
          <p:cNvPr id="20" name="TextBox 19"/>
          <p:cNvSpPr txBox="1"/>
          <p:nvPr/>
        </p:nvSpPr>
        <p:spPr>
          <a:xfrm>
            <a:off x="7048140" y="2813050"/>
            <a:ext cx="4402890" cy="3337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Put memory inside the node request instead</a:t>
            </a:r>
          </a:p>
        </p:txBody>
      </p:sp>
      <p:sp>
        <p:nvSpPr>
          <p:cNvPr id="21" name="Rectangle 20"/>
          <p:cNvSpPr/>
          <p:nvPr/>
        </p:nvSpPr>
        <p:spPr>
          <a:xfrm>
            <a:off x="658368" y="315137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3201670"/>
            <a:ext cx="2445398" cy="3337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16, 32 and 64 workers per node</a:t>
            </a:r>
          </a:p>
        </p:txBody>
      </p:sp>
      <p:sp>
        <p:nvSpPr>
          <p:cNvPr id="23" name="TextBox 22"/>
          <p:cNvSpPr txBox="1"/>
          <p:nvPr/>
        </p:nvSpPr>
        <p:spPr>
          <a:xfrm>
            <a:off x="3350654" y="3201670"/>
            <a:ext cx="3532894" cy="333756"/>
          </a:xfrm>
          <a:prstGeom prst="rect">
            <a:avLst/>
          </a:prstGeom>
          <a:noFill/>
        </p:spPr>
        <p:txBody>
          <a:bodyPr wrap="square" anchor="t" lIns="0" rIns="0" tIns="0" bIns="0">
            <a:spAutoFit/>
          </a:bodyPr>
          <a:lstStyle/>
          <a:p>
            <a:pPr algn="l">
              <a:lnSpc>
                <a:spcPct val="112000"/>
              </a:lnSpc>
            </a:pPr>
            <a:r>
              <a:rPr sz="960" b="0" i="0">
                <a:solidFill>
                  <a:srgbClr val="9C3B35"/>
                </a:solidFill>
                <a:latin typeface="Segoe UI"/>
              </a:rPr>
              <a:t>FAILED — 67.0% and 68.6% CPU; 64 never completed</a:t>
            </a:r>
          </a:p>
        </p:txBody>
      </p:sp>
      <p:sp>
        <p:nvSpPr>
          <p:cNvPr id="24" name="TextBox 23"/>
          <p:cNvSpPr txBox="1"/>
          <p:nvPr/>
        </p:nvSpPr>
        <p:spPr>
          <a:xfrm>
            <a:off x="7048140" y="3201670"/>
            <a:ext cx="4402890" cy="3337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Locked in 8 workers per node as the only setting that fully passed</a:t>
            </a:r>
          </a:p>
        </p:txBody>
      </p:sp>
      <p:sp>
        <p:nvSpPr>
          <p:cNvPr id="25" name="Rectangle 24"/>
          <p:cNvSpPr/>
          <p:nvPr/>
        </p:nvSpPr>
        <p:spPr>
          <a:xfrm>
            <a:off x="658368" y="353999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3539997"/>
            <a:ext cx="10874959" cy="3886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 y="3590289"/>
            <a:ext cx="2445398" cy="3337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A quick 30-minute test on 2 nodes</a:t>
            </a:r>
          </a:p>
        </p:txBody>
      </p:sp>
      <p:sp>
        <p:nvSpPr>
          <p:cNvPr id="28" name="TextBox 27"/>
          <p:cNvSpPr txBox="1"/>
          <p:nvPr/>
        </p:nvSpPr>
        <p:spPr>
          <a:xfrm>
            <a:off x="3350654" y="3590289"/>
            <a:ext cx="3532894" cy="333756"/>
          </a:xfrm>
          <a:prstGeom prst="rect">
            <a:avLst/>
          </a:prstGeom>
          <a:noFill/>
        </p:spPr>
        <p:txBody>
          <a:bodyPr wrap="square" anchor="t" lIns="0" rIns="0" tIns="0" bIns="0">
            <a:spAutoFit/>
          </a:bodyPr>
          <a:lstStyle/>
          <a:p>
            <a:pPr algn="l">
              <a:lnSpc>
                <a:spcPct val="112000"/>
              </a:lnSpc>
            </a:pPr>
            <a:r>
              <a:rPr sz="960" b="0" i="0">
                <a:solidFill>
                  <a:srgbClr val="B5761F"/>
                </a:solidFill>
                <a:latin typeface="Segoe UI"/>
              </a:rPr>
              <a:t>NOT USABLE — 6.8% CPU efficiency, far too short</a:t>
            </a:r>
          </a:p>
        </p:txBody>
      </p:sp>
      <p:sp>
        <p:nvSpPr>
          <p:cNvPr id="29" name="TextBox 28"/>
          <p:cNvSpPr txBox="1"/>
          <p:nvPr/>
        </p:nvSpPr>
        <p:spPr>
          <a:xfrm>
            <a:off x="7048140" y="3590289"/>
            <a:ext cx="4402890" cy="3337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Kept only for checking scheduling and file writing; never for choosing settings</a:t>
            </a:r>
          </a:p>
        </p:txBody>
      </p:sp>
      <p:sp>
        <p:nvSpPr>
          <p:cNvPr id="30" name="Rectangle 29"/>
          <p:cNvSpPr/>
          <p:nvPr/>
        </p:nvSpPr>
        <p:spPr>
          <a:xfrm>
            <a:off x="658368" y="392861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 y="3978909"/>
            <a:ext cx="2445398" cy="3337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Development controllers at full scale</a:t>
            </a:r>
          </a:p>
        </p:txBody>
      </p:sp>
      <p:sp>
        <p:nvSpPr>
          <p:cNvPr id="32" name="TextBox 31"/>
          <p:cNvSpPr txBox="1"/>
          <p:nvPr/>
        </p:nvSpPr>
        <p:spPr>
          <a:xfrm>
            <a:off x="3350654" y="3978909"/>
            <a:ext cx="3532894" cy="333756"/>
          </a:xfrm>
          <a:prstGeom prst="rect">
            <a:avLst/>
          </a:prstGeom>
          <a:noFill/>
        </p:spPr>
        <p:txBody>
          <a:bodyPr wrap="square" anchor="t" lIns="0" rIns="0" tIns="0" bIns="0">
            <a:spAutoFit/>
          </a:bodyPr>
          <a:lstStyle/>
          <a:p>
            <a:pPr algn="l">
              <a:lnSpc>
                <a:spcPct val="112000"/>
              </a:lnSpc>
            </a:pPr>
            <a:r>
              <a:rPr sz="960" b="0" i="0">
                <a:solidFill>
                  <a:srgbClr val="9C3B35"/>
                </a:solidFill>
                <a:latin typeface="Segoe UI"/>
              </a:rPr>
              <a:t>BLOCKED — those settings are development-only</a:t>
            </a:r>
          </a:p>
        </p:txBody>
      </p:sp>
      <p:sp>
        <p:nvSpPr>
          <p:cNvPr id="33" name="TextBox 32"/>
          <p:cNvSpPr txBox="1"/>
          <p:nvPr/>
        </p:nvSpPr>
        <p:spPr>
          <a:xfrm>
            <a:off x="7048140" y="3978909"/>
            <a:ext cx="4402890" cy="3337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A controller must pass a fresh held-out evaluation before running on more than 4 nodes</a:t>
            </a:r>
          </a:p>
        </p:txBody>
      </p:sp>
      <p:sp>
        <p:nvSpPr>
          <p:cNvPr id="34" name="Rectangle 33"/>
          <p:cNvSpPr/>
          <p:nvPr/>
        </p:nvSpPr>
        <p:spPr>
          <a:xfrm>
            <a:off x="658368" y="431723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317237"/>
            <a:ext cx="10874959" cy="3886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 y="4367529"/>
            <a:ext cx="2445398" cy="3337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Forecast training data v1 and v2</a:t>
            </a:r>
          </a:p>
        </p:txBody>
      </p:sp>
      <p:sp>
        <p:nvSpPr>
          <p:cNvPr id="37" name="TextBox 36"/>
          <p:cNvSpPr txBox="1"/>
          <p:nvPr/>
        </p:nvSpPr>
        <p:spPr>
          <a:xfrm>
            <a:off x="3350654" y="4367529"/>
            <a:ext cx="3532894" cy="333756"/>
          </a:xfrm>
          <a:prstGeom prst="rect">
            <a:avLst/>
          </a:prstGeom>
          <a:noFill/>
        </p:spPr>
        <p:txBody>
          <a:bodyPr wrap="square" anchor="t" lIns="0" rIns="0" tIns="0" bIns="0">
            <a:spAutoFit/>
          </a:bodyPr>
          <a:lstStyle/>
          <a:p>
            <a:pPr algn="l">
              <a:lnSpc>
                <a:spcPct val="112000"/>
              </a:lnSpc>
            </a:pPr>
            <a:r>
              <a:rPr sz="960" b="0" i="0">
                <a:solidFill>
                  <a:srgbClr val="9C3B35"/>
                </a:solidFill>
                <a:latin typeface="Segoe UI"/>
              </a:rPr>
              <a:t>DISCARDED — telemetry quality averaged wrongly</a:t>
            </a:r>
          </a:p>
        </p:txBody>
      </p:sp>
      <p:sp>
        <p:nvSpPr>
          <p:cNvPr id="38" name="TextBox 37"/>
          <p:cNvSpPr txBox="1"/>
          <p:nvPr/>
        </p:nvSpPr>
        <p:spPr>
          <a:xfrm>
            <a:off x="7048140" y="4367529"/>
            <a:ext cx="4402890" cy="3337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Cancelled 11 jobs, kept the data for audit only, regenerated as version 3</a:t>
            </a:r>
          </a:p>
        </p:txBody>
      </p:sp>
      <p:sp>
        <p:nvSpPr>
          <p:cNvPr id="39" name="Rectangle 38"/>
          <p:cNvSpPr/>
          <p:nvPr/>
        </p:nvSpPr>
        <p:spPr>
          <a:xfrm>
            <a:off x="658368" y="470585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0664" y="4756149"/>
            <a:ext cx="2445398" cy="3337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Re-running the baseline every time</a:t>
            </a:r>
          </a:p>
        </p:txBody>
      </p:sp>
      <p:sp>
        <p:nvSpPr>
          <p:cNvPr id="41" name="TextBox 40"/>
          <p:cNvSpPr txBox="1"/>
          <p:nvPr/>
        </p:nvSpPr>
        <p:spPr>
          <a:xfrm>
            <a:off x="3350654" y="4756149"/>
            <a:ext cx="3532894" cy="333756"/>
          </a:xfrm>
          <a:prstGeom prst="rect">
            <a:avLst/>
          </a:prstGeom>
          <a:noFill/>
        </p:spPr>
        <p:txBody>
          <a:bodyPr wrap="square" anchor="t" lIns="0" rIns="0" tIns="0" bIns="0">
            <a:spAutoFit/>
          </a:bodyPr>
          <a:lstStyle/>
          <a:p>
            <a:pPr algn="l">
              <a:lnSpc>
                <a:spcPct val="112000"/>
              </a:lnSpc>
            </a:pPr>
            <a:r>
              <a:rPr sz="960" b="0" i="0">
                <a:solidFill>
                  <a:srgbClr val="B5761F"/>
                </a:solidFill>
                <a:latin typeface="Segoe UI"/>
              </a:rPr>
              <a:t>WASTEFUL — every candidate re-simulated the baseline</a:t>
            </a:r>
          </a:p>
        </p:txBody>
      </p:sp>
      <p:sp>
        <p:nvSpPr>
          <p:cNvPr id="42" name="TextBox 41"/>
          <p:cNvSpPr txBox="1"/>
          <p:nvPr/>
        </p:nvSpPr>
        <p:spPr>
          <a:xfrm>
            <a:off x="7048140" y="4756149"/>
            <a:ext cx="4402890" cy="33375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Fix planned: compute each baseline once. Saves about half the compute</a:t>
            </a:r>
          </a:p>
        </p:txBody>
      </p:sp>
      <p:sp>
        <p:nvSpPr>
          <p:cNvPr id="43" name="Rectangle 42"/>
          <p:cNvSpPr/>
          <p:nvPr/>
        </p:nvSpPr>
        <p:spPr>
          <a:xfrm>
            <a:off x="658368" y="5094477"/>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 y="2099818"/>
            <a:ext cx="10874959" cy="2994659"/>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NEXT STEPS</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Bigger, and closer to a real operator</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01 · THE SIMULATOR</a:t>
            </a:r>
          </a:p>
        </p:txBody>
      </p:sp>
      <p:sp>
        <p:nvSpPr>
          <p:cNvPr id="7" name="Rectangle 6"/>
          <p:cNvSpPr/>
          <p:nvPr/>
        </p:nvSpPr>
        <p:spPr>
          <a:xfrm>
            <a:off x="658368" y="1481328"/>
            <a:ext cx="5245455" cy="4098391"/>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45920"/>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MAKING IT BIGGER</a:t>
            </a:r>
          </a:p>
        </p:txBody>
      </p:sp>
      <p:sp>
        <p:nvSpPr>
          <p:cNvPr id="9" name="Rectangle 8"/>
          <p:cNvSpPr/>
          <p:nvPr/>
        </p:nvSpPr>
        <p:spPr>
          <a:xfrm>
            <a:off x="859536" y="200710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1938528"/>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Stop re-running the baseline</a:t>
            </a:r>
          </a:p>
        </p:txBody>
      </p:sp>
      <p:sp>
        <p:nvSpPr>
          <p:cNvPr id="11" name="TextBox 10"/>
          <p:cNvSpPr txBox="1"/>
          <p:nvPr/>
        </p:nvSpPr>
        <p:spPr>
          <a:xfrm>
            <a:off x="1042415" y="2183282"/>
            <a:ext cx="4660239" cy="637717"/>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Roughly half of every campaign is duplicated work. Computing each baseline once frees about 50% of the compute immediately.</a:t>
            </a:r>
          </a:p>
        </p:txBody>
      </p:sp>
      <p:sp>
        <p:nvSpPr>
          <p:cNvPr id="12" name="Rectangle 11"/>
          <p:cNvSpPr/>
          <p:nvPr/>
        </p:nvSpPr>
        <p:spPr>
          <a:xfrm>
            <a:off x="859536" y="2848432"/>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9536" y="2990164"/>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921584"/>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Re-open the worker-count question</a:t>
            </a:r>
          </a:p>
        </p:txBody>
      </p:sp>
      <p:sp>
        <p:nvSpPr>
          <p:cNvPr id="15" name="TextBox 14"/>
          <p:cNvSpPr txBox="1"/>
          <p:nvPr/>
        </p:nvSpPr>
        <p:spPr>
          <a:xfrm>
            <a:off x="1042415" y="3166338"/>
            <a:ext cx="4660239" cy="637717"/>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16 and 32 workers failed on CPU, not memory. Profiling the file-writing path and thread settings is the highest-value next step.</a:t>
            </a:r>
          </a:p>
        </p:txBody>
      </p:sp>
      <p:sp>
        <p:nvSpPr>
          <p:cNvPr id="16" name="Rectangle 15"/>
          <p:cNvSpPr/>
          <p:nvPr/>
        </p:nvSpPr>
        <p:spPr>
          <a:xfrm>
            <a:off x="859536" y="3831488"/>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9536" y="3973220"/>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5" y="3904640"/>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Beyond 12 nodes</a:t>
            </a:r>
          </a:p>
        </p:txBody>
      </p:sp>
      <p:sp>
        <p:nvSpPr>
          <p:cNvPr id="19" name="TextBox 18"/>
          <p:cNvSpPr txBox="1"/>
          <p:nvPr/>
        </p:nvSpPr>
        <p:spPr>
          <a:xfrm>
            <a:off x="1042415" y="4149394"/>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Nothing in the design caps it. We need a clean 12-node report to unlock 24 or 48.</a:t>
            </a:r>
          </a:p>
        </p:txBody>
      </p:sp>
      <p:sp>
        <p:nvSpPr>
          <p:cNvPr id="20" name="Rectangle 19"/>
          <p:cNvSpPr/>
          <p:nvPr/>
        </p:nvSpPr>
        <p:spPr>
          <a:xfrm>
            <a:off x="859536" y="4632452"/>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9536" y="4774184"/>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2415" y="4705604"/>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A separate analysis layer</a:t>
            </a:r>
          </a:p>
        </p:txBody>
      </p:sp>
      <p:sp>
        <p:nvSpPr>
          <p:cNvPr id="23" name="TextBox 22"/>
          <p:cNvSpPr txBox="1"/>
          <p:nvPr/>
        </p:nvSpPr>
        <p:spPr>
          <a:xfrm>
            <a:off x="1042415" y="4950358"/>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Output files are immutable and hashed, so another system can read them without becoming a dependency.</a:t>
            </a:r>
          </a:p>
        </p:txBody>
      </p:sp>
      <p:sp>
        <p:nvSpPr>
          <p:cNvPr id="24" name="Rectangle 23"/>
          <p:cNvSpPr/>
          <p:nvPr/>
        </p:nvSpPr>
        <p:spPr>
          <a:xfrm>
            <a:off x="6287871" y="1481328"/>
            <a:ext cx="5245455" cy="4425441"/>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9039" y="1645920"/>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MAKING IT MORE REALISTIC</a:t>
            </a:r>
          </a:p>
        </p:txBody>
      </p:sp>
      <p:sp>
        <p:nvSpPr>
          <p:cNvPr id="26" name="Rectangle 25"/>
          <p:cNvSpPr/>
          <p:nvPr/>
        </p:nvSpPr>
        <p:spPr>
          <a:xfrm>
            <a:off x="6489039" y="200710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1919" y="1938528"/>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Finer geography</a:t>
            </a:r>
          </a:p>
        </p:txBody>
      </p:sp>
      <p:sp>
        <p:nvSpPr>
          <p:cNvPr id="28" name="TextBox 27"/>
          <p:cNvSpPr txBox="1"/>
          <p:nvPr/>
        </p:nvSpPr>
        <p:spPr>
          <a:xfrm>
            <a:off x="6671919" y="2183282"/>
            <a:ext cx="4660239" cy="637717"/>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8 zones cannot represent 75 000 radio sites. A cell-cluster layer with a realistic map of which box serves which area is the biggest gap.</a:t>
            </a:r>
          </a:p>
        </p:txBody>
      </p:sp>
      <p:sp>
        <p:nvSpPr>
          <p:cNvPr id="29" name="Rectangle 28"/>
          <p:cNvSpPr/>
          <p:nvPr/>
        </p:nvSpPr>
        <p:spPr>
          <a:xfrm>
            <a:off x="6489039" y="2834716"/>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89039" y="2962732"/>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1919" y="2894152"/>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Packet and radio behaviour</a:t>
            </a:r>
          </a:p>
        </p:txBody>
      </p:sp>
      <p:sp>
        <p:nvSpPr>
          <p:cNvPr id="32" name="TextBox 31"/>
          <p:cNvSpPr txBox="1"/>
          <p:nvPr/>
        </p:nvSpPr>
        <p:spPr>
          <a:xfrm>
            <a:off x="6671919" y="3138906"/>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We model sessions, not packets, and ignore radio scheduling. Specified but not yet built.</a:t>
            </a:r>
          </a:p>
        </p:txBody>
      </p:sp>
      <p:sp>
        <p:nvSpPr>
          <p:cNvPr id="33" name="Rectangle 32"/>
          <p:cNvSpPr/>
          <p:nvPr/>
        </p:nvSpPr>
        <p:spPr>
          <a:xfrm>
            <a:off x="6489039" y="3608247"/>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89039" y="3736263"/>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1919" y="3667683"/>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Independent uplink and downlink</a:t>
            </a:r>
          </a:p>
        </p:txBody>
      </p:sp>
      <p:sp>
        <p:nvSpPr>
          <p:cNvPr id="36" name="TextBox 35"/>
          <p:cNvSpPr txBox="1"/>
          <p:nvPr/>
        </p:nvSpPr>
        <p:spPr>
          <a:xfrm>
            <a:off x="6671919" y="3912438"/>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In the older data both were derived from session count, which is why all three forecast targets score identically.</a:t>
            </a:r>
          </a:p>
        </p:txBody>
      </p:sp>
      <p:sp>
        <p:nvSpPr>
          <p:cNvPr id="37" name="Rectangle 36"/>
          <p:cNvSpPr/>
          <p:nvPr/>
        </p:nvSpPr>
        <p:spPr>
          <a:xfrm>
            <a:off x="6489039" y="4381779"/>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89039" y="4509795"/>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1919" y="4441215"/>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Real telemetry from C-DOT</a:t>
            </a:r>
          </a:p>
        </p:txBody>
      </p:sp>
      <p:sp>
        <p:nvSpPr>
          <p:cNvPr id="40" name="TextBox 39"/>
          <p:cNvSpPr txBox="1"/>
          <p:nvPr/>
        </p:nvSpPr>
        <p:spPr>
          <a:xfrm>
            <a:off x="6671919" y="4685969"/>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Metric names, scrape interval, counter behaviour, box capacities. All calibration is blocked on this.</a:t>
            </a:r>
          </a:p>
        </p:txBody>
      </p:sp>
      <p:sp>
        <p:nvSpPr>
          <p:cNvPr id="41" name="Rectangle 40"/>
          <p:cNvSpPr/>
          <p:nvPr/>
        </p:nvSpPr>
        <p:spPr>
          <a:xfrm>
            <a:off x="6489039" y="5155310"/>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89039" y="5283326"/>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71919" y="5214746"/>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Can sessions be moved?</a:t>
            </a:r>
          </a:p>
        </p:txBody>
      </p:sp>
      <p:sp>
        <p:nvSpPr>
          <p:cNvPr id="44" name="TextBox 43"/>
          <p:cNvSpPr txBox="1"/>
          <p:nvPr/>
        </p:nvSpPr>
        <p:spPr>
          <a:xfrm>
            <a:off x="6671919" y="5459501"/>
            <a:ext cx="4660239" cy="273532"/>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The single most important open question — see section 03.</a:t>
            </a:r>
          </a:p>
        </p:txBody>
      </p:sp>
      <p:sp>
        <p:nvSpPr>
          <p:cNvPr id="45" name="TextBox 44"/>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2212848"/>
            <a:ext cx="566928"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340864"/>
            <a:ext cx="914400" cy="274320"/>
          </a:xfrm>
          <a:prstGeom prst="rect">
            <a:avLst/>
          </a:prstGeom>
          <a:noFill/>
        </p:spPr>
        <p:txBody>
          <a:bodyPr wrap="square" anchor="t" lIns="0" rIns="0" tIns="0" bIns="0">
            <a:spAutoFit/>
          </a:bodyPr>
          <a:lstStyle/>
          <a:p>
            <a:pPr algn="l">
              <a:lnSpc>
                <a:spcPct val="100000"/>
              </a:lnSpc>
            </a:pPr>
            <a:r>
              <a:rPr sz="1200" b="1" i="0">
                <a:solidFill>
                  <a:srgbClr val="0F4C5C"/>
                </a:solidFill>
                <a:latin typeface="Consolas"/>
              </a:rPr>
              <a:t>02</a:t>
            </a:r>
          </a:p>
        </p:txBody>
      </p:sp>
      <p:sp>
        <p:nvSpPr>
          <p:cNvPr id="6" name="TextBox 5"/>
          <p:cNvSpPr txBox="1"/>
          <p:nvPr/>
        </p:nvSpPr>
        <p:spPr>
          <a:xfrm>
            <a:off x="1847088" y="2340864"/>
            <a:ext cx="10874959" cy="201168"/>
          </a:xfrm>
          <a:prstGeom prst="rect">
            <a:avLst/>
          </a:prstGeom>
          <a:noFill/>
        </p:spPr>
        <p:txBody>
          <a:bodyPr wrap="square" anchor="t" lIns="0" rIns="0" tIns="0" bIns="0">
            <a:spAutoFit/>
          </a:bodyPr>
          <a:lstStyle/>
          <a:p>
            <a:pPr algn="l">
              <a:lnSpc>
                <a:spcPct val="100000"/>
              </a:lnSpc>
            </a:pPr>
            <a:r>
              <a:rPr sz="1050" b="1" i="0">
                <a:solidFill>
                  <a:srgbClr val="6C7683"/>
                </a:solidFill>
                <a:latin typeface="Consolas"/>
              </a:rPr>
              <a:t>THE FORECASTER</a:t>
            </a:r>
          </a:p>
        </p:txBody>
      </p:sp>
      <p:sp>
        <p:nvSpPr>
          <p:cNvPr id="7" name="TextBox 6"/>
          <p:cNvSpPr txBox="1"/>
          <p:nvPr/>
        </p:nvSpPr>
        <p:spPr>
          <a:xfrm>
            <a:off x="1847088" y="2615184"/>
            <a:ext cx="9686239" cy="1005840"/>
          </a:xfrm>
          <a:prstGeom prst="rect">
            <a:avLst/>
          </a:prstGeom>
          <a:noFill/>
        </p:spPr>
        <p:txBody>
          <a:bodyPr wrap="square" anchor="t" lIns="0" rIns="0" tIns="0" bIns="0">
            <a:spAutoFit/>
          </a:bodyPr>
          <a:lstStyle/>
          <a:p>
            <a:pPr algn="l">
              <a:lnSpc>
                <a:spcPct val="106000"/>
              </a:lnSpc>
            </a:pPr>
            <a:r>
              <a:rPr sz="3600" b="0" i="0">
                <a:solidFill>
                  <a:srgbClr val="111721"/>
                </a:solidFill>
                <a:latin typeface="Georgia"/>
              </a:rPr>
              <a:t>Predicting how much traffic is coming</a:t>
            </a:r>
          </a:p>
        </p:txBody>
      </p:sp>
      <p:sp>
        <p:nvSpPr>
          <p:cNvPr id="8" name="TextBox 7"/>
          <p:cNvSpPr txBox="1"/>
          <p:nvPr/>
        </p:nvSpPr>
        <p:spPr>
          <a:xfrm>
            <a:off x="1847088" y="3749039"/>
            <a:ext cx="7748991" cy="1097280"/>
          </a:xfrm>
          <a:prstGeom prst="rect">
            <a:avLst/>
          </a:prstGeom>
          <a:noFill/>
        </p:spPr>
        <p:txBody>
          <a:bodyPr wrap="square" anchor="t" lIns="0" rIns="0" tIns="0" bIns="0">
            <a:spAutoFit/>
          </a:bodyPr>
          <a:lstStyle/>
          <a:p>
            <a:pPr algn="l">
              <a:lnSpc>
                <a:spcPct val="145000"/>
              </a:lnSpc>
            </a:pPr>
            <a:r>
              <a:rPr sz="1350" b="0" i="0">
                <a:solidFill>
                  <a:srgbClr val="3C4653"/>
                </a:solidFill>
                <a:latin typeface="Segoe UI"/>
              </a:rPr>
              <a:t>Not one prediction — 96 traffic groups, three quantities each, eight time horizons each. And the optimizer does not just want a best guess. It wants a safe upper bound it can plan against. So we measure accuracy and reliability separately.</a:t>
            </a:r>
          </a:p>
        </p:txBody>
      </p:sp>
      <p:sp>
        <p:nvSpPr>
          <p:cNvPr id="9" name="TextBox 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METHOD</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How the forecaster works</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02 · THE FORECASTER</a:t>
            </a:r>
          </a:p>
        </p:txBody>
      </p:sp>
      <p:sp>
        <p:nvSpPr>
          <p:cNvPr id="7" name="TextBox 6"/>
          <p:cNvSpPr txBox="1"/>
          <p:nvPr/>
        </p:nvSpPr>
        <p:spPr>
          <a:xfrm>
            <a:off x="658368" y="1508760"/>
            <a:ext cx="384048" cy="219456"/>
          </a:xfrm>
          <a:prstGeom prst="rect">
            <a:avLst/>
          </a:prstGeom>
          <a:noFill/>
        </p:spPr>
        <p:txBody>
          <a:bodyPr wrap="square" anchor="t" lIns="0" rIns="0" tIns="0" bIns="0">
            <a:spAutoFit/>
          </a:bodyPr>
          <a:lstStyle/>
          <a:p>
            <a:pPr algn="l">
              <a:lnSpc>
                <a:spcPct val="100000"/>
              </a:lnSpc>
            </a:pPr>
            <a:r>
              <a:rPr sz="1000" b="1" i="0">
                <a:solidFill>
                  <a:srgbClr val="0F4C5C"/>
                </a:solidFill>
                <a:latin typeface="Consolas"/>
              </a:rPr>
              <a:t>01</a:t>
            </a:r>
          </a:p>
        </p:txBody>
      </p:sp>
      <p:sp>
        <p:nvSpPr>
          <p:cNvPr id="8" name="TextBox 7"/>
          <p:cNvSpPr txBox="1"/>
          <p:nvPr/>
        </p:nvSpPr>
        <p:spPr>
          <a:xfrm>
            <a:off x="1097280" y="1499616"/>
            <a:ext cx="8478554" cy="714298"/>
          </a:xfrm>
          <a:prstGeom prst="rect">
            <a:avLst/>
          </a:prstGeom>
          <a:noFill/>
        </p:spPr>
        <p:txBody>
          <a:bodyPr wrap="square" anchor="t" lIns="0" rIns="0" tIns="0" bIns="0">
            <a:spAutoFit/>
          </a:bodyPr>
          <a:lstStyle/>
          <a:p>
            <a:pPr algn="l">
              <a:lnSpc>
                <a:spcPct val="134000"/>
              </a:lnSpc>
            </a:pPr>
            <a:r>
              <a:rPr sz="1220" b="1" i="0">
                <a:solidFill>
                  <a:srgbClr val="111721"/>
                </a:solidFill>
                <a:latin typeface="Segoe UI"/>
              </a:rPr>
              <a:t>What we predict. </a:t>
            </a:r>
            <a:r>
              <a:rPr sz="1220" b="0" i="0">
                <a:solidFill>
                  <a:srgbClr val="3C4653"/>
                </a:solidFill>
                <a:latin typeface="Segoe UI"/>
              </a:rPr>
              <a:t>For each traffic group, in each 10-minute window: how many new sessions start, and how much new uplink and downlink bandwidth they bring. Only new demand — because only new sessions can be steered.</a:t>
            </a:r>
          </a:p>
        </p:txBody>
      </p:sp>
      <p:sp>
        <p:nvSpPr>
          <p:cNvPr id="9" name="Rectangle 8"/>
          <p:cNvSpPr/>
          <p:nvPr/>
        </p:nvSpPr>
        <p:spPr>
          <a:xfrm>
            <a:off x="658368" y="2223058"/>
            <a:ext cx="8917466"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332786"/>
            <a:ext cx="384048" cy="219456"/>
          </a:xfrm>
          <a:prstGeom prst="rect">
            <a:avLst/>
          </a:prstGeom>
          <a:noFill/>
        </p:spPr>
        <p:txBody>
          <a:bodyPr wrap="square" anchor="t" lIns="0" rIns="0" tIns="0" bIns="0">
            <a:spAutoFit/>
          </a:bodyPr>
          <a:lstStyle/>
          <a:p>
            <a:pPr algn="l">
              <a:lnSpc>
                <a:spcPct val="100000"/>
              </a:lnSpc>
            </a:pPr>
            <a:r>
              <a:rPr sz="1000" b="1" i="0">
                <a:solidFill>
                  <a:srgbClr val="0F4C5C"/>
                </a:solidFill>
                <a:latin typeface="Consolas"/>
              </a:rPr>
              <a:t>02</a:t>
            </a:r>
          </a:p>
        </p:txBody>
      </p:sp>
      <p:sp>
        <p:nvSpPr>
          <p:cNvPr id="11" name="TextBox 10"/>
          <p:cNvSpPr txBox="1"/>
          <p:nvPr/>
        </p:nvSpPr>
        <p:spPr>
          <a:xfrm>
            <a:off x="1097280" y="2323642"/>
            <a:ext cx="8478554" cy="714298"/>
          </a:xfrm>
          <a:prstGeom prst="rect">
            <a:avLst/>
          </a:prstGeom>
          <a:noFill/>
        </p:spPr>
        <p:txBody>
          <a:bodyPr wrap="square" anchor="t" lIns="0" rIns="0" tIns="0" bIns="0">
            <a:spAutoFit/>
          </a:bodyPr>
          <a:lstStyle/>
          <a:p>
            <a:pPr algn="l">
              <a:lnSpc>
                <a:spcPct val="134000"/>
              </a:lnSpc>
            </a:pPr>
            <a:r>
              <a:rPr sz="1220" b="1" i="0">
                <a:solidFill>
                  <a:srgbClr val="111721"/>
                </a:solidFill>
                <a:latin typeface="Segoe UI"/>
              </a:rPr>
              <a:t>One model per horizon. </a:t>
            </a:r>
            <a:r>
              <a:rPr sz="1220" b="0" i="0">
                <a:solidFill>
                  <a:srgbClr val="3C4653"/>
                </a:solidFill>
                <a:latin typeface="Segoe UI"/>
              </a:rPr>
              <a:t>Separate models for 10, 20, 30, 40, 50, 60, 70 and 80 minutes ahead — 2 304 small models in total. We predict each horizon directly instead of stepping forward repeatedly, so errors do not pile up.</a:t>
            </a:r>
          </a:p>
        </p:txBody>
      </p:sp>
      <p:sp>
        <p:nvSpPr>
          <p:cNvPr id="12" name="Rectangle 11"/>
          <p:cNvSpPr/>
          <p:nvPr/>
        </p:nvSpPr>
        <p:spPr>
          <a:xfrm>
            <a:off x="658368" y="3047085"/>
            <a:ext cx="8917466"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156813"/>
            <a:ext cx="384048" cy="219456"/>
          </a:xfrm>
          <a:prstGeom prst="rect">
            <a:avLst/>
          </a:prstGeom>
          <a:noFill/>
        </p:spPr>
        <p:txBody>
          <a:bodyPr wrap="square" anchor="t" lIns="0" rIns="0" tIns="0" bIns="0">
            <a:spAutoFit/>
          </a:bodyPr>
          <a:lstStyle/>
          <a:p>
            <a:pPr algn="l">
              <a:lnSpc>
                <a:spcPct val="100000"/>
              </a:lnSpc>
            </a:pPr>
            <a:r>
              <a:rPr sz="1000" b="1" i="0">
                <a:solidFill>
                  <a:srgbClr val="0F4C5C"/>
                </a:solidFill>
                <a:latin typeface="Consolas"/>
              </a:rPr>
              <a:t>03</a:t>
            </a:r>
          </a:p>
        </p:txBody>
      </p:sp>
      <p:sp>
        <p:nvSpPr>
          <p:cNvPr id="14" name="TextBox 13"/>
          <p:cNvSpPr txBox="1"/>
          <p:nvPr/>
        </p:nvSpPr>
        <p:spPr>
          <a:xfrm>
            <a:off x="1097280" y="3147669"/>
            <a:ext cx="8478554" cy="714298"/>
          </a:xfrm>
          <a:prstGeom prst="rect">
            <a:avLst/>
          </a:prstGeom>
          <a:noFill/>
        </p:spPr>
        <p:txBody>
          <a:bodyPr wrap="square" anchor="t" lIns="0" rIns="0" tIns="0" bIns="0">
            <a:spAutoFit/>
          </a:bodyPr>
          <a:lstStyle/>
          <a:p>
            <a:pPr algn="l">
              <a:lnSpc>
                <a:spcPct val="134000"/>
              </a:lnSpc>
            </a:pPr>
            <a:r>
              <a:rPr sz="1220" b="1" i="0">
                <a:solidFill>
                  <a:srgbClr val="111721"/>
                </a:solidFill>
                <a:latin typeface="Segoe UI"/>
              </a:rPr>
              <a:t>Only past information. </a:t>
            </a:r>
            <a:r>
              <a:rPr sz="1220" b="0" i="0">
                <a:solidFill>
                  <a:srgbClr val="3C4653"/>
                </a:solidFill>
                <a:latin typeface="Segoe UI"/>
              </a:rPr>
              <a:t>Nine inputs: last value, a 6-window average, recent trend, yesterday's value at the same time, and sine/cosine terms for time of day and day of week. Anything not yet available at forecast time is rejected.</a:t>
            </a:r>
          </a:p>
        </p:txBody>
      </p:sp>
      <p:sp>
        <p:nvSpPr>
          <p:cNvPr id="15" name="Rectangle 14"/>
          <p:cNvSpPr/>
          <p:nvPr/>
        </p:nvSpPr>
        <p:spPr>
          <a:xfrm>
            <a:off x="658368" y="3871112"/>
            <a:ext cx="8917466"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980840"/>
            <a:ext cx="384048" cy="219456"/>
          </a:xfrm>
          <a:prstGeom prst="rect">
            <a:avLst/>
          </a:prstGeom>
          <a:noFill/>
        </p:spPr>
        <p:txBody>
          <a:bodyPr wrap="square" anchor="t" lIns="0" rIns="0" tIns="0" bIns="0">
            <a:spAutoFit/>
          </a:bodyPr>
          <a:lstStyle/>
          <a:p>
            <a:pPr algn="l">
              <a:lnSpc>
                <a:spcPct val="100000"/>
              </a:lnSpc>
            </a:pPr>
            <a:r>
              <a:rPr sz="1000" b="1" i="0">
                <a:solidFill>
                  <a:srgbClr val="0F4C5C"/>
                </a:solidFill>
                <a:latin typeface="Consolas"/>
              </a:rPr>
              <a:t>04</a:t>
            </a:r>
          </a:p>
        </p:txBody>
      </p:sp>
      <p:sp>
        <p:nvSpPr>
          <p:cNvPr id="17" name="TextBox 16"/>
          <p:cNvSpPr txBox="1"/>
          <p:nvPr/>
        </p:nvSpPr>
        <p:spPr>
          <a:xfrm>
            <a:off x="1097280" y="3971696"/>
            <a:ext cx="8478554" cy="506679"/>
          </a:xfrm>
          <a:prstGeom prst="rect">
            <a:avLst/>
          </a:prstGeom>
          <a:noFill/>
        </p:spPr>
        <p:txBody>
          <a:bodyPr wrap="square" anchor="t" lIns="0" rIns="0" tIns="0" bIns="0">
            <a:spAutoFit/>
          </a:bodyPr>
          <a:lstStyle/>
          <a:p>
            <a:pPr algn="l">
              <a:lnSpc>
                <a:spcPct val="134000"/>
              </a:lnSpc>
            </a:pPr>
            <a:r>
              <a:rPr sz="1220" b="1" i="0">
                <a:solidFill>
                  <a:srgbClr val="111721"/>
                </a:solidFill>
                <a:latin typeface="Segoe UI"/>
              </a:rPr>
              <a:t>Bias correction. </a:t>
            </a:r>
            <a:r>
              <a:rPr sz="1220" b="0" i="0">
                <a:solidFill>
                  <a:srgbClr val="3C4653"/>
                </a:solidFill>
                <a:latin typeface="Segoe UI"/>
              </a:rPr>
              <a:t>We measure the model's typical over- or under-shoot on separate data and subtract it.</a:t>
            </a:r>
          </a:p>
        </p:txBody>
      </p:sp>
      <p:sp>
        <p:nvSpPr>
          <p:cNvPr id="18" name="Rectangle 17"/>
          <p:cNvSpPr/>
          <p:nvPr/>
        </p:nvSpPr>
        <p:spPr>
          <a:xfrm>
            <a:off x="658368" y="4487519"/>
            <a:ext cx="8917466"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597247"/>
            <a:ext cx="384048" cy="219456"/>
          </a:xfrm>
          <a:prstGeom prst="rect">
            <a:avLst/>
          </a:prstGeom>
          <a:noFill/>
        </p:spPr>
        <p:txBody>
          <a:bodyPr wrap="square" anchor="t" lIns="0" rIns="0" tIns="0" bIns="0">
            <a:spAutoFit/>
          </a:bodyPr>
          <a:lstStyle/>
          <a:p>
            <a:pPr algn="l">
              <a:lnSpc>
                <a:spcPct val="100000"/>
              </a:lnSpc>
            </a:pPr>
            <a:r>
              <a:rPr sz="1000" b="1" i="0">
                <a:solidFill>
                  <a:srgbClr val="0F4C5C"/>
                </a:solidFill>
                <a:latin typeface="Consolas"/>
              </a:rPr>
              <a:t>05</a:t>
            </a:r>
          </a:p>
        </p:txBody>
      </p:sp>
      <p:sp>
        <p:nvSpPr>
          <p:cNvPr id="20" name="TextBox 19"/>
          <p:cNvSpPr txBox="1"/>
          <p:nvPr/>
        </p:nvSpPr>
        <p:spPr>
          <a:xfrm>
            <a:off x="1097280" y="4588103"/>
            <a:ext cx="8478554" cy="714298"/>
          </a:xfrm>
          <a:prstGeom prst="rect">
            <a:avLst/>
          </a:prstGeom>
          <a:noFill/>
        </p:spPr>
        <p:txBody>
          <a:bodyPr wrap="square" anchor="t" lIns="0" rIns="0" tIns="0" bIns="0">
            <a:spAutoFit/>
          </a:bodyPr>
          <a:lstStyle/>
          <a:p>
            <a:pPr algn="l">
              <a:lnSpc>
                <a:spcPct val="134000"/>
              </a:lnSpc>
            </a:pPr>
            <a:r>
              <a:rPr sz="1220" b="1" i="0">
                <a:solidFill>
                  <a:srgbClr val="111721"/>
                </a:solidFill>
                <a:latin typeface="Segoe UI"/>
              </a:rPr>
              <a:t>The safe upper bound. </a:t>
            </a:r>
            <a:r>
              <a:rPr sz="1220" b="0" i="0">
                <a:solidFill>
                  <a:srgbClr val="3C4653"/>
                </a:solidFill>
                <a:latin typeface="Segoe UI"/>
              </a:rPr>
              <a:t>Conformal prediction: look at how wrong the model was on held-out data, then add enough margin that ~90% (or 95%) of real values fall below the bound. The optimizer plans against the 95% bound.</a:t>
            </a:r>
          </a:p>
        </p:txBody>
      </p:sp>
      <p:sp>
        <p:nvSpPr>
          <p:cNvPr id="21" name="Rectangle 20"/>
          <p:cNvSpPr/>
          <p:nvPr/>
        </p:nvSpPr>
        <p:spPr>
          <a:xfrm>
            <a:off x="658368" y="5311546"/>
            <a:ext cx="8917466"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421274"/>
            <a:ext cx="384048" cy="219456"/>
          </a:xfrm>
          <a:prstGeom prst="rect">
            <a:avLst/>
          </a:prstGeom>
          <a:noFill/>
        </p:spPr>
        <p:txBody>
          <a:bodyPr wrap="square" anchor="t" lIns="0" rIns="0" tIns="0" bIns="0">
            <a:spAutoFit/>
          </a:bodyPr>
          <a:lstStyle/>
          <a:p>
            <a:pPr algn="l">
              <a:lnSpc>
                <a:spcPct val="100000"/>
              </a:lnSpc>
            </a:pPr>
            <a:r>
              <a:rPr sz="1000" b="1" i="0">
                <a:solidFill>
                  <a:srgbClr val="0F4C5C"/>
                </a:solidFill>
                <a:latin typeface="Consolas"/>
              </a:rPr>
              <a:t>06</a:t>
            </a:r>
          </a:p>
        </p:txBody>
      </p:sp>
      <p:sp>
        <p:nvSpPr>
          <p:cNvPr id="23" name="TextBox 22"/>
          <p:cNvSpPr txBox="1"/>
          <p:nvPr/>
        </p:nvSpPr>
        <p:spPr>
          <a:xfrm>
            <a:off x="1097280" y="5412130"/>
            <a:ext cx="8478554" cy="506679"/>
          </a:xfrm>
          <a:prstGeom prst="rect">
            <a:avLst/>
          </a:prstGeom>
          <a:noFill/>
        </p:spPr>
        <p:txBody>
          <a:bodyPr wrap="square" anchor="t" lIns="0" rIns="0" tIns="0" bIns="0">
            <a:spAutoFit/>
          </a:bodyPr>
          <a:lstStyle/>
          <a:p>
            <a:pPr algn="l">
              <a:lnSpc>
                <a:spcPct val="134000"/>
              </a:lnSpc>
            </a:pPr>
            <a:r>
              <a:rPr sz="1220" b="1" i="0">
                <a:solidFill>
                  <a:srgbClr val="111721"/>
                </a:solidFill>
                <a:latin typeface="Segoe UI"/>
              </a:rPr>
              <a:t>Splitting data by time. </a:t>
            </a:r>
            <a:r>
              <a:rPr sz="1220" b="0" i="0">
                <a:solidFill>
                  <a:srgbClr val="3C4653"/>
                </a:solidFill>
                <a:latin typeface="Segoe UI"/>
              </a:rPr>
              <a:t>70% train, 15% calibration, 15% test — always chronological, never shuffled. Each event is kept whole so no part of it leaks across the split.</a:t>
            </a:r>
          </a:p>
        </p:txBody>
      </p:sp>
      <p:sp>
        <p:nvSpPr>
          <p:cNvPr id="24" name="TextBox 23"/>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RESULTS</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Accuracy on 16 weeks of history</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The main measure is WAPE — weighted absolute percentage error. Lower is better. 7.63% means the average prediction is off by about 7.6% of the true traffic volume.</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02 · THE FORECASTER</a:t>
            </a:r>
          </a:p>
        </p:txBody>
      </p:sp>
      <p:sp>
        <p:nvSpPr>
          <p:cNvPr id="8" name="Rectangle 7"/>
          <p:cNvSpPr/>
          <p:nvPr/>
        </p:nvSpPr>
        <p:spPr>
          <a:xfrm>
            <a:off x="658368" y="2297684"/>
            <a:ext cx="1770583" cy="95097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425700"/>
            <a:ext cx="1514551" cy="384048"/>
          </a:xfrm>
          <a:prstGeom prst="rect">
            <a:avLst/>
          </a:prstGeom>
          <a:noFill/>
        </p:spPr>
        <p:txBody>
          <a:bodyPr wrap="square" anchor="t" lIns="0" rIns="0" tIns="0" bIns="0">
            <a:spAutoFit/>
          </a:bodyPr>
          <a:lstStyle/>
          <a:p>
            <a:pPr algn="l">
              <a:lnSpc>
                <a:spcPct val="100000"/>
              </a:lnSpc>
            </a:pPr>
            <a:r>
              <a:rPr sz="1900" b="0" i="0">
                <a:solidFill>
                  <a:srgbClr val="0F4C5C"/>
                </a:solidFill>
                <a:latin typeface="Georgia"/>
              </a:rPr>
              <a:t>7.63</a:t>
            </a:r>
            <a:r>
              <a:rPr sz="950" b="0" i="0">
                <a:solidFill>
                  <a:srgbClr val="6C7683"/>
                </a:solidFill>
                <a:latin typeface="Consolas"/>
              </a:rPr>
              <a:t>%</a:t>
            </a:r>
          </a:p>
        </p:txBody>
      </p:sp>
      <p:sp>
        <p:nvSpPr>
          <p:cNvPr id="10" name="TextBox 9"/>
          <p:cNvSpPr txBox="1"/>
          <p:nvPr/>
        </p:nvSpPr>
        <p:spPr>
          <a:xfrm>
            <a:off x="804672" y="2864612"/>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AVERAGE ERROR</a:t>
            </a:r>
          </a:p>
          <a:p>
            <a:pPr algn="l">
              <a:lnSpc>
                <a:spcPct val="130000"/>
              </a:lnSpc>
              <a:spcBef>
                <a:spcPts val="0"/>
              </a:spcBef>
            </a:pPr>
            <a:r>
              <a:rPr sz="819" b="0" i="0">
                <a:solidFill>
                  <a:srgbClr val="6C7683"/>
                </a:solidFill>
                <a:latin typeface="Consolas"/>
              </a:rPr>
              <a:t>ON UNSEEN DATA</a:t>
            </a:r>
          </a:p>
        </p:txBody>
      </p:sp>
      <p:sp>
        <p:nvSpPr>
          <p:cNvPr id="11" name="Rectangle 10"/>
          <p:cNvSpPr/>
          <p:nvPr/>
        </p:nvSpPr>
        <p:spPr>
          <a:xfrm>
            <a:off x="2479243" y="2297684"/>
            <a:ext cx="1770583" cy="95097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25547" y="2425700"/>
            <a:ext cx="1514551"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94.21</a:t>
            </a:r>
            <a:r>
              <a:rPr sz="950" b="0" i="0">
                <a:solidFill>
                  <a:srgbClr val="6C7683"/>
                </a:solidFill>
                <a:latin typeface="Consolas"/>
              </a:rPr>
              <a:t>%</a:t>
            </a:r>
          </a:p>
        </p:txBody>
      </p:sp>
      <p:sp>
        <p:nvSpPr>
          <p:cNvPr id="13" name="TextBox 12"/>
          <p:cNvSpPr txBox="1"/>
          <p:nvPr/>
        </p:nvSpPr>
        <p:spPr>
          <a:xfrm>
            <a:off x="2625547" y="2864612"/>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REALITY STAYED UNDER</a:t>
            </a:r>
          </a:p>
          <a:p>
            <a:pPr algn="l">
              <a:lnSpc>
                <a:spcPct val="130000"/>
              </a:lnSpc>
              <a:spcBef>
                <a:spcPts val="0"/>
              </a:spcBef>
            </a:pPr>
            <a:r>
              <a:rPr sz="819" b="0" i="0">
                <a:solidFill>
                  <a:srgbClr val="6C7683"/>
                </a:solidFill>
                <a:latin typeface="Consolas"/>
              </a:rPr>
              <a:t>THE 90% BOUND</a:t>
            </a:r>
          </a:p>
        </p:txBody>
      </p:sp>
      <p:sp>
        <p:nvSpPr>
          <p:cNvPr id="14" name="Rectangle 13"/>
          <p:cNvSpPr/>
          <p:nvPr/>
        </p:nvSpPr>
        <p:spPr>
          <a:xfrm>
            <a:off x="4300118" y="2297684"/>
            <a:ext cx="1770583" cy="95097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6422" y="2425700"/>
            <a:ext cx="1514551"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96.69</a:t>
            </a:r>
            <a:r>
              <a:rPr sz="950" b="0" i="0">
                <a:solidFill>
                  <a:srgbClr val="6C7683"/>
                </a:solidFill>
                <a:latin typeface="Consolas"/>
              </a:rPr>
              <a:t>%</a:t>
            </a:r>
          </a:p>
        </p:txBody>
      </p:sp>
      <p:sp>
        <p:nvSpPr>
          <p:cNvPr id="16" name="TextBox 15"/>
          <p:cNvSpPr txBox="1"/>
          <p:nvPr/>
        </p:nvSpPr>
        <p:spPr>
          <a:xfrm>
            <a:off x="4446422" y="2864612"/>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SAME, FOR THE</a:t>
            </a:r>
          </a:p>
          <a:p>
            <a:pPr algn="l">
              <a:lnSpc>
                <a:spcPct val="130000"/>
              </a:lnSpc>
              <a:spcBef>
                <a:spcPts val="0"/>
              </a:spcBef>
            </a:pPr>
            <a:r>
              <a:rPr sz="819" b="0" i="0">
                <a:solidFill>
                  <a:srgbClr val="6C7683"/>
                </a:solidFill>
                <a:latin typeface="Consolas"/>
              </a:rPr>
              <a:t>95% BOUND</a:t>
            </a:r>
          </a:p>
        </p:txBody>
      </p:sp>
      <p:sp>
        <p:nvSpPr>
          <p:cNvPr id="17" name="Rectangle 16"/>
          <p:cNvSpPr/>
          <p:nvPr/>
        </p:nvSpPr>
        <p:spPr>
          <a:xfrm>
            <a:off x="6120993" y="2297684"/>
            <a:ext cx="1770583" cy="95097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297" y="2425700"/>
            <a:ext cx="1514551" cy="384048"/>
          </a:xfrm>
          <a:prstGeom prst="rect">
            <a:avLst/>
          </a:prstGeom>
          <a:noFill/>
        </p:spPr>
        <p:txBody>
          <a:bodyPr wrap="square" anchor="t" lIns="0" rIns="0" tIns="0" bIns="0">
            <a:spAutoFit/>
          </a:bodyPr>
          <a:lstStyle/>
          <a:p>
            <a:pPr algn="l">
              <a:lnSpc>
                <a:spcPct val="100000"/>
              </a:lnSpc>
            </a:pPr>
            <a:r>
              <a:rPr sz="1900" b="0" i="0">
                <a:solidFill>
                  <a:srgbClr val="0F4C5C"/>
                </a:solidFill>
                <a:latin typeface="Georgia"/>
              </a:rPr>
              <a:t>2 304</a:t>
            </a:r>
          </a:p>
        </p:txBody>
      </p:sp>
      <p:sp>
        <p:nvSpPr>
          <p:cNvPr id="19" name="TextBox 18"/>
          <p:cNvSpPr txBox="1"/>
          <p:nvPr/>
        </p:nvSpPr>
        <p:spPr>
          <a:xfrm>
            <a:off x="6267297" y="2864612"/>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MODELS</a:t>
            </a:r>
          </a:p>
          <a:p>
            <a:pPr algn="l">
              <a:lnSpc>
                <a:spcPct val="130000"/>
              </a:lnSpc>
              <a:spcBef>
                <a:spcPts val="0"/>
              </a:spcBef>
            </a:pPr>
            <a:r>
              <a:rPr sz="819" b="0" i="0">
                <a:solidFill>
                  <a:srgbClr val="6C7683"/>
                </a:solidFill>
                <a:latin typeface="Consolas"/>
              </a:rPr>
              <a:t>TRAINED</a:t>
            </a:r>
          </a:p>
        </p:txBody>
      </p:sp>
      <p:sp>
        <p:nvSpPr>
          <p:cNvPr id="20" name="Rectangle 19"/>
          <p:cNvSpPr/>
          <p:nvPr/>
        </p:nvSpPr>
        <p:spPr>
          <a:xfrm>
            <a:off x="7941868" y="2297684"/>
            <a:ext cx="1770583" cy="95097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8172" y="2425700"/>
            <a:ext cx="1514551" cy="384048"/>
          </a:xfrm>
          <a:prstGeom prst="rect">
            <a:avLst/>
          </a:prstGeom>
          <a:noFill/>
        </p:spPr>
        <p:txBody>
          <a:bodyPr wrap="square" anchor="t" lIns="0" rIns="0" tIns="0" bIns="0">
            <a:spAutoFit/>
          </a:bodyPr>
          <a:lstStyle/>
          <a:p>
            <a:pPr algn="l">
              <a:lnSpc>
                <a:spcPct val="100000"/>
              </a:lnSpc>
            </a:pPr>
            <a:r>
              <a:rPr sz="1900" b="0" i="0">
                <a:solidFill>
                  <a:srgbClr val="0F4C5C"/>
                </a:solidFill>
                <a:latin typeface="Georgia"/>
              </a:rPr>
              <a:t>1.55 M</a:t>
            </a:r>
          </a:p>
        </p:txBody>
      </p:sp>
      <p:sp>
        <p:nvSpPr>
          <p:cNvPr id="22" name="TextBox 21"/>
          <p:cNvSpPr txBox="1"/>
          <p:nvPr/>
        </p:nvSpPr>
        <p:spPr>
          <a:xfrm>
            <a:off x="8088172" y="2864612"/>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TRAINING</a:t>
            </a:r>
          </a:p>
          <a:p>
            <a:pPr algn="l">
              <a:lnSpc>
                <a:spcPct val="130000"/>
              </a:lnSpc>
              <a:spcBef>
                <a:spcPts val="0"/>
              </a:spcBef>
            </a:pPr>
            <a:r>
              <a:rPr sz="819" b="0" i="0">
                <a:solidFill>
                  <a:srgbClr val="6C7683"/>
                </a:solidFill>
                <a:latin typeface="Consolas"/>
              </a:rPr>
              <a:t>ROWS</a:t>
            </a:r>
          </a:p>
        </p:txBody>
      </p:sp>
      <p:sp>
        <p:nvSpPr>
          <p:cNvPr id="23" name="Rectangle 22"/>
          <p:cNvSpPr/>
          <p:nvPr/>
        </p:nvSpPr>
        <p:spPr>
          <a:xfrm>
            <a:off x="9762744" y="2297684"/>
            <a:ext cx="1770583" cy="95097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09048" y="2425700"/>
            <a:ext cx="1514551" cy="384048"/>
          </a:xfrm>
          <a:prstGeom prst="rect">
            <a:avLst/>
          </a:prstGeom>
          <a:noFill/>
        </p:spPr>
        <p:txBody>
          <a:bodyPr wrap="square" anchor="t" lIns="0" rIns="0" tIns="0" bIns="0">
            <a:spAutoFit/>
          </a:bodyPr>
          <a:lstStyle/>
          <a:p>
            <a:pPr algn="l">
              <a:lnSpc>
                <a:spcPct val="100000"/>
              </a:lnSpc>
            </a:pPr>
            <a:r>
              <a:rPr sz="1900" b="0" i="0">
                <a:solidFill>
                  <a:srgbClr val="2E7D5B"/>
                </a:solidFill>
                <a:latin typeface="Georgia"/>
              </a:rPr>
              <a:t>44.4</a:t>
            </a:r>
            <a:r>
              <a:rPr sz="950" b="0" i="0">
                <a:solidFill>
                  <a:srgbClr val="6C7683"/>
                </a:solidFill>
                <a:latin typeface="Consolas"/>
              </a:rPr>
              <a:t>%</a:t>
            </a:r>
          </a:p>
        </p:txBody>
      </p:sp>
      <p:sp>
        <p:nvSpPr>
          <p:cNvPr id="25" name="TextBox 24"/>
          <p:cNvSpPr txBox="1"/>
          <p:nvPr/>
        </p:nvSpPr>
        <p:spPr>
          <a:xfrm>
            <a:off x="9909048" y="2864612"/>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BETTER THAN</a:t>
            </a:r>
          </a:p>
          <a:p>
            <a:pPr algn="l">
              <a:lnSpc>
                <a:spcPct val="130000"/>
              </a:lnSpc>
              <a:spcBef>
                <a:spcPts val="0"/>
              </a:spcBef>
            </a:pPr>
            <a:r>
              <a:rPr sz="819" b="0" i="0">
                <a:solidFill>
                  <a:srgbClr val="6C7683"/>
                </a:solidFill>
                <a:latin typeface="Consolas"/>
              </a:rPr>
              <a:t>“SAME AS YESTERDAY”</a:t>
            </a:r>
          </a:p>
        </p:txBody>
      </p:sp>
      <p:pic>
        <p:nvPicPr>
          <p:cNvPr id="26" name="Picture 25" descr="c_horizon.png"/>
          <p:cNvPicPr>
            <a:picLocks noChangeAspect="1"/>
          </p:cNvPicPr>
          <p:nvPr/>
        </p:nvPicPr>
        <p:blipFill>
          <a:blip r:embed="rId2"/>
          <a:stretch>
            <a:fillRect/>
          </a:stretch>
        </p:blipFill>
        <p:spPr>
          <a:xfrm>
            <a:off x="658368" y="3468116"/>
            <a:ext cx="6524975" cy="2273550"/>
          </a:xfrm>
          <a:prstGeom prst="rect">
            <a:avLst/>
          </a:prstGeom>
        </p:spPr>
      </p:pic>
      <p:sp>
        <p:nvSpPr>
          <p:cNvPr id="27" name="Rectangle 26"/>
          <p:cNvSpPr/>
          <p:nvPr/>
        </p:nvSpPr>
        <p:spPr>
          <a:xfrm>
            <a:off x="7509592" y="3573272"/>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2472" y="3504692"/>
            <a:ext cx="3840854" cy="278384"/>
          </a:xfrm>
          <a:prstGeom prst="rect">
            <a:avLst/>
          </a:prstGeom>
          <a:noFill/>
        </p:spPr>
        <p:txBody>
          <a:bodyPr wrap="square" anchor="t" lIns="0" rIns="0" tIns="0" bIns="0">
            <a:spAutoFit/>
          </a:bodyPr>
          <a:lstStyle/>
          <a:p>
            <a:pPr algn="l">
              <a:lnSpc>
                <a:spcPct val="128000"/>
              </a:lnSpc>
            </a:pPr>
            <a:r>
              <a:rPr sz="1150" b="1" i="0">
                <a:solidFill>
                  <a:srgbClr val="111721"/>
                </a:solidFill>
                <a:latin typeface="Segoe UI"/>
              </a:rPr>
              <a:t>Further ahead is harder</a:t>
            </a:r>
          </a:p>
        </p:txBody>
      </p:sp>
      <p:sp>
        <p:nvSpPr>
          <p:cNvPr id="29" name="TextBox 28"/>
          <p:cNvSpPr txBox="1"/>
          <p:nvPr/>
        </p:nvSpPr>
        <p:spPr>
          <a:xfrm>
            <a:off x="7692472" y="3751072"/>
            <a:ext cx="3840854" cy="459028"/>
          </a:xfrm>
          <a:prstGeom prst="rect">
            <a:avLst/>
          </a:prstGeom>
          <a:noFill/>
        </p:spPr>
        <p:txBody>
          <a:bodyPr wrap="square" anchor="t" lIns="0" rIns="0" tIns="0" bIns="0">
            <a:spAutoFit/>
          </a:bodyPr>
          <a:lstStyle/>
          <a:p>
            <a:pPr algn="l">
              <a:lnSpc>
                <a:spcPct val="134000"/>
              </a:lnSpc>
            </a:pPr>
            <a:r>
              <a:rPr sz="1080" b="0" i="0">
                <a:solidFill>
                  <a:srgbClr val="3C4653"/>
                </a:solidFill>
                <a:latin typeface="Segoe UI"/>
              </a:rPr>
              <a:t>Error rises from 4.48% at 10 minutes to 10.73% at 80 minutes.</a:t>
            </a:r>
          </a:p>
        </p:txBody>
      </p:sp>
      <p:sp>
        <p:nvSpPr>
          <p:cNvPr id="30" name="Rectangle 29"/>
          <p:cNvSpPr/>
          <p:nvPr/>
        </p:nvSpPr>
        <p:spPr>
          <a:xfrm>
            <a:off x="7509592" y="4264964"/>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09592" y="443412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92472" y="4365548"/>
            <a:ext cx="3840854" cy="278384"/>
          </a:xfrm>
          <a:prstGeom prst="rect">
            <a:avLst/>
          </a:prstGeom>
          <a:noFill/>
        </p:spPr>
        <p:txBody>
          <a:bodyPr wrap="square" anchor="t" lIns="0" rIns="0" tIns="0" bIns="0">
            <a:spAutoFit/>
          </a:bodyPr>
          <a:lstStyle/>
          <a:p>
            <a:pPr algn="l">
              <a:lnSpc>
                <a:spcPct val="128000"/>
              </a:lnSpc>
            </a:pPr>
            <a:r>
              <a:rPr sz="1150" b="1" i="0">
                <a:solidFill>
                  <a:srgbClr val="111721"/>
                </a:solidFill>
                <a:latin typeface="Segoe UI"/>
              </a:rPr>
              <a:t>But the safety bound holds</a:t>
            </a:r>
          </a:p>
        </p:txBody>
      </p:sp>
      <p:sp>
        <p:nvSpPr>
          <p:cNvPr id="33" name="TextBox 32"/>
          <p:cNvSpPr txBox="1"/>
          <p:nvPr/>
        </p:nvSpPr>
        <p:spPr>
          <a:xfrm>
            <a:off x="7692472" y="4611928"/>
            <a:ext cx="3840854" cy="459028"/>
          </a:xfrm>
          <a:prstGeom prst="rect">
            <a:avLst/>
          </a:prstGeom>
          <a:noFill/>
        </p:spPr>
        <p:txBody>
          <a:bodyPr wrap="square" anchor="t" lIns="0" rIns="0" tIns="0" bIns="0">
            <a:spAutoFit/>
          </a:bodyPr>
          <a:lstStyle/>
          <a:p>
            <a:pPr algn="l">
              <a:lnSpc>
                <a:spcPct val="134000"/>
              </a:lnSpc>
            </a:pPr>
            <a:r>
              <a:rPr sz="1080" b="0" i="0">
                <a:solidFill>
                  <a:srgbClr val="3C4653"/>
                </a:solidFill>
                <a:latin typeface="Segoe UI"/>
              </a:rPr>
              <a:t>It stays inside its 85–95% target range at every horizon.</a:t>
            </a:r>
          </a:p>
        </p:txBody>
      </p:sp>
      <p:sp>
        <p:nvSpPr>
          <p:cNvPr id="34" name="Rectangle 33"/>
          <p:cNvSpPr/>
          <p:nvPr/>
        </p:nvSpPr>
        <p:spPr>
          <a:xfrm>
            <a:off x="7509592" y="5125821"/>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509592" y="5294985"/>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2472" y="5226405"/>
            <a:ext cx="3840854" cy="278384"/>
          </a:xfrm>
          <a:prstGeom prst="rect">
            <a:avLst/>
          </a:prstGeom>
          <a:noFill/>
        </p:spPr>
        <p:txBody>
          <a:bodyPr wrap="square" anchor="t" lIns="0" rIns="0" tIns="0" bIns="0">
            <a:spAutoFit/>
          </a:bodyPr>
          <a:lstStyle/>
          <a:p>
            <a:pPr algn="l">
              <a:lnSpc>
                <a:spcPct val="128000"/>
              </a:lnSpc>
            </a:pPr>
            <a:r>
              <a:rPr sz="1150" b="1" i="0">
                <a:solidFill>
                  <a:srgbClr val="111721"/>
                </a:solidFill>
                <a:latin typeface="Segoe UI"/>
              </a:rPr>
              <a:t>That second property is the one that matters</a:t>
            </a:r>
          </a:p>
        </p:txBody>
      </p:sp>
      <p:sp>
        <p:nvSpPr>
          <p:cNvPr id="37" name="TextBox 36"/>
          <p:cNvSpPr txBox="1"/>
          <p:nvPr/>
        </p:nvSpPr>
        <p:spPr>
          <a:xfrm>
            <a:off x="7692472" y="5472785"/>
            <a:ext cx="3840854" cy="459028"/>
          </a:xfrm>
          <a:prstGeom prst="rect">
            <a:avLst/>
          </a:prstGeom>
          <a:noFill/>
        </p:spPr>
        <p:txBody>
          <a:bodyPr wrap="square" anchor="t" lIns="0" rIns="0" tIns="0" bIns="0">
            <a:spAutoFit/>
          </a:bodyPr>
          <a:lstStyle/>
          <a:p>
            <a:pPr algn="l">
              <a:lnSpc>
                <a:spcPct val="134000"/>
              </a:lnSpc>
            </a:pPr>
            <a:r>
              <a:rPr sz="1080" b="0" i="0">
                <a:solidFill>
                  <a:srgbClr val="3C4653"/>
                </a:solidFill>
                <a:latin typeface="Segoe UI"/>
              </a:rPr>
              <a:t>The optimizer needs a bound it can still trust even where the point estimate gets shaky.</a:t>
            </a:r>
          </a:p>
        </p:txBody>
      </p:sp>
      <p:sp>
        <p:nvSpPr>
          <p:cNvPr id="38" name="TextBox 37"/>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COMPARISON</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Against two simple baselines</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Same test rows, and each baseline is also restricted to information available at its own forecast time — so this is a fair fight.</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02 · THE FORECASTER</a:t>
            </a:r>
          </a:p>
        </p:txBody>
      </p:sp>
      <p:sp>
        <p:nvSpPr>
          <p:cNvPr id="8" name="Rectangle 7"/>
          <p:cNvSpPr/>
          <p:nvPr/>
        </p:nvSpPr>
        <p:spPr>
          <a:xfrm>
            <a:off x="658368" y="2334260"/>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411984"/>
            <a:ext cx="3097895"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METHOD</a:t>
            </a:r>
          </a:p>
        </p:txBody>
      </p:sp>
      <p:sp>
        <p:nvSpPr>
          <p:cNvPr id="10" name="TextBox 9"/>
          <p:cNvSpPr txBox="1"/>
          <p:nvPr/>
        </p:nvSpPr>
        <p:spPr>
          <a:xfrm>
            <a:off x="4003151" y="2411984"/>
            <a:ext cx="1466651"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AVERAGE ERROR</a:t>
            </a:r>
          </a:p>
        </p:txBody>
      </p:sp>
      <p:sp>
        <p:nvSpPr>
          <p:cNvPr id="11" name="TextBox 10"/>
          <p:cNvSpPr txBox="1"/>
          <p:nvPr/>
        </p:nvSpPr>
        <p:spPr>
          <a:xfrm>
            <a:off x="5634395" y="2411984"/>
            <a:ext cx="1684151"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RIDGE IS BETTER BY</a:t>
            </a:r>
          </a:p>
        </p:txBody>
      </p:sp>
      <p:sp>
        <p:nvSpPr>
          <p:cNvPr id="12" name="TextBox 11"/>
          <p:cNvSpPr txBox="1"/>
          <p:nvPr/>
        </p:nvSpPr>
        <p:spPr>
          <a:xfrm>
            <a:off x="7483138" y="2411984"/>
            <a:ext cx="114040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@10 MIN</a:t>
            </a:r>
          </a:p>
        </p:txBody>
      </p:sp>
      <p:sp>
        <p:nvSpPr>
          <p:cNvPr id="13" name="TextBox 12"/>
          <p:cNvSpPr txBox="1"/>
          <p:nvPr/>
        </p:nvSpPr>
        <p:spPr>
          <a:xfrm>
            <a:off x="8788133" y="2411984"/>
            <a:ext cx="114040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@20 MIN</a:t>
            </a:r>
          </a:p>
        </p:txBody>
      </p:sp>
      <p:sp>
        <p:nvSpPr>
          <p:cNvPr id="14" name="TextBox 13"/>
          <p:cNvSpPr txBox="1"/>
          <p:nvPr/>
        </p:nvSpPr>
        <p:spPr>
          <a:xfrm>
            <a:off x="10093128" y="2411984"/>
            <a:ext cx="1357902"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@80 MIN</a:t>
            </a:r>
          </a:p>
        </p:txBody>
      </p:sp>
      <p:sp>
        <p:nvSpPr>
          <p:cNvPr id="15" name="Rectangle 14"/>
          <p:cNvSpPr/>
          <p:nvPr/>
        </p:nvSpPr>
        <p:spPr>
          <a:xfrm>
            <a:off x="658368" y="2608580"/>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2608580"/>
            <a:ext cx="10874959" cy="292608"/>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 y="2658872"/>
            <a:ext cx="3097895" cy="23774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Our model (calendar ridge)</a:t>
            </a:r>
          </a:p>
        </p:txBody>
      </p:sp>
      <p:sp>
        <p:nvSpPr>
          <p:cNvPr id="18" name="TextBox 17"/>
          <p:cNvSpPr txBox="1"/>
          <p:nvPr/>
        </p:nvSpPr>
        <p:spPr>
          <a:xfrm>
            <a:off x="4003151" y="2658872"/>
            <a:ext cx="1466651"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7.63%</a:t>
            </a:r>
          </a:p>
        </p:txBody>
      </p:sp>
      <p:sp>
        <p:nvSpPr>
          <p:cNvPr id="19" name="TextBox 18"/>
          <p:cNvSpPr txBox="1"/>
          <p:nvPr/>
        </p:nvSpPr>
        <p:spPr>
          <a:xfrm>
            <a:off x="5634395" y="2658872"/>
            <a:ext cx="1684151"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a:t>
            </a:r>
          </a:p>
        </p:txBody>
      </p:sp>
      <p:sp>
        <p:nvSpPr>
          <p:cNvPr id="20" name="TextBox 19"/>
          <p:cNvSpPr txBox="1"/>
          <p:nvPr/>
        </p:nvSpPr>
        <p:spPr>
          <a:xfrm>
            <a:off x="7483138" y="2658872"/>
            <a:ext cx="11404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4.48%</a:t>
            </a:r>
          </a:p>
        </p:txBody>
      </p:sp>
      <p:sp>
        <p:nvSpPr>
          <p:cNvPr id="21" name="TextBox 20"/>
          <p:cNvSpPr txBox="1"/>
          <p:nvPr/>
        </p:nvSpPr>
        <p:spPr>
          <a:xfrm>
            <a:off x="8788133" y="2658872"/>
            <a:ext cx="11404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6.09%</a:t>
            </a:r>
          </a:p>
        </p:txBody>
      </p:sp>
      <p:sp>
        <p:nvSpPr>
          <p:cNvPr id="22" name="TextBox 21"/>
          <p:cNvSpPr txBox="1"/>
          <p:nvPr/>
        </p:nvSpPr>
        <p:spPr>
          <a:xfrm>
            <a:off x="10093128" y="2658872"/>
            <a:ext cx="1357902"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10.73%</a:t>
            </a:r>
          </a:p>
        </p:txBody>
      </p:sp>
      <p:sp>
        <p:nvSpPr>
          <p:cNvPr id="23" name="Rectangle 22"/>
          <p:cNvSpPr/>
          <p:nvPr/>
        </p:nvSpPr>
        <p:spPr>
          <a:xfrm>
            <a:off x="658368" y="2901188"/>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2901188"/>
            <a:ext cx="10874959"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64" y="2951480"/>
            <a:ext cx="3097895" cy="23774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Average of last 6 windows</a:t>
            </a:r>
          </a:p>
        </p:txBody>
      </p:sp>
      <p:sp>
        <p:nvSpPr>
          <p:cNvPr id="26" name="TextBox 25"/>
          <p:cNvSpPr txBox="1"/>
          <p:nvPr/>
        </p:nvSpPr>
        <p:spPr>
          <a:xfrm>
            <a:off x="4003151" y="2951480"/>
            <a:ext cx="1466651"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14.30%</a:t>
            </a:r>
          </a:p>
        </p:txBody>
      </p:sp>
      <p:sp>
        <p:nvSpPr>
          <p:cNvPr id="27" name="TextBox 26"/>
          <p:cNvSpPr txBox="1"/>
          <p:nvPr/>
        </p:nvSpPr>
        <p:spPr>
          <a:xfrm>
            <a:off x="5634395" y="2951480"/>
            <a:ext cx="1684151" cy="237744"/>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46.68%</a:t>
            </a:r>
          </a:p>
        </p:txBody>
      </p:sp>
      <p:sp>
        <p:nvSpPr>
          <p:cNvPr id="28" name="TextBox 27"/>
          <p:cNvSpPr txBox="1"/>
          <p:nvPr/>
        </p:nvSpPr>
        <p:spPr>
          <a:xfrm>
            <a:off x="7483138" y="2951480"/>
            <a:ext cx="11404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7.58%</a:t>
            </a:r>
          </a:p>
        </p:txBody>
      </p:sp>
      <p:sp>
        <p:nvSpPr>
          <p:cNvPr id="29" name="TextBox 28"/>
          <p:cNvSpPr txBox="1"/>
          <p:nvPr/>
        </p:nvSpPr>
        <p:spPr>
          <a:xfrm>
            <a:off x="8788133" y="2951480"/>
            <a:ext cx="11404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9.46%</a:t>
            </a:r>
          </a:p>
        </p:txBody>
      </p:sp>
      <p:sp>
        <p:nvSpPr>
          <p:cNvPr id="30" name="TextBox 29"/>
          <p:cNvSpPr txBox="1"/>
          <p:nvPr/>
        </p:nvSpPr>
        <p:spPr>
          <a:xfrm>
            <a:off x="10093128" y="2951480"/>
            <a:ext cx="1357902"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20.84%</a:t>
            </a:r>
          </a:p>
        </p:txBody>
      </p:sp>
      <p:sp>
        <p:nvSpPr>
          <p:cNvPr id="31" name="Rectangle 30"/>
          <p:cNvSpPr/>
          <p:nvPr/>
        </p:nvSpPr>
        <p:spPr>
          <a:xfrm>
            <a:off x="658368" y="3193796"/>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0664" y="3244088"/>
            <a:ext cx="3097895" cy="23774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Same time yesterday</a:t>
            </a:r>
          </a:p>
        </p:txBody>
      </p:sp>
      <p:sp>
        <p:nvSpPr>
          <p:cNvPr id="33" name="TextBox 32"/>
          <p:cNvSpPr txBox="1"/>
          <p:nvPr/>
        </p:nvSpPr>
        <p:spPr>
          <a:xfrm>
            <a:off x="4003151" y="3244088"/>
            <a:ext cx="1466651"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13.71%</a:t>
            </a:r>
          </a:p>
        </p:txBody>
      </p:sp>
      <p:sp>
        <p:nvSpPr>
          <p:cNvPr id="34" name="TextBox 33"/>
          <p:cNvSpPr txBox="1"/>
          <p:nvPr/>
        </p:nvSpPr>
        <p:spPr>
          <a:xfrm>
            <a:off x="5634395" y="3244088"/>
            <a:ext cx="1684151" cy="237744"/>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44.36%</a:t>
            </a:r>
          </a:p>
        </p:txBody>
      </p:sp>
      <p:sp>
        <p:nvSpPr>
          <p:cNvPr id="35" name="TextBox 34"/>
          <p:cNvSpPr txBox="1"/>
          <p:nvPr/>
        </p:nvSpPr>
        <p:spPr>
          <a:xfrm>
            <a:off x="7483138" y="3244088"/>
            <a:ext cx="11404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21.82%</a:t>
            </a:r>
          </a:p>
        </p:txBody>
      </p:sp>
      <p:sp>
        <p:nvSpPr>
          <p:cNvPr id="36" name="TextBox 35"/>
          <p:cNvSpPr txBox="1"/>
          <p:nvPr/>
        </p:nvSpPr>
        <p:spPr>
          <a:xfrm>
            <a:off x="8788133" y="3244088"/>
            <a:ext cx="11404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21.82%</a:t>
            </a:r>
          </a:p>
        </p:txBody>
      </p:sp>
      <p:sp>
        <p:nvSpPr>
          <p:cNvPr id="37" name="TextBox 36"/>
          <p:cNvSpPr txBox="1"/>
          <p:nvPr/>
        </p:nvSpPr>
        <p:spPr>
          <a:xfrm>
            <a:off x="10093128" y="3244088"/>
            <a:ext cx="1357902"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21.88%</a:t>
            </a:r>
          </a:p>
        </p:txBody>
      </p:sp>
      <p:sp>
        <p:nvSpPr>
          <p:cNvPr id="38" name="Rectangle 37"/>
          <p:cNvSpPr/>
          <p:nvPr/>
        </p:nvSpPr>
        <p:spPr>
          <a:xfrm>
            <a:off x="658368" y="3486403"/>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58368" y="2334260"/>
            <a:ext cx="10874959" cy="1152143"/>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 y="3541268"/>
            <a:ext cx="10874959" cy="137769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3541268"/>
            <a:ext cx="34747" cy="1377696"/>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3687572"/>
            <a:ext cx="10417759" cy="201168"/>
          </a:xfrm>
          <a:prstGeom prst="rect">
            <a:avLst/>
          </a:prstGeom>
          <a:noFill/>
        </p:spPr>
        <p:txBody>
          <a:bodyPr wrap="square" anchor="t" lIns="0" rIns="0" tIns="0" bIns="0">
            <a:spAutoFit/>
          </a:bodyPr>
          <a:lstStyle/>
          <a:p>
            <a:pPr algn="l">
              <a:lnSpc>
                <a:spcPct val="100000"/>
              </a:lnSpc>
            </a:pPr>
            <a:r>
              <a:rPr sz="950" b="1" i="0">
                <a:solidFill>
                  <a:srgbClr val="B5761F"/>
                </a:solidFill>
                <a:latin typeface="Consolas"/>
              </a:rPr>
              <a:t>ONE CAVEAT WE SHOULD BE UPFRONT ABOUT</a:t>
            </a:r>
          </a:p>
        </p:txBody>
      </p:sp>
      <p:sp>
        <p:nvSpPr>
          <p:cNvPr id="43" name="TextBox 42"/>
          <p:cNvSpPr txBox="1"/>
          <p:nvPr/>
        </p:nvSpPr>
        <p:spPr>
          <a:xfrm>
            <a:off x="896112" y="3943604"/>
            <a:ext cx="10372039" cy="920496"/>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Sessions, uplink and downlink all report the same 7.63% error. Not because the model learned three things well — because the older simulator calculated uplink and downlink by multiplying session count by a fixed number. They are the same series in different units. The newer traffic model gives every session its own bandwidth draw, and it needs to become the default before we claim anything about predicting throughput.</a:t>
            </a:r>
          </a:p>
        </p:txBody>
      </p:sp>
      <p:sp>
        <p:nvSpPr>
          <p:cNvPr id="44" name="TextBox 43"/>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MODEL COMPARISON</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Five model families, head to head</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We set the bar before running anything: beat the best simple baseline by 15%, keep the safety bound inside 88–95%, improve peak underprediction by 20%, and let no slice of the data get more than 5% worse.</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02 · THE FORECASTER</a:t>
            </a:r>
          </a:p>
        </p:txBody>
      </p:sp>
      <p:pic>
        <p:nvPicPr>
          <p:cNvPr id="8" name="Picture 7" descr="c_famwape.png"/>
          <p:cNvPicPr>
            <a:picLocks noChangeAspect="1"/>
          </p:cNvPicPr>
          <p:nvPr/>
        </p:nvPicPr>
        <p:blipFill>
          <a:blip r:embed="rId2"/>
          <a:stretch>
            <a:fillRect/>
          </a:stretch>
        </p:blipFill>
        <p:spPr>
          <a:xfrm>
            <a:off x="658368" y="2550414"/>
            <a:ext cx="6307476" cy="2152314"/>
          </a:xfrm>
          <a:prstGeom prst="rect">
            <a:avLst/>
          </a:prstGeom>
        </p:spPr>
      </p:pic>
      <p:sp>
        <p:nvSpPr>
          <p:cNvPr id="9" name="Rectangle 8"/>
          <p:cNvSpPr/>
          <p:nvPr/>
        </p:nvSpPr>
        <p:spPr>
          <a:xfrm>
            <a:off x="7292093" y="2655570"/>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74973" y="2586990"/>
            <a:ext cx="4058354" cy="278384"/>
          </a:xfrm>
          <a:prstGeom prst="rect">
            <a:avLst/>
          </a:prstGeom>
          <a:noFill/>
        </p:spPr>
        <p:txBody>
          <a:bodyPr wrap="square" anchor="t" lIns="0" rIns="0" tIns="0" bIns="0">
            <a:spAutoFit/>
          </a:bodyPr>
          <a:lstStyle/>
          <a:p>
            <a:pPr algn="l">
              <a:lnSpc>
                <a:spcPct val="128000"/>
              </a:lnSpc>
            </a:pPr>
            <a:r>
              <a:rPr sz="1150" b="1" i="0">
                <a:solidFill>
                  <a:srgbClr val="111721"/>
                </a:solidFill>
                <a:latin typeface="Segoe UI"/>
              </a:rPr>
              <a:t>The two boosting models won</a:t>
            </a:r>
          </a:p>
        </p:txBody>
      </p:sp>
      <p:sp>
        <p:nvSpPr>
          <p:cNvPr id="11" name="TextBox 10"/>
          <p:cNvSpPr txBox="1"/>
          <p:nvPr/>
        </p:nvSpPr>
        <p:spPr>
          <a:xfrm>
            <a:off x="7474973" y="2833370"/>
            <a:ext cx="4058354" cy="459028"/>
          </a:xfrm>
          <a:prstGeom prst="rect">
            <a:avLst/>
          </a:prstGeom>
          <a:noFill/>
        </p:spPr>
        <p:txBody>
          <a:bodyPr wrap="square" anchor="t" lIns="0" rIns="0" tIns="0" bIns="0">
            <a:spAutoFit/>
          </a:bodyPr>
          <a:lstStyle/>
          <a:p>
            <a:pPr algn="l">
              <a:lnSpc>
                <a:spcPct val="134000"/>
              </a:lnSpc>
            </a:pPr>
            <a:r>
              <a:rPr sz="1080" b="0" i="0">
                <a:solidFill>
                  <a:srgbClr val="3C4653"/>
                </a:solidFill>
                <a:latin typeface="Segoe UI"/>
              </a:rPr>
              <a:t>and still missed the 15% bar by about 3.4 percentage points.</a:t>
            </a:r>
          </a:p>
        </p:txBody>
      </p:sp>
      <p:sp>
        <p:nvSpPr>
          <p:cNvPr id="12" name="Rectangle 11"/>
          <p:cNvSpPr/>
          <p:nvPr/>
        </p:nvSpPr>
        <p:spPr>
          <a:xfrm>
            <a:off x="7292093" y="3347262"/>
            <a:ext cx="42412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92093" y="3516426"/>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74973" y="3447846"/>
            <a:ext cx="4058354" cy="465328"/>
          </a:xfrm>
          <a:prstGeom prst="rect">
            <a:avLst/>
          </a:prstGeom>
          <a:noFill/>
        </p:spPr>
        <p:txBody>
          <a:bodyPr wrap="square" anchor="t" lIns="0" rIns="0" tIns="0" bIns="0">
            <a:spAutoFit/>
          </a:bodyPr>
          <a:lstStyle/>
          <a:p>
            <a:pPr algn="l">
              <a:lnSpc>
                <a:spcPct val="128000"/>
              </a:lnSpc>
            </a:pPr>
            <a:r>
              <a:rPr sz="1150" b="1" i="0">
                <a:solidFill>
                  <a:srgbClr val="111721"/>
                </a:solidFill>
                <a:latin typeface="Segoe UI"/>
              </a:rPr>
              <a:t>The regime-switching model is the interesting failure</a:t>
            </a:r>
          </a:p>
        </p:txBody>
      </p:sp>
      <p:sp>
        <p:nvSpPr>
          <p:cNvPr id="15" name="TextBox 14"/>
          <p:cNvSpPr txBox="1"/>
          <p:nvPr/>
        </p:nvSpPr>
        <p:spPr>
          <a:xfrm>
            <a:off x="7474973" y="3881170"/>
            <a:ext cx="4058354" cy="826617"/>
          </a:xfrm>
          <a:prstGeom prst="rect">
            <a:avLst/>
          </a:prstGeom>
          <a:noFill/>
        </p:spPr>
        <p:txBody>
          <a:bodyPr wrap="square" anchor="t" lIns="0" rIns="0" tIns="0" bIns="0">
            <a:spAutoFit/>
          </a:bodyPr>
          <a:lstStyle/>
          <a:p>
            <a:pPr algn="l">
              <a:lnSpc>
                <a:spcPct val="134000"/>
              </a:lnSpc>
            </a:pPr>
            <a:r>
              <a:rPr sz="1080" b="0" i="0">
                <a:solidFill>
                  <a:srgbClr val="3C4653"/>
                </a:solidFill>
                <a:latin typeface="Segoe UI"/>
              </a:rPr>
              <a:t>It detects a surge and switches models. Best surge performance by far — 64% better at catching peaks — but 601% worse on its worst data slice and 20% worse overall.</a:t>
            </a:r>
          </a:p>
        </p:txBody>
      </p:sp>
      <p:sp>
        <p:nvSpPr>
          <p:cNvPr id="16" name="Rectangle 15"/>
          <p:cNvSpPr/>
          <p:nvPr/>
        </p:nvSpPr>
        <p:spPr>
          <a:xfrm>
            <a:off x="7292093" y="4762652"/>
            <a:ext cx="42412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92093" y="4931816"/>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74973" y="4863236"/>
            <a:ext cx="4058354" cy="278384"/>
          </a:xfrm>
          <a:prstGeom prst="rect">
            <a:avLst/>
          </a:prstGeom>
          <a:noFill/>
        </p:spPr>
        <p:txBody>
          <a:bodyPr wrap="square" anchor="t" lIns="0" rIns="0" tIns="0" bIns="0">
            <a:spAutoFit/>
          </a:bodyPr>
          <a:lstStyle/>
          <a:p>
            <a:pPr algn="l">
              <a:lnSpc>
                <a:spcPct val="128000"/>
              </a:lnSpc>
            </a:pPr>
            <a:r>
              <a:rPr sz="1150" b="1" i="0">
                <a:solidFill>
                  <a:srgbClr val="111721"/>
                </a:solidFill>
                <a:latin typeface="Segoe UI"/>
              </a:rPr>
              <a:t>Tuning hard for the rare event</a:t>
            </a:r>
          </a:p>
        </p:txBody>
      </p:sp>
      <p:sp>
        <p:nvSpPr>
          <p:cNvPr id="19" name="TextBox 18"/>
          <p:cNvSpPr txBox="1"/>
          <p:nvPr/>
        </p:nvSpPr>
        <p:spPr>
          <a:xfrm>
            <a:off x="7474973" y="5109616"/>
            <a:ext cx="4058354" cy="275234"/>
          </a:xfrm>
          <a:prstGeom prst="rect">
            <a:avLst/>
          </a:prstGeom>
          <a:noFill/>
        </p:spPr>
        <p:txBody>
          <a:bodyPr wrap="square" anchor="t" lIns="0" rIns="0" tIns="0" bIns="0">
            <a:spAutoFit/>
          </a:bodyPr>
          <a:lstStyle/>
          <a:p>
            <a:pPr algn="l">
              <a:lnSpc>
                <a:spcPct val="134000"/>
              </a:lnSpc>
            </a:pPr>
            <a:r>
              <a:rPr sz="1080" b="0" i="0">
                <a:solidFill>
                  <a:srgbClr val="3C4653"/>
                </a:solidFill>
                <a:latin typeface="Segoe UI"/>
              </a:rPr>
              <a:t>wrecked the ordinary case.</a:t>
            </a:r>
          </a:p>
        </p:txBody>
      </p:sp>
      <p:sp>
        <p:nvSpPr>
          <p:cNvPr id="20" name="TextBox 19"/>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MODEL COMPARISON</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Every family, every check</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02 · THE FORECASTER</a:t>
            </a:r>
          </a:p>
        </p:txBody>
      </p:sp>
      <p:sp>
        <p:nvSpPr>
          <p:cNvPr id="7" name="Rectangle 6"/>
          <p:cNvSpPr/>
          <p:nvPr/>
        </p:nvSpPr>
        <p:spPr>
          <a:xfrm>
            <a:off x="658368" y="1517904"/>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595628"/>
            <a:ext cx="2820690"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MODEL FAMILY</a:t>
            </a:r>
          </a:p>
        </p:txBody>
      </p:sp>
      <p:sp>
        <p:nvSpPr>
          <p:cNvPr id="9" name="TextBox 8"/>
          <p:cNvSpPr txBox="1"/>
          <p:nvPr/>
        </p:nvSpPr>
        <p:spPr>
          <a:xfrm>
            <a:off x="3725946" y="1595628"/>
            <a:ext cx="1008197"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ERROR</a:t>
            </a:r>
          </a:p>
        </p:txBody>
      </p:sp>
      <p:sp>
        <p:nvSpPr>
          <p:cNvPr id="10" name="TextBox 9"/>
          <p:cNvSpPr txBox="1"/>
          <p:nvPr/>
        </p:nvSpPr>
        <p:spPr>
          <a:xfrm>
            <a:off x="4898736" y="1595628"/>
            <a:ext cx="1221432"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VS BASELINE</a:t>
            </a:r>
          </a:p>
        </p:txBody>
      </p:sp>
      <p:sp>
        <p:nvSpPr>
          <p:cNvPr id="11" name="TextBox 10"/>
          <p:cNvSpPr txBox="1"/>
          <p:nvPr/>
        </p:nvSpPr>
        <p:spPr>
          <a:xfrm>
            <a:off x="6284760" y="1595628"/>
            <a:ext cx="1221432"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BOUND HOLDS</a:t>
            </a:r>
          </a:p>
        </p:txBody>
      </p:sp>
      <p:sp>
        <p:nvSpPr>
          <p:cNvPr id="12" name="TextBox 11"/>
          <p:cNvSpPr txBox="1"/>
          <p:nvPr/>
        </p:nvSpPr>
        <p:spPr>
          <a:xfrm>
            <a:off x="7670785" y="1595628"/>
            <a:ext cx="1434666"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PEAK UNDERPRED.</a:t>
            </a:r>
          </a:p>
        </p:txBody>
      </p:sp>
      <p:sp>
        <p:nvSpPr>
          <p:cNvPr id="13" name="TextBox 12"/>
          <p:cNvSpPr txBox="1"/>
          <p:nvPr/>
        </p:nvSpPr>
        <p:spPr>
          <a:xfrm>
            <a:off x="9270043" y="1595628"/>
            <a:ext cx="1114814"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WORST SLICE</a:t>
            </a:r>
          </a:p>
        </p:txBody>
      </p:sp>
      <p:sp>
        <p:nvSpPr>
          <p:cNvPr id="14" name="TextBox 13"/>
          <p:cNvSpPr txBox="1"/>
          <p:nvPr/>
        </p:nvSpPr>
        <p:spPr>
          <a:xfrm>
            <a:off x="10549450" y="1595628"/>
            <a:ext cx="901580"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RELEASED?</a:t>
            </a:r>
          </a:p>
        </p:txBody>
      </p:sp>
      <p:sp>
        <p:nvSpPr>
          <p:cNvPr id="15" name="Rectangle 14"/>
          <p:cNvSpPr/>
          <p:nvPr/>
        </p:nvSpPr>
        <p:spPr>
          <a:xfrm>
            <a:off x="658368" y="1792224"/>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1792224"/>
            <a:ext cx="10874959" cy="274320"/>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 y="1842516"/>
            <a:ext cx="282069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LightGBM</a:t>
            </a:r>
          </a:p>
        </p:txBody>
      </p:sp>
      <p:sp>
        <p:nvSpPr>
          <p:cNvPr id="18" name="TextBox 17"/>
          <p:cNvSpPr txBox="1"/>
          <p:nvPr/>
        </p:nvSpPr>
        <p:spPr>
          <a:xfrm>
            <a:off x="3725946" y="1842516"/>
            <a:ext cx="100819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12.512%</a:t>
            </a:r>
          </a:p>
        </p:txBody>
      </p:sp>
      <p:sp>
        <p:nvSpPr>
          <p:cNvPr id="19" name="TextBox 18"/>
          <p:cNvSpPr txBox="1"/>
          <p:nvPr/>
        </p:nvSpPr>
        <p:spPr>
          <a:xfrm>
            <a:off x="4898736" y="1842516"/>
            <a:ext cx="1221432"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+11.64%</a:t>
            </a:r>
          </a:p>
        </p:txBody>
      </p:sp>
      <p:sp>
        <p:nvSpPr>
          <p:cNvPr id="20" name="TextBox 19"/>
          <p:cNvSpPr txBox="1"/>
          <p:nvPr/>
        </p:nvSpPr>
        <p:spPr>
          <a:xfrm>
            <a:off x="6284760" y="1842516"/>
            <a:ext cx="1221432"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93.53%</a:t>
            </a:r>
          </a:p>
        </p:txBody>
      </p:sp>
      <p:sp>
        <p:nvSpPr>
          <p:cNvPr id="21" name="TextBox 20"/>
          <p:cNvSpPr txBox="1"/>
          <p:nvPr/>
        </p:nvSpPr>
        <p:spPr>
          <a:xfrm>
            <a:off x="7670785" y="1842516"/>
            <a:ext cx="1434666"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+27.5%</a:t>
            </a:r>
          </a:p>
        </p:txBody>
      </p:sp>
      <p:sp>
        <p:nvSpPr>
          <p:cNvPr id="22" name="TextBox 21"/>
          <p:cNvSpPr txBox="1"/>
          <p:nvPr/>
        </p:nvSpPr>
        <p:spPr>
          <a:xfrm>
            <a:off x="9270043" y="1842516"/>
            <a:ext cx="1114814" cy="21945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+14.70%</a:t>
            </a:r>
          </a:p>
        </p:txBody>
      </p:sp>
      <p:sp>
        <p:nvSpPr>
          <p:cNvPr id="23" name="TextBox 22"/>
          <p:cNvSpPr txBox="1"/>
          <p:nvPr/>
        </p:nvSpPr>
        <p:spPr>
          <a:xfrm>
            <a:off x="10549450" y="1842516"/>
            <a:ext cx="901580" cy="21945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No</a:t>
            </a:r>
          </a:p>
        </p:txBody>
      </p:sp>
      <p:sp>
        <p:nvSpPr>
          <p:cNvPr id="24" name="Rectangle 23"/>
          <p:cNvSpPr/>
          <p:nvPr/>
        </p:nvSpPr>
        <p:spPr>
          <a:xfrm>
            <a:off x="658368" y="2066544"/>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2066544"/>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0664" y="2116836"/>
            <a:ext cx="282069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Histogram gradient boosting</a:t>
            </a:r>
          </a:p>
        </p:txBody>
      </p:sp>
      <p:sp>
        <p:nvSpPr>
          <p:cNvPr id="27" name="TextBox 26"/>
          <p:cNvSpPr txBox="1"/>
          <p:nvPr/>
        </p:nvSpPr>
        <p:spPr>
          <a:xfrm>
            <a:off x="3725946" y="2116836"/>
            <a:ext cx="100819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12.513%</a:t>
            </a:r>
          </a:p>
        </p:txBody>
      </p:sp>
      <p:sp>
        <p:nvSpPr>
          <p:cNvPr id="28" name="TextBox 27"/>
          <p:cNvSpPr txBox="1"/>
          <p:nvPr/>
        </p:nvSpPr>
        <p:spPr>
          <a:xfrm>
            <a:off x="4898736" y="2116836"/>
            <a:ext cx="1221432"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+11.63%</a:t>
            </a:r>
          </a:p>
        </p:txBody>
      </p:sp>
      <p:sp>
        <p:nvSpPr>
          <p:cNvPr id="29" name="TextBox 28"/>
          <p:cNvSpPr txBox="1"/>
          <p:nvPr/>
        </p:nvSpPr>
        <p:spPr>
          <a:xfrm>
            <a:off x="6284760" y="2116836"/>
            <a:ext cx="1221432"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93.53%</a:t>
            </a:r>
          </a:p>
        </p:txBody>
      </p:sp>
      <p:sp>
        <p:nvSpPr>
          <p:cNvPr id="30" name="TextBox 29"/>
          <p:cNvSpPr txBox="1"/>
          <p:nvPr/>
        </p:nvSpPr>
        <p:spPr>
          <a:xfrm>
            <a:off x="7670785" y="2116836"/>
            <a:ext cx="1434666"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+27.4%</a:t>
            </a:r>
          </a:p>
        </p:txBody>
      </p:sp>
      <p:sp>
        <p:nvSpPr>
          <p:cNvPr id="31" name="TextBox 30"/>
          <p:cNvSpPr txBox="1"/>
          <p:nvPr/>
        </p:nvSpPr>
        <p:spPr>
          <a:xfrm>
            <a:off x="9270043" y="2116836"/>
            <a:ext cx="1114814" cy="21945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+14.34%</a:t>
            </a:r>
          </a:p>
        </p:txBody>
      </p:sp>
      <p:sp>
        <p:nvSpPr>
          <p:cNvPr id="32" name="TextBox 31"/>
          <p:cNvSpPr txBox="1"/>
          <p:nvPr/>
        </p:nvSpPr>
        <p:spPr>
          <a:xfrm>
            <a:off x="10549450" y="2116836"/>
            <a:ext cx="901580" cy="21945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No</a:t>
            </a:r>
          </a:p>
        </p:txBody>
      </p:sp>
      <p:sp>
        <p:nvSpPr>
          <p:cNvPr id="33" name="Rectangle 32"/>
          <p:cNvSpPr/>
          <p:nvPr/>
        </p:nvSpPr>
        <p:spPr>
          <a:xfrm>
            <a:off x="658368" y="2340864"/>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64" y="2391156"/>
            <a:ext cx="282069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Calendar ridge (current)</a:t>
            </a:r>
          </a:p>
        </p:txBody>
      </p:sp>
      <p:sp>
        <p:nvSpPr>
          <p:cNvPr id="35" name="TextBox 34"/>
          <p:cNvSpPr txBox="1"/>
          <p:nvPr/>
        </p:nvSpPr>
        <p:spPr>
          <a:xfrm>
            <a:off x="3725946" y="2391156"/>
            <a:ext cx="100819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12.729%</a:t>
            </a:r>
          </a:p>
        </p:txBody>
      </p:sp>
      <p:sp>
        <p:nvSpPr>
          <p:cNvPr id="36" name="TextBox 35"/>
          <p:cNvSpPr txBox="1"/>
          <p:nvPr/>
        </p:nvSpPr>
        <p:spPr>
          <a:xfrm>
            <a:off x="4898736" y="2391156"/>
            <a:ext cx="1221432"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+10.11%</a:t>
            </a:r>
          </a:p>
        </p:txBody>
      </p:sp>
      <p:sp>
        <p:nvSpPr>
          <p:cNvPr id="37" name="TextBox 36"/>
          <p:cNvSpPr txBox="1"/>
          <p:nvPr/>
        </p:nvSpPr>
        <p:spPr>
          <a:xfrm>
            <a:off x="6284760" y="2391156"/>
            <a:ext cx="1221432"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93.60%</a:t>
            </a:r>
          </a:p>
        </p:txBody>
      </p:sp>
      <p:sp>
        <p:nvSpPr>
          <p:cNvPr id="38" name="TextBox 37"/>
          <p:cNvSpPr txBox="1"/>
          <p:nvPr/>
        </p:nvSpPr>
        <p:spPr>
          <a:xfrm>
            <a:off x="7670785" y="2391156"/>
            <a:ext cx="1434666"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+11.9%</a:t>
            </a:r>
          </a:p>
        </p:txBody>
      </p:sp>
      <p:sp>
        <p:nvSpPr>
          <p:cNvPr id="39" name="TextBox 38"/>
          <p:cNvSpPr txBox="1"/>
          <p:nvPr/>
        </p:nvSpPr>
        <p:spPr>
          <a:xfrm>
            <a:off x="9270043" y="2391156"/>
            <a:ext cx="1114814" cy="21945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+11.39%</a:t>
            </a:r>
          </a:p>
        </p:txBody>
      </p:sp>
      <p:sp>
        <p:nvSpPr>
          <p:cNvPr id="40" name="TextBox 39"/>
          <p:cNvSpPr txBox="1"/>
          <p:nvPr/>
        </p:nvSpPr>
        <p:spPr>
          <a:xfrm>
            <a:off x="10549450" y="2391156"/>
            <a:ext cx="901580" cy="21945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No</a:t>
            </a:r>
          </a:p>
        </p:txBody>
      </p:sp>
      <p:sp>
        <p:nvSpPr>
          <p:cNvPr id="41" name="Rectangle 40"/>
          <p:cNvSpPr/>
          <p:nvPr/>
        </p:nvSpPr>
        <p:spPr>
          <a:xfrm>
            <a:off x="658368" y="2615184"/>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8368" y="2615184"/>
            <a:ext cx="10874959"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0664" y="2665476"/>
            <a:ext cx="282069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Ridge v2</a:t>
            </a:r>
          </a:p>
        </p:txBody>
      </p:sp>
      <p:sp>
        <p:nvSpPr>
          <p:cNvPr id="44" name="TextBox 43"/>
          <p:cNvSpPr txBox="1"/>
          <p:nvPr/>
        </p:nvSpPr>
        <p:spPr>
          <a:xfrm>
            <a:off x="3725946" y="2665476"/>
            <a:ext cx="100819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12.846%</a:t>
            </a:r>
          </a:p>
        </p:txBody>
      </p:sp>
      <p:sp>
        <p:nvSpPr>
          <p:cNvPr id="45" name="TextBox 44"/>
          <p:cNvSpPr txBox="1"/>
          <p:nvPr/>
        </p:nvSpPr>
        <p:spPr>
          <a:xfrm>
            <a:off x="4898736" y="2665476"/>
            <a:ext cx="1221432"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+9.28%</a:t>
            </a:r>
          </a:p>
        </p:txBody>
      </p:sp>
      <p:sp>
        <p:nvSpPr>
          <p:cNvPr id="46" name="TextBox 45"/>
          <p:cNvSpPr txBox="1"/>
          <p:nvPr/>
        </p:nvSpPr>
        <p:spPr>
          <a:xfrm>
            <a:off x="6284760" y="2665476"/>
            <a:ext cx="1221432"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94.39%</a:t>
            </a:r>
          </a:p>
        </p:txBody>
      </p:sp>
      <p:sp>
        <p:nvSpPr>
          <p:cNvPr id="47" name="TextBox 46"/>
          <p:cNvSpPr txBox="1"/>
          <p:nvPr/>
        </p:nvSpPr>
        <p:spPr>
          <a:xfrm>
            <a:off x="7670785" y="2665476"/>
            <a:ext cx="1434666"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+25.8%</a:t>
            </a:r>
          </a:p>
        </p:txBody>
      </p:sp>
      <p:sp>
        <p:nvSpPr>
          <p:cNvPr id="48" name="TextBox 47"/>
          <p:cNvSpPr txBox="1"/>
          <p:nvPr/>
        </p:nvSpPr>
        <p:spPr>
          <a:xfrm>
            <a:off x="9270043" y="2665476"/>
            <a:ext cx="1114814" cy="21945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+12.42%</a:t>
            </a:r>
          </a:p>
        </p:txBody>
      </p:sp>
      <p:sp>
        <p:nvSpPr>
          <p:cNvPr id="49" name="TextBox 48"/>
          <p:cNvSpPr txBox="1"/>
          <p:nvPr/>
        </p:nvSpPr>
        <p:spPr>
          <a:xfrm>
            <a:off x="10549450" y="2665476"/>
            <a:ext cx="901580" cy="21945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No</a:t>
            </a:r>
          </a:p>
        </p:txBody>
      </p:sp>
      <p:sp>
        <p:nvSpPr>
          <p:cNvPr id="50" name="Rectangle 49"/>
          <p:cNvSpPr/>
          <p:nvPr/>
        </p:nvSpPr>
        <p:spPr>
          <a:xfrm>
            <a:off x="658368" y="2889503"/>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0664" y="2939796"/>
            <a:ext cx="2820690"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Regime-switching ensemble</a:t>
            </a:r>
          </a:p>
        </p:txBody>
      </p:sp>
      <p:sp>
        <p:nvSpPr>
          <p:cNvPr id="52" name="TextBox 51"/>
          <p:cNvSpPr txBox="1"/>
          <p:nvPr/>
        </p:nvSpPr>
        <p:spPr>
          <a:xfrm>
            <a:off x="3725946" y="2939796"/>
            <a:ext cx="100819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17.017%</a:t>
            </a:r>
          </a:p>
        </p:txBody>
      </p:sp>
      <p:sp>
        <p:nvSpPr>
          <p:cNvPr id="53" name="TextBox 52"/>
          <p:cNvSpPr txBox="1"/>
          <p:nvPr/>
        </p:nvSpPr>
        <p:spPr>
          <a:xfrm>
            <a:off x="4898736" y="2939796"/>
            <a:ext cx="1221432" cy="21945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−20.18%</a:t>
            </a:r>
          </a:p>
        </p:txBody>
      </p:sp>
      <p:sp>
        <p:nvSpPr>
          <p:cNvPr id="54" name="TextBox 53"/>
          <p:cNvSpPr txBox="1"/>
          <p:nvPr/>
        </p:nvSpPr>
        <p:spPr>
          <a:xfrm>
            <a:off x="6284760" y="2939796"/>
            <a:ext cx="1221432"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94.81%</a:t>
            </a:r>
          </a:p>
        </p:txBody>
      </p:sp>
      <p:sp>
        <p:nvSpPr>
          <p:cNvPr id="55" name="TextBox 54"/>
          <p:cNvSpPr txBox="1"/>
          <p:nvPr/>
        </p:nvSpPr>
        <p:spPr>
          <a:xfrm>
            <a:off x="7670785" y="2939796"/>
            <a:ext cx="1434666"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+64.2%</a:t>
            </a:r>
          </a:p>
        </p:txBody>
      </p:sp>
      <p:sp>
        <p:nvSpPr>
          <p:cNvPr id="56" name="TextBox 55"/>
          <p:cNvSpPr txBox="1"/>
          <p:nvPr/>
        </p:nvSpPr>
        <p:spPr>
          <a:xfrm>
            <a:off x="9270043" y="2939796"/>
            <a:ext cx="1114814" cy="21945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+601.7%</a:t>
            </a:r>
          </a:p>
        </p:txBody>
      </p:sp>
      <p:sp>
        <p:nvSpPr>
          <p:cNvPr id="57" name="TextBox 56"/>
          <p:cNvSpPr txBox="1"/>
          <p:nvPr/>
        </p:nvSpPr>
        <p:spPr>
          <a:xfrm>
            <a:off x="10549450" y="2939796"/>
            <a:ext cx="901580" cy="21945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No</a:t>
            </a:r>
          </a:p>
        </p:txBody>
      </p:sp>
      <p:sp>
        <p:nvSpPr>
          <p:cNvPr id="58" name="Rectangle 57"/>
          <p:cNvSpPr/>
          <p:nvPr/>
        </p:nvSpPr>
        <p:spPr>
          <a:xfrm>
            <a:off x="658368" y="3163823"/>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58368" y="1517904"/>
            <a:ext cx="10874959" cy="1645919"/>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c_gatesf.png"/>
          <p:cNvPicPr>
            <a:picLocks noChangeAspect="1"/>
          </p:cNvPicPr>
          <p:nvPr/>
        </p:nvPicPr>
        <p:blipFill>
          <a:blip r:embed="rId2"/>
          <a:stretch>
            <a:fillRect/>
          </a:stretch>
        </p:blipFill>
        <p:spPr>
          <a:xfrm>
            <a:off x="658368" y="3346704"/>
            <a:ext cx="6307476" cy="1639231"/>
          </a:xfrm>
          <a:prstGeom prst="rect">
            <a:avLst/>
          </a:prstGeom>
        </p:spPr>
      </p:pic>
      <p:sp>
        <p:nvSpPr>
          <p:cNvPr id="61" name="Rectangle 60"/>
          <p:cNvSpPr/>
          <p:nvPr/>
        </p:nvSpPr>
        <p:spPr>
          <a:xfrm>
            <a:off x="7400842" y="3566160"/>
            <a:ext cx="4132484" cy="158496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400842" y="3566160"/>
            <a:ext cx="34747" cy="1584960"/>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38586" y="3712463"/>
            <a:ext cx="3675284" cy="201168"/>
          </a:xfrm>
          <a:prstGeom prst="rect">
            <a:avLst/>
          </a:prstGeom>
          <a:noFill/>
        </p:spPr>
        <p:txBody>
          <a:bodyPr wrap="square" anchor="t" lIns="0" rIns="0" tIns="0" bIns="0">
            <a:spAutoFit/>
          </a:bodyPr>
          <a:lstStyle/>
          <a:p>
            <a:pPr algn="l">
              <a:lnSpc>
                <a:spcPct val="100000"/>
              </a:lnSpc>
            </a:pPr>
            <a:r>
              <a:rPr sz="950" b="1" i="0">
                <a:solidFill>
                  <a:srgbClr val="9C3B35"/>
                </a:solidFill>
                <a:latin typeface="Consolas"/>
              </a:rPr>
              <a:t>NOBODY PASSED</a:t>
            </a:r>
          </a:p>
        </p:txBody>
      </p:sp>
      <p:sp>
        <p:nvSpPr>
          <p:cNvPr id="64" name="TextBox 63"/>
          <p:cNvSpPr txBox="1"/>
          <p:nvPr/>
        </p:nvSpPr>
        <p:spPr>
          <a:xfrm>
            <a:off x="7638586" y="3968496"/>
            <a:ext cx="3629564" cy="1127760"/>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No model has a full column, so none was released and the locked test data was never opened. That is the rule working as intended — not an experiment left unfinished.</a:t>
            </a:r>
          </a:p>
        </p:txBody>
      </p:sp>
      <p:sp>
        <p:nvSpPr>
          <p:cNvPr id="65" name="TextBox 64"/>
          <p:cNvSpPr txBox="1"/>
          <p:nvPr/>
        </p:nvSpPr>
        <p:spPr>
          <a:xfrm>
            <a:off x="658368" y="3035808"/>
            <a:ext cx="10874959" cy="201168"/>
          </a:xfrm>
          <a:prstGeom prst="rect">
            <a:avLst/>
          </a:prstGeom>
          <a:noFill/>
        </p:spPr>
        <p:txBody>
          <a:bodyPr wrap="square" anchor="t" lIns="0" rIns="0" tIns="0" bIns="0">
            <a:spAutoFit/>
          </a:bodyPr>
          <a:lstStyle/>
          <a:p>
            <a:pPr algn="l">
              <a:lnSpc>
                <a:spcPct val="130000"/>
              </a:lnSpc>
            </a:pPr>
            <a:r>
              <a:rPr sz="960" b="0" i="0">
                <a:solidFill>
                  <a:srgbClr val="6C7683"/>
                </a:solidFill>
                <a:latin typeface="Segoe UI"/>
              </a:rPr>
              <a:t>384 models trained, 384 calibrated, 480 result files, plus 96 independent audit jobs that reloaded every model through the real production loading code.</a:t>
            </a:r>
          </a:p>
        </p:txBody>
      </p:sp>
      <p:sp>
        <p:nvSpPr>
          <p:cNvPr id="66" name="TextBox 65"/>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FAILURE MODE</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Where the forecaster actually falls over</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The overall average hides the failure that matters. Same model, same day, split by what was happening at the time.</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02 · THE FORECASTER</a:t>
            </a:r>
          </a:p>
        </p:txBody>
      </p:sp>
      <p:sp>
        <p:nvSpPr>
          <p:cNvPr id="8" name="Rectangle 7"/>
          <p:cNvSpPr/>
          <p:nvPr/>
        </p:nvSpPr>
        <p:spPr>
          <a:xfrm>
            <a:off x="658368" y="2334260"/>
            <a:ext cx="7829970"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411984"/>
            <a:ext cx="2497598"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SITUATION</a:t>
            </a:r>
          </a:p>
        </p:txBody>
      </p:sp>
      <p:sp>
        <p:nvSpPr>
          <p:cNvPr id="10" name="TextBox 9"/>
          <p:cNvSpPr txBox="1"/>
          <p:nvPr/>
        </p:nvSpPr>
        <p:spPr>
          <a:xfrm>
            <a:off x="3402854" y="2411984"/>
            <a:ext cx="108820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ERROR</a:t>
            </a:r>
          </a:p>
        </p:txBody>
      </p:sp>
      <p:sp>
        <p:nvSpPr>
          <p:cNvPr id="11" name="TextBox 10"/>
          <p:cNvSpPr txBox="1"/>
          <p:nvPr/>
        </p:nvSpPr>
        <p:spPr>
          <a:xfrm>
            <a:off x="4655649" y="2411984"/>
            <a:ext cx="1401402"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PER-GROUP ERROR</a:t>
            </a:r>
          </a:p>
        </p:txBody>
      </p:sp>
      <p:sp>
        <p:nvSpPr>
          <p:cNvPr id="12" name="TextBox 11"/>
          <p:cNvSpPr txBox="1"/>
          <p:nvPr/>
        </p:nvSpPr>
        <p:spPr>
          <a:xfrm>
            <a:off x="6221643" y="2411984"/>
            <a:ext cx="100990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90% BOUND HOLDS</a:t>
            </a:r>
          </a:p>
        </p:txBody>
      </p:sp>
      <p:sp>
        <p:nvSpPr>
          <p:cNvPr id="13" name="TextBox 12"/>
          <p:cNvSpPr txBox="1"/>
          <p:nvPr/>
        </p:nvSpPr>
        <p:spPr>
          <a:xfrm>
            <a:off x="7396139" y="2411984"/>
            <a:ext cx="100990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95% BOUND HOLDS</a:t>
            </a:r>
          </a:p>
        </p:txBody>
      </p:sp>
      <p:sp>
        <p:nvSpPr>
          <p:cNvPr id="14" name="Rectangle 13"/>
          <p:cNvSpPr/>
          <p:nvPr/>
        </p:nvSpPr>
        <p:spPr>
          <a:xfrm>
            <a:off x="658368" y="2608580"/>
            <a:ext cx="7829970"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 y="2658872"/>
            <a:ext cx="2497598" cy="23774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Normal</a:t>
            </a:r>
          </a:p>
        </p:txBody>
      </p:sp>
      <p:sp>
        <p:nvSpPr>
          <p:cNvPr id="16" name="TextBox 15"/>
          <p:cNvSpPr txBox="1"/>
          <p:nvPr/>
        </p:nvSpPr>
        <p:spPr>
          <a:xfrm>
            <a:off x="3402854" y="2658872"/>
            <a:ext cx="10882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6.51%</a:t>
            </a:r>
          </a:p>
        </p:txBody>
      </p:sp>
      <p:sp>
        <p:nvSpPr>
          <p:cNvPr id="17" name="TextBox 16"/>
          <p:cNvSpPr txBox="1"/>
          <p:nvPr/>
        </p:nvSpPr>
        <p:spPr>
          <a:xfrm>
            <a:off x="4655649" y="2658872"/>
            <a:ext cx="1401402"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6.26%</a:t>
            </a:r>
          </a:p>
        </p:txBody>
      </p:sp>
      <p:sp>
        <p:nvSpPr>
          <p:cNvPr id="18" name="TextBox 17"/>
          <p:cNvSpPr txBox="1"/>
          <p:nvPr/>
        </p:nvSpPr>
        <p:spPr>
          <a:xfrm>
            <a:off x="6221643" y="2658872"/>
            <a:ext cx="1009903" cy="237744"/>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94.19%</a:t>
            </a:r>
          </a:p>
        </p:txBody>
      </p:sp>
      <p:sp>
        <p:nvSpPr>
          <p:cNvPr id="19" name="TextBox 18"/>
          <p:cNvSpPr txBox="1"/>
          <p:nvPr/>
        </p:nvSpPr>
        <p:spPr>
          <a:xfrm>
            <a:off x="7396139" y="2658872"/>
            <a:ext cx="1009903" cy="237744"/>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96.71%</a:t>
            </a:r>
          </a:p>
        </p:txBody>
      </p:sp>
      <p:sp>
        <p:nvSpPr>
          <p:cNvPr id="20" name="Rectangle 19"/>
          <p:cNvSpPr/>
          <p:nvPr/>
        </p:nvSpPr>
        <p:spPr>
          <a:xfrm>
            <a:off x="658368" y="2901188"/>
            <a:ext cx="7829970"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2901188"/>
            <a:ext cx="7829970" cy="292608"/>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2951480"/>
            <a:ext cx="2497598" cy="23774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Traffic surge</a:t>
            </a:r>
          </a:p>
        </p:txBody>
      </p:sp>
      <p:sp>
        <p:nvSpPr>
          <p:cNvPr id="23" name="TextBox 22"/>
          <p:cNvSpPr txBox="1"/>
          <p:nvPr/>
        </p:nvSpPr>
        <p:spPr>
          <a:xfrm>
            <a:off x="3402854" y="2951480"/>
            <a:ext cx="1088203" cy="237744"/>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11.08%</a:t>
            </a:r>
          </a:p>
        </p:txBody>
      </p:sp>
      <p:sp>
        <p:nvSpPr>
          <p:cNvPr id="24" name="TextBox 23"/>
          <p:cNvSpPr txBox="1"/>
          <p:nvPr/>
        </p:nvSpPr>
        <p:spPr>
          <a:xfrm>
            <a:off x="4655649" y="2951480"/>
            <a:ext cx="1401402" cy="237744"/>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11.02%</a:t>
            </a:r>
          </a:p>
        </p:txBody>
      </p:sp>
      <p:sp>
        <p:nvSpPr>
          <p:cNvPr id="25" name="TextBox 24"/>
          <p:cNvSpPr txBox="1"/>
          <p:nvPr/>
        </p:nvSpPr>
        <p:spPr>
          <a:xfrm>
            <a:off x="6221643" y="2951480"/>
            <a:ext cx="1009903" cy="237744"/>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30.73%</a:t>
            </a:r>
          </a:p>
        </p:txBody>
      </p:sp>
      <p:sp>
        <p:nvSpPr>
          <p:cNvPr id="26" name="TextBox 25"/>
          <p:cNvSpPr txBox="1"/>
          <p:nvPr/>
        </p:nvSpPr>
        <p:spPr>
          <a:xfrm>
            <a:off x="7396139" y="2951480"/>
            <a:ext cx="1009903" cy="237744"/>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37.85%</a:t>
            </a:r>
          </a:p>
        </p:txBody>
      </p:sp>
      <p:sp>
        <p:nvSpPr>
          <p:cNvPr id="27" name="Rectangle 26"/>
          <p:cNvSpPr/>
          <p:nvPr/>
        </p:nvSpPr>
        <p:spPr>
          <a:xfrm>
            <a:off x="658368" y="3193796"/>
            <a:ext cx="7829970"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 y="3244088"/>
            <a:ext cx="2497598" cy="23774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Box at reduced capacity</a:t>
            </a:r>
          </a:p>
        </p:txBody>
      </p:sp>
      <p:sp>
        <p:nvSpPr>
          <p:cNvPr id="29" name="TextBox 28"/>
          <p:cNvSpPr txBox="1"/>
          <p:nvPr/>
        </p:nvSpPr>
        <p:spPr>
          <a:xfrm>
            <a:off x="3402854" y="3244088"/>
            <a:ext cx="10882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5.09%</a:t>
            </a:r>
          </a:p>
        </p:txBody>
      </p:sp>
      <p:sp>
        <p:nvSpPr>
          <p:cNvPr id="30" name="TextBox 29"/>
          <p:cNvSpPr txBox="1"/>
          <p:nvPr/>
        </p:nvSpPr>
        <p:spPr>
          <a:xfrm>
            <a:off x="4655649" y="3244088"/>
            <a:ext cx="1401402"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5.73%</a:t>
            </a:r>
          </a:p>
        </p:txBody>
      </p:sp>
      <p:sp>
        <p:nvSpPr>
          <p:cNvPr id="31" name="TextBox 30"/>
          <p:cNvSpPr txBox="1"/>
          <p:nvPr/>
        </p:nvSpPr>
        <p:spPr>
          <a:xfrm>
            <a:off x="6221643" y="3244088"/>
            <a:ext cx="10099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87.88%</a:t>
            </a:r>
          </a:p>
        </p:txBody>
      </p:sp>
      <p:sp>
        <p:nvSpPr>
          <p:cNvPr id="32" name="TextBox 31"/>
          <p:cNvSpPr txBox="1"/>
          <p:nvPr/>
        </p:nvSpPr>
        <p:spPr>
          <a:xfrm>
            <a:off x="7396139" y="3244088"/>
            <a:ext cx="10099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91.96%</a:t>
            </a:r>
          </a:p>
        </p:txBody>
      </p:sp>
      <p:sp>
        <p:nvSpPr>
          <p:cNvPr id="33" name="Rectangle 32"/>
          <p:cNvSpPr/>
          <p:nvPr/>
        </p:nvSpPr>
        <p:spPr>
          <a:xfrm>
            <a:off x="658368" y="3486403"/>
            <a:ext cx="7829970"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58368" y="3486403"/>
            <a:ext cx="782997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 y="3536696"/>
            <a:ext cx="2497598" cy="23774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Box nearly offline</a:t>
            </a:r>
          </a:p>
        </p:txBody>
      </p:sp>
      <p:sp>
        <p:nvSpPr>
          <p:cNvPr id="36" name="TextBox 35"/>
          <p:cNvSpPr txBox="1"/>
          <p:nvPr/>
        </p:nvSpPr>
        <p:spPr>
          <a:xfrm>
            <a:off x="3402854" y="3536696"/>
            <a:ext cx="10882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5.29%</a:t>
            </a:r>
          </a:p>
        </p:txBody>
      </p:sp>
      <p:sp>
        <p:nvSpPr>
          <p:cNvPr id="37" name="TextBox 36"/>
          <p:cNvSpPr txBox="1"/>
          <p:nvPr/>
        </p:nvSpPr>
        <p:spPr>
          <a:xfrm>
            <a:off x="4655649" y="3536696"/>
            <a:ext cx="1401402"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6.57%</a:t>
            </a:r>
          </a:p>
        </p:txBody>
      </p:sp>
      <p:sp>
        <p:nvSpPr>
          <p:cNvPr id="38" name="TextBox 37"/>
          <p:cNvSpPr txBox="1"/>
          <p:nvPr/>
        </p:nvSpPr>
        <p:spPr>
          <a:xfrm>
            <a:off x="6221643" y="3536696"/>
            <a:ext cx="1009903" cy="237744"/>
          </a:xfrm>
          <a:prstGeom prst="rect">
            <a:avLst/>
          </a:prstGeom>
          <a:noFill/>
        </p:spPr>
        <p:txBody>
          <a:bodyPr wrap="square" anchor="t" lIns="0" rIns="0" tIns="0" bIns="0">
            <a:spAutoFit/>
          </a:bodyPr>
          <a:lstStyle/>
          <a:p>
            <a:pPr algn="r">
              <a:lnSpc>
                <a:spcPct val="112000"/>
              </a:lnSpc>
            </a:pPr>
            <a:r>
              <a:rPr sz="960" b="0" i="0">
                <a:solidFill>
                  <a:srgbClr val="B5761F"/>
                </a:solidFill>
                <a:latin typeface="Consolas"/>
              </a:rPr>
              <a:t>73.96%</a:t>
            </a:r>
          </a:p>
        </p:txBody>
      </p:sp>
      <p:sp>
        <p:nvSpPr>
          <p:cNvPr id="39" name="TextBox 38"/>
          <p:cNvSpPr txBox="1"/>
          <p:nvPr/>
        </p:nvSpPr>
        <p:spPr>
          <a:xfrm>
            <a:off x="7396139" y="3536696"/>
            <a:ext cx="1009903" cy="237744"/>
          </a:xfrm>
          <a:prstGeom prst="rect">
            <a:avLst/>
          </a:prstGeom>
          <a:noFill/>
        </p:spPr>
        <p:txBody>
          <a:bodyPr wrap="square" anchor="t" lIns="0" rIns="0" tIns="0" bIns="0">
            <a:spAutoFit/>
          </a:bodyPr>
          <a:lstStyle/>
          <a:p>
            <a:pPr algn="r">
              <a:lnSpc>
                <a:spcPct val="112000"/>
              </a:lnSpc>
            </a:pPr>
            <a:r>
              <a:rPr sz="960" b="0" i="0">
                <a:solidFill>
                  <a:srgbClr val="B5761F"/>
                </a:solidFill>
                <a:latin typeface="Consolas"/>
              </a:rPr>
              <a:t>78.13%</a:t>
            </a:r>
          </a:p>
        </p:txBody>
      </p:sp>
      <p:sp>
        <p:nvSpPr>
          <p:cNvPr id="40" name="Rectangle 39"/>
          <p:cNvSpPr/>
          <p:nvPr/>
        </p:nvSpPr>
        <p:spPr>
          <a:xfrm>
            <a:off x="658368" y="3779011"/>
            <a:ext cx="7829970"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0664" y="3829303"/>
            <a:ext cx="2497598" cy="23774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Network delay spike</a:t>
            </a:r>
          </a:p>
        </p:txBody>
      </p:sp>
      <p:sp>
        <p:nvSpPr>
          <p:cNvPr id="42" name="TextBox 41"/>
          <p:cNvSpPr txBox="1"/>
          <p:nvPr/>
        </p:nvSpPr>
        <p:spPr>
          <a:xfrm>
            <a:off x="3402854" y="3829303"/>
            <a:ext cx="108820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5.04%</a:t>
            </a:r>
          </a:p>
        </p:txBody>
      </p:sp>
      <p:sp>
        <p:nvSpPr>
          <p:cNvPr id="43" name="TextBox 42"/>
          <p:cNvSpPr txBox="1"/>
          <p:nvPr/>
        </p:nvSpPr>
        <p:spPr>
          <a:xfrm>
            <a:off x="4655649" y="3829303"/>
            <a:ext cx="1401402"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5.06%</a:t>
            </a:r>
          </a:p>
        </p:txBody>
      </p:sp>
      <p:sp>
        <p:nvSpPr>
          <p:cNvPr id="44" name="TextBox 43"/>
          <p:cNvSpPr txBox="1"/>
          <p:nvPr/>
        </p:nvSpPr>
        <p:spPr>
          <a:xfrm>
            <a:off x="6221643" y="3829303"/>
            <a:ext cx="1009903" cy="237744"/>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92.36%</a:t>
            </a:r>
          </a:p>
        </p:txBody>
      </p:sp>
      <p:sp>
        <p:nvSpPr>
          <p:cNvPr id="45" name="TextBox 44"/>
          <p:cNvSpPr txBox="1"/>
          <p:nvPr/>
        </p:nvSpPr>
        <p:spPr>
          <a:xfrm>
            <a:off x="7396139" y="3829303"/>
            <a:ext cx="1009903" cy="237744"/>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96.18%</a:t>
            </a:r>
          </a:p>
        </p:txBody>
      </p:sp>
      <p:sp>
        <p:nvSpPr>
          <p:cNvPr id="46" name="Rectangle 45"/>
          <p:cNvSpPr/>
          <p:nvPr/>
        </p:nvSpPr>
        <p:spPr>
          <a:xfrm>
            <a:off x="658368" y="4071619"/>
            <a:ext cx="7829970"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2334260"/>
            <a:ext cx="7829970" cy="1737359"/>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58368" y="4089908"/>
            <a:ext cx="10874959" cy="137769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58368" y="4089908"/>
            <a:ext cx="34747" cy="1377696"/>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 y="4236212"/>
            <a:ext cx="10417759" cy="201168"/>
          </a:xfrm>
          <a:prstGeom prst="rect">
            <a:avLst/>
          </a:prstGeom>
          <a:noFill/>
        </p:spPr>
        <p:txBody>
          <a:bodyPr wrap="square" anchor="t" lIns="0" rIns="0" tIns="0" bIns="0">
            <a:spAutoFit/>
          </a:bodyPr>
          <a:lstStyle/>
          <a:p>
            <a:pPr algn="l">
              <a:lnSpc>
                <a:spcPct val="100000"/>
              </a:lnSpc>
            </a:pPr>
            <a:r>
              <a:rPr sz="950" b="1" i="0">
                <a:solidFill>
                  <a:srgbClr val="9C3B35"/>
                </a:solidFill>
                <a:latin typeface="Consolas"/>
              </a:rPr>
              <a:t>DURING A SURPRISE SURGE, THE SAFETY BOUND IS RIGHT ONLY 30% OF THE TIME</a:t>
            </a:r>
          </a:p>
        </p:txBody>
      </p:sp>
      <p:sp>
        <p:nvSpPr>
          <p:cNvPr id="51" name="TextBox 50"/>
          <p:cNvSpPr txBox="1"/>
          <p:nvPr/>
        </p:nvSpPr>
        <p:spPr>
          <a:xfrm>
            <a:off x="896112" y="4492244"/>
            <a:ext cx="10372039" cy="920496"/>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Equipment failures change the network, not how much traffic people generate — so prediction accuracy barely moves. Surges are different. When demand suddenly jumps and nobody warned us, there is nothing in the past data that predicts it. The safety bound — the exact thing the optimizer plans against — is wrong precisely when the optimizer needs it most. This one row explains most of section 03.</a:t>
            </a:r>
          </a:p>
        </p:txBody>
      </p:sp>
      <p:sp>
        <p:nvSpPr>
          <p:cNvPr id="52" name="TextBox 51"/>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COST</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How long it takes to train and to run</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02 · THE FORECASTER</a:t>
            </a:r>
          </a:p>
        </p:txBody>
      </p:sp>
      <p:sp>
        <p:nvSpPr>
          <p:cNvPr id="7" name="Rectangle 6"/>
          <p:cNvSpPr/>
          <p:nvPr/>
        </p:nvSpPr>
        <p:spPr>
          <a:xfrm>
            <a:off x="658368" y="1481328"/>
            <a:ext cx="5245455" cy="3200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45920"/>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TRAINING</a:t>
            </a:r>
          </a:p>
        </p:txBody>
      </p:sp>
      <p:sp>
        <p:nvSpPr>
          <p:cNvPr id="9" name="TextBox 8"/>
          <p:cNvSpPr txBox="1"/>
          <p:nvPr/>
        </p:nvSpPr>
        <p:spPr>
          <a:xfrm>
            <a:off x="859536" y="1956816"/>
            <a:ext cx="4843119" cy="2578608"/>
          </a:xfrm>
          <a:prstGeom prst="rect">
            <a:avLst/>
          </a:prstGeom>
          <a:noFill/>
        </p:spPr>
        <p:txBody>
          <a:bodyPr wrap="square" anchor="t" lIns="0" rIns="0" tIns="0" bIns="0">
            <a:spAutoFit/>
          </a:bodyPr>
          <a:lstStyle/>
          <a:p>
            <a:pPr algn="l">
              <a:lnSpc>
                <a:spcPct val="140000"/>
              </a:lnSpc>
            </a:pPr>
            <a:r>
              <a:rPr sz="1200" b="0" i="0">
                <a:solidFill>
                  <a:srgbClr val="3C4653"/>
                </a:solidFill>
                <a:latin typeface="Segoe UI"/>
              </a:rPr>
              <a:t>3 minutes 3 seconds for the whole 16-week model set. Of that, only 13 seconds is actual maths — fitting 2 304 tiny nine-input models. Everything else is reading data off disk. Peak memory 1.8 GB, one node, no GPU.</a:t>
            </a:r>
          </a:p>
          <a:p>
            <a:pPr algn="l">
              <a:lnSpc>
                <a:spcPct val="140000"/>
              </a:lnSpc>
              <a:spcBef>
                <a:spcPts val="800"/>
              </a:spcBef>
            </a:pPr>
            <a:r>
              <a:rPr sz="1200" b="0" i="0">
                <a:solidFill>
                  <a:srgbClr val="3C4653"/>
                </a:solidFill>
                <a:latin typeface="Segoe UI"/>
              </a:rPr>
              <a:t>A GPU would be useless here. The bottleneck is disk, not computation. That only changes if we move to large boosted-tree or neural models later.</a:t>
            </a:r>
          </a:p>
          <a:p>
            <a:pPr algn="l">
              <a:lnSpc>
                <a:spcPct val="140000"/>
              </a:lnSpc>
              <a:spcBef>
                <a:spcPts val="800"/>
              </a:spcBef>
            </a:pPr>
            <a:r>
              <a:rPr sz="1200" b="0" i="0">
                <a:solidFill>
                  <a:srgbClr val="3C4653"/>
                </a:solidFill>
                <a:latin typeface="Segoe UI"/>
              </a:rPr>
              <a:t>The five-family comparison was a real cluster job: 384 trained models, 384 calibrated models, 480 result files and 96 audit jobs.</a:t>
            </a:r>
          </a:p>
        </p:txBody>
      </p:sp>
      <p:sp>
        <p:nvSpPr>
          <p:cNvPr id="10" name="Rectangle 9"/>
          <p:cNvSpPr/>
          <p:nvPr/>
        </p:nvSpPr>
        <p:spPr>
          <a:xfrm>
            <a:off x="6287871" y="1481328"/>
            <a:ext cx="5245455" cy="3513327"/>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9039" y="1645920"/>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RUNNING IT LIVE</a:t>
            </a:r>
          </a:p>
        </p:txBody>
      </p:sp>
      <p:sp>
        <p:nvSpPr>
          <p:cNvPr id="12" name="TextBox 11"/>
          <p:cNvSpPr txBox="1"/>
          <p:nvPr/>
        </p:nvSpPr>
        <p:spPr>
          <a:xfrm>
            <a:off x="6489039" y="1956816"/>
            <a:ext cx="4843119" cy="2891535"/>
          </a:xfrm>
          <a:prstGeom prst="rect">
            <a:avLst/>
          </a:prstGeom>
          <a:noFill/>
        </p:spPr>
        <p:txBody>
          <a:bodyPr wrap="square" anchor="t" lIns="0" rIns="0" tIns="0" bIns="0">
            <a:spAutoFit/>
          </a:bodyPr>
          <a:lstStyle/>
          <a:p>
            <a:pPr algn="l">
              <a:lnSpc>
                <a:spcPct val="140000"/>
              </a:lnSpc>
            </a:pPr>
            <a:r>
              <a:rPr sz="1200" b="0" i="0">
                <a:solidFill>
                  <a:srgbClr val="3C4653"/>
                </a:solidFill>
                <a:latin typeface="Segoe UI"/>
              </a:rPr>
              <a:t>96 forecasts per decision round — one per traffic group — handed straight to the optimizer. In the one-day test the controller used a safe fallback for the very first round, then produced forecasts normally for the remaining 143.</a:t>
            </a:r>
          </a:p>
          <a:p>
            <a:pPr algn="l">
              <a:lnSpc>
                <a:spcPct val="140000"/>
              </a:lnSpc>
              <a:spcBef>
                <a:spcPts val="800"/>
              </a:spcBef>
            </a:pPr>
            <a:r>
              <a:rPr sz="1200" b="0" i="0">
                <a:solidFill>
                  <a:srgbClr val="3C4653"/>
                </a:solidFill>
                <a:latin typeface="Segoe UI"/>
              </a:rPr>
              <a:t>Forecasting is never the bottleneck at any scale we tested. Every speed problem in this project is in the optimizer, not the model.</a:t>
            </a:r>
          </a:p>
          <a:p>
            <a:pPr algn="l">
              <a:lnSpc>
                <a:spcPct val="140000"/>
              </a:lnSpc>
              <a:spcBef>
                <a:spcPts val="800"/>
              </a:spcBef>
            </a:pPr>
            <a:r>
              <a:rPr sz="1200" b="0" i="0">
                <a:solidFill>
                  <a:srgbClr val="3C4653"/>
                </a:solidFill>
                <a:latin typeface="Segoe UI"/>
              </a:rPr>
              <a:t>Model files are checksum-verified on load. If a model was trained on different traffic groups than the scenario expects, the system refuses to start rather than quietly using the wrong thing.</a:t>
            </a:r>
          </a:p>
        </p:txBody>
      </p:sp>
      <p:sp>
        <p:nvSpPr>
          <p:cNvPr id="13" name="TextBox 12"/>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DECISION</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Which model we use, and why</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We run the calendar ridge model with conformal bounds. Not because it is the most accurate — LightGBM beats it by about 1.5 percentage points.</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02 · THE FORECASTER</a:t>
            </a:r>
          </a:p>
        </p:txBody>
      </p:sp>
      <p:sp>
        <p:nvSpPr>
          <p:cNvPr id="8" name="Rectangle 7"/>
          <p:cNvSpPr/>
          <p:nvPr/>
        </p:nvSpPr>
        <p:spPr>
          <a:xfrm>
            <a:off x="658368" y="2347976"/>
            <a:ext cx="68580" cy="685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79396"/>
            <a:ext cx="4602102"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Nothing beat the release bar</a:t>
            </a:r>
          </a:p>
        </p:txBody>
      </p:sp>
      <p:sp>
        <p:nvSpPr>
          <p:cNvPr id="10" name="TextBox 9"/>
          <p:cNvSpPr txBox="1"/>
          <p:nvPr/>
        </p:nvSpPr>
        <p:spPr>
          <a:xfrm>
            <a:off x="841247" y="2533904"/>
            <a:ext cx="4602102" cy="668350"/>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The rule says the current model stays unless a challenger passes all five checks. None did. Keeping ridge is the required answer, not a preference.</a:t>
            </a:r>
          </a:p>
        </p:txBody>
      </p:sp>
      <p:sp>
        <p:nvSpPr>
          <p:cNvPr id="11" name="Rectangle 10"/>
          <p:cNvSpPr/>
          <p:nvPr/>
        </p:nvSpPr>
        <p:spPr>
          <a:xfrm>
            <a:off x="658368" y="3257118"/>
            <a:ext cx="4784982"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426282"/>
            <a:ext cx="68580" cy="685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3357702"/>
            <a:ext cx="4602102"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Nine inputs, closed form, 13 seconds</a:t>
            </a:r>
          </a:p>
        </p:txBody>
      </p:sp>
      <p:sp>
        <p:nvSpPr>
          <p:cNvPr id="14" name="TextBox 13"/>
          <p:cNvSpPr txBox="1"/>
          <p:nvPr/>
        </p:nvSpPr>
        <p:spPr>
          <a:xfrm>
            <a:off x="841247" y="3612210"/>
            <a:ext cx="4602102" cy="476046"/>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Retrainable anywhere, easy to audit, and you can look at each coefficient and understand it.</a:t>
            </a:r>
          </a:p>
        </p:txBody>
      </p:sp>
      <p:sp>
        <p:nvSpPr>
          <p:cNvPr id="15" name="Rectangle 14"/>
          <p:cNvSpPr/>
          <p:nvPr/>
        </p:nvSpPr>
        <p:spPr>
          <a:xfrm>
            <a:off x="658368" y="4143121"/>
            <a:ext cx="4784982"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312285"/>
            <a:ext cx="68580" cy="685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4243705"/>
            <a:ext cx="4602102"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Reliable where it counts</a:t>
            </a:r>
          </a:p>
        </p:txBody>
      </p:sp>
      <p:sp>
        <p:nvSpPr>
          <p:cNvPr id="18" name="TextBox 17"/>
          <p:cNvSpPr txBox="1"/>
          <p:nvPr/>
        </p:nvSpPr>
        <p:spPr>
          <a:xfrm>
            <a:off x="841247" y="4498212"/>
            <a:ext cx="4602102" cy="476046"/>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94.2% and 96.7% coverage on unseen data — the property the optimizer actually consumes.</a:t>
            </a:r>
          </a:p>
        </p:txBody>
      </p:sp>
      <p:sp>
        <p:nvSpPr>
          <p:cNvPr id="19" name="Rectangle 18"/>
          <p:cNvSpPr/>
          <p:nvPr/>
        </p:nvSpPr>
        <p:spPr>
          <a:xfrm>
            <a:off x="658368" y="5029123"/>
            <a:ext cx="4784982"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5198287"/>
            <a:ext cx="68580" cy="685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5129707"/>
            <a:ext cx="4602102"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The real gains did not carry through</a:t>
            </a:r>
          </a:p>
        </p:txBody>
      </p:sp>
      <p:sp>
        <p:nvSpPr>
          <p:cNvPr id="22" name="TextBox 21"/>
          <p:cNvSpPr txBox="1"/>
          <p:nvPr/>
        </p:nvSpPr>
        <p:spPr>
          <a:xfrm>
            <a:off x="841247" y="5384215"/>
            <a:ext cx="4602102" cy="668350"/>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LightGBM's 27.5% better peak-catching is genuinely useful, but it came with a 14.7% worse slice — and a better forecast did not produce better control.</a:t>
            </a:r>
          </a:p>
        </p:txBody>
      </p:sp>
      <p:pic>
        <p:nvPicPr>
          <p:cNvPr id="23" name="Picture 22" descr="c_fvsc.png"/>
          <p:cNvPicPr>
            <a:picLocks noChangeAspect="1"/>
          </p:cNvPicPr>
          <p:nvPr/>
        </p:nvPicPr>
        <p:blipFill>
          <a:blip r:embed="rId2"/>
          <a:stretch>
            <a:fillRect/>
          </a:stretch>
        </p:blipFill>
        <p:spPr>
          <a:xfrm>
            <a:off x="5878348" y="2370836"/>
            <a:ext cx="5654978" cy="1688096"/>
          </a:xfrm>
          <a:prstGeom prst="rect">
            <a:avLst/>
          </a:prstGeom>
        </p:spPr>
      </p:pic>
      <p:sp>
        <p:nvSpPr>
          <p:cNvPr id="24" name="TextBox 23"/>
          <p:cNvSpPr txBox="1"/>
          <p:nvPr/>
        </p:nvSpPr>
        <p:spPr>
          <a:xfrm>
            <a:off x="5878348" y="3943604"/>
            <a:ext cx="5654978" cy="822960"/>
          </a:xfrm>
          <a:prstGeom prst="rect">
            <a:avLst/>
          </a:prstGeom>
          <a:noFill/>
        </p:spPr>
        <p:txBody>
          <a:bodyPr wrap="square" anchor="t" lIns="0" rIns="0" tIns="0" bIns="0">
            <a:spAutoFit/>
          </a:bodyPr>
          <a:lstStyle/>
          <a:p>
            <a:pPr algn="l">
              <a:lnSpc>
                <a:spcPct val="136000"/>
              </a:lnSpc>
            </a:pPr>
            <a:r>
              <a:rPr sz="1060" b="0" i="0">
                <a:solidFill>
                  <a:srgbClr val="6C7683"/>
                </a:solidFill>
                <a:latin typeface="Segoe UI"/>
              </a:rPr>
              <a:t>Doubling the training history from 7 to 14 days almost halved the error, 16.02% → 8.70%. We then ran a full controller campaign with that better model: +6.72% average, but a confidence range from −3.32% to +18.21% that includes zero, −3.60% weighted by severity, and −22.98% on the worst day. Decision: stop before spending the compute.</a:t>
            </a:r>
          </a:p>
        </p:txBody>
      </p:sp>
      <p:sp>
        <p:nvSpPr>
          <p:cNvPr id="25" name="TextBox 24"/>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NEXT STEPS</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Forecasting</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02 · THE FORECASTER</a:t>
            </a:r>
          </a:p>
        </p:txBody>
      </p:sp>
      <p:sp>
        <p:nvSpPr>
          <p:cNvPr id="7" name="Rectangle 6"/>
          <p:cNvSpPr/>
          <p:nvPr/>
        </p:nvSpPr>
        <p:spPr>
          <a:xfrm>
            <a:off x="658368" y="1481328"/>
            <a:ext cx="5245455" cy="356616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45920"/>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FIX THE EVALUATION FIRST</a:t>
            </a:r>
          </a:p>
        </p:txBody>
      </p:sp>
      <p:sp>
        <p:nvSpPr>
          <p:cNvPr id="9" name="Rectangle 8"/>
          <p:cNvSpPr/>
          <p:nvPr/>
        </p:nvSpPr>
        <p:spPr>
          <a:xfrm>
            <a:off x="859536" y="200710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1938528"/>
            <a:ext cx="4660239" cy="280009"/>
          </a:xfrm>
          <a:prstGeom prst="rect">
            <a:avLst/>
          </a:prstGeom>
          <a:noFill/>
        </p:spPr>
        <p:txBody>
          <a:bodyPr wrap="square" anchor="t" lIns="0" rIns="0" tIns="0" bIns="0">
            <a:spAutoFit/>
          </a:bodyPr>
          <a:lstStyle/>
          <a:p>
            <a:pPr algn="l">
              <a:lnSpc>
                <a:spcPct val="128000"/>
              </a:lnSpc>
            </a:pPr>
            <a:r>
              <a:rPr sz="1160" b="1" i="0">
                <a:solidFill>
                  <a:srgbClr val="111721"/>
                </a:solidFill>
                <a:latin typeface="Segoe UI"/>
              </a:rPr>
              <a:t>Use the intended data split</a:t>
            </a:r>
          </a:p>
        </p:txBody>
      </p:sp>
      <p:sp>
        <p:nvSpPr>
          <p:cNvPr id="11" name="TextBox 10"/>
          <p:cNvSpPr txBox="1"/>
          <p:nvPr/>
        </p:nvSpPr>
        <p:spPr>
          <a:xfrm>
            <a:off x="1042415" y="2186533"/>
            <a:ext cx="4660239" cy="462432"/>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We used 70/15/15 instead of the specified weeks 1–11 / 12–13 / 14–16. A correctness fix, not a modelling change.</a:t>
            </a:r>
          </a:p>
        </p:txBody>
      </p:sp>
      <p:sp>
        <p:nvSpPr>
          <p:cNvPr id="12" name="Rectangle 11"/>
          <p:cNvSpPr/>
          <p:nvPr/>
        </p:nvSpPr>
        <p:spPr>
          <a:xfrm>
            <a:off x="859536" y="2694685"/>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9536" y="2854706"/>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2786126"/>
            <a:ext cx="4660239" cy="280009"/>
          </a:xfrm>
          <a:prstGeom prst="rect">
            <a:avLst/>
          </a:prstGeom>
          <a:noFill/>
        </p:spPr>
        <p:txBody>
          <a:bodyPr wrap="square" anchor="t" lIns="0" rIns="0" tIns="0" bIns="0">
            <a:spAutoFit/>
          </a:bodyPr>
          <a:lstStyle/>
          <a:p>
            <a:pPr algn="l">
              <a:lnSpc>
                <a:spcPct val="128000"/>
              </a:lnSpc>
            </a:pPr>
            <a:r>
              <a:rPr sz="1160" b="1" i="0">
                <a:solidFill>
                  <a:srgbClr val="111721"/>
                </a:solidFill>
                <a:latin typeface="Segoe UI"/>
              </a:rPr>
              <a:t>Report by situation as standard</a:t>
            </a:r>
          </a:p>
        </p:txBody>
      </p:sp>
      <p:sp>
        <p:nvSpPr>
          <p:cNvPr id="15" name="TextBox 14"/>
          <p:cNvSpPr txBox="1"/>
          <p:nvPr/>
        </p:nvSpPr>
        <p:spPr>
          <a:xfrm>
            <a:off x="1042415" y="3034131"/>
            <a:ext cx="4660239" cy="462432"/>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Normal, surge, reduced capacity, offline and delay windows each reported separately before anything is released.</a:t>
            </a:r>
          </a:p>
        </p:txBody>
      </p:sp>
      <p:sp>
        <p:nvSpPr>
          <p:cNvPr id="16" name="Rectangle 15"/>
          <p:cNvSpPr/>
          <p:nvPr/>
        </p:nvSpPr>
        <p:spPr>
          <a:xfrm>
            <a:off x="859536" y="3542284"/>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9536" y="3702303"/>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5" y="3633724"/>
            <a:ext cx="4660239" cy="280009"/>
          </a:xfrm>
          <a:prstGeom prst="rect">
            <a:avLst/>
          </a:prstGeom>
          <a:noFill/>
        </p:spPr>
        <p:txBody>
          <a:bodyPr wrap="square" anchor="t" lIns="0" rIns="0" tIns="0" bIns="0">
            <a:spAutoFit/>
          </a:bodyPr>
          <a:lstStyle/>
          <a:p>
            <a:pPr algn="l">
              <a:lnSpc>
                <a:spcPct val="128000"/>
              </a:lnSpc>
            </a:pPr>
            <a:r>
              <a:rPr sz="1160" b="1" i="0">
                <a:solidFill>
                  <a:srgbClr val="111721"/>
                </a:solidFill>
                <a:latin typeface="Segoe UI"/>
              </a:rPr>
              <a:t>Break the uplink/downlink link</a:t>
            </a:r>
          </a:p>
        </p:txBody>
      </p:sp>
      <p:sp>
        <p:nvSpPr>
          <p:cNvPr id="19" name="TextBox 18"/>
          <p:cNvSpPr txBox="1"/>
          <p:nvPr/>
        </p:nvSpPr>
        <p:spPr>
          <a:xfrm>
            <a:off x="1042415" y="3881729"/>
            <a:ext cx="4660239" cy="462432"/>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Give each session its own bandwidth so throughput prediction stops being a rescaled copy of session count.</a:t>
            </a:r>
          </a:p>
        </p:txBody>
      </p:sp>
      <p:sp>
        <p:nvSpPr>
          <p:cNvPr id="20" name="Rectangle 19"/>
          <p:cNvSpPr/>
          <p:nvPr/>
        </p:nvSpPr>
        <p:spPr>
          <a:xfrm>
            <a:off x="6287871" y="1481328"/>
            <a:ext cx="5245455" cy="4789627"/>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9039" y="1645920"/>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THEN IMPROVE THE MODELS</a:t>
            </a:r>
          </a:p>
        </p:txBody>
      </p:sp>
      <p:sp>
        <p:nvSpPr>
          <p:cNvPr id="22" name="Rectangle 21"/>
          <p:cNvSpPr/>
          <p:nvPr/>
        </p:nvSpPr>
        <p:spPr>
          <a:xfrm>
            <a:off x="6489039" y="200710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1919" y="1938528"/>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Add weekly memory</a:t>
            </a:r>
          </a:p>
        </p:txBody>
      </p:sp>
      <p:sp>
        <p:nvSpPr>
          <p:cNvPr id="24" name="TextBox 23"/>
          <p:cNvSpPr txBox="1"/>
          <p:nvPr/>
        </p:nvSpPr>
        <p:spPr>
          <a:xfrm>
            <a:off x="6671919" y="2183282"/>
            <a:ext cx="4660239" cy="637717"/>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A true one-week lag, multi-scale seasonal terms, rolling volatility, and features for events we already know are coming.</a:t>
            </a:r>
          </a:p>
        </p:txBody>
      </p:sp>
      <p:sp>
        <p:nvSpPr>
          <p:cNvPr id="25" name="Rectangle 24"/>
          <p:cNvSpPr/>
          <p:nvPr/>
        </p:nvSpPr>
        <p:spPr>
          <a:xfrm>
            <a:off x="6489039" y="2834716"/>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89039" y="2962732"/>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1919" y="2894152"/>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Pick the best model per group</a:t>
            </a:r>
          </a:p>
        </p:txBody>
      </p:sp>
      <p:sp>
        <p:nvSpPr>
          <p:cNvPr id="28" name="TextBox 27"/>
          <p:cNvSpPr txBox="1"/>
          <p:nvPr/>
        </p:nvSpPr>
        <p:spPr>
          <a:xfrm>
            <a:off x="6671919" y="3138906"/>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Choose ridge, seasonal or LightGBM for each group and horizon — decided on validation data, never on test.</a:t>
            </a:r>
          </a:p>
        </p:txBody>
      </p:sp>
      <p:sp>
        <p:nvSpPr>
          <p:cNvPr id="29" name="Rectangle 28"/>
          <p:cNvSpPr/>
          <p:nvPr/>
        </p:nvSpPr>
        <p:spPr>
          <a:xfrm>
            <a:off x="6489039" y="3608247"/>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89039" y="3736263"/>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1919" y="3667683"/>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Share information across groups</a:t>
            </a:r>
          </a:p>
        </p:txBody>
      </p:sp>
      <p:sp>
        <p:nvSpPr>
          <p:cNvPr id="32" name="TextBox 31"/>
          <p:cNvSpPr txBox="1"/>
          <p:nvPr/>
        </p:nvSpPr>
        <p:spPr>
          <a:xfrm>
            <a:off x="6671919" y="3912438"/>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Small groups have too little data alone. Pool them while keeping zone and service type distinguishable.</a:t>
            </a:r>
          </a:p>
        </p:txBody>
      </p:sp>
      <p:sp>
        <p:nvSpPr>
          <p:cNvPr id="33" name="Rectangle 32"/>
          <p:cNvSpPr/>
          <p:nvPr/>
        </p:nvSpPr>
        <p:spPr>
          <a:xfrm>
            <a:off x="6489039" y="4381779"/>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89039" y="4509795"/>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1919" y="4441215"/>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Go after the surge case directly</a:t>
            </a:r>
          </a:p>
        </p:txBody>
      </p:sp>
      <p:sp>
        <p:nvSpPr>
          <p:cNvPr id="36" name="TextBox 35"/>
          <p:cNvSpPr txBox="1"/>
          <p:nvPr/>
        </p:nvSpPr>
        <p:spPr>
          <a:xfrm>
            <a:off x="6671919" y="4685969"/>
            <a:ext cx="4660239" cy="637717"/>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30% coverage during surges is the binding problem. Event calendars and a faster-adapting bound beat any base-model upgrade.</a:t>
            </a:r>
          </a:p>
        </p:txBody>
      </p:sp>
      <p:sp>
        <p:nvSpPr>
          <p:cNvPr id="37" name="Rectangle 36"/>
          <p:cNvSpPr/>
          <p:nvPr/>
        </p:nvSpPr>
        <p:spPr>
          <a:xfrm>
            <a:off x="6489039" y="5337403"/>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89039" y="5465419"/>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1919" y="5396839"/>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Neural models last</a:t>
            </a:r>
          </a:p>
        </p:txBody>
      </p:sp>
      <p:sp>
        <p:nvSpPr>
          <p:cNvPr id="40" name="TextBox 39"/>
          <p:cNvSpPr txBox="1"/>
          <p:nvPr/>
        </p:nvSpPr>
        <p:spPr>
          <a:xfrm>
            <a:off x="6671919" y="5641593"/>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They add GPU cost and tuning effort, and will not fix a data-splitting or event-labelling problem.</a:t>
            </a:r>
          </a:p>
        </p:txBody>
      </p:sp>
      <p:sp>
        <p:nvSpPr>
          <p:cNvPr id="41" name="TextBox 40"/>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2212848"/>
            <a:ext cx="566928"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340864"/>
            <a:ext cx="914400" cy="274320"/>
          </a:xfrm>
          <a:prstGeom prst="rect">
            <a:avLst/>
          </a:prstGeom>
          <a:noFill/>
        </p:spPr>
        <p:txBody>
          <a:bodyPr wrap="square" anchor="t" lIns="0" rIns="0" tIns="0" bIns="0">
            <a:spAutoFit/>
          </a:bodyPr>
          <a:lstStyle/>
          <a:p>
            <a:pPr algn="l">
              <a:lnSpc>
                <a:spcPct val="100000"/>
              </a:lnSpc>
            </a:pPr>
            <a:r>
              <a:rPr sz="1200" b="1" i="0">
                <a:solidFill>
                  <a:srgbClr val="0F4C5C"/>
                </a:solidFill>
                <a:latin typeface="Consolas"/>
              </a:rPr>
              <a:t>03</a:t>
            </a:r>
          </a:p>
        </p:txBody>
      </p:sp>
      <p:sp>
        <p:nvSpPr>
          <p:cNvPr id="6" name="TextBox 5"/>
          <p:cNvSpPr txBox="1"/>
          <p:nvPr/>
        </p:nvSpPr>
        <p:spPr>
          <a:xfrm>
            <a:off x="1847088" y="2340864"/>
            <a:ext cx="10874959" cy="201168"/>
          </a:xfrm>
          <a:prstGeom prst="rect">
            <a:avLst/>
          </a:prstGeom>
          <a:noFill/>
        </p:spPr>
        <p:txBody>
          <a:bodyPr wrap="square" anchor="t" lIns="0" rIns="0" tIns="0" bIns="0">
            <a:spAutoFit/>
          </a:bodyPr>
          <a:lstStyle/>
          <a:p>
            <a:pPr algn="l">
              <a:lnSpc>
                <a:spcPct val="100000"/>
              </a:lnSpc>
            </a:pPr>
            <a:r>
              <a:rPr sz="1050" b="1" i="0">
                <a:solidFill>
                  <a:srgbClr val="6C7683"/>
                </a:solidFill>
                <a:latin typeface="Consolas"/>
              </a:rPr>
              <a:t>THE OPTIMIZER</a:t>
            </a:r>
          </a:p>
        </p:txBody>
      </p:sp>
      <p:sp>
        <p:nvSpPr>
          <p:cNvPr id="7" name="TextBox 6"/>
          <p:cNvSpPr txBox="1"/>
          <p:nvPr/>
        </p:nvSpPr>
        <p:spPr>
          <a:xfrm>
            <a:off x="1847088" y="2615184"/>
            <a:ext cx="9686239" cy="1005840"/>
          </a:xfrm>
          <a:prstGeom prst="rect">
            <a:avLst/>
          </a:prstGeom>
          <a:noFill/>
        </p:spPr>
        <p:txBody>
          <a:bodyPr wrap="square" anchor="t" lIns="0" rIns="0" tIns="0" bIns="0">
            <a:spAutoFit/>
          </a:bodyPr>
          <a:lstStyle/>
          <a:p>
            <a:pPr algn="l">
              <a:lnSpc>
                <a:spcPct val="106000"/>
              </a:lnSpc>
            </a:pPr>
            <a:r>
              <a:rPr sz="3600" b="0" i="0">
                <a:solidFill>
                  <a:srgbClr val="111721"/>
                </a:solidFill>
                <a:latin typeface="Georgia"/>
              </a:rPr>
              <a:t>Deciding where traffic goes — and when it genuinely helps</a:t>
            </a:r>
          </a:p>
        </p:txBody>
      </p:sp>
      <p:sp>
        <p:nvSpPr>
          <p:cNvPr id="8" name="TextBox 7"/>
          <p:cNvSpPr txBox="1"/>
          <p:nvPr/>
        </p:nvSpPr>
        <p:spPr>
          <a:xfrm>
            <a:off x="1847088" y="3749039"/>
            <a:ext cx="7748991" cy="1097280"/>
          </a:xfrm>
          <a:prstGeom prst="rect">
            <a:avLst/>
          </a:prstGeom>
          <a:noFill/>
        </p:spPr>
        <p:txBody>
          <a:bodyPr wrap="square" anchor="t" lIns="0" rIns="0" tIns="0" bIns="0">
            <a:spAutoFit/>
          </a:bodyPr>
          <a:lstStyle/>
          <a:p>
            <a:pPr algn="l">
              <a:lnSpc>
                <a:spcPct val="145000"/>
              </a:lnSpc>
            </a:pPr>
            <a:r>
              <a:rPr sz="1350" b="0" i="0">
                <a:solidFill>
                  <a:srgbClr val="3C4653"/>
                </a:solidFill>
                <a:latin typeface="Segoe UI"/>
              </a:rPr>
              <a:t>Experiments 1–6 show how the first designs failed. Experiment 7 records the evaluator audit and the corrected result: predictive steering wins for declared capacity loss, ties static on pure surprises, and remains shadow-only.</a:t>
            </a:r>
          </a:p>
        </p:txBody>
      </p:sp>
      <p:sp>
        <p:nvSpPr>
          <p:cNvPr id="9" name="TextBox 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THE CONSTRAINT</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Start with the lever</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The only thing a controller can change is the share of NEW sessions each box receives. Sessions already running stay where they are. That is not a simplification we chose — it reflects a genuinely open question about whether C-DOT's system can move a live session.</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pic>
        <p:nvPicPr>
          <p:cNvPr id="8" name="Picture 7" descr="c_ctrl.png"/>
          <p:cNvPicPr>
            <a:picLocks noChangeAspect="1"/>
          </p:cNvPicPr>
          <p:nvPr/>
        </p:nvPicPr>
        <p:blipFill>
          <a:blip r:embed="rId2"/>
          <a:stretch>
            <a:fillRect/>
          </a:stretch>
        </p:blipFill>
        <p:spPr>
          <a:xfrm>
            <a:off x="658368" y="2513838"/>
            <a:ext cx="7177473" cy="2365597"/>
          </a:xfrm>
          <a:prstGeom prst="rect">
            <a:avLst/>
          </a:prstGeom>
        </p:spPr>
      </p:pic>
      <p:sp>
        <p:nvSpPr>
          <p:cNvPr id="9" name="Rectangle 8"/>
          <p:cNvSpPr/>
          <p:nvPr/>
        </p:nvSpPr>
        <p:spPr>
          <a:xfrm>
            <a:off x="8597088" y="258241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9968" y="2513838"/>
            <a:ext cx="2753358"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Read it like this</a:t>
            </a:r>
          </a:p>
        </p:txBody>
      </p:sp>
      <p:sp>
        <p:nvSpPr>
          <p:cNvPr id="11" name="TextBox 10"/>
          <p:cNvSpPr txBox="1"/>
          <p:nvPr/>
        </p:nvSpPr>
        <p:spPr>
          <a:xfrm>
            <a:off x="8779968" y="2755341"/>
            <a:ext cx="2753358" cy="627507"/>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Columns are how much warning we get. Rows are how long an average session lasts.</a:t>
            </a:r>
          </a:p>
        </p:txBody>
      </p:sp>
      <p:sp>
        <p:nvSpPr>
          <p:cNvPr id="12" name="Rectangle 11"/>
          <p:cNvSpPr/>
          <p:nvPr/>
        </p:nvSpPr>
        <p:spPr>
          <a:xfrm>
            <a:off x="8597088" y="3419424"/>
            <a:ext cx="293623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97088" y="3570300"/>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9968" y="3501720"/>
            <a:ext cx="2753358"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The realistic corner</a:t>
            </a:r>
          </a:p>
        </p:txBody>
      </p:sp>
      <p:sp>
        <p:nvSpPr>
          <p:cNvPr id="15" name="TextBox 14"/>
          <p:cNvSpPr txBox="1"/>
          <p:nvPr/>
        </p:nvSpPr>
        <p:spPr>
          <a:xfrm>
            <a:off x="8779968" y="3743223"/>
            <a:ext cx="2753358" cy="627507"/>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10 minutes of warning, 4-hour sessions → only 1.6% of load is still movable.</a:t>
            </a:r>
          </a:p>
        </p:txBody>
      </p:sp>
      <p:sp>
        <p:nvSpPr>
          <p:cNvPr id="16" name="Rectangle 15"/>
          <p:cNvSpPr/>
          <p:nvPr/>
        </p:nvSpPr>
        <p:spPr>
          <a:xfrm>
            <a:off x="8597088" y="4407306"/>
            <a:ext cx="293623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97088" y="4558182"/>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9968" y="4489602"/>
            <a:ext cx="2753358"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Measured on a real test day</a:t>
            </a:r>
          </a:p>
        </p:txBody>
      </p:sp>
      <p:sp>
        <p:nvSpPr>
          <p:cNvPr id="19" name="TextBox 18"/>
          <p:cNvSpPr txBox="1"/>
          <p:nvPr/>
        </p:nvSpPr>
        <p:spPr>
          <a:xfrm>
            <a:off x="8779968" y="4731105"/>
            <a:ext cx="2753358" cy="627507"/>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3.4% of uplink and 2.7% of downlink traffic was steerable at decision time.</a:t>
            </a:r>
          </a:p>
        </p:txBody>
      </p:sp>
      <p:sp>
        <p:nvSpPr>
          <p:cNvPr id="20" name="Rectangle 19"/>
          <p:cNvSpPr/>
          <p:nvPr/>
        </p:nvSpPr>
        <p:spPr>
          <a:xfrm>
            <a:off x="8597088" y="5395188"/>
            <a:ext cx="293623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97088" y="5546064"/>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9968" y="5477484"/>
            <a:ext cx="2753358"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The consequence</a:t>
            </a:r>
          </a:p>
        </p:txBody>
      </p:sp>
      <p:sp>
        <p:nvSpPr>
          <p:cNvPr id="23" name="TextBox 22"/>
          <p:cNvSpPr txBox="1"/>
          <p:nvPr/>
        </p:nvSpPr>
        <p:spPr>
          <a:xfrm>
            <a:off x="8779968" y="5718987"/>
            <a:ext cx="2753358" cy="627507"/>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No amount of clever optimisation recovers leverage the lever does not have.</a:t>
            </a:r>
          </a:p>
        </p:txBody>
      </p:sp>
      <p:sp>
        <p:nvSpPr>
          <p:cNvPr id="24" name="Rectangle 23"/>
          <p:cNvSpPr/>
          <p:nvPr/>
        </p:nvSpPr>
        <p:spPr>
          <a:xfrm>
            <a:off x="658368" y="4927854"/>
            <a:ext cx="10874959" cy="117043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4927854"/>
            <a:ext cx="34747" cy="1170432"/>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5074158"/>
            <a:ext cx="10417759" cy="201168"/>
          </a:xfrm>
          <a:prstGeom prst="rect">
            <a:avLst/>
          </a:prstGeom>
          <a:noFill/>
        </p:spPr>
        <p:txBody>
          <a:bodyPr wrap="square" anchor="t" lIns="0" rIns="0" tIns="0" bIns="0">
            <a:spAutoFit/>
          </a:bodyPr>
          <a:lstStyle/>
          <a:p>
            <a:pPr algn="l">
              <a:lnSpc>
                <a:spcPct val="100000"/>
              </a:lnSpc>
            </a:pPr>
            <a:r>
              <a:rPr sz="950" b="1" i="0">
                <a:solidFill>
                  <a:srgbClr val="9C3B35"/>
                </a:solidFill>
                <a:latin typeface="Consolas"/>
              </a:rPr>
              <a:t>THE AIRPORT OUTAGE, IN ONE NUMBER</a:t>
            </a:r>
          </a:p>
        </p:txBody>
      </p:sp>
      <p:sp>
        <p:nvSpPr>
          <p:cNvPr id="27" name="TextBox 26"/>
          <p:cNvSpPr txBox="1"/>
          <p:nvPr/>
        </p:nvSpPr>
        <p:spPr>
          <a:xfrm>
            <a:off x="896112" y="5330190"/>
            <a:ext cx="10372039" cy="713232"/>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One box went almost completely offline. That single event caused 103 965 of the controller's 105 181 total overload — 98.8% of it. All that traffic was already attached to the failed box, and a new-session-only lever cannot move it. Whatever the optimizer does with the remaining 1.2% simply cannot add up to a 20% improvement.</a:t>
            </a:r>
          </a:p>
        </p:txBody>
      </p:sp>
      <p:sp>
        <p:nvSpPr>
          <p:cNvPr id="28" name="TextBox 27"/>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PLAIN ENGLISH · OPTIMIZER</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The optimizer chooses percentages—not individual users</a:t>
            </a:r>
          </a:p>
        </p:txBody>
      </p:sp>
      <p:sp>
        <p:nvSpPr>
          <p:cNvPr id="5" name="TextBox 4"/>
          <p:cNvSpPr txBox="1"/>
          <p:nvPr/>
        </p:nvSpPr>
        <p:spPr>
          <a:xfrm>
            <a:off x="658368" y="1417320"/>
            <a:ext cx="10872216" cy="475488"/>
          </a:xfrm>
          <a:prstGeom prst="rect">
            <a:avLst/>
          </a:prstGeom>
          <a:noFill/>
        </p:spPr>
        <p:txBody>
          <a:bodyPr wrap="square" lIns="0" rIns="0" tIns="0" bIns="0" anchor="t">
            <a:spAutoFit/>
          </a:bodyPr>
          <a:lstStyle/>
          <a:p>
            <a:pPr algn="l">
              <a:lnSpc>
                <a:spcPct val="120000"/>
              </a:lnSpc>
            </a:pPr>
            <a:r>
              <a:rPr sz="1250" b="0">
                <a:solidFill>
                  <a:srgbClr val="3C4653"/>
                </a:solidFill>
                <a:latin typeface="Segoe UI"/>
              </a:rPr>
              <a:t>For every traffic group it answers one bounded question: what share of new sessions should each eligible UPF receive?</a:t>
            </a:r>
          </a:p>
        </p:txBody>
      </p:sp>
      <p:sp>
        <p:nvSpPr>
          <p:cNvPr id="6" name="Rectangle 5"/>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03 · THE OPTIMIZER</a:t>
            </a:r>
          </a:p>
        </p:txBody>
      </p:sp>
      <p:sp>
        <p:nvSpPr>
          <p:cNvPr id="8" name="TextBox 7"/>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45</a:t>
            </a:r>
          </a:p>
        </p:txBody>
      </p:sp>
      <p:sp>
        <p:nvSpPr>
          <p:cNvPr id="9" name="Rectangle 8"/>
          <p:cNvSpPr/>
          <p:nvPr/>
        </p:nvSpPr>
        <p:spPr>
          <a:xfrm>
            <a:off x="658368" y="2011680"/>
            <a:ext cx="3401568" cy="3182112"/>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011680"/>
            <a:ext cx="45720" cy="3182112"/>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2157984"/>
            <a:ext cx="2999232" cy="182880"/>
          </a:xfrm>
          <a:prstGeom prst="rect">
            <a:avLst/>
          </a:prstGeom>
          <a:noFill/>
        </p:spPr>
        <p:txBody>
          <a:bodyPr wrap="square" lIns="0" rIns="0" tIns="0" bIns="0" anchor="t">
            <a:spAutoFit/>
          </a:bodyPr>
          <a:lstStyle/>
          <a:p>
            <a:pPr algn="l">
              <a:lnSpc>
                <a:spcPct val="100000"/>
              </a:lnSpc>
            </a:pPr>
            <a:r>
              <a:rPr sz="880" b="1">
                <a:solidFill>
                  <a:srgbClr val="0F4C5C"/>
                </a:solidFill>
                <a:latin typeface="Consolas"/>
              </a:rPr>
              <a:t>DECISION VARIABLES</a:t>
            </a:r>
          </a:p>
        </p:txBody>
      </p:sp>
      <p:sp>
        <p:nvSpPr>
          <p:cNvPr id="12" name="TextBox 11"/>
          <p:cNvSpPr txBox="1"/>
          <p:nvPr/>
        </p:nvSpPr>
        <p:spPr>
          <a:xfrm>
            <a:off x="859536" y="2404872"/>
            <a:ext cx="2999232" cy="310896"/>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The numbers it may change</a:t>
            </a:r>
          </a:p>
        </p:txBody>
      </p:sp>
      <p:sp>
        <p:nvSpPr>
          <p:cNvPr id="13" name="TextBox 12"/>
          <p:cNvSpPr txBox="1"/>
          <p:nvPr/>
        </p:nvSpPr>
        <p:spPr>
          <a:xfrm>
            <a:off x="859536" y="2770632"/>
            <a:ext cx="2999232" cy="2286000"/>
          </a:xfrm>
          <a:prstGeom prst="rect">
            <a:avLst/>
          </a:prstGeom>
          <a:noFill/>
        </p:spPr>
        <p:txBody>
          <a:bodyPr wrap="square" lIns="0" rIns="0" tIns="0" bIns="0" anchor="t">
            <a:spAutoFit/>
          </a:bodyPr>
          <a:lstStyle/>
          <a:p>
            <a:pPr algn="l">
              <a:lnSpc>
                <a:spcPct val="116000"/>
              </a:lnSpc>
            </a:pPr>
            <a:r>
              <a:rPr sz="1080" b="0">
                <a:solidFill>
                  <a:srgbClr val="3C4653"/>
                </a:solidFill>
                <a:latin typeface="Segoe UI"/>
              </a:rPr>
              <a:t>Routing weights such as 20%, 30% and 50%. They must be non-negative and add to 100% for every traffic group.</a:t>
            </a:r>
          </a:p>
        </p:txBody>
      </p:sp>
      <p:sp>
        <p:nvSpPr>
          <p:cNvPr id="14" name="Rectangle 13"/>
          <p:cNvSpPr/>
          <p:nvPr/>
        </p:nvSpPr>
        <p:spPr>
          <a:xfrm>
            <a:off x="4407408" y="2011680"/>
            <a:ext cx="3401568" cy="3182112"/>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07408" y="2011680"/>
            <a:ext cx="45720" cy="3182112"/>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08576" y="2157984"/>
            <a:ext cx="2999232" cy="182880"/>
          </a:xfrm>
          <a:prstGeom prst="rect">
            <a:avLst/>
          </a:prstGeom>
          <a:noFill/>
        </p:spPr>
        <p:txBody>
          <a:bodyPr wrap="square" lIns="0" rIns="0" tIns="0" bIns="0" anchor="t">
            <a:spAutoFit/>
          </a:bodyPr>
          <a:lstStyle/>
          <a:p>
            <a:pPr algn="l">
              <a:lnSpc>
                <a:spcPct val="100000"/>
              </a:lnSpc>
            </a:pPr>
            <a:r>
              <a:rPr sz="880" b="1">
                <a:solidFill>
                  <a:srgbClr val="B5761F"/>
                </a:solidFill>
                <a:latin typeface="Consolas"/>
              </a:rPr>
              <a:t>OBJECTIVE</a:t>
            </a:r>
          </a:p>
        </p:txBody>
      </p:sp>
      <p:sp>
        <p:nvSpPr>
          <p:cNvPr id="17" name="TextBox 16"/>
          <p:cNvSpPr txBox="1"/>
          <p:nvPr/>
        </p:nvSpPr>
        <p:spPr>
          <a:xfrm>
            <a:off x="4608576" y="2404872"/>
            <a:ext cx="2999232" cy="310896"/>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What 'better' means</a:t>
            </a:r>
          </a:p>
        </p:txBody>
      </p:sp>
      <p:sp>
        <p:nvSpPr>
          <p:cNvPr id="18" name="TextBox 17"/>
          <p:cNvSpPr txBox="1"/>
          <p:nvPr/>
        </p:nvSpPr>
        <p:spPr>
          <a:xfrm>
            <a:off x="4608576" y="2770632"/>
            <a:ext cx="2999232" cy="2286000"/>
          </a:xfrm>
          <a:prstGeom prst="rect">
            <a:avLst/>
          </a:prstGeom>
          <a:noFill/>
        </p:spPr>
        <p:txBody>
          <a:bodyPr wrap="square" lIns="0" rIns="0" tIns="0" bIns="0" anchor="t">
            <a:spAutoFit/>
          </a:bodyPr>
          <a:lstStyle/>
          <a:p>
            <a:pPr algn="l">
              <a:lnSpc>
                <a:spcPct val="116000"/>
              </a:lnSpc>
            </a:pPr>
            <a:r>
              <a:rPr sz="1080" b="0">
                <a:solidFill>
                  <a:srgbClr val="3C4653"/>
                </a:solidFill>
                <a:latin typeface="Segoe UI"/>
              </a:rPr>
              <a:t>First avoid overload. Then reduce cross-zone delay and routing churn. Penalties express priorities; they do not remove safety constraints.</a:t>
            </a:r>
          </a:p>
        </p:txBody>
      </p:sp>
      <p:sp>
        <p:nvSpPr>
          <p:cNvPr id="19" name="Rectangle 18"/>
          <p:cNvSpPr/>
          <p:nvPr/>
        </p:nvSpPr>
        <p:spPr>
          <a:xfrm>
            <a:off x="8156448" y="2011680"/>
            <a:ext cx="3374136" cy="3182112"/>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56448" y="2011680"/>
            <a:ext cx="45720" cy="318211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57616" y="2157984"/>
            <a:ext cx="2971800" cy="182880"/>
          </a:xfrm>
          <a:prstGeom prst="rect">
            <a:avLst/>
          </a:prstGeom>
          <a:noFill/>
        </p:spPr>
        <p:txBody>
          <a:bodyPr wrap="square" lIns="0" rIns="0" tIns="0" bIns="0" anchor="t">
            <a:spAutoFit/>
          </a:bodyPr>
          <a:lstStyle/>
          <a:p>
            <a:pPr algn="l">
              <a:lnSpc>
                <a:spcPct val="100000"/>
              </a:lnSpc>
            </a:pPr>
            <a:r>
              <a:rPr sz="880" b="1">
                <a:solidFill>
                  <a:srgbClr val="2E7D5B"/>
                </a:solidFill>
                <a:latin typeface="Consolas"/>
              </a:rPr>
              <a:t>CONSTRAINTS</a:t>
            </a:r>
          </a:p>
        </p:txBody>
      </p:sp>
      <p:sp>
        <p:nvSpPr>
          <p:cNvPr id="22" name="TextBox 21"/>
          <p:cNvSpPr txBox="1"/>
          <p:nvPr/>
        </p:nvSpPr>
        <p:spPr>
          <a:xfrm>
            <a:off x="8357616" y="2404872"/>
            <a:ext cx="2971800" cy="310896"/>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Rules it cannot break</a:t>
            </a:r>
          </a:p>
        </p:txBody>
      </p:sp>
      <p:sp>
        <p:nvSpPr>
          <p:cNvPr id="23" name="TextBox 22"/>
          <p:cNvSpPr txBox="1"/>
          <p:nvPr/>
        </p:nvSpPr>
        <p:spPr>
          <a:xfrm>
            <a:off x="8357616" y="2770632"/>
            <a:ext cx="2971800" cy="2286000"/>
          </a:xfrm>
          <a:prstGeom prst="rect">
            <a:avLst/>
          </a:prstGeom>
          <a:noFill/>
        </p:spPr>
        <p:txBody>
          <a:bodyPr wrap="square" lIns="0" rIns="0" tIns="0" bIns="0" anchor="t">
            <a:spAutoFit/>
          </a:bodyPr>
          <a:lstStyle/>
          <a:p>
            <a:pPr algn="l">
              <a:lnSpc>
                <a:spcPct val="116000"/>
              </a:lnSpc>
            </a:pPr>
            <a:r>
              <a:rPr sz="1080" b="0">
                <a:solidFill>
                  <a:srgbClr val="3C4653"/>
                </a:solidFill>
                <a:latin typeface="Segoe UI"/>
              </a:rPr>
              <a:t>UPF capacity, session limits, eligibility, health, delay and anchored sessions. An independent validator checks the proposed policy again.</a:t>
            </a:r>
          </a:p>
        </p:txBody>
      </p:sp>
      <p:sp>
        <p:nvSpPr>
          <p:cNvPr id="24" name="Rectangle 23"/>
          <p:cNvSpPr/>
          <p:nvPr/>
        </p:nvSpPr>
        <p:spPr>
          <a:xfrm>
            <a:off x="658368" y="5431536"/>
            <a:ext cx="10872216" cy="658368"/>
          </a:xfrm>
          <a:prstGeom prst="rect">
            <a:avLst/>
          </a:prstGeom>
          <a:solidFill>
            <a:srgbClr val="EC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5532120"/>
            <a:ext cx="10469880" cy="384048"/>
          </a:xfrm>
          <a:prstGeom prst="rect">
            <a:avLst/>
          </a:prstGeom>
          <a:noFill/>
        </p:spPr>
        <p:txBody>
          <a:bodyPr wrap="square" lIns="0" rIns="0" tIns="0" bIns="0" anchor="t">
            <a:spAutoFit/>
          </a:bodyPr>
          <a:lstStyle/>
          <a:p>
            <a:pPr algn="ctr">
              <a:lnSpc>
                <a:spcPct val="100000"/>
              </a:lnSpc>
            </a:pPr>
            <a:r>
              <a:rPr sz="1140" b="1">
                <a:solidFill>
                  <a:srgbClr val="0F4C5C"/>
                </a:solidFill>
                <a:latin typeface="Segoe UI"/>
              </a:rPr>
              <a:t>The LP looks one step ahead. MPC repeats the same idea across several future steps, acts only on the first, then solves again with fresh data.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THE CANDIDATES</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Seven controllers</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sp>
        <p:nvSpPr>
          <p:cNvPr id="7" name="Rectangle 6"/>
          <p:cNvSpPr/>
          <p:nvPr/>
        </p:nvSpPr>
        <p:spPr>
          <a:xfrm>
            <a:off x="658368" y="1554480"/>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632204"/>
            <a:ext cx="2010399"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CONTROLLER</a:t>
            </a:r>
          </a:p>
        </p:txBody>
      </p:sp>
      <p:sp>
        <p:nvSpPr>
          <p:cNvPr id="9" name="TextBox 8"/>
          <p:cNvSpPr txBox="1"/>
          <p:nvPr/>
        </p:nvSpPr>
        <p:spPr>
          <a:xfrm>
            <a:off x="2915655" y="1632204"/>
            <a:ext cx="6577882"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HOW IT WORKS</a:t>
            </a:r>
          </a:p>
        </p:txBody>
      </p:sp>
      <p:sp>
        <p:nvSpPr>
          <p:cNvPr id="10" name="TextBox 9"/>
          <p:cNvSpPr txBox="1"/>
          <p:nvPr/>
        </p:nvSpPr>
        <p:spPr>
          <a:xfrm>
            <a:off x="9658130" y="1632204"/>
            <a:ext cx="1792900"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STATUS</a:t>
            </a:r>
          </a:p>
        </p:txBody>
      </p:sp>
      <p:sp>
        <p:nvSpPr>
          <p:cNvPr id="11" name="Rectangle 10"/>
          <p:cNvSpPr/>
          <p:nvPr/>
        </p:nvSpPr>
        <p:spPr>
          <a:xfrm>
            <a:off x="658368" y="1828800"/>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1828800"/>
            <a:ext cx="10874959" cy="297180"/>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1879092"/>
            <a:ext cx="2010399" cy="24231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Simple (static)</a:t>
            </a:r>
          </a:p>
        </p:txBody>
      </p:sp>
      <p:sp>
        <p:nvSpPr>
          <p:cNvPr id="14" name="TextBox 13"/>
          <p:cNvSpPr txBox="1"/>
          <p:nvPr/>
        </p:nvSpPr>
        <p:spPr>
          <a:xfrm>
            <a:off x="2915655" y="1879092"/>
            <a:ext cx="6577882" cy="24231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Split traffic in proportion to each healthy box's capacity. No forecast, no memory.</a:t>
            </a:r>
          </a:p>
        </p:txBody>
      </p:sp>
      <p:sp>
        <p:nvSpPr>
          <p:cNvPr id="15" name="TextBox 14"/>
          <p:cNvSpPr txBox="1"/>
          <p:nvPr/>
        </p:nvSpPr>
        <p:spPr>
          <a:xfrm>
            <a:off x="9658130" y="1879092"/>
            <a:ext cx="1792900" cy="24231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REFERENCE DEFAULT</a:t>
            </a:r>
          </a:p>
        </p:txBody>
      </p:sp>
      <p:sp>
        <p:nvSpPr>
          <p:cNvPr id="16" name="Rectangle 15"/>
          <p:cNvSpPr/>
          <p:nvPr/>
        </p:nvSpPr>
        <p:spPr>
          <a:xfrm>
            <a:off x="658368" y="212598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2125980"/>
            <a:ext cx="10874959"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2176272"/>
            <a:ext cx="2010399" cy="24231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Reactive</a:t>
            </a:r>
          </a:p>
        </p:txBody>
      </p:sp>
      <p:sp>
        <p:nvSpPr>
          <p:cNvPr id="19" name="TextBox 18"/>
          <p:cNvSpPr txBox="1"/>
          <p:nvPr/>
        </p:nvSpPr>
        <p:spPr>
          <a:xfrm>
            <a:off x="2915655" y="2176272"/>
            <a:ext cx="6577882" cy="24231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When a box gets busy, send less traffic to it.</a:t>
            </a:r>
          </a:p>
        </p:txBody>
      </p:sp>
      <p:sp>
        <p:nvSpPr>
          <p:cNvPr id="20" name="TextBox 19"/>
          <p:cNvSpPr txBox="1"/>
          <p:nvPr/>
        </p:nvSpPr>
        <p:spPr>
          <a:xfrm>
            <a:off x="9658130" y="2176272"/>
            <a:ext cx="1792900" cy="24231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Comparison</a:t>
            </a:r>
          </a:p>
        </p:txBody>
      </p:sp>
      <p:sp>
        <p:nvSpPr>
          <p:cNvPr id="21" name="Rectangle 20"/>
          <p:cNvSpPr/>
          <p:nvPr/>
        </p:nvSpPr>
        <p:spPr>
          <a:xfrm>
            <a:off x="658368" y="242316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2473452"/>
            <a:ext cx="2010399" cy="24231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Forecast capacity</a:t>
            </a:r>
          </a:p>
        </p:txBody>
      </p:sp>
      <p:sp>
        <p:nvSpPr>
          <p:cNvPr id="23" name="TextBox 22"/>
          <p:cNvSpPr txBox="1"/>
          <p:nvPr/>
        </p:nvSpPr>
        <p:spPr>
          <a:xfrm>
            <a:off x="2915655" y="2473452"/>
            <a:ext cx="6577882" cy="24231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Simple rule, but adjust each box's headroom using the forecast.</a:t>
            </a:r>
          </a:p>
        </p:txBody>
      </p:sp>
      <p:sp>
        <p:nvSpPr>
          <p:cNvPr id="24" name="TextBox 23"/>
          <p:cNvSpPr txBox="1"/>
          <p:nvPr/>
        </p:nvSpPr>
        <p:spPr>
          <a:xfrm>
            <a:off x="9658130" y="2473452"/>
            <a:ext cx="1792900" cy="24231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Comparison</a:t>
            </a:r>
          </a:p>
        </p:txBody>
      </p:sp>
      <p:sp>
        <p:nvSpPr>
          <p:cNvPr id="25" name="Rectangle 24"/>
          <p:cNvSpPr/>
          <p:nvPr/>
        </p:nvSpPr>
        <p:spPr>
          <a:xfrm>
            <a:off x="658368" y="272034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2720340"/>
            <a:ext cx="10874959"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 y="2770632"/>
            <a:ext cx="2010399" cy="24231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Linear program</a:t>
            </a:r>
          </a:p>
        </p:txBody>
      </p:sp>
      <p:sp>
        <p:nvSpPr>
          <p:cNvPr id="28" name="TextBox 27"/>
          <p:cNvSpPr txBox="1"/>
          <p:nvPr/>
        </p:nvSpPr>
        <p:spPr>
          <a:xfrm>
            <a:off x="2915655" y="2770632"/>
            <a:ext cx="6577882" cy="24231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Solve for the best split right now, given predicted demand and all capacity limits.</a:t>
            </a:r>
          </a:p>
        </p:txBody>
      </p:sp>
      <p:sp>
        <p:nvSpPr>
          <p:cNvPr id="29" name="TextBox 28"/>
          <p:cNvSpPr txBox="1"/>
          <p:nvPr/>
        </p:nvSpPr>
        <p:spPr>
          <a:xfrm>
            <a:off x="9658130" y="2770632"/>
            <a:ext cx="1792900" cy="242316"/>
          </a:xfrm>
          <a:prstGeom prst="rect">
            <a:avLst/>
          </a:prstGeom>
          <a:noFill/>
        </p:spPr>
        <p:txBody>
          <a:bodyPr wrap="square" anchor="t" lIns="0" rIns="0" tIns="0" bIns="0">
            <a:spAutoFit/>
          </a:bodyPr>
          <a:lstStyle/>
          <a:p>
            <a:pPr algn="r">
              <a:lnSpc>
                <a:spcPct val="112000"/>
              </a:lnSpc>
            </a:pPr>
            <a:r>
              <a:rPr sz="960" b="0" i="0">
                <a:solidFill>
                  <a:srgbClr val="B5761F"/>
                </a:solidFill>
                <a:latin typeface="Consolas"/>
              </a:rPr>
              <a:t>Tested</a:t>
            </a:r>
          </a:p>
        </p:txBody>
      </p:sp>
      <p:sp>
        <p:nvSpPr>
          <p:cNvPr id="30" name="Rectangle 29"/>
          <p:cNvSpPr/>
          <p:nvPr/>
        </p:nvSpPr>
        <p:spPr>
          <a:xfrm>
            <a:off x="658368" y="301752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 y="3067812"/>
            <a:ext cx="2010399" cy="24231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Cohort MPC</a:t>
            </a:r>
          </a:p>
        </p:txBody>
      </p:sp>
      <p:sp>
        <p:nvSpPr>
          <p:cNvPr id="32" name="TextBox 31"/>
          <p:cNvSpPr txBox="1"/>
          <p:nvPr/>
        </p:nvSpPr>
        <p:spPr>
          <a:xfrm>
            <a:off x="2915655" y="3067812"/>
            <a:ext cx="6577882" cy="24231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Plan two hours ahead. Track which sessions are running, when they end, what failures are coming.</a:t>
            </a:r>
          </a:p>
        </p:txBody>
      </p:sp>
      <p:sp>
        <p:nvSpPr>
          <p:cNvPr id="33" name="TextBox 32"/>
          <p:cNvSpPr txBox="1"/>
          <p:nvPr/>
        </p:nvSpPr>
        <p:spPr>
          <a:xfrm>
            <a:off x="9658130" y="3067812"/>
            <a:ext cx="1792900" cy="242316"/>
          </a:xfrm>
          <a:prstGeom prst="rect">
            <a:avLst/>
          </a:prstGeom>
          <a:noFill/>
        </p:spPr>
        <p:txBody>
          <a:bodyPr wrap="square" anchor="t" lIns="0" rIns="0" tIns="0" bIns="0">
            <a:spAutoFit/>
          </a:bodyPr>
          <a:lstStyle/>
          <a:p>
            <a:pPr algn="r">
              <a:lnSpc>
                <a:spcPct val="112000"/>
              </a:lnSpc>
            </a:pPr>
            <a:r>
              <a:rPr sz="960" b="0" i="0">
                <a:solidFill>
                  <a:srgbClr val="B5761F"/>
                </a:solidFill>
                <a:latin typeface="Consolas"/>
              </a:rPr>
              <a:t>Shadow only</a:t>
            </a:r>
          </a:p>
        </p:txBody>
      </p:sp>
      <p:sp>
        <p:nvSpPr>
          <p:cNvPr id="34" name="Rectangle 33"/>
          <p:cNvSpPr/>
          <p:nvPr/>
        </p:nvSpPr>
        <p:spPr>
          <a:xfrm>
            <a:off x="658368" y="331470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3314700"/>
            <a:ext cx="10874959"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 y="3364992"/>
            <a:ext cx="2010399" cy="24231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Pre-drain</a:t>
            </a:r>
          </a:p>
        </p:txBody>
      </p:sp>
      <p:sp>
        <p:nvSpPr>
          <p:cNvPr id="37" name="TextBox 36"/>
          <p:cNvSpPr txBox="1"/>
          <p:nvPr/>
        </p:nvSpPr>
        <p:spPr>
          <a:xfrm>
            <a:off x="2915655" y="3364992"/>
            <a:ext cx="6577882" cy="24231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When we know a box is about to lose capacity, stop sending it new sessions in advance.</a:t>
            </a:r>
          </a:p>
        </p:txBody>
      </p:sp>
      <p:sp>
        <p:nvSpPr>
          <p:cNvPr id="38" name="TextBox 37"/>
          <p:cNvSpPr txBox="1"/>
          <p:nvPr/>
        </p:nvSpPr>
        <p:spPr>
          <a:xfrm>
            <a:off x="9658130" y="3364992"/>
            <a:ext cx="1792900" cy="242316"/>
          </a:xfrm>
          <a:prstGeom prst="rect">
            <a:avLst/>
          </a:prstGeom>
          <a:noFill/>
        </p:spPr>
        <p:txBody>
          <a:bodyPr wrap="square" anchor="t" lIns="0" rIns="0" tIns="0" bIns="0">
            <a:spAutoFit/>
          </a:bodyPr>
          <a:lstStyle/>
          <a:p>
            <a:pPr algn="r">
              <a:lnSpc>
                <a:spcPct val="112000"/>
              </a:lnSpc>
            </a:pPr>
            <a:r>
              <a:rPr sz="960" b="0" i="0">
                <a:solidFill>
                  <a:srgbClr val="B5761F"/>
                </a:solidFill>
                <a:latin typeface="Consolas"/>
              </a:rPr>
              <a:t>Shadow only</a:t>
            </a:r>
          </a:p>
        </p:txBody>
      </p:sp>
      <p:sp>
        <p:nvSpPr>
          <p:cNvPr id="39" name="Rectangle 38"/>
          <p:cNvSpPr/>
          <p:nvPr/>
        </p:nvSpPr>
        <p:spPr>
          <a:xfrm>
            <a:off x="658368" y="361188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0664" y="3662172"/>
            <a:ext cx="2010399" cy="24231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Oracle</a:t>
            </a:r>
          </a:p>
        </p:txBody>
      </p:sp>
      <p:sp>
        <p:nvSpPr>
          <p:cNvPr id="41" name="TextBox 40"/>
          <p:cNvSpPr txBox="1"/>
          <p:nvPr/>
        </p:nvSpPr>
        <p:spPr>
          <a:xfrm>
            <a:off x="2915655" y="3662172"/>
            <a:ext cx="6577882" cy="242316"/>
          </a:xfrm>
          <a:prstGeom prst="rect">
            <a:avLst/>
          </a:prstGeom>
          <a:noFill/>
        </p:spPr>
        <p:txBody>
          <a:bodyPr wrap="square" anchor="t" lIns="0" rIns="0" tIns="0" bIns="0">
            <a:spAutoFit/>
          </a:bodyPr>
          <a:lstStyle/>
          <a:p>
            <a:pPr algn="l">
              <a:lnSpc>
                <a:spcPct val="112000"/>
              </a:lnSpc>
            </a:pPr>
            <a:r>
              <a:rPr sz="960" b="0" i="0">
                <a:solidFill>
                  <a:srgbClr val="3C4653"/>
                </a:solidFill>
                <a:latin typeface="Segoe UI"/>
              </a:rPr>
              <a:t>Knows the whole day in advance. Solves the entire day at once.</a:t>
            </a:r>
          </a:p>
        </p:txBody>
      </p:sp>
      <p:sp>
        <p:nvSpPr>
          <p:cNvPr id="42" name="TextBox 41"/>
          <p:cNvSpPr txBox="1"/>
          <p:nvPr/>
        </p:nvSpPr>
        <p:spPr>
          <a:xfrm>
            <a:off x="9658130" y="3662172"/>
            <a:ext cx="1792900" cy="242316"/>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NOT DEPLOYABLE</a:t>
            </a:r>
          </a:p>
        </p:txBody>
      </p:sp>
      <p:sp>
        <p:nvSpPr>
          <p:cNvPr id="43" name="Rectangle 42"/>
          <p:cNvSpPr/>
          <p:nvPr/>
        </p:nvSpPr>
        <p:spPr>
          <a:xfrm>
            <a:off x="658368" y="390906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 y="1554480"/>
            <a:ext cx="10874959" cy="2354580"/>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58368" y="3950208"/>
            <a:ext cx="10874959" cy="158496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58368" y="3950208"/>
            <a:ext cx="34747" cy="15849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6112" y="4096512"/>
            <a:ext cx="10417759" cy="201168"/>
          </a:xfrm>
          <a:prstGeom prst="rect">
            <a:avLst/>
          </a:prstGeom>
          <a:noFill/>
        </p:spPr>
        <p:txBody>
          <a:bodyPr wrap="square" anchor="t" lIns="0" rIns="0" tIns="0" bIns="0">
            <a:spAutoFit/>
          </a:bodyPr>
          <a:lstStyle/>
          <a:p>
            <a:pPr algn="l">
              <a:lnSpc>
                <a:spcPct val="100000"/>
              </a:lnSpc>
            </a:pPr>
            <a:r>
              <a:rPr sz="950" b="1" i="0">
                <a:solidFill>
                  <a:srgbClr val="0F4C5C"/>
                </a:solidFill>
                <a:latin typeface="Consolas"/>
              </a:rPr>
              <a:t>WHAT THE LINEAR PROGRAM ACTUALLY OPTIMISES</a:t>
            </a:r>
          </a:p>
        </p:txBody>
      </p:sp>
      <p:sp>
        <p:nvSpPr>
          <p:cNvPr id="48" name="TextBox 47"/>
          <p:cNvSpPr txBox="1"/>
          <p:nvPr/>
        </p:nvSpPr>
        <p:spPr>
          <a:xfrm>
            <a:off x="896112" y="4352544"/>
            <a:ext cx="10372039" cy="1127760"/>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The unknowns are traffic shares per (group, box). The objective is dominated by a very large penalty on exceeding a box's safe limit, plus a smaller cost for general utilisation and small penalties for sending traffic out of zone or changing the plan too often. Constraints cover uplink and downlink capacity, session count, which boxes each group may use, box health, delay limits, and a cap on how much of one group can pile onto one box. If no valid answer exists, the solver says so rather than inventing one. Each solve is capped at one second.</a:t>
            </a:r>
          </a:p>
        </p:txBody>
      </p:sp>
      <p:sp>
        <p:nvSpPr>
          <p:cNvPr id="49" name="TextBox 4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EXPERIMENT 1</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The linear program vs the simple rule</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One busy simulated day: three four-hour local surges, a box at reduced capacity, a box nearly offline, a network delay incident, and recovery periods. All three controllers saw identical conditions.</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sp>
        <p:nvSpPr>
          <p:cNvPr id="8" name="Rectangle 7"/>
          <p:cNvSpPr/>
          <p:nvPr/>
        </p:nvSpPr>
        <p:spPr>
          <a:xfrm>
            <a:off x="658368" y="2532126"/>
            <a:ext cx="8482468"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609850"/>
            <a:ext cx="2582111"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MEASUREMENT</a:t>
            </a:r>
          </a:p>
        </p:txBody>
      </p:sp>
      <p:sp>
        <p:nvSpPr>
          <p:cNvPr id="10" name="TextBox 9"/>
          <p:cNvSpPr txBox="1"/>
          <p:nvPr/>
        </p:nvSpPr>
        <p:spPr>
          <a:xfrm>
            <a:off x="3487367" y="2609850"/>
            <a:ext cx="1127974"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SIMPLE</a:t>
            </a:r>
          </a:p>
        </p:txBody>
      </p:sp>
      <p:sp>
        <p:nvSpPr>
          <p:cNvPr id="11" name="TextBox 10"/>
          <p:cNvSpPr txBox="1"/>
          <p:nvPr/>
        </p:nvSpPr>
        <p:spPr>
          <a:xfrm>
            <a:off x="4779934" y="2609850"/>
            <a:ext cx="1127974"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REACTIVE</a:t>
            </a:r>
          </a:p>
        </p:txBody>
      </p:sp>
      <p:sp>
        <p:nvSpPr>
          <p:cNvPr id="12" name="TextBox 11"/>
          <p:cNvSpPr txBox="1"/>
          <p:nvPr/>
        </p:nvSpPr>
        <p:spPr>
          <a:xfrm>
            <a:off x="6072501" y="2609850"/>
            <a:ext cx="1208759"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PREDICTIVE</a:t>
            </a:r>
          </a:p>
        </p:txBody>
      </p:sp>
      <p:sp>
        <p:nvSpPr>
          <p:cNvPr id="13" name="TextBox 12"/>
          <p:cNvSpPr txBox="1"/>
          <p:nvPr/>
        </p:nvSpPr>
        <p:spPr>
          <a:xfrm>
            <a:off x="7445853" y="2609850"/>
            <a:ext cx="1612687"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PREDICTIVE VS SIMPLE</a:t>
            </a:r>
          </a:p>
        </p:txBody>
      </p:sp>
      <p:sp>
        <p:nvSpPr>
          <p:cNvPr id="14" name="Rectangle 13"/>
          <p:cNvSpPr/>
          <p:nvPr/>
        </p:nvSpPr>
        <p:spPr>
          <a:xfrm>
            <a:off x="658368" y="2806445"/>
            <a:ext cx="8482468"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806445"/>
            <a:ext cx="8482468" cy="274320"/>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2856738"/>
            <a:ext cx="258211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Uplink overload (main metric)</a:t>
            </a:r>
          </a:p>
        </p:txBody>
      </p:sp>
      <p:sp>
        <p:nvSpPr>
          <p:cNvPr id="17" name="TextBox 16"/>
          <p:cNvSpPr txBox="1"/>
          <p:nvPr/>
        </p:nvSpPr>
        <p:spPr>
          <a:xfrm>
            <a:off x="3487367" y="2856738"/>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107 767 s</a:t>
            </a:r>
          </a:p>
        </p:txBody>
      </p:sp>
      <p:sp>
        <p:nvSpPr>
          <p:cNvPr id="18" name="TextBox 17"/>
          <p:cNvSpPr txBox="1"/>
          <p:nvPr/>
        </p:nvSpPr>
        <p:spPr>
          <a:xfrm>
            <a:off x="4779934" y="2856738"/>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211 891 s</a:t>
            </a:r>
          </a:p>
        </p:txBody>
      </p:sp>
      <p:sp>
        <p:nvSpPr>
          <p:cNvPr id="19" name="TextBox 18"/>
          <p:cNvSpPr txBox="1"/>
          <p:nvPr/>
        </p:nvSpPr>
        <p:spPr>
          <a:xfrm>
            <a:off x="6072501" y="2856738"/>
            <a:ext cx="120875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105 181 s</a:t>
            </a:r>
          </a:p>
        </p:txBody>
      </p:sp>
      <p:sp>
        <p:nvSpPr>
          <p:cNvPr id="20" name="TextBox 19"/>
          <p:cNvSpPr txBox="1"/>
          <p:nvPr/>
        </p:nvSpPr>
        <p:spPr>
          <a:xfrm>
            <a:off x="7445853" y="2856738"/>
            <a:ext cx="1612687"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2.40% better</a:t>
            </a:r>
          </a:p>
        </p:txBody>
      </p:sp>
      <p:sp>
        <p:nvSpPr>
          <p:cNvPr id="21" name="Rectangle 20"/>
          <p:cNvSpPr/>
          <p:nvPr/>
        </p:nvSpPr>
        <p:spPr>
          <a:xfrm>
            <a:off x="658368" y="3080765"/>
            <a:ext cx="848246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3080765"/>
            <a:ext cx="848246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 y="3131057"/>
            <a:ext cx="258211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Downlink overload</a:t>
            </a:r>
          </a:p>
        </p:txBody>
      </p:sp>
      <p:sp>
        <p:nvSpPr>
          <p:cNvPr id="24" name="TextBox 23"/>
          <p:cNvSpPr txBox="1"/>
          <p:nvPr/>
        </p:nvSpPr>
        <p:spPr>
          <a:xfrm>
            <a:off x="3487367" y="313105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59 906 s</a:t>
            </a:r>
          </a:p>
        </p:txBody>
      </p:sp>
      <p:sp>
        <p:nvSpPr>
          <p:cNvPr id="25" name="TextBox 24"/>
          <p:cNvSpPr txBox="1"/>
          <p:nvPr/>
        </p:nvSpPr>
        <p:spPr>
          <a:xfrm>
            <a:off x="4779934" y="313105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118 167 s</a:t>
            </a:r>
          </a:p>
        </p:txBody>
      </p:sp>
      <p:sp>
        <p:nvSpPr>
          <p:cNvPr id="26" name="TextBox 25"/>
          <p:cNvSpPr txBox="1"/>
          <p:nvPr/>
        </p:nvSpPr>
        <p:spPr>
          <a:xfrm>
            <a:off x="6072501" y="3131057"/>
            <a:ext cx="120875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56 376 s</a:t>
            </a:r>
          </a:p>
        </p:txBody>
      </p:sp>
      <p:sp>
        <p:nvSpPr>
          <p:cNvPr id="27" name="TextBox 26"/>
          <p:cNvSpPr txBox="1"/>
          <p:nvPr/>
        </p:nvSpPr>
        <p:spPr>
          <a:xfrm>
            <a:off x="7445853" y="3131057"/>
            <a:ext cx="1612687"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5.89% better</a:t>
            </a:r>
          </a:p>
        </p:txBody>
      </p:sp>
      <p:sp>
        <p:nvSpPr>
          <p:cNvPr id="28" name="Rectangle 27"/>
          <p:cNvSpPr/>
          <p:nvPr/>
        </p:nvSpPr>
        <p:spPr>
          <a:xfrm>
            <a:off x="658368" y="3355085"/>
            <a:ext cx="848246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 y="3405377"/>
            <a:ext cx="258211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Time spent overloaded, up</a:t>
            </a:r>
          </a:p>
        </p:txBody>
      </p:sp>
      <p:sp>
        <p:nvSpPr>
          <p:cNvPr id="30" name="TextBox 29"/>
          <p:cNvSpPr txBox="1"/>
          <p:nvPr/>
        </p:nvSpPr>
        <p:spPr>
          <a:xfrm>
            <a:off x="3487367" y="340537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16 440 s</a:t>
            </a:r>
          </a:p>
        </p:txBody>
      </p:sp>
      <p:sp>
        <p:nvSpPr>
          <p:cNvPr id="31" name="TextBox 30"/>
          <p:cNvSpPr txBox="1"/>
          <p:nvPr/>
        </p:nvSpPr>
        <p:spPr>
          <a:xfrm>
            <a:off x="4779934" y="340537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19 650 s</a:t>
            </a:r>
          </a:p>
        </p:txBody>
      </p:sp>
      <p:sp>
        <p:nvSpPr>
          <p:cNvPr id="32" name="TextBox 31"/>
          <p:cNvSpPr txBox="1"/>
          <p:nvPr/>
        </p:nvSpPr>
        <p:spPr>
          <a:xfrm>
            <a:off x="6072501" y="3405377"/>
            <a:ext cx="120875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13 230 s</a:t>
            </a:r>
          </a:p>
        </p:txBody>
      </p:sp>
      <p:sp>
        <p:nvSpPr>
          <p:cNvPr id="33" name="TextBox 32"/>
          <p:cNvSpPr txBox="1"/>
          <p:nvPr/>
        </p:nvSpPr>
        <p:spPr>
          <a:xfrm>
            <a:off x="7445853" y="3405377"/>
            <a:ext cx="1612687"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19.53% better</a:t>
            </a:r>
          </a:p>
        </p:txBody>
      </p:sp>
      <p:sp>
        <p:nvSpPr>
          <p:cNvPr id="34" name="Rectangle 33"/>
          <p:cNvSpPr/>
          <p:nvPr/>
        </p:nvSpPr>
        <p:spPr>
          <a:xfrm>
            <a:off x="658368" y="3629405"/>
            <a:ext cx="848246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3629405"/>
            <a:ext cx="848246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 y="3679697"/>
            <a:ext cx="258211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Time spent overloaded, down</a:t>
            </a:r>
          </a:p>
        </p:txBody>
      </p:sp>
      <p:sp>
        <p:nvSpPr>
          <p:cNvPr id="37" name="TextBox 36"/>
          <p:cNvSpPr txBox="1"/>
          <p:nvPr/>
        </p:nvSpPr>
        <p:spPr>
          <a:xfrm>
            <a:off x="3487367" y="367969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30 480 s</a:t>
            </a:r>
          </a:p>
        </p:txBody>
      </p:sp>
      <p:sp>
        <p:nvSpPr>
          <p:cNvPr id="38" name="TextBox 37"/>
          <p:cNvSpPr txBox="1"/>
          <p:nvPr/>
        </p:nvSpPr>
        <p:spPr>
          <a:xfrm>
            <a:off x="4779934" y="367969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7 200 s</a:t>
            </a:r>
          </a:p>
        </p:txBody>
      </p:sp>
      <p:sp>
        <p:nvSpPr>
          <p:cNvPr id="39" name="TextBox 38"/>
          <p:cNvSpPr txBox="1"/>
          <p:nvPr/>
        </p:nvSpPr>
        <p:spPr>
          <a:xfrm>
            <a:off x="6072501" y="3679697"/>
            <a:ext cx="120875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7 200 s</a:t>
            </a:r>
          </a:p>
        </p:txBody>
      </p:sp>
      <p:sp>
        <p:nvSpPr>
          <p:cNvPr id="40" name="TextBox 39"/>
          <p:cNvSpPr txBox="1"/>
          <p:nvPr/>
        </p:nvSpPr>
        <p:spPr>
          <a:xfrm>
            <a:off x="7445853" y="3679697"/>
            <a:ext cx="1612687"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76.38% better</a:t>
            </a:r>
          </a:p>
        </p:txBody>
      </p:sp>
      <p:sp>
        <p:nvSpPr>
          <p:cNvPr id="41" name="Rectangle 40"/>
          <p:cNvSpPr/>
          <p:nvPr/>
        </p:nvSpPr>
        <p:spPr>
          <a:xfrm>
            <a:off x="658368" y="3903725"/>
            <a:ext cx="848246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0664" y="3954017"/>
            <a:ext cx="258211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Data dropped, up</a:t>
            </a:r>
          </a:p>
        </p:txBody>
      </p:sp>
      <p:sp>
        <p:nvSpPr>
          <p:cNvPr id="43" name="TextBox 42"/>
          <p:cNvSpPr txBox="1"/>
          <p:nvPr/>
        </p:nvSpPr>
        <p:spPr>
          <a:xfrm>
            <a:off x="3487367" y="395401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49.27 TB</a:t>
            </a:r>
          </a:p>
        </p:txBody>
      </p:sp>
      <p:sp>
        <p:nvSpPr>
          <p:cNvPr id="44" name="TextBox 43"/>
          <p:cNvSpPr txBox="1"/>
          <p:nvPr/>
        </p:nvSpPr>
        <p:spPr>
          <a:xfrm>
            <a:off x="4779934" y="395401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119.44 TB</a:t>
            </a:r>
          </a:p>
        </p:txBody>
      </p:sp>
      <p:sp>
        <p:nvSpPr>
          <p:cNvPr id="45" name="TextBox 44"/>
          <p:cNvSpPr txBox="1"/>
          <p:nvPr/>
        </p:nvSpPr>
        <p:spPr>
          <a:xfrm>
            <a:off x="6072501" y="3954017"/>
            <a:ext cx="120875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49.16 TB</a:t>
            </a:r>
          </a:p>
        </p:txBody>
      </p:sp>
      <p:sp>
        <p:nvSpPr>
          <p:cNvPr id="46" name="TextBox 45"/>
          <p:cNvSpPr txBox="1"/>
          <p:nvPr/>
        </p:nvSpPr>
        <p:spPr>
          <a:xfrm>
            <a:off x="7445853" y="3954017"/>
            <a:ext cx="1612687"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0.23% better</a:t>
            </a:r>
          </a:p>
        </p:txBody>
      </p:sp>
      <p:sp>
        <p:nvSpPr>
          <p:cNvPr id="47" name="Rectangle 46"/>
          <p:cNvSpPr/>
          <p:nvPr/>
        </p:nvSpPr>
        <p:spPr>
          <a:xfrm>
            <a:off x="658368" y="4178045"/>
            <a:ext cx="848246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58368" y="4178045"/>
            <a:ext cx="848246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0664" y="4228337"/>
            <a:ext cx="258211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Data dropped, down</a:t>
            </a:r>
          </a:p>
        </p:txBody>
      </p:sp>
      <p:sp>
        <p:nvSpPr>
          <p:cNvPr id="50" name="TextBox 49"/>
          <p:cNvSpPr txBox="1"/>
          <p:nvPr/>
        </p:nvSpPr>
        <p:spPr>
          <a:xfrm>
            <a:off x="3487367" y="422833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79.19 TB</a:t>
            </a:r>
          </a:p>
        </p:txBody>
      </p:sp>
      <p:sp>
        <p:nvSpPr>
          <p:cNvPr id="51" name="TextBox 50"/>
          <p:cNvSpPr txBox="1"/>
          <p:nvPr/>
        </p:nvSpPr>
        <p:spPr>
          <a:xfrm>
            <a:off x="4779934" y="422833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163.05 TB</a:t>
            </a:r>
          </a:p>
        </p:txBody>
      </p:sp>
      <p:sp>
        <p:nvSpPr>
          <p:cNvPr id="52" name="TextBox 51"/>
          <p:cNvSpPr txBox="1"/>
          <p:nvPr/>
        </p:nvSpPr>
        <p:spPr>
          <a:xfrm>
            <a:off x="6072501" y="4228337"/>
            <a:ext cx="120875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76.30 TB</a:t>
            </a:r>
          </a:p>
        </p:txBody>
      </p:sp>
      <p:sp>
        <p:nvSpPr>
          <p:cNvPr id="53" name="TextBox 52"/>
          <p:cNvSpPr txBox="1"/>
          <p:nvPr/>
        </p:nvSpPr>
        <p:spPr>
          <a:xfrm>
            <a:off x="7445853" y="4228337"/>
            <a:ext cx="1612687" cy="219456"/>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3.66% better</a:t>
            </a:r>
          </a:p>
        </p:txBody>
      </p:sp>
      <p:sp>
        <p:nvSpPr>
          <p:cNvPr id="54" name="Rectangle 53"/>
          <p:cNvSpPr/>
          <p:nvPr/>
        </p:nvSpPr>
        <p:spPr>
          <a:xfrm>
            <a:off x="658368" y="4452365"/>
            <a:ext cx="848246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0664" y="4502657"/>
            <a:ext cx="2582111" cy="219456"/>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Failed session setups</a:t>
            </a:r>
          </a:p>
        </p:txBody>
      </p:sp>
      <p:sp>
        <p:nvSpPr>
          <p:cNvPr id="56" name="TextBox 55"/>
          <p:cNvSpPr txBox="1"/>
          <p:nvPr/>
        </p:nvSpPr>
        <p:spPr>
          <a:xfrm>
            <a:off x="3487367" y="450265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0</a:t>
            </a:r>
          </a:p>
        </p:txBody>
      </p:sp>
      <p:sp>
        <p:nvSpPr>
          <p:cNvPr id="57" name="TextBox 56"/>
          <p:cNvSpPr txBox="1"/>
          <p:nvPr/>
        </p:nvSpPr>
        <p:spPr>
          <a:xfrm>
            <a:off x="4779934" y="4502657"/>
            <a:ext cx="1127974"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0</a:t>
            </a:r>
          </a:p>
        </p:txBody>
      </p:sp>
      <p:sp>
        <p:nvSpPr>
          <p:cNvPr id="58" name="TextBox 57"/>
          <p:cNvSpPr txBox="1"/>
          <p:nvPr/>
        </p:nvSpPr>
        <p:spPr>
          <a:xfrm>
            <a:off x="6072501" y="4502657"/>
            <a:ext cx="1208759"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0</a:t>
            </a:r>
          </a:p>
        </p:txBody>
      </p:sp>
      <p:sp>
        <p:nvSpPr>
          <p:cNvPr id="59" name="TextBox 58"/>
          <p:cNvSpPr txBox="1"/>
          <p:nvPr/>
        </p:nvSpPr>
        <p:spPr>
          <a:xfrm>
            <a:off x="7445853" y="4502657"/>
            <a:ext cx="1612687" cy="219456"/>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no change</a:t>
            </a:r>
          </a:p>
        </p:txBody>
      </p:sp>
      <p:sp>
        <p:nvSpPr>
          <p:cNvPr id="60" name="Rectangle 59"/>
          <p:cNvSpPr/>
          <p:nvPr/>
        </p:nvSpPr>
        <p:spPr>
          <a:xfrm>
            <a:off x="658368" y="4726685"/>
            <a:ext cx="848246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58368" y="2532126"/>
            <a:ext cx="8482468" cy="2194559"/>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467084" y="2618994"/>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649964" y="2550414"/>
            <a:ext cx="1883362" cy="442569"/>
          </a:xfrm>
          <a:prstGeom prst="rect">
            <a:avLst/>
          </a:prstGeom>
          <a:noFill/>
        </p:spPr>
        <p:txBody>
          <a:bodyPr wrap="square" anchor="t" lIns="0" rIns="0" tIns="0" bIns="0">
            <a:spAutoFit/>
          </a:bodyPr>
          <a:lstStyle/>
          <a:p>
            <a:pPr algn="l">
              <a:lnSpc>
                <a:spcPct val="128000"/>
              </a:lnSpc>
            </a:pPr>
            <a:r>
              <a:rPr sz="1080" b="1" i="0">
                <a:solidFill>
                  <a:srgbClr val="111721"/>
                </a:solidFill>
                <a:latin typeface="Segoe UI"/>
              </a:rPr>
              <a:t>Reactive is worse than doing nothing clever</a:t>
            </a:r>
          </a:p>
        </p:txBody>
      </p:sp>
      <p:sp>
        <p:nvSpPr>
          <p:cNvPr id="64" name="TextBox 63"/>
          <p:cNvSpPr txBox="1"/>
          <p:nvPr/>
        </p:nvSpPr>
        <p:spPr>
          <a:xfrm>
            <a:off x="9649964" y="2960979"/>
            <a:ext cx="1883362" cy="950849"/>
          </a:xfrm>
          <a:prstGeom prst="rect">
            <a:avLst/>
          </a:prstGeom>
          <a:noFill/>
        </p:spPr>
        <p:txBody>
          <a:bodyPr wrap="square" anchor="t" lIns="0" rIns="0" tIns="0" bIns="0">
            <a:spAutoFit/>
          </a:bodyPr>
          <a:lstStyle/>
          <a:p>
            <a:pPr algn="l">
              <a:lnSpc>
                <a:spcPct val="134000"/>
              </a:lnSpc>
            </a:pPr>
            <a:r>
              <a:rPr sz="1010" b="0" i="0">
                <a:solidFill>
                  <a:srgbClr val="3C4653"/>
                </a:solidFill>
                <a:latin typeface="Segoe UI"/>
              </a:rPr>
              <a:t>50% more overload and 59% more dropped data than predictive. So the real competition is the simple rule.</a:t>
            </a:r>
          </a:p>
        </p:txBody>
      </p:sp>
      <p:sp>
        <p:nvSpPr>
          <p:cNvPr id="65" name="Rectangle 64"/>
          <p:cNvSpPr/>
          <p:nvPr/>
        </p:nvSpPr>
        <p:spPr>
          <a:xfrm>
            <a:off x="9467084" y="3957548"/>
            <a:ext cx="2066242"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467084" y="411756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649964" y="4048988"/>
            <a:ext cx="1883362" cy="442569"/>
          </a:xfrm>
          <a:prstGeom prst="rect">
            <a:avLst/>
          </a:prstGeom>
          <a:noFill/>
        </p:spPr>
        <p:txBody>
          <a:bodyPr wrap="square" anchor="t" lIns="0" rIns="0" tIns="0" bIns="0">
            <a:spAutoFit/>
          </a:bodyPr>
          <a:lstStyle/>
          <a:p>
            <a:pPr algn="l">
              <a:lnSpc>
                <a:spcPct val="128000"/>
              </a:lnSpc>
            </a:pPr>
            <a:r>
              <a:rPr sz="1080" b="1" i="0">
                <a:solidFill>
                  <a:srgbClr val="111721"/>
                </a:solidFill>
                <a:latin typeface="Segoe UI"/>
              </a:rPr>
              <a:t>2.40% against a 20% target</a:t>
            </a:r>
          </a:p>
        </p:txBody>
      </p:sp>
      <p:sp>
        <p:nvSpPr>
          <p:cNvPr id="68" name="TextBox 67"/>
          <p:cNvSpPr txBox="1"/>
          <p:nvPr/>
        </p:nvSpPr>
        <p:spPr>
          <a:xfrm>
            <a:off x="9649964" y="4459554"/>
            <a:ext cx="1883362" cy="778967"/>
          </a:xfrm>
          <a:prstGeom prst="rect">
            <a:avLst/>
          </a:prstGeom>
          <a:noFill/>
        </p:spPr>
        <p:txBody>
          <a:bodyPr wrap="square" anchor="t" lIns="0" rIns="0" tIns="0" bIns="0">
            <a:spAutoFit/>
          </a:bodyPr>
          <a:lstStyle/>
          <a:p>
            <a:pPr algn="l">
              <a:lnSpc>
                <a:spcPct val="134000"/>
              </a:lnSpc>
            </a:pPr>
            <a:r>
              <a:rPr sz="1010" b="0" i="0">
                <a:solidFill>
                  <a:srgbClr val="3C4653"/>
                </a:solidFill>
                <a:latin typeface="Segoe UI"/>
              </a:rPr>
              <a:t>The predictive controller did beat the simple rule — by nowhere near enough.</a:t>
            </a:r>
          </a:p>
        </p:txBody>
      </p:sp>
      <p:sp>
        <p:nvSpPr>
          <p:cNvPr id="69" name="Rectangle 68"/>
          <p:cNvSpPr/>
          <p:nvPr/>
        </p:nvSpPr>
        <p:spPr>
          <a:xfrm>
            <a:off x="9467084" y="5284241"/>
            <a:ext cx="2066242"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467084" y="5444261"/>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649964" y="5375681"/>
            <a:ext cx="1883362" cy="442569"/>
          </a:xfrm>
          <a:prstGeom prst="rect">
            <a:avLst/>
          </a:prstGeom>
          <a:noFill/>
        </p:spPr>
        <p:txBody>
          <a:bodyPr wrap="square" anchor="t" lIns="0" rIns="0" tIns="0" bIns="0">
            <a:spAutoFit/>
          </a:bodyPr>
          <a:lstStyle/>
          <a:p>
            <a:pPr algn="l">
              <a:lnSpc>
                <a:spcPct val="128000"/>
              </a:lnSpc>
            </a:pPr>
            <a:r>
              <a:rPr sz="1080" b="1" i="0">
                <a:solidFill>
                  <a:srgbClr val="111721"/>
                </a:solidFill>
                <a:latin typeface="Segoe UI"/>
              </a:rPr>
              <a:t>It mostly chose not to act</a:t>
            </a:r>
          </a:p>
        </p:txBody>
      </p:sp>
      <p:sp>
        <p:nvSpPr>
          <p:cNvPr id="72" name="TextBox 71"/>
          <p:cNvSpPr txBox="1"/>
          <p:nvPr/>
        </p:nvSpPr>
        <p:spPr>
          <a:xfrm>
            <a:off x="9649964" y="5786247"/>
            <a:ext cx="1883362" cy="607085"/>
          </a:xfrm>
          <a:prstGeom prst="rect">
            <a:avLst/>
          </a:prstGeom>
          <a:noFill/>
        </p:spPr>
        <p:txBody>
          <a:bodyPr wrap="square" anchor="t" lIns="0" rIns="0" tIns="0" bIns="0">
            <a:spAutoFit/>
          </a:bodyPr>
          <a:lstStyle/>
          <a:p>
            <a:pPr algn="l">
              <a:lnSpc>
                <a:spcPct val="134000"/>
              </a:lnSpc>
            </a:pPr>
            <a:r>
              <a:rPr sz="1010" b="0" i="0">
                <a:solidFill>
                  <a:srgbClr val="3C4653"/>
                </a:solidFill>
                <a:latin typeface="Segoe UI"/>
              </a:rPr>
              <a:t>It left the plan unchanged in 109 of 143 rounds, acting only 34 times.</a:t>
            </a:r>
          </a:p>
        </p:txBody>
      </p:sp>
      <p:sp>
        <p:nvSpPr>
          <p:cNvPr id="73" name="TextBox 72"/>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EXPERIMENT 2</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Tuning made it worse, every time</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Eight settings across two validation days, then six more that each added one specific capability. Negative means worse than the simple rule.</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pic>
        <p:nvPicPr>
          <p:cNvPr id="8" name="Picture 7" descr="c_tuning.png"/>
          <p:cNvPicPr>
            <a:picLocks noChangeAspect="1"/>
          </p:cNvPicPr>
          <p:nvPr/>
        </p:nvPicPr>
        <p:blipFill>
          <a:blip r:embed="rId2"/>
          <a:stretch>
            <a:fillRect/>
          </a:stretch>
        </p:blipFill>
        <p:spPr>
          <a:xfrm>
            <a:off x="658368" y="2261108"/>
            <a:ext cx="5437479" cy="2891519"/>
          </a:xfrm>
          <a:prstGeom prst="rect">
            <a:avLst/>
          </a:prstGeom>
        </p:spPr>
      </p:pic>
      <p:sp>
        <p:nvSpPr>
          <p:cNvPr id="9" name="Rectangle 8"/>
          <p:cNvSpPr/>
          <p:nvPr/>
        </p:nvSpPr>
        <p:spPr>
          <a:xfrm>
            <a:off x="6422096" y="2261108"/>
            <a:ext cx="5111230" cy="2289657"/>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22096" y="2261108"/>
            <a:ext cx="34747" cy="2289657"/>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9840" y="2407412"/>
            <a:ext cx="4654030" cy="201168"/>
          </a:xfrm>
          <a:prstGeom prst="rect">
            <a:avLst/>
          </a:prstGeom>
          <a:noFill/>
        </p:spPr>
        <p:txBody>
          <a:bodyPr wrap="square" anchor="t" lIns="0" rIns="0" tIns="0" bIns="0">
            <a:spAutoFit/>
          </a:bodyPr>
          <a:lstStyle/>
          <a:p>
            <a:pPr algn="l">
              <a:lnSpc>
                <a:spcPct val="100000"/>
              </a:lnSpc>
            </a:pPr>
            <a:r>
              <a:rPr sz="950" b="1" i="0">
                <a:solidFill>
                  <a:srgbClr val="9C3B35"/>
                </a:solidFill>
                <a:latin typeface="Consolas"/>
              </a:rPr>
              <a:t>WHY THE OPTIMIZER ACTIVELY HURTS</a:t>
            </a:r>
          </a:p>
        </p:txBody>
      </p:sp>
      <p:sp>
        <p:nvSpPr>
          <p:cNvPr id="12" name="TextBox 11"/>
          <p:cNvSpPr txBox="1"/>
          <p:nvPr/>
        </p:nvSpPr>
        <p:spPr>
          <a:xfrm>
            <a:off x="6659840" y="2663444"/>
            <a:ext cx="4608310" cy="1832457"/>
          </a:xfrm>
          <a:prstGeom prst="rect">
            <a:avLst/>
          </a:prstGeom>
          <a:noFill/>
        </p:spPr>
        <p:txBody>
          <a:bodyPr wrap="square" anchor="t" lIns="0" rIns="0" tIns="0" bIns="0">
            <a:spAutoFit/>
          </a:bodyPr>
          <a:lstStyle/>
          <a:p>
            <a:pPr algn="l">
              <a:lnSpc>
                <a:spcPct val="136000"/>
              </a:lnSpc>
            </a:pPr>
            <a:r>
              <a:rPr sz="1120" b="0" i="0">
                <a:solidFill>
                  <a:srgbClr val="3C4653"/>
                </a:solidFill>
                <a:latin typeface="Segoe UI"/>
              </a:rPr>
              <a:t>It correctly reduces the peak inside its planning window by packing traffic onto whichever boxes look free right now. But sessions last hours. Those sessions become a permanent load that a new-session-only lever cannot undo later. The simple rule spreads every group across all its allowed boxes, which is far more robust. We confirmed it directly: several settings reduced immediate overload while making total overload and dropped data worse over the full day.</a:t>
            </a:r>
          </a:p>
        </p:txBody>
      </p:sp>
      <p:sp>
        <p:nvSpPr>
          <p:cNvPr id="13" name="TextBox 12"/>
          <p:cNvSpPr txBox="1"/>
          <p:nvPr/>
        </p:nvSpPr>
        <p:spPr>
          <a:xfrm>
            <a:off x="6422096" y="4770221"/>
            <a:ext cx="5111230" cy="1737360"/>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We then tested whether any single missing capability explained the gap: telling the optimizer about scheduled events, adding a surge detector, weighting by how long sessions last, and capping how much one box can take. All six variants still lost.</a:t>
            </a:r>
          </a:p>
          <a:p>
            <a:pPr algn="l">
              <a:lnSpc>
                <a:spcPct val="134000"/>
              </a:lnSpc>
              <a:spcBef>
                <a:spcPts val="600"/>
              </a:spcBef>
            </a:pPr>
            <a:r>
              <a:rPr sz="1090" b="0" i="0">
                <a:solidFill>
                  <a:srgbClr val="3C4653"/>
                </a:solidFill>
                <a:latin typeface="Segoe UI"/>
              </a:rPr>
              <a:t>Session-length weighting helped a little — 1.95 percentage points against a 9-point deficit. The conclusion was explicit: the next change is not another parameter, it is a different kind of model.</a:t>
            </a:r>
          </a:p>
        </p:txBody>
      </p:sp>
      <p:sp>
        <p:nvSpPr>
          <p:cNvPr id="14" name="TextBox 13"/>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EXPERIMENT 3</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How much room for improvement is there?</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Before building something harder, we asked whether the problem is solvable at all. An oracle reads the exact arrivals for the whole day, then solves the entire day at once. It cannot be deployed — it knows the future — but it tells us the ceiling.</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pic>
        <p:nvPicPr>
          <p:cNvPr id="8" name="Picture 7" descr="c_oracle.png"/>
          <p:cNvPicPr>
            <a:picLocks noChangeAspect="1"/>
          </p:cNvPicPr>
          <p:nvPr/>
        </p:nvPicPr>
        <p:blipFill>
          <a:blip r:embed="rId2"/>
          <a:stretch>
            <a:fillRect/>
          </a:stretch>
        </p:blipFill>
        <p:spPr>
          <a:xfrm>
            <a:off x="658368" y="2532126"/>
            <a:ext cx="6959973" cy="2378807"/>
          </a:xfrm>
          <a:prstGeom prst="rect">
            <a:avLst/>
          </a:prstGeom>
        </p:spPr>
      </p:pic>
      <p:sp>
        <p:nvSpPr>
          <p:cNvPr id="9" name="Rectangle 8"/>
          <p:cNvSpPr/>
          <p:nvPr/>
        </p:nvSpPr>
        <p:spPr>
          <a:xfrm>
            <a:off x="7944590" y="258241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7470" y="2513838"/>
            <a:ext cx="3405856"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Failures matter more than demand</a:t>
            </a:r>
          </a:p>
        </p:txBody>
      </p:sp>
      <p:sp>
        <p:nvSpPr>
          <p:cNvPr id="11" name="TextBox 10"/>
          <p:cNvSpPr txBox="1"/>
          <p:nvPr/>
        </p:nvSpPr>
        <p:spPr>
          <a:xfrm>
            <a:off x="8127470" y="2755341"/>
            <a:ext cx="3405856" cy="627507"/>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Knowing all future arrivals removes ~55% of overload. Knowing about failures in advance removes 100%.</a:t>
            </a:r>
          </a:p>
        </p:txBody>
      </p:sp>
      <p:sp>
        <p:nvSpPr>
          <p:cNvPr id="12" name="Rectangle 11"/>
          <p:cNvSpPr/>
          <p:nvPr/>
        </p:nvSpPr>
        <p:spPr>
          <a:xfrm>
            <a:off x="7944590" y="3419424"/>
            <a:ext cx="3588736"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44590" y="3570300"/>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7470" y="3501720"/>
            <a:ext cx="3405856"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That reframes the whole problem</a:t>
            </a:r>
          </a:p>
        </p:txBody>
      </p:sp>
      <p:sp>
        <p:nvSpPr>
          <p:cNvPr id="15" name="TextBox 14"/>
          <p:cNvSpPr txBox="1"/>
          <p:nvPr/>
        </p:nvSpPr>
        <p:spPr>
          <a:xfrm>
            <a:off x="8127470" y="3743223"/>
            <a:ext cx="3405856" cy="448818"/>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We had been building better demand forecasts when the leverage was in failure knowledge.</a:t>
            </a:r>
          </a:p>
        </p:txBody>
      </p:sp>
      <p:sp>
        <p:nvSpPr>
          <p:cNvPr id="16" name="Rectangle 15"/>
          <p:cNvSpPr/>
          <p:nvPr/>
        </p:nvSpPr>
        <p:spPr>
          <a:xfrm>
            <a:off x="7944590" y="4228617"/>
            <a:ext cx="3588736"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44590" y="4379493"/>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7470" y="4310913"/>
            <a:ext cx="3405856"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The middle rows are unstable</a:t>
            </a:r>
          </a:p>
        </p:txBody>
      </p:sp>
      <p:sp>
        <p:nvSpPr>
          <p:cNvPr id="19" name="TextBox 18"/>
          <p:cNvSpPr txBox="1"/>
          <p:nvPr/>
        </p:nvSpPr>
        <p:spPr>
          <a:xfrm>
            <a:off x="8127470" y="4552416"/>
            <a:ext cx="3405856" cy="806196"/>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One day gave −91%, the other +97%. Before an unannounced failure many plans look equally good, and the solver picks between them almost at random.</a:t>
            </a:r>
          </a:p>
        </p:txBody>
      </p:sp>
      <p:sp>
        <p:nvSpPr>
          <p:cNvPr id="20" name="Rectangle 19"/>
          <p:cNvSpPr/>
          <p:nvPr/>
        </p:nvSpPr>
        <p:spPr>
          <a:xfrm>
            <a:off x="7944590" y="5395188"/>
            <a:ext cx="3588736"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44590" y="5546064"/>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7470" y="5477484"/>
            <a:ext cx="3405856"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Which is itself evidence</a:t>
            </a:r>
          </a:p>
        </p:txBody>
      </p:sp>
      <p:sp>
        <p:nvSpPr>
          <p:cNvPr id="23" name="TextBox 22"/>
          <p:cNvSpPr txBox="1"/>
          <p:nvPr/>
        </p:nvSpPr>
        <p:spPr>
          <a:xfrm>
            <a:off x="8127470" y="5718987"/>
            <a:ext cx="3405856" cy="806196"/>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The next controller needs a reason to prefer staying close to the simple rule, and it needs to care about where it leaves itself exposed later.</a:t>
            </a:r>
          </a:p>
        </p:txBody>
      </p:sp>
      <p:sp>
        <p:nvSpPr>
          <p:cNvPr id="24" name="TextBox 23"/>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EXPERIMENT 4</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MPC, in four rounds</a:t>
            </a:r>
          </a:p>
        </p:txBody>
      </p:sp>
      <p:sp>
        <p:nvSpPr>
          <p:cNvPr id="5" name="TextBox 4"/>
          <p:cNvSpPr txBox="1"/>
          <p:nvPr/>
        </p:nvSpPr>
        <p:spPr>
          <a:xfrm>
            <a:off x="658368" y="1463040"/>
            <a:ext cx="8482468" cy="1047496"/>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MPC means Model Predictive Control: plan several steps ahead, act on the first step, re-plan with fresh information. Ours tracks every running session over a two-hour horizon, and only publishes a plan if it can prove that plan beats the simple rule from the same starting state.</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pic>
        <p:nvPicPr>
          <p:cNvPr id="8" name="Picture 7" descr="c_mpcjourney.png"/>
          <p:cNvPicPr>
            <a:picLocks noChangeAspect="1"/>
          </p:cNvPicPr>
          <p:nvPr/>
        </p:nvPicPr>
        <p:blipFill>
          <a:blip r:embed="rId2"/>
          <a:stretch>
            <a:fillRect/>
          </a:stretch>
        </p:blipFill>
        <p:spPr>
          <a:xfrm>
            <a:off x="658368" y="2748280"/>
            <a:ext cx="6307476" cy="1895689"/>
          </a:xfrm>
          <a:prstGeom prst="rect">
            <a:avLst/>
          </a:prstGeom>
        </p:spPr>
      </p:pic>
      <p:sp>
        <p:nvSpPr>
          <p:cNvPr id="9" name="TextBox 8"/>
          <p:cNvSpPr txBox="1"/>
          <p:nvPr/>
        </p:nvSpPr>
        <p:spPr>
          <a:xfrm>
            <a:off x="658368" y="4814824"/>
            <a:ext cx="6307476" cy="365760"/>
          </a:xfrm>
          <a:prstGeom prst="rect">
            <a:avLst/>
          </a:prstGeom>
          <a:noFill/>
        </p:spPr>
        <p:txBody>
          <a:bodyPr wrap="square" anchor="t" lIns="0" rIns="0" tIns="0" bIns="0">
            <a:spAutoFit/>
          </a:bodyPr>
          <a:lstStyle/>
          <a:p>
            <a:pPr algn="l">
              <a:lnSpc>
                <a:spcPct val="134000"/>
              </a:lnSpc>
            </a:pPr>
            <a:r>
              <a:rPr sz="1080" b="0" i="0">
                <a:solidFill>
                  <a:srgbClr val="6C7683"/>
                </a:solidFill>
                <a:latin typeface="Segoe UI"/>
              </a:rPr>
              <a:t>Every time we made the test stricter, the result got smaller — and on the realistic production test set it flipped negative.</a:t>
            </a:r>
          </a:p>
        </p:txBody>
      </p:sp>
      <p:sp>
        <p:nvSpPr>
          <p:cNvPr id="10" name="Rectangle 9"/>
          <p:cNvSpPr/>
          <p:nvPr/>
        </p:nvSpPr>
        <p:spPr>
          <a:xfrm>
            <a:off x="7509592" y="2803144"/>
            <a:ext cx="4023734"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91888" y="2880868"/>
            <a:ext cx="932790"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ROUND</a:t>
            </a:r>
          </a:p>
        </p:txBody>
      </p:sp>
      <p:sp>
        <p:nvSpPr>
          <p:cNvPr id="12" name="TextBox 11"/>
          <p:cNvSpPr txBox="1"/>
          <p:nvPr/>
        </p:nvSpPr>
        <p:spPr>
          <a:xfrm>
            <a:off x="8689270" y="2880868"/>
            <a:ext cx="310940"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DAYS</a:t>
            </a:r>
          </a:p>
        </p:txBody>
      </p:sp>
      <p:sp>
        <p:nvSpPr>
          <p:cNvPr id="13" name="TextBox 12"/>
          <p:cNvSpPr txBox="1"/>
          <p:nvPr/>
        </p:nvSpPr>
        <p:spPr>
          <a:xfrm>
            <a:off x="9164802" y="2880868"/>
            <a:ext cx="71331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AVERAGE GAIN</a:t>
            </a:r>
          </a:p>
        </p:txBody>
      </p:sp>
      <p:sp>
        <p:nvSpPr>
          <p:cNvPr id="14" name="TextBox 13"/>
          <p:cNvSpPr txBox="1"/>
          <p:nvPr/>
        </p:nvSpPr>
        <p:spPr>
          <a:xfrm>
            <a:off x="10042708" y="2880868"/>
            <a:ext cx="566996"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WORST DAY</a:t>
            </a:r>
          </a:p>
        </p:txBody>
      </p:sp>
      <p:sp>
        <p:nvSpPr>
          <p:cNvPr id="15" name="TextBox 14"/>
          <p:cNvSpPr txBox="1"/>
          <p:nvPr/>
        </p:nvSpPr>
        <p:spPr>
          <a:xfrm>
            <a:off x="10774296" y="2880868"/>
            <a:ext cx="676734"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VERDICT</a:t>
            </a:r>
          </a:p>
        </p:txBody>
      </p:sp>
      <p:sp>
        <p:nvSpPr>
          <p:cNvPr id="16" name="Rectangle 15"/>
          <p:cNvSpPr/>
          <p:nvPr/>
        </p:nvSpPr>
        <p:spPr>
          <a:xfrm>
            <a:off x="7509592" y="3077464"/>
            <a:ext cx="4023734"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91888" y="3127756"/>
            <a:ext cx="932790" cy="219456"/>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First look</a:t>
            </a:r>
          </a:p>
        </p:txBody>
      </p:sp>
      <p:sp>
        <p:nvSpPr>
          <p:cNvPr id="18" name="TextBox 17"/>
          <p:cNvSpPr txBox="1"/>
          <p:nvPr/>
        </p:nvSpPr>
        <p:spPr>
          <a:xfrm>
            <a:off x="8689270" y="3127756"/>
            <a:ext cx="310940" cy="219456"/>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5</a:t>
            </a:r>
          </a:p>
        </p:txBody>
      </p:sp>
      <p:sp>
        <p:nvSpPr>
          <p:cNvPr id="19" name="TextBox 18"/>
          <p:cNvSpPr txBox="1"/>
          <p:nvPr/>
        </p:nvSpPr>
        <p:spPr>
          <a:xfrm>
            <a:off x="9164802" y="3127756"/>
            <a:ext cx="713313" cy="219456"/>
          </a:xfrm>
          <a:prstGeom prst="rect">
            <a:avLst/>
          </a:prstGeom>
          <a:noFill/>
        </p:spPr>
        <p:txBody>
          <a:bodyPr wrap="square" anchor="t" lIns="0" rIns="0" tIns="0" bIns="0">
            <a:spAutoFit/>
          </a:bodyPr>
          <a:lstStyle/>
          <a:p>
            <a:pPr algn="r">
              <a:lnSpc>
                <a:spcPct val="112000"/>
              </a:lnSpc>
            </a:pPr>
            <a:r>
              <a:rPr sz="940" b="0" i="0">
                <a:solidFill>
                  <a:srgbClr val="2E7D5B"/>
                </a:solidFill>
                <a:latin typeface="Consolas"/>
              </a:rPr>
              <a:t>+25.09%</a:t>
            </a:r>
          </a:p>
        </p:txBody>
      </p:sp>
      <p:sp>
        <p:nvSpPr>
          <p:cNvPr id="20" name="TextBox 19"/>
          <p:cNvSpPr txBox="1"/>
          <p:nvPr/>
        </p:nvSpPr>
        <p:spPr>
          <a:xfrm>
            <a:off x="10042708" y="3127756"/>
            <a:ext cx="566996" cy="219456"/>
          </a:xfrm>
          <a:prstGeom prst="rect">
            <a:avLst/>
          </a:prstGeom>
          <a:noFill/>
        </p:spPr>
        <p:txBody>
          <a:bodyPr wrap="square" anchor="t" lIns="0" rIns="0" tIns="0" bIns="0">
            <a:spAutoFit/>
          </a:bodyPr>
          <a:lstStyle/>
          <a:p>
            <a:pPr algn="r">
              <a:lnSpc>
                <a:spcPct val="112000"/>
              </a:lnSpc>
            </a:pPr>
            <a:r>
              <a:rPr sz="940" b="0" i="0">
                <a:solidFill>
                  <a:srgbClr val="2E7D5B"/>
                </a:solidFill>
                <a:latin typeface="Consolas"/>
              </a:rPr>
              <a:t>+22.87%</a:t>
            </a:r>
          </a:p>
        </p:txBody>
      </p:sp>
      <p:sp>
        <p:nvSpPr>
          <p:cNvPr id="21" name="TextBox 20"/>
          <p:cNvSpPr txBox="1"/>
          <p:nvPr/>
        </p:nvSpPr>
        <p:spPr>
          <a:xfrm>
            <a:off x="10774296" y="3127756"/>
            <a:ext cx="676734" cy="219456"/>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Promising</a:t>
            </a:r>
          </a:p>
        </p:txBody>
      </p:sp>
      <p:sp>
        <p:nvSpPr>
          <p:cNvPr id="22" name="Rectangle 21"/>
          <p:cNvSpPr/>
          <p:nvPr/>
        </p:nvSpPr>
        <p:spPr>
          <a:xfrm>
            <a:off x="7509592" y="3351783"/>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09592" y="3351783"/>
            <a:ext cx="4023734"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91888" y="3402076"/>
            <a:ext cx="932790" cy="219456"/>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Wider test</a:t>
            </a:r>
          </a:p>
        </p:txBody>
      </p:sp>
      <p:sp>
        <p:nvSpPr>
          <p:cNvPr id="25" name="TextBox 24"/>
          <p:cNvSpPr txBox="1"/>
          <p:nvPr/>
        </p:nvSpPr>
        <p:spPr>
          <a:xfrm>
            <a:off x="8689270" y="3402076"/>
            <a:ext cx="310940" cy="219456"/>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12</a:t>
            </a:r>
          </a:p>
        </p:txBody>
      </p:sp>
      <p:sp>
        <p:nvSpPr>
          <p:cNvPr id="26" name="TextBox 25"/>
          <p:cNvSpPr txBox="1"/>
          <p:nvPr/>
        </p:nvSpPr>
        <p:spPr>
          <a:xfrm>
            <a:off x="9164802" y="3402076"/>
            <a:ext cx="713313" cy="219456"/>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+4.74%</a:t>
            </a:r>
          </a:p>
        </p:txBody>
      </p:sp>
      <p:sp>
        <p:nvSpPr>
          <p:cNvPr id="27" name="TextBox 26"/>
          <p:cNvSpPr txBox="1"/>
          <p:nvPr/>
        </p:nvSpPr>
        <p:spPr>
          <a:xfrm>
            <a:off x="10042708" y="3402076"/>
            <a:ext cx="566996" cy="219456"/>
          </a:xfrm>
          <a:prstGeom prst="rect">
            <a:avLst/>
          </a:prstGeom>
          <a:noFill/>
        </p:spPr>
        <p:txBody>
          <a:bodyPr wrap="square" anchor="t" lIns="0" rIns="0" tIns="0" bIns="0">
            <a:spAutoFit/>
          </a:bodyPr>
          <a:lstStyle/>
          <a:p>
            <a:pPr algn="r">
              <a:lnSpc>
                <a:spcPct val="112000"/>
              </a:lnSpc>
            </a:pPr>
            <a:r>
              <a:rPr sz="940" b="0" i="0">
                <a:solidFill>
                  <a:srgbClr val="9C3B35"/>
                </a:solidFill>
                <a:latin typeface="Consolas"/>
              </a:rPr>
              <a:t>−13.91%</a:t>
            </a:r>
          </a:p>
        </p:txBody>
      </p:sp>
      <p:sp>
        <p:nvSpPr>
          <p:cNvPr id="28" name="TextBox 27"/>
          <p:cNvSpPr txBox="1"/>
          <p:nvPr/>
        </p:nvSpPr>
        <p:spPr>
          <a:xfrm>
            <a:off x="10774296" y="3402076"/>
            <a:ext cx="676734" cy="219456"/>
          </a:xfrm>
          <a:prstGeom prst="rect">
            <a:avLst/>
          </a:prstGeom>
          <a:noFill/>
        </p:spPr>
        <p:txBody>
          <a:bodyPr wrap="square" anchor="t" lIns="0" rIns="0" tIns="0" bIns="0">
            <a:spAutoFit/>
          </a:bodyPr>
          <a:lstStyle/>
          <a:p>
            <a:pPr algn="r">
              <a:lnSpc>
                <a:spcPct val="112000"/>
              </a:lnSpc>
            </a:pPr>
            <a:r>
              <a:rPr sz="940" b="0" i="0">
                <a:solidFill>
                  <a:srgbClr val="9C3B35"/>
                </a:solidFill>
                <a:latin typeface="Consolas"/>
              </a:rPr>
              <a:t>Blocked</a:t>
            </a:r>
          </a:p>
        </p:txBody>
      </p:sp>
      <p:sp>
        <p:nvSpPr>
          <p:cNvPr id="29" name="Rectangle 28"/>
          <p:cNvSpPr/>
          <p:nvPr/>
        </p:nvSpPr>
        <p:spPr>
          <a:xfrm>
            <a:off x="7509592" y="3626103"/>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91888" y="3676395"/>
            <a:ext cx="932790" cy="219456"/>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Full campaign</a:t>
            </a:r>
          </a:p>
        </p:txBody>
      </p:sp>
      <p:sp>
        <p:nvSpPr>
          <p:cNvPr id="31" name="TextBox 30"/>
          <p:cNvSpPr txBox="1"/>
          <p:nvPr/>
        </p:nvSpPr>
        <p:spPr>
          <a:xfrm>
            <a:off x="8689270" y="3676395"/>
            <a:ext cx="310940" cy="219456"/>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30</a:t>
            </a:r>
          </a:p>
        </p:txBody>
      </p:sp>
      <p:sp>
        <p:nvSpPr>
          <p:cNvPr id="32" name="TextBox 31"/>
          <p:cNvSpPr txBox="1"/>
          <p:nvPr/>
        </p:nvSpPr>
        <p:spPr>
          <a:xfrm>
            <a:off x="9164802" y="3676395"/>
            <a:ext cx="713313" cy="219456"/>
          </a:xfrm>
          <a:prstGeom prst="rect">
            <a:avLst/>
          </a:prstGeom>
          <a:noFill/>
        </p:spPr>
        <p:txBody>
          <a:bodyPr wrap="square" anchor="t" lIns="0" rIns="0" tIns="0" bIns="0">
            <a:spAutoFit/>
          </a:bodyPr>
          <a:lstStyle/>
          <a:p>
            <a:pPr algn="r">
              <a:lnSpc>
                <a:spcPct val="112000"/>
              </a:lnSpc>
            </a:pPr>
            <a:r>
              <a:rPr sz="940" b="0" i="0">
                <a:solidFill>
                  <a:srgbClr val="2E7D5B"/>
                </a:solidFill>
                <a:latin typeface="Consolas"/>
              </a:rPr>
              <a:t>+10.52%</a:t>
            </a:r>
          </a:p>
        </p:txBody>
      </p:sp>
      <p:sp>
        <p:nvSpPr>
          <p:cNvPr id="33" name="TextBox 32"/>
          <p:cNvSpPr txBox="1"/>
          <p:nvPr/>
        </p:nvSpPr>
        <p:spPr>
          <a:xfrm>
            <a:off x="10042708" y="3676395"/>
            <a:ext cx="566996" cy="219456"/>
          </a:xfrm>
          <a:prstGeom prst="rect">
            <a:avLst/>
          </a:prstGeom>
          <a:noFill/>
        </p:spPr>
        <p:txBody>
          <a:bodyPr wrap="square" anchor="t" lIns="0" rIns="0" tIns="0" bIns="0">
            <a:spAutoFit/>
          </a:bodyPr>
          <a:lstStyle/>
          <a:p>
            <a:pPr algn="r">
              <a:lnSpc>
                <a:spcPct val="112000"/>
              </a:lnSpc>
            </a:pPr>
            <a:r>
              <a:rPr sz="940" b="0" i="0">
                <a:solidFill>
                  <a:srgbClr val="9C3B35"/>
                </a:solidFill>
                <a:latin typeface="Consolas"/>
              </a:rPr>
              <a:t>−23.50%</a:t>
            </a:r>
          </a:p>
        </p:txBody>
      </p:sp>
      <p:sp>
        <p:nvSpPr>
          <p:cNvPr id="34" name="TextBox 33"/>
          <p:cNvSpPr txBox="1"/>
          <p:nvPr/>
        </p:nvSpPr>
        <p:spPr>
          <a:xfrm>
            <a:off x="10774296" y="3676395"/>
            <a:ext cx="676734" cy="219456"/>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Demo only</a:t>
            </a:r>
          </a:p>
        </p:txBody>
      </p:sp>
      <p:sp>
        <p:nvSpPr>
          <p:cNvPr id="35" name="Rectangle 34"/>
          <p:cNvSpPr/>
          <p:nvPr/>
        </p:nvSpPr>
        <p:spPr>
          <a:xfrm>
            <a:off x="7509592" y="3900424"/>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09592" y="3900424"/>
            <a:ext cx="4023734" cy="274320"/>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91888" y="3950715"/>
            <a:ext cx="932790" cy="219456"/>
          </a:xfrm>
          <a:prstGeom prst="rect">
            <a:avLst/>
          </a:prstGeom>
          <a:noFill/>
        </p:spPr>
        <p:txBody>
          <a:bodyPr wrap="square" anchor="t" lIns="0" rIns="0" tIns="0" bIns="0">
            <a:spAutoFit/>
          </a:bodyPr>
          <a:lstStyle/>
          <a:p>
            <a:pPr algn="l">
              <a:lnSpc>
                <a:spcPct val="112000"/>
              </a:lnSpc>
            </a:pPr>
            <a:r>
              <a:rPr sz="960" b="1" i="0">
                <a:solidFill>
                  <a:srgbClr val="111721"/>
                </a:solidFill>
                <a:latin typeface="Segoe UI"/>
              </a:rPr>
              <a:t>Production test</a:t>
            </a:r>
          </a:p>
        </p:txBody>
      </p:sp>
      <p:sp>
        <p:nvSpPr>
          <p:cNvPr id="38" name="TextBox 37"/>
          <p:cNvSpPr txBox="1"/>
          <p:nvPr/>
        </p:nvSpPr>
        <p:spPr>
          <a:xfrm>
            <a:off x="8689270" y="3950715"/>
            <a:ext cx="310940" cy="219456"/>
          </a:xfrm>
          <a:prstGeom prst="rect">
            <a:avLst/>
          </a:prstGeom>
          <a:noFill/>
        </p:spPr>
        <p:txBody>
          <a:bodyPr wrap="square" anchor="t" lIns="0" rIns="0" tIns="0" bIns="0">
            <a:spAutoFit/>
          </a:bodyPr>
          <a:lstStyle/>
          <a:p>
            <a:pPr algn="r">
              <a:lnSpc>
                <a:spcPct val="112000"/>
              </a:lnSpc>
            </a:pPr>
            <a:r>
              <a:rPr sz="940" b="0" i="0">
                <a:solidFill>
                  <a:srgbClr val="3C4653"/>
                </a:solidFill>
                <a:latin typeface="Consolas"/>
              </a:rPr>
              <a:t>128</a:t>
            </a:r>
          </a:p>
        </p:txBody>
      </p:sp>
      <p:sp>
        <p:nvSpPr>
          <p:cNvPr id="39" name="TextBox 38"/>
          <p:cNvSpPr txBox="1"/>
          <p:nvPr/>
        </p:nvSpPr>
        <p:spPr>
          <a:xfrm>
            <a:off x="9164802" y="3950715"/>
            <a:ext cx="713313" cy="219456"/>
          </a:xfrm>
          <a:prstGeom prst="rect">
            <a:avLst/>
          </a:prstGeom>
          <a:noFill/>
        </p:spPr>
        <p:txBody>
          <a:bodyPr wrap="square" anchor="t" lIns="0" rIns="0" tIns="0" bIns="0">
            <a:spAutoFit/>
          </a:bodyPr>
          <a:lstStyle/>
          <a:p>
            <a:pPr algn="r">
              <a:lnSpc>
                <a:spcPct val="112000"/>
              </a:lnSpc>
            </a:pPr>
            <a:r>
              <a:rPr sz="940" b="0" i="0">
                <a:solidFill>
                  <a:srgbClr val="9C3B35"/>
                </a:solidFill>
                <a:latin typeface="Consolas"/>
              </a:rPr>
              <a:t>−13.30%</a:t>
            </a:r>
          </a:p>
        </p:txBody>
      </p:sp>
      <p:sp>
        <p:nvSpPr>
          <p:cNvPr id="40" name="TextBox 39"/>
          <p:cNvSpPr txBox="1"/>
          <p:nvPr/>
        </p:nvSpPr>
        <p:spPr>
          <a:xfrm>
            <a:off x="10042708" y="3950715"/>
            <a:ext cx="566996" cy="219456"/>
          </a:xfrm>
          <a:prstGeom prst="rect">
            <a:avLst/>
          </a:prstGeom>
          <a:noFill/>
        </p:spPr>
        <p:txBody>
          <a:bodyPr wrap="square" anchor="t" lIns="0" rIns="0" tIns="0" bIns="0">
            <a:spAutoFit/>
          </a:bodyPr>
          <a:lstStyle/>
          <a:p>
            <a:pPr algn="r">
              <a:lnSpc>
                <a:spcPct val="112000"/>
              </a:lnSpc>
            </a:pPr>
            <a:r>
              <a:rPr sz="940" b="0" i="0">
                <a:solidFill>
                  <a:srgbClr val="9C3B35"/>
                </a:solidFill>
                <a:latin typeface="Consolas"/>
              </a:rPr>
              <a:t>−36.22%</a:t>
            </a:r>
          </a:p>
        </p:txBody>
      </p:sp>
      <p:sp>
        <p:nvSpPr>
          <p:cNvPr id="41" name="TextBox 40"/>
          <p:cNvSpPr txBox="1"/>
          <p:nvPr/>
        </p:nvSpPr>
        <p:spPr>
          <a:xfrm>
            <a:off x="10774296" y="3950715"/>
            <a:ext cx="676734" cy="219456"/>
          </a:xfrm>
          <a:prstGeom prst="rect">
            <a:avLst/>
          </a:prstGeom>
          <a:noFill/>
        </p:spPr>
        <p:txBody>
          <a:bodyPr wrap="square" anchor="t" lIns="0" rIns="0" tIns="0" bIns="0">
            <a:spAutoFit/>
          </a:bodyPr>
          <a:lstStyle/>
          <a:p>
            <a:pPr algn="r">
              <a:lnSpc>
                <a:spcPct val="112000"/>
              </a:lnSpc>
            </a:pPr>
            <a:r>
              <a:rPr sz="940" b="0" i="0">
                <a:solidFill>
                  <a:srgbClr val="9C3B35"/>
                </a:solidFill>
                <a:latin typeface="Consolas"/>
              </a:rPr>
              <a:t>Rejected</a:t>
            </a:r>
          </a:p>
        </p:txBody>
      </p:sp>
      <p:sp>
        <p:nvSpPr>
          <p:cNvPr id="42" name="Rectangle 41"/>
          <p:cNvSpPr/>
          <p:nvPr/>
        </p:nvSpPr>
        <p:spPr>
          <a:xfrm>
            <a:off x="7509592" y="4174743"/>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509592" y="2803144"/>
            <a:ext cx="4023734" cy="1371599"/>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09592" y="4174743"/>
            <a:ext cx="4023734" cy="262128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509592" y="4174743"/>
            <a:ext cx="34747" cy="2621280"/>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47336" y="4321048"/>
            <a:ext cx="3566534" cy="201168"/>
          </a:xfrm>
          <a:prstGeom prst="rect">
            <a:avLst/>
          </a:prstGeom>
          <a:noFill/>
        </p:spPr>
        <p:txBody>
          <a:bodyPr wrap="square" anchor="t" lIns="0" rIns="0" tIns="0" bIns="0">
            <a:spAutoFit/>
          </a:bodyPr>
          <a:lstStyle/>
          <a:p>
            <a:pPr algn="l">
              <a:lnSpc>
                <a:spcPct val="100000"/>
              </a:lnSpc>
            </a:pPr>
            <a:r>
              <a:rPr sz="950" b="1" i="0">
                <a:solidFill>
                  <a:srgbClr val="9C3B35"/>
                </a:solidFill>
                <a:latin typeface="Consolas"/>
              </a:rPr>
              <a:t>RECONCILING +10.52% WITH −13.30%</a:t>
            </a:r>
          </a:p>
        </p:txBody>
      </p:sp>
      <p:sp>
        <p:nvSpPr>
          <p:cNvPr id="47" name="TextBox 46"/>
          <p:cNvSpPr txBox="1"/>
          <p:nvPr/>
        </p:nvSpPr>
        <p:spPr>
          <a:xfrm>
            <a:off x="7747336" y="4577080"/>
            <a:ext cx="3520814" cy="2164080"/>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Both used the same controller, settings and metric. What differed was the mix of test days. The 30-day set was deliberately balanced across four stress types, and all the gain came from planned-failure days (+19% there) while surprise and mixed days were already slightly negative. The production set was a larger, different mix with no overlap. On it, only 2 of 128 days improved.</a:t>
            </a:r>
          </a:p>
        </p:txBody>
      </p:sp>
      <p:sp>
        <p:nvSpPr>
          <p:cNvPr id="48" name="TextBox 47"/>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EXPERIMENT 4 · RESULT</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128 production test days</a:t>
            </a:r>
          </a:p>
        </p:txBody>
      </p:sp>
      <p:sp>
        <p:nvSpPr>
          <p:cNvPr id="5" name="TextBox 4"/>
          <p:cNvSpPr txBox="1"/>
          <p:nvPr/>
        </p:nvSpPr>
        <p:spPr>
          <a:xfrm>
            <a:off x="658368" y="1463040"/>
            <a:ext cx="8482468" cy="344170"/>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The simple rule is set to 100 on every measure. Lower is better.</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pic>
        <p:nvPicPr>
          <p:cNvPr id="8" name="Picture 7" descr="c_prod128.png"/>
          <p:cNvPicPr>
            <a:picLocks noChangeAspect="1"/>
          </p:cNvPicPr>
          <p:nvPr/>
        </p:nvPicPr>
        <p:blipFill>
          <a:blip r:embed="rId2"/>
          <a:stretch>
            <a:fillRect/>
          </a:stretch>
        </p:blipFill>
        <p:spPr>
          <a:xfrm>
            <a:off x="658368" y="2063242"/>
            <a:ext cx="7394972" cy="2703397"/>
          </a:xfrm>
          <a:prstGeom prst="rect">
            <a:avLst/>
          </a:prstGeom>
        </p:spPr>
      </p:pic>
      <p:sp>
        <p:nvSpPr>
          <p:cNvPr id="9" name="Rectangle 8"/>
          <p:cNvSpPr/>
          <p:nvPr/>
        </p:nvSpPr>
        <p:spPr>
          <a:xfrm>
            <a:off x="8379589" y="2241550"/>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62469" y="2172970"/>
            <a:ext cx="2970858"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Reactive lands at 198–221%</a:t>
            </a:r>
          </a:p>
        </p:txBody>
      </p:sp>
      <p:sp>
        <p:nvSpPr>
          <p:cNvPr id="11" name="TextBox 10"/>
          <p:cNvSpPr txBox="1"/>
          <p:nvPr/>
        </p:nvSpPr>
        <p:spPr>
          <a:xfrm>
            <a:off x="8562469" y="2417724"/>
            <a:ext cx="2970858"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on every single loss measure. It is the worst controller we tested.</a:t>
            </a:r>
          </a:p>
        </p:txBody>
      </p:sp>
      <p:sp>
        <p:nvSpPr>
          <p:cNvPr id="12" name="Rectangle 11"/>
          <p:cNvSpPr/>
          <p:nvPr/>
        </p:nvSpPr>
        <p:spPr>
          <a:xfrm>
            <a:off x="8379589" y="2928213"/>
            <a:ext cx="315373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79589" y="3097377"/>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62469" y="3028797"/>
            <a:ext cx="2970858"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MPC improves that to 105–117%</a:t>
            </a:r>
          </a:p>
        </p:txBody>
      </p:sp>
      <p:sp>
        <p:nvSpPr>
          <p:cNvPr id="15" name="TextBox 14"/>
          <p:cNvSpPr txBox="1"/>
          <p:nvPr/>
        </p:nvSpPr>
        <p:spPr>
          <a:xfrm>
            <a:off x="8562469" y="3273552"/>
            <a:ext cx="2970858" cy="637717"/>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much better than reactive, and still consistently worse than doing nothing clever.</a:t>
            </a:r>
          </a:p>
        </p:txBody>
      </p:sp>
      <p:sp>
        <p:nvSpPr>
          <p:cNvPr id="16" name="Rectangle 15"/>
          <p:cNvSpPr/>
          <p:nvPr/>
        </p:nvSpPr>
        <p:spPr>
          <a:xfrm>
            <a:off x="8379589" y="3966133"/>
            <a:ext cx="3153738"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79589" y="4135297"/>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62469" y="4066717"/>
            <a:ext cx="2970858"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The simple rule wins on all four</a:t>
            </a:r>
          </a:p>
        </p:txBody>
      </p:sp>
      <p:sp>
        <p:nvSpPr>
          <p:cNvPr id="19" name="TextBox 18"/>
          <p:cNvSpPr txBox="1"/>
          <p:nvPr/>
        </p:nvSpPr>
        <p:spPr>
          <a:xfrm>
            <a:off x="8562469" y="4311472"/>
            <a:ext cx="2970858" cy="637717"/>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uplink overload, downlink overload, uplink drops and downlink drops — simultaneously.</a:t>
            </a:r>
          </a:p>
        </p:txBody>
      </p:sp>
      <p:sp>
        <p:nvSpPr>
          <p:cNvPr id="20" name="TextBox 19"/>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EXPERIMENT 5</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Learning how long sessions last</a:t>
            </a:r>
          </a:p>
        </p:txBody>
      </p:sp>
      <p:sp>
        <p:nvSpPr>
          <p:cNvPr id="5" name="TextBox 4"/>
          <p:cNvSpPr txBox="1"/>
          <p:nvPr/>
        </p:nvSpPr>
        <p:spPr>
          <a:xfrm>
            <a:off x="658368" y="1463040"/>
            <a:ext cx="8482468" cy="1047496"/>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MPC needs to know how long the sessions it places will occupy a box. Using the simulator's own setting would be cheating, so we estimate it from ordinary start/stop logs — using Kaplan–Meier, which handles the awkward part: many sessions are still running when we look.</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pic>
        <p:nvPicPr>
          <p:cNvPr id="8" name="Picture 7" descr="c_surv.png"/>
          <p:cNvPicPr>
            <a:picLocks noChangeAspect="1"/>
          </p:cNvPicPr>
          <p:nvPr/>
        </p:nvPicPr>
        <p:blipFill>
          <a:blip r:embed="rId2"/>
          <a:stretch>
            <a:fillRect/>
          </a:stretch>
        </p:blipFill>
        <p:spPr>
          <a:xfrm>
            <a:off x="658368" y="2766568"/>
            <a:ext cx="6742474" cy="2445890"/>
          </a:xfrm>
          <a:prstGeom prst="rect">
            <a:avLst/>
          </a:prstGeom>
        </p:spPr>
      </p:pic>
      <p:sp>
        <p:nvSpPr>
          <p:cNvPr id="9" name="Rectangle 8"/>
          <p:cNvSpPr/>
          <p:nvPr/>
        </p:nvSpPr>
        <p:spPr>
          <a:xfrm>
            <a:off x="7727091" y="2780284"/>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971" y="2711704"/>
            <a:ext cx="3623355" cy="268630"/>
          </a:xfrm>
          <a:prstGeom prst="rect">
            <a:avLst/>
          </a:prstGeom>
          <a:noFill/>
        </p:spPr>
        <p:txBody>
          <a:bodyPr wrap="square" anchor="t" lIns="0" rIns="0" tIns="0" bIns="0">
            <a:spAutoFit/>
          </a:bodyPr>
          <a:lstStyle/>
          <a:p>
            <a:pPr algn="l">
              <a:lnSpc>
                <a:spcPct val="128000"/>
              </a:lnSpc>
            </a:pPr>
            <a:r>
              <a:rPr sz="1090" b="1" i="0">
                <a:solidFill>
                  <a:srgbClr val="111721"/>
                </a:solidFill>
                <a:latin typeface="Segoe UI"/>
              </a:rPr>
              <a:t>More observations, better estimates</a:t>
            </a:r>
          </a:p>
        </p:txBody>
      </p:sp>
      <p:sp>
        <p:nvSpPr>
          <p:cNvPr id="11" name="TextBox 10"/>
          <p:cNvSpPr txBox="1"/>
          <p:nvPr/>
        </p:nvSpPr>
        <p:spPr>
          <a:xfrm>
            <a:off x="7909971" y="2948330"/>
            <a:ext cx="3623355" cy="438607"/>
          </a:xfrm>
          <a:prstGeom prst="rect">
            <a:avLst/>
          </a:prstGeom>
          <a:noFill/>
        </p:spPr>
        <p:txBody>
          <a:bodyPr wrap="square" anchor="t" lIns="0" rIns="0" tIns="0" bIns="0">
            <a:spAutoFit/>
          </a:bodyPr>
          <a:lstStyle/>
          <a:p>
            <a:pPr algn="l">
              <a:lnSpc>
                <a:spcPct val="134000"/>
              </a:lnSpc>
            </a:pPr>
            <a:r>
              <a:rPr sz="1020" b="0" i="0">
                <a:solidFill>
                  <a:srgbClr val="3C4653"/>
                </a:solidFill>
                <a:latin typeface="Segoe UI"/>
              </a:rPr>
              <a:t>With 10 000 sessions per group the estimate is off by 0.42%. A fixed guess is off by 33.3%.</a:t>
            </a:r>
          </a:p>
        </p:txBody>
      </p:sp>
      <p:sp>
        <p:nvSpPr>
          <p:cNvPr id="12" name="Rectangle 11"/>
          <p:cNvSpPr/>
          <p:nvPr/>
        </p:nvSpPr>
        <p:spPr>
          <a:xfrm>
            <a:off x="7727091" y="3400653"/>
            <a:ext cx="380623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27091" y="3528669"/>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971" y="3460089"/>
            <a:ext cx="3623355" cy="268630"/>
          </a:xfrm>
          <a:prstGeom prst="rect">
            <a:avLst/>
          </a:prstGeom>
          <a:noFill/>
        </p:spPr>
        <p:txBody>
          <a:bodyPr wrap="square" anchor="t" lIns="0" rIns="0" tIns="0" bIns="0">
            <a:spAutoFit/>
          </a:bodyPr>
          <a:lstStyle/>
          <a:p>
            <a:pPr algn="l">
              <a:lnSpc>
                <a:spcPct val="128000"/>
              </a:lnSpc>
            </a:pPr>
            <a:r>
              <a:rPr sz="1090" b="1" i="0">
                <a:solidFill>
                  <a:srgbClr val="111721"/>
                </a:solidFill>
                <a:latin typeface="Segoe UI"/>
              </a:rPr>
              <a:t>We tested it blind</a:t>
            </a:r>
          </a:p>
        </p:txBody>
      </p:sp>
      <p:sp>
        <p:nvSpPr>
          <p:cNvPr id="15" name="TextBox 14"/>
          <p:cNvSpPr txBox="1"/>
          <p:nvPr/>
        </p:nvSpPr>
        <p:spPr>
          <a:xfrm>
            <a:off x="7909971" y="3696715"/>
            <a:ext cx="3623355" cy="438607"/>
          </a:xfrm>
          <a:prstGeom prst="rect">
            <a:avLst/>
          </a:prstGeom>
          <a:noFill/>
        </p:spPr>
        <p:txBody>
          <a:bodyPr wrap="square" anchor="t" lIns="0" rIns="0" tIns="0" bIns="0">
            <a:spAutoFit/>
          </a:bodyPr>
          <a:lstStyle/>
          <a:p>
            <a:pPr algn="l">
              <a:lnSpc>
                <a:spcPct val="134000"/>
              </a:lnSpc>
            </a:pPr>
            <a:r>
              <a:rPr sz="1020" b="0" i="0">
                <a:solidFill>
                  <a:srgbClr val="3C4653"/>
                </a:solidFill>
                <a:latin typeface="Segoe UI"/>
              </a:rPr>
              <a:t>25 trials against each of five distributions it was never told about. Average error 2.9–3.5%.</a:t>
            </a:r>
          </a:p>
        </p:txBody>
      </p:sp>
      <p:sp>
        <p:nvSpPr>
          <p:cNvPr id="16" name="Rectangle 15"/>
          <p:cNvSpPr/>
          <p:nvPr/>
        </p:nvSpPr>
        <p:spPr>
          <a:xfrm>
            <a:off x="7727091" y="4149039"/>
            <a:ext cx="380623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27091" y="4277055"/>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971" y="4208475"/>
            <a:ext cx="3623355" cy="268630"/>
          </a:xfrm>
          <a:prstGeom prst="rect">
            <a:avLst/>
          </a:prstGeom>
          <a:noFill/>
        </p:spPr>
        <p:txBody>
          <a:bodyPr wrap="square" anchor="t" lIns="0" rIns="0" tIns="0" bIns="0">
            <a:spAutoFit/>
          </a:bodyPr>
          <a:lstStyle/>
          <a:p>
            <a:pPr algn="l">
              <a:lnSpc>
                <a:spcPct val="128000"/>
              </a:lnSpc>
            </a:pPr>
            <a:r>
              <a:rPr sz="1090" b="1" i="0">
                <a:solidFill>
                  <a:srgbClr val="111721"/>
                </a:solidFill>
                <a:latin typeface="Segoe UI"/>
              </a:rPr>
              <a:t>It handles drift</a:t>
            </a:r>
          </a:p>
        </p:txBody>
      </p:sp>
      <p:sp>
        <p:nvSpPr>
          <p:cNvPr id="19" name="TextBox 18"/>
          <p:cNvSpPr txBox="1"/>
          <p:nvPr/>
        </p:nvSpPr>
        <p:spPr>
          <a:xfrm>
            <a:off x="7909971" y="4445101"/>
            <a:ext cx="3623355" cy="438607"/>
          </a:xfrm>
          <a:prstGeom prst="rect">
            <a:avLst/>
          </a:prstGeom>
          <a:noFill/>
        </p:spPr>
        <p:txBody>
          <a:bodyPr wrap="square" anchor="t" lIns="0" rIns="0" tIns="0" bIns="0">
            <a:spAutoFit/>
          </a:bodyPr>
          <a:lstStyle/>
          <a:p>
            <a:pPr algn="l">
              <a:lnSpc>
                <a:spcPct val="134000"/>
              </a:lnSpc>
            </a:pPr>
            <a:r>
              <a:rPr sz="1020" b="0" i="0">
                <a:solidFill>
                  <a:srgbClr val="3C4653"/>
                </a:solidFill>
                <a:latin typeface="Segoe UI"/>
              </a:rPr>
              <a:t>Drift mid-experiment raised error to 4.2%; re-estimating brought it back to 2.75%.</a:t>
            </a:r>
          </a:p>
        </p:txBody>
      </p:sp>
      <p:sp>
        <p:nvSpPr>
          <p:cNvPr id="20" name="Rectangle 19"/>
          <p:cNvSpPr/>
          <p:nvPr/>
        </p:nvSpPr>
        <p:spPr>
          <a:xfrm>
            <a:off x="7727091" y="4897424"/>
            <a:ext cx="380623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27091" y="5025440"/>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971" y="4956860"/>
            <a:ext cx="3623355" cy="268630"/>
          </a:xfrm>
          <a:prstGeom prst="rect">
            <a:avLst/>
          </a:prstGeom>
          <a:noFill/>
        </p:spPr>
        <p:txBody>
          <a:bodyPr wrap="square" anchor="t" lIns="0" rIns="0" tIns="0" bIns="0">
            <a:spAutoFit/>
          </a:bodyPr>
          <a:lstStyle/>
          <a:p>
            <a:pPr algn="l">
              <a:lnSpc>
                <a:spcPct val="128000"/>
              </a:lnSpc>
            </a:pPr>
            <a:r>
              <a:rPr sz="1090" b="1" i="0">
                <a:solidFill>
                  <a:srgbClr val="111721"/>
                </a:solidFill>
                <a:latin typeface="Segoe UI"/>
              </a:rPr>
              <a:t>It fails safe</a:t>
            </a:r>
          </a:p>
        </p:txBody>
      </p:sp>
      <p:sp>
        <p:nvSpPr>
          <p:cNvPr id="23" name="TextBox 22"/>
          <p:cNvSpPr txBox="1"/>
          <p:nvPr/>
        </p:nvSpPr>
        <p:spPr>
          <a:xfrm>
            <a:off x="7909971" y="5193487"/>
            <a:ext cx="3623355" cy="438607"/>
          </a:xfrm>
          <a:prstGeom prst="rect">
            <a:avLst/>
          </a:prstGeom>
          <a:noFill/>
        </p:spPr>
        <p:txBody>
          <a:bodyPr wrap="square" anchor="t" lIns="0" rIns="0" tIns="0" bIns="0">
            <a:spAutoFit/>
          </a:bodyPr>
          <a:lstStyle/>
          <a:p>
            <a:pPr algn="l">
              <a:lnSpc>
                <a:spcPct val="134000"/>
              </a:lnSpc>
            </a:pPr>
            <a:r>
              <a:rPr sz="1020" b="0" i="0">
                <a:solidFill>
                  <a:srgbClr val="3C4653"/>
                </a:solidFill>
                <a:latin typeface="Segoe UI"/>
              </a:rPr>
              <a:t>Stale data triggered a fallback to the simple rule in 100% of trials.</a:t>
            </a:r>
          </a:p>
        </p:txBody>
      </p:sp>
      <p:sp>
        <p:nvSpPr>
          <p:cNvPr id="24" name="Rectangle 23"/>
          <p:cNvSpPr/>
          <p:nvPr/>
        </p:nvSpPr>
        <p:spPr>
          <a:xfrm>
            <a:off x="658368" y="5015992"/>
            <a:ext cx="10874959" cy="117043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5015992"/>
            <a:ext cx="34747" cy="1170432"/>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5162296"/>
            <a:ext cx="10417759" cy="201168"/>
          </a:xfrm>
          <a:prstGeom prst="rect">
            <a:avLst/>
          </a:prstGeom>
          <a:noFill/>
        </p:spPr>
        <p:txBody>
          <a:bodyPr wrap="square" anchor="t" lIns="0" rIns="0" tIns="0" bIns="0">
            <a:spAutoFit/>
          </a:bodyPr>
          <a:lstStyle/>
          <a:p>
            <a:pPr algn="l">
              <a:lnSpc>
                <a:spcPct val="100000"/>
              </a:lnSpc>
            </a:pPr>
            <a:r>
              <a:rPr sz="950" b="1" i="0">
                <a:solidFill>
                  <a:srgbClr val="B5761F"/>
                </a:solidFill>
                <a:latin typeface="Consolas"/>
              </a:rPr>
              <a:t>THE ESTIMATOR WORKS. IT JUST DOESN'T HELP.</a:t>
            </a:r>
          </a:p>
        </p:txBody>
      </p:sp>
      <p:sp>
        <p:nvSpPr>
          <p:cNvPr id="27" name="TextBox 26"/>
          <p:cNvSpPr txBox="1"/>
          <p:nvPr/>
        </p:nvSpPr>
        <p:spPr>
          <a:xfrm>
            <a:off x="896112" y="5418328"/>
            <a:ext cx="10372039" cy="713232"/>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Feeding these curves into MPC changed almost nothing. Across twelve test days: the perfect oracle curve gave +11.22%, the accurate estimated curve gave +9.91%, and a deliberately wrong uniform curve — off by 40.5% — gave the best result of all at +12.25%. In this setting, survival accuracy and control quality are essentially unrelated.</a:t>
            </a:r>
          </a:p>
        </p:txBody>
      </p:sp>
      <p:sp>
        <p:nvSpPr>
          <p:cNvPr id="28" name="TextBox 27"/>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EXPERIMENT 6</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Pre-drain, and an impossible trade-off</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If failures matter more than demand, attack failures directly. Pre-drain does one thing: when we know a box will lose capacity soon, stop sending it new sessions ahead of time. Small problem — 648 unknowns — solves in about 30 milliseconds.</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pic>
        <p:nvPicPr>
          <p:cNvPr id="8" name="Picture 7" descr="c_frontier.png"/>
          <p:cNvPicPr>
            <a:picLocks noChangeAspect="1"/>
          </p:cNvPicPr>
          <p:nvPr/>
        </p:nvPicPr>
        <p:blipFill>
          <a:blip r:embed="rId2"/>
          <a:stretch>
            <a:fillRect/>
          </a:stretch>
        </p:blipFill>
        <p:spPr>
          <a:xfrm>
            <a:off x="658368" y="2513838"/>
            <a:ext cx="6524975" cy="2332231"/>
          </a:xfrm>
          <a:prstGeom prst="rect">
            <a:avLst/>
          </a:prstGeom>
        </p:spPr>
      </p:pic>
      <p:sp>
        <p:nvSpPr>
          <p:cNvPr id="9" name="Rectangle 8"/>
          <p:cNvSpPr/>
          <p:nvPr/>
        </p:nvSpPr>
        <p:spPr>
          <a:xfrm>
            <a:off x="7509592" y="2564130"/>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2472" y="2495550"/>
            <a:ext cx="3840854"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Each dot is one configuration</a:t>
            </a:r>
          </a:p>
        </p:txBody>
      </p:sp>
      <p:sp>
        <p:nvSpPr>
          <p:cNvPr id="11" name="TextBox 10"/>
          <p:cNvSpPr txBox="1"/>
          <p:nvPr/>
        </p:nvSpPr>
        <p:spPr>
          <a:xfrm>
            <a:off x="7692472" y="2737053"/>
            <a:ext cx="3840854" cy="448818"/>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Average gain up the axis, worst-day loss across it. Bubble size is how much routing churn it causes.</a:t>
            </a:r>
          </a:p>
        </p:txBody>
      </p:sp>
      <p:sp>
        <p:nvSpPr>
          <p:cNvPr id="12" name="Rectangle 11"/>
          <p:cNvSpPr/>
          <p:nvPr/>
        </p:nvSpPr>
        <p:spPr>
          <a:xfrm>
            <a:off x="7509592" y="3213303"/>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09592" y="3355035"/>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2472" y="3286455"/>
            <a:ext cx="3840854"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The green box is the release zone</a:t>
            </a:r>
          </a:p>
        </p:txBody>
      </p:sp>
      <p:sp>
        <p:nvSpPr>
          <p:cNvPr id="15" name="TextBox 14"/>
          <p:cNvSpPr txBox="1"/>
          <p:nvPr/>
        </p:nvSpPr>
        <p:spPr>
          <a:xfrm>
            <a:off x="7692472" y="3527958"/>
            <a:ext cx="3840854" cy="270129"/>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A configuration must land inside it. Nothing does.</a:t>
            </a:r>
          </a:p>
        </p:txBody>
      </p:sp>
      <p:sp>
        <p:nvSpPr>
          <p:cNvPr id="16" name="Rectangle 15"/>
          <p:cNvSpPr/>
          <p:nvPr/>
        </p:nvSpPr>
        <p:spPr>
          <a:xfrm>
            <a:off x="7509592" y="3825519"/>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09592" y="3967251"/>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2472" y="3898671"/>
            <a:ext cx="3840854"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Acting strongly</a:t>
            </a:r>
          </a:p>
        </p:txBody>
      </p:sp>
      <p:sp>
        <p:nvSpPr>
          <p:cNvPr id="19" name="TextBox 18"/>
          <p:cNvSpPr txBox="1"/>
          <p:nvPr/>
        </p:nvSpPr>
        <p:spPr>
          <a:xfrm>
            <a:off x="7692472" y="4140174"/>
            <a:ext cx="3840854" cy="270129"/>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buys a good average and an unacceptable worst day.</a:t>
            </a:r>
          </a:p>
        </p:txBody>
      </p:sp>
      <p:sp>
        <p:nvSpPr>
          <p:cNvPr id="20" name="Rectangle 19"/>
          <p:cNvSpPr/>
          <p:nvPr/>
        </p:nvSpPr>
        <p:spPr>
          <a:xfrm>
            <a:off x="7509592" y="4437735"/>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09592" y="4579467"/>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2472" y="4510887"/>
            <a:ext cx="3840854"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Acting gently</a:t>
            </a:r>
          </a:p>
        </p:txBody>
      </p:sp>
      <p:sp>
        <p:nvSpPr>
          <p:cNvPr id="23" name="TextBox 22"/>
          <p:cNvSpPr txBox="1"/>
          <p:nvPr/>
        </p:nvSpPr>
        <p:spPr>
          <a:xfrm>
            <a:off x="7692472" y="4752390"/>
            <a:ext cx="3840854" cy="270129"/>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is safe and gains too little.</a:t>
            </a:r>
          </a:p>
        </p:txBody>
      </p:sp>
      <p:sp>
        <p:nvSpPr>
          <p:cNvPr id="24" name="Rectangle 23"/>
          <p:cNvSpPr/>
          <p:nvPr/>
        </p:nvSpPr>
        <p:spPr>
          <a:xfrm>
            <a:off x="7509592" y="5049951"/>
            <a:ext cx="402373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09592" y="5191683"/>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92472" y="5123103"/>
            <a:ext cx="3840854" cy="273507"/>
          </a:xfrm>
          <a:prstGeom prst="rect">
            <a:avLst/>
          </a:prstGeom>
          <a:noFill/>
        </p:spPr>
        <p:txBody>
          <a:bodyPr wrap="square" anchor="t" lIns="0" rIns="0" tIns="0" bIns="0">
            <a:spAutoFit/>
          </a:bodyPr>
          <a:lstStyle/>
          <a:p>
            <a:pPr algn="l">
              <a:lnSpc>
                <a:spcPct val="128000"/>
              </a:lnSpc>
            </a:pPr>
            <a:r>
              <a:rPr sz="1120" b="1" i="0">
                <a:solidFill>
                  <a:srgbClr val="111721"/>
                </a:solidFill>
                <a:latin typeface="Segoe UI"/>
              </a:rPr>
              <a:t>The closest miss</a:t>
            </a:r>
          </a:p>
        </p:txBody>
      </p:sp>
      <p:sp>
        <p:nvSpPr>
          <p:cNvPr id="27" name="TextBox 26"/>
          <p:cNvSpPr txBox="1"/>
          <p:nvPr/>
        </p:nvSpPr>
        <p:spPr>
          <a:xfrm>
            <a:off x="7692472" y="5364607"/>
            <a:ext cx="3840854" cy="627507"/>
          </a:xfrm>
          <a:prstGeom prst="rect">
            <a:avLst/>
          </a:prstGeom>
          <a:noFill/>
        </p:spPr>
        <p:txBody>
          <a:bodyPr wrap="square" anchor="t" lIns="0" rIns="0" tIns="0" bIns="0">
            <a:spAutoFit/>
          </a:bodyPr>
          <a:lstStyle/>
          <a:p>
            <a:pPr algn="l">
              <a:lnSpc>
                <a:spcPct val="134000"/>
              </a:lnSpc>
            </a:pPr>
            <a:r>
              <a:rPr sz="1050" b="0" i="0">
                <a:solidFill>
                  <a:srgbClr val="3C4653"/>
                </a:solidFill>
                <a:latin typeface="Segoe UI"/>
              </a:rPr>
              <a:t>50% strength passed ten of eleven checks and failed the worst-day limit by 0.37 percentage points. We did not relax the limit.</a:t>
            </a:r>
          </a:p>
        </p:txBody>
      </p:sp>
      <p:sp>
        <p:nvSpPr>
          <p:cNvPr id="28" name="TextBox 27"/>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EXPERIMENT 6 · DETAIL</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Every pre-drain configuration</a:t>
            </a:r>
          </a:p>
        </p:txBody>
      </p:sp>
      <p:sp>
        <p:nvSpPr>
          <p:cNvPr id="5" name="TextBox 4"/>
          <p:cNvSpPr txBox="1"/>
          <p:nvPr/>
        </p:nvSpPr>
        <p:spPr>
          <a:xfrm>
            <a:off x="658368" y="1463040"/>
            <a:ext cx="8482468" cy="344170"/>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240 test days on fresh data. A candidate must pass every check, not most of them.</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sp>
        <p:nvSpPr>
          <p:cNvPr id="8" name="Rectangle 7"/>
          <p:cNvSpPr/>
          <p:nvPr/>
        </p:nvSpPr>
        <p:spPr>
          <a:xfrm>
            <a:off x="658368" y="2063242"/>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140966"/>
            <a:ext cx="1684151"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CONFIGURATION</a:t>
            </a:r>
          </a:p>
        </p:txBody>
      </p:sp>
      <p:sp>
        <p:nvSpPr>
          <p:cNvPr id="10" name="TextBox 9"/>
          <p:cNvSpPr txBox="1"/>
          <p:nvPr/>
        </p:nvSpPr>
        <p:spPr>
          <a:xfrm>
            <a:off x="2589407" y="2140966"/>
            <a:ext cx="103165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AVERAGE GAIN</a:t>
            </a:r>
          </a:p>
        </p:txBody>
      </p:sp>
      <p:sp>
        <p:nvSpPr>
          <p:cNvPr id="11" name="TextBox 10"/>
          <p:cNvSpPr txBox="1"/>
          <p:nvPr/>
        </p:nvSpPr>
        <p:spPr>
          <a:xfrm>
            <a:off x="3785652" y="2140966"/>
            <a:ext cx="1466651"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95% RANGE</a:t>
            </a:r>
          </a:p>
        </p:txBody>
      </p:sp>
      <p:sp>
        <p:nvSpPr>
          <p:cNvPr id="12" name="TextBox 11"/>
          <p:cNvSpPr txBox="1"/>
          <p:nvPr/>
        </p:nvSpPr>
        <p:spPr>
          <a:xfrm>
            <a:off x="5416896" y="2140966"/>
            <a:ext cx="92290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WORST DAY</a:t>
            </a:r>
          </a:p>
        </p:txBody>
      </p:sp>
      <p:sp>
        <p:nvSpPr>
          <p:cNvPr id="13" name="TextBox 12"/>
          <p:cNvSpPr txBox="1"/>
          <p:nvPr/>
        </p:nvSpPr>
        <p:spPr>
          <a:xfrm>
            <a:off x="6504392" y="2140966"/>
            <a:ext cx="1249152"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PLANNED FAILURES</a:t>
            </a:r>
          </a:p>
        </p:txBody>
      </p:sp>
      <p:sp>
        <p:nvSpPr>
          <p:cNvPr id="14" name="TextBox 13"/>
          <p:cNvSpPr txBox="1"/>
          <p:nvPr/>
        </p:nvSpPr>
        <p:spPr>
          <a:xfrm>
            <a:off x="7918137" y="2140966"/>
            <a:ext cx="103165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MIXED STRESS</a:t>
            </a:r>
          </a:p>
        </p:txBody>
      </p:sp>
      <p:sp>
        <p:nvSpPr>
          <p:cNvPr id="15" name="TextBox 14"/>
          <p:cNvSpPr txBox="1"/>
          <p:nvPr/>
        </p:nvSpPr>
        <p:spPr>
          <a:xfrm>
            <a:off x="9114382" y="2140966"/>
            <a:ext cx="103165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SLOWEST DECISION</a:t>
            </a:r>
          </a:p>
        </p:txBody>
      </p:sp>
      <p:sp>
        <p:nvSpPr>
          <p:cNvPr id="16" name="TextBox 15"/>
          <p:cNvSpPr txBox="1"/>
          <p:nvPr/>
        </p:nvSpPr>
        <p:spPr>
          <a:xfrm>
            <a:off x="10310628" y="2140966"/>
            <a:ext cx="114040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FAILED ON</a:t>
            </a:r>
          </a:p>
        </p:txBody>
      </p:sp>
      <p:sp>
        <p:nvSpPr>
          <p:cNvPr id="17" name="Rectangle 16"/>
          <p:cNvSpPr/>
          <p:nvPr/>
        </p:nvSpPr>
        <p:spPr>
          <a:xfrm>
            <a:off x="658368" y="2337562"/>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2387854"/>
            <a:ext cx="1684151" cy="205739"/>
          </a:xfrm>
          <a:prstGeom prst="rect">
            <a:avLst/>
          </a:prstGeom>
          <a:noFill/>
        </p:spPr>
        <p:txBody>
          <a:bodyPr wrap="square" anchor="t" lIns="0" rIns="0" tIns="0" bIns="0">
            <a:spAutoFit/>
          </a:bodyPr>
          <a:lstStyle/>
          <a:p>
            <a:pPr algn="l">
              <a:lnSpc>
                <a:spcPct val="112000"/>
              </a:lnSpc>
            </a:pPr>
            <a:r>
              <a:rPr sz="919" b="1" i="0">
                <a:solidFill>
                  <a:srgbClr val="111721"/>
                </a:solidFill>
                <a:latin typeface="Segoe UI"/>
              </a:rPr>
              <a:t>Full strength</a:t>
            </a:r>
          </a:p>
        </p:txBody>
      </p:sp>
      <p:sp>
        <p:nvSpPr>
          <p:cNvPr id="19" name="TextBox 18"/>
          <p:cNvSpPr txBox="1"/>
          <p:nvPr/>
        </p:nvSpPr>
        <p:spPr>
          <a:xfrm>
            <a:off x="2589407" y="2387854"/>
            <a:ext cx="1031653"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+18.41%</a:t>
            </a:r>
          </a:p>
        </p:txBody>
      </p:sp>
      <p:sp>
        <p:nvSpPr>
          <p:cNvPr id="20" name="TextBox 19"/>
          <p:cNvSpPr txBox="1"/>
          <p:nvPr/>
        </p:nvSpPr>
        <p:spPr>
          <a:xfrm>
            <a:off x="3785652" y="2387854"/>
            <a:ext cx="1466651"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[+3.89, +35.43]</a:t>
            </a:r>
          </a:p>
        </p:txBody>
      </p:sp>
      <p:sp>
        <p:nvSpPr>
          <p:cNvPr id="21" name="TextBox 20"/>
          <p:cNvSpPr txBox="1"/>
          <p:nvPr/>
        </p:nvSpPr>
        <p:spPr>
          <a:xfrm>
            <a:off x="5416896" y="2387854"/>
            <a:ext cx="9229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−16.22%</a:t>
            </a:r>
          </a:p>
        </p:txBody>
      </p:sp>
      <p:sp>
        <p:nvSpPr>
          <p:cNvPr id="22" name="TextBox 21"/>
          <p:cNvSpPr txBox="1"/>
          <p:nvPr/>
        </p:nvSpPr>
        <p:spPr>
          <a:xfrm>
            <a:off x="6504392" y="2387854"/>
            <a:ext cx="1249152"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+79.20%</a:t>
            </a:r>
          </a:p>
        </p:txBody>
      </p:sp>
      <p:sp>
        <p:nvSpPr>
          <p:cNvPr id="23" name="TextBox 22"/>
          <p:cNvSpPr txBox="1"/>
          <p:nvPr/>
        </p:nvSpPr>
        <p:spPr>
          <a:xfrm>
            <a:off x="7918137" y="2387854"/>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−5.58%</a:t>
            </a:r>
          </a:p>
        </p:txBody>
      </p:sp>
      <p:sp>
        <p:nvSpPr>
          <p:cNvPr id="24" name="TextBox 23"/>
          <p:cNvSpPr txBox="1"/>
          <p:nvPr/>
        </p:nvSpPr>
        <p:spPr>
          <a:xfrm>
            <a:off x="9114382" y="2387854"/>
            <a:ext cx="1031653"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a:t>
            </a:r>
          </a:p>
        </p:txBody>
      </p:sp>
      <p:sp>
        <p:nvSpPr>
          <p:cNvPr id="25" name="TextBox 24"/>
          <p:cNvSpPr txBox="1"/>
          <p:nvPr/>
        </p:nvSpPr>
        <p:spPr>
          <a:xfrm>
            <a:off x="10310628" y="2387854"/>
            <a:ext cx="11404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worst day, churn</a:t>
            </a:r>
          </a:p>
        </p:txBody>
      </p:sp>
      <p:sp>
        <p:nvSpPr>
          <p:cNvPr id="26" name="Rectangle 25"/>
          <p:cNvSpPr/>
          <p:nvPr/>
        </p:nvSpPr>
        <p:spPr>
          <a:xfrm>
            <a:off x="658368" y="2598166"/>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 y="2598166"/>
            <a:ext cx="10874959"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 y="2648458"/>
            <a:ext cx="1684151" cy="205739"/>
          </a:xfrm>
          <a:prstGeom prst="rect">
            <a:avLst/>
          </a:prstGeom>
          <a:noFill/>
        </p:spPr>
        <p:txBody>
          <a:bodyPr wrap="square" anchor="t" lIns="0" rIns="0" tIns="0" bIns="0">
            <a:spAutoFit/>
          </a:bodyPr>
          <a:lstStyle/>
          <a:p>
            <a:pPr algn="l">
              <a:lnSpc>
                <a:spcPct val="112000"/>
              </a:lnSpc>
            </a:pPr>
            <a:r>
              <a:rPr sz="919" b="1" i="0">
                <a:solidFill>
                  <a:srgbClr val="111721"/>
                </a:solidFill>
                <a:latin typeface="Segoe UI"/>
              </a:rPr>
              <a:t>Early &amp; spread out</a:t>
            </a:r>
          </a:p>
        </p:txBody>
      </p:sp>
      <p:sp>
        <p:nvSpPr>
          <p:cNvPr id="29" name="TextBox 28"/>
          <p:cNvSpPr txBox="1"/>
          <p:nvPr/>
        </p:nvSpPr>
        <p:spPr>
          <a:xfrm>
            <a:off x="2589407" y="2648458"/>
            <a:ext cx="1031653"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+18.97%</a:t>
            </a:r>
          </a:p>
        </p:txBody>
      </p:sp>
      <p:sp>
        <p:nvSpPr>
          <p:cNvPr id="30" name="TextBox 29"/>
          <p:cNvSpPr txBox="1"/>
          <p:nvPr/>
        </p:nvSpPr>
        <p:spPr>
          <a:xfrm>
            <a:off x="3785652" y="2648458"/>
            <a:ext cx="1466651"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[+3.78, +36.63]</a:t>
            </a:r>
          </a:p>
        </p:txBody>
      </p:sp>
      <p:sp>
        <p:nvSpPr>
          <p:cNvPr id="31" name="TextBox 30"/>
          <p:cNvSpPr txBox="1"/>
          <p:nvPr/>
        </p:nvSpPr>
        <p:spPr>
          <a:xfrm>
            <a:off x="5416896" y="2648458"/>
            <a:ext cx="9229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−20.19%</a:t>
            </a:r>
          </a:p>
        </p:txBody>
      </p:sp>
      <p:sp>
        <p:nvSpPr>
          <p:cNvPr id="32" name="TextBox 31"/>
          <p:cNvSpPr txBox="1"/>
          <p:nvPr/>
        </p:nvSpPr>
        <p:spPr>
          <a:xfrm>
            <a:off x="6504392" y="2648458"/>
            <a:ext cx="1249152"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+83.05%</a:t>
            </a:r>
          </a:p>
        </p:txBody>
      </p:sp>
      <p:sp>
        <p:nvSpPr>
          <p:cNvPr id="33" name="TextBox 32"/>
          <p:cNvSpPr txBox="1"/>
          <p:nvPr/>
        </p:nvSpPr>
        <p:spPr>
          <a:xfrm>
            <a:off x="7918137" y="2648458"/>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−7.18%</a:t>
            </a:r>
          </a:p>
        </p:txBody>
      </p:sp>
      <p:sp>
        <p:nvSpPr>
          <p:cNvPr id="34" name="TextBox 33"/>
          <p:cNvSpPr txBox="1"/>
          <p:nvPr/>
        </p:nvSpPr>
        <p:spPr>
          <a:xfrm>
            <a:off x="9114382" y="2648458"/>
            <a:ext cx="1031653"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a:t>
            </a:r>
          </a:p>
        </p:txBody>
      </p:sp>
      <p:sp>
        <p:nvSpPr>
          <p:cNvPr id="35" name="TextBox 34"/>
          <p:cNvSpPr txBox="1"/>
          <p:nvPr/>
        </p:nvSpPr>
        <p:spPr>
          <a:xfrm>
            <a:off x="10310628" y="2648458"/>
            <a:ext cx="11404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worst day, churn</a:t>
            </a:r>
          </a:p>
        </p:txBody>
      </p:sp>
      <p:sp>
        <p:nvSpPr>
          <p:cNvPr id="36" name="Rectangle 35"/>
          <p:cNvSpPr/>
          <p:nvPr/>
        </p:nvSpPr>
        <p:spPr>
          <a:xfrm>
            <a:off x="658368" y="285877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58368" y="2858770"/>
            <a:ext cx="10874959" cy="260603"/>
          </a:xfrm>
          <a:prstGeom prst="rect">
            <a:avLst/>
          </a:prstGeom>
          <a:solidFill>
            <a:srgbClr val="E3E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0664" y="2909062"/>
            <a:ext cx="1684151" cy="205739"/>
          </a:xfrm>
          <a:prstGeom prst="rect">
            <a:avLst/>
          </a:prstGeom>
          <a:noFill/>
        </p:spPr>
        <p:txBody>
          <a:bodyPr wrap="square" anchor="t" lIns="0" rIns="0" tIns="0" bIns="0">
            <a:spAutoFit/>
          </a:bodyPr>
          <a:lstStyle/>
          <a:p>
            <a:pPr algn="l">
              <a:lnSpc>
                <a:spcPct val="112000"/>
              </a:lnSpc>
            </a:pPr>
            <a:r>
              <a:rPr sz="919" b="1" i="0">
                <a:solidFill>
                  <a:srgbClr val="111721"/>
                </a:solidFill>
                <a:latin typeface="Segoe UI"/>
              </a:rPr>
              <a:t>50% strength</a:t>
            </a:r>
          </a:p>
        </p:txBody>
      </p:sp>
      <p:sp>
        <p:nvSpPr>
          <p:cNvPr id="39" name="TextBox 38"/>
          <p:cNvSpPr txBox="1"/>
          <p:nvPr/>
        </p:nvSpPr>
        <p:spPr>
          <a:xfrm>
            <a:off x="2589407" y="2909062"/>
            <a:ext cx="1031653"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+10.16%</a:t>
            </a:r>
          </a:p>
        </p:txBody>
      </p:sp>
      <p:sp>
        <p:nvSpPr>
          <p:cNvPr id="40" name="TextBox 39"/>
          <p:cNvSpPr txBox="1"/>
          <p:nvPr/>
        </p:nvSpPr>
        <p:spPr>
          <a:xfrm>
            <a:off x="3785652" y="2909062"/>
            <a:ext cx="1466651"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[+0.99, +21.92]</a:t>
            </a:r>
          </a:p>
        </p:txBody>
      </p:sp>
      <p:sp>
        <p:nvSpPr>
          <p:cNvPr id="41" name="TextBox 40"/>
          <p:cNvSpPr txBox="1"/>
          <p:nvPr/>
        </p:nvSpPr>
        <p:spPr>
          <a:xfrm>
            <a:off x="5416896" y="2909062"/>
            <a:ext cx="9229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−10.37%</a:t>
            </a:r>
          </a:p>
        </p:txBody>
      </p:sp>
      <p:sp>
        <p:nvSpPr>
          <p:cNvPr id="42" name="TextBox 41"/>
          <p:cNvSpPr txBox="1"/>
          <p:nvPr/>
        </p:nvSpPr>
        <p:spPr>
          <a:xfrm>
            <a:off x="6504392" y="2909062"/>
            <a:ext cx="1249152"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+43.89%</a:t>
            </a:r>
          </a:p>
        </p:txBody>
      </p:sp>
      <p:sp>
        <p:nvSpPr>
          <p:cNvPr id="43" name="TextBox 42"/>
          <p:cNvSpPr txBox="1"/>
          <p:nvPr/>
        </p:nvSpPr>
        <p:spPr>
          <a:xfrm>
            <a:off x="7918137" y="2909062"/>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−3.27%</a:t>
            </a:r>
          </a:p>
        </p:txBody>
      </p:sp>
      <p:sp>
        <p:nvSpPr>
          <p:cNvPr id="44" name="TextBox 43"/>
          <p:cNvSpPr txBox="1"/>
          <p:nvPr/>
        </p:nvSpPr>
        <p:spPr>
          <a:xfrm>
            <a:off x="9114382" y="2909062"/>
            <a:ext cx="1031653"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a:t>
            </a:r>
          </a:p>
        </p:txBody>
      </p:sp>
      <p:sp>
        <p:nvSpPr>
          <p:cNvPr id="45" name="TextBox 44"/>
          <p:cNvSpPr txBox="1"/>
          <p:nvPr/>
        </p:nvSpPr>
        <p:spPr>
          <a:xfrm>
            <a:off x="10310628" y="2909062"/>
            <a:ext cx="11404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worst day only</a:t>
            </a:r>
          </a:p>
        </p:txBody>
      </p:sp>
      <p:sp>
        <p:nvSpPr>
          <p:cNvPr id="46" name="Rectangle 45"/>
          <p:cNvSpPr/>
          <p:nvPr/>
        </p:nvSpPr>
        <p:spPr>
          <a:xfrm>
            <a:off x="658368" y="3119374"/>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3119374"/>
            <a:ext cx="10874959"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0664" y="3169666"/>
            <a:ext cx="1684151" cy="205739"/>
          </a:xfrm>
          <a:prstGeom prst="rect">
            <a:avLst/>
          </a:prstGeom>
          <a:noFill/>
        </p:spPr>
        <p:txBody>
          <a:bodyPr wrap="square" anchor="t" lIns="0" rIns="0" tIns="0" bIns="0">
            <a:spAutoFit/>
          </a:bodyPr>
          <a:lstStyle/>
          <a:p>
            <a:pPr algn="l">
              <a:lnSpc>
                <a:spcPct val="112000"/>
              </a:lnSpc>
            </a:pPr>
            <a:r>
              <a:rPr sz="919" b="1" i="0">
                <a:solidFill>
                  <a:srgbClr val="111721"/>
                </a:solidFill>
                <a:latin typeface="Segoe UI"/>
              </a:rPr>
              <a:t>25% strength</a:t>
            </a:r>
          </a:p>
        </p:txBody>
      </p:sp>
      <p:sp>
        <p:nvSpPr>
          <p:cNvPr id="49" name="TextBox 48"/>
          <p:cNvSpPr txBox="1"/>
          <p:nvPr/>
        </p:nvSpPr>
        <p:spPr>
          <a:xfrm>
            <a:off x="2589407" y="3169666"/>
            <a:ext cx="1031653"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+6.35%</a:t>
            </a:r>
          </a:p>
        </p:txBody>
      </p:sp>
      <p:sp>
        <p:nvSpPr>
          <p:cNvPr id="50" name="TextBox 49"/>
          <p:cNvSpPr txBox="1"/>
          <p:nvPr/>
        </p:nvSpPr>
        <p:spPr>
          <a:xfrm>
            <a:off x="3785652" y="3169666"/>
            <a:ext cx="1466651"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[+0.66, +14.19]</a:t>
            </a:r>
          </a:p>
        </p:txBody>
      </p:sp>
      <p:sp>
        <p:nvSpPr>
          <p:cNvPr id="51" name="TextBox 50"/>
          <p:cNvSpPr txBox="1"/>
          <p:nvPr/>
        </p:nvSpPr>
        <p:spPr>
          <a:xfrm>
            <a:off x="5416896" y="3169666"/>
            <a:ext cx="922903"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−4.54%</a:t>
            </a:r>
          </a:p>
        </p:txBody>
      </p:sp>
      <p:sp>
        <p:nvSpPr>
          <p:cNvPr id="52" name="TextBox 51"/>
          <p:cNvSpPr txBox="1"/>
          <p:nvPr/>
        </p:nvSpPr>
        <p:spPr>
          <a:xfrm>
            <a:off x="6504392" y="3169666"/>
            <a:ext cx="1249152"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+26.76%</a:t>
            </a:r>
          </a:p>
        </p:txBody>
      </p:sp>
      <p:sp>
        <p:nvSpPr>
          <p:cNvPr id="53" name="TextBox 52"/>
          <p:cNvSpPr txBox="1"/>
          <p:nvPr/>
        </p:nvSpPr>
        <p:spPr>
          <a:xfrm>
            <a:off x="7918137" y="3169666"/>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−1.37%</a:t>
            </a:r>
          </a:p>
        </p:txBody>
      </p:sp>
      <p:sp>
        <p:nvSpPr>
          <p:cNvPr id="54" name="TextBox 53"/>
          <p:cNvSpPr txBox="1"/>
          <p:nvPr/>
        </p:nvSpPr>
        <p:spPr>
          <a:xfrm>
            <a:off x="9114382" y="3169666"/>
            <a:ext cx="1031653"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a:t>
            </a:r>
          </a:p>
        </p:txBody>
      </p:sp>
      <p:sp>
        <p:nvSpPr>
          <p:cNvPr id="55" name="TextBox 54"/>
          <p:cNvSpPr txBox="1"/>
          <p:nvPr/>
        </p:nvSpPr>
        <p:spPr>
          <a:xfrm>
            <a:off x="10310628" y="3169666"/>
            <a:ext cx="11404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average only</a:t>
            </a:r>
          </a:p>
        </p:txBody>
      </p:sp>
      <p:sp>
        <p:nvSpPr>
          <p:cNvPr id="56" name="Rectangle 55"/>
          <p:cNvSpPr/>
          <p:nvPr/>
        </p:nvSpPr>
        <p:spPr>
          <a:xfrm>
            <a:off x="658368" y="3379978"/>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0664" y="3430270"/>
            <a:ext cx="1684151" cy="205739"/>
          </a:xfrm>
          <a:prstGeom prst="rect">
            <a:avLst/>
          </a:prstGeom>
          <a:noFill/>
        </p:spPr>
        <p:txBody>
          <a:bodyPr wrap="square" anchor="t" lIns="0" rIns="0" tIns="0" bIns="0">
            <a:spAutoFit/>
          </a:bodyPr>
          <a:lstStyle/>
          <a:p>
            <a:pPr algn="l">
              <a:lnSpc>
                <a:spcPct val="112000"/>
              </a:lnSpc>
            </a:pPr>
            <a:r>
              <a:rPr sz="919" b="1" i="0">
                <a:solidFill>
                  <a:srgbClr val="111721"/>
                </a:solidFill>
                <a:latin typeface="Segoe UI"/>
              </a:rPr>
              <a:t>Fixed 35%</a:t>
            </a:r>
          </a:p>
        </p:txBody>
      </p:sp>
      <p:sp>
        <p:nvSpPr>
          <p:cNvPr id="58" name="TextBox 57"/>
          <p:cNvSpPr txBox="1"/>
          <p:nvPr/>
        </p:nvSpPr>
        <p:spPr>
          <a:xfrm>
            <a:off x="2589407" y="3430270"/>
            <a:ext cx="1031653"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+6.15%</a:t>
            </a:r>
          </a:p>
        </p:txBody>
      </p:sp>
      <p:sp>
        <p:nvSpPr>
          <p:cNvPr id="59" name="TextBox 58"/>
          <p:cNvSpPr txBox="1"/>
          <p:nvPr/>
        </p:nvSpPr>
        <p:spPr>
          <a:xfrm>
            <a:off x="3785652" y="3430270"/>
            <a:ext cx="1466651"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[−0.84, +16.37]</a:t>
            </a:r>
          </a:p>
        </p:txBody>
      </p:sp>
      <p:sp>
        <p:nvSpPr>
          <p:cNvPr id="60" name="TextBox 59"/>
          <p:cNvSpPr txBox="1"/>
          <p:nvPr/>
        </p:nvSpPr>
        <p:spPr>
          <a:xfrm>
            <a:off x="5416896" y="3430270"/>
            <a:ext cx="9229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−9.49%</a:t>
            </a:r>
          </a:p>
        </p:txBody>
      </p:sp>
      <p:sp>
        <p:nvSpPr>
          <p:cNvPr id="61" name="TextBox 60"/>
          <p:cNvSpPr txBox="1"/>
          <p:nvPr/>
        </p:nvSpPr>
        <p:spPr>
          <a:xfrm>
            <a:off x="6504392" y="3430270"/>
            <a:ext cx="1249152"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+28.40%</a:t>
            </a:r>
          </a:p>
        </p:txBody>
      </p:sp>
      <p:sp>
        <p:nvSpPr>
          <p:cNvPr id="62" name="TextBox 61"/>
          <p:cNvSpPr txBox="1"/>
          <p:nvPr/>
        </p:nvSpPr>
        <p:spPr>
          <a:xfrm>
            <a:off x="7918137" y="3430270"/>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−3.79%</a:t>
            </a:r>
          </a:p>
        </p:txBody>
      </p:sp>
      <p:sp>
        <p:nvSpPr>
          <p:cNvPr id="63" name="TextBox 62"/>
          <p:cNvSpPr txBox="1"/>
          <p:nvPr/>
        </p:nvSpPr>
        <p:spPr>
          <a:xfrm>
            <a:off x="9114382" y="3430270"/>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764 ms</a:t>
            </a:r>
          </a:p>
        </p:txBody>
      </p:sp>
      <p:sp>
        <p:nvSpPr>
          <p:cNvPr id="64" name="TextBox 63"/>
          <p:cNvSpPr txBox="1"/>
          <p:nvPr/>
        </p:nvSpPr>
        <p:spPr>
          <a:xfrm>
            <a:off x="10310628" y="3430270"/>
            <a:ext cx="11404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3 checks</a:t>
            </a:r>
          </a:p>
        </p:txBody>
      </p:sp>
      <p:sp>
        <p:nvSpPr>
          <p:cNvPr id="65" name="Rectangle 64"/>
          <p:cNvSpPr/>
          <p:nvPr/>
        </p:nvSpPr>
        <p:spPr>
          <a:xfrm>
            <a:off x="658368" y="364058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58368" y="3640582"/>
            <a:ext cx="10874959"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0664" y="3690874"/>
            <a:ext cx="1684151" cy="205739"/>
          </a:xfrm>
          <a:prstGeom prst="rect">
            <a:avLst/>
          </a:prstGeom>
          <a:noFill/>
        </p:spPr>
        <p:txBody>
          <a:bodyPr wrap="square" anchor="t" lIns="0" rIns="0" tIns="0" bIns="0">
            <a:spAutoFit/>
          </a:bodyPr>
          <a:lstStyle/>
          <a:p>
            <a:pPr algn="l">
              <a:lnSpc>
                <a:spcPct val="112000"/>
              </a:lnSpc>
            </a:pPr>
            <a:r>
              <a:rPr sz="919" b="1" i="0">
                <a:solidFill>
                  <a:srgbClr val="111721"/>
                </a:solidFill>
                <a:latin typeface="Segoe UI"/>
              </a:rPr>
              <a:t>Fixed 40%</a:t>
            </a:r>
          </a:p>
        </p:txBody>
      </p:sp>
      <p:sp>
        <p:nvSpPr>
          <p:cNvPr id="68" name="TextBox 67"/>
          <p:cNvSpPr txBox="1"/>
          <p:nvPr/>
        </p:nvSpPr>
        <p:spPr>
          <a:xfrm>
            <a:off x="2589407" y="3690874"/>
            <a:ext cx="1031653"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+6.39%</a:t>
            </a:r>
          </a:p>
        </p:txBody>
      </p:sp>
      <p:sp>
        <p:nvSpPr>
          <p:cNvPr id="69" name="TextBox 68"/>
          <p:cNvSpPr txBox="1"/>
          <p:nvPr/>
        </p:nvSpPr>
        <p:spPr>
          <a:xfrm>
            <a:off x="3785652" y="3690874"/>
            <a:ext cx="1466651"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[−0.99, +16.74]</a:t>
            </a:r>
          </a:p>
        </p:txBody>
      </p:sp>
      <p:sp>
        <p:nvSpPr>
          <p:cNvPr id="70" name="TextBox 69"/>
          <p:cNvSpPr txBox="1"/>
          <p:nvPr/>
        </p:nvSpPr>
        <p:spPr>
          <a:xfrm>
            <a:off x="5416896" y="3690874"/>
            <a:ext cx="9229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−10.58%</a:t>
            </a:r>
          </a:p>
        </p:txBody>
      </p:sp>
      <p:sp>
        <p:nvSpPr>
          <p:cNvPr id="71" name="TextBox 70"/>
          <p:cNvSpPr txBox="1"/>
          <p:nvPr/>
        </p:nvSpPr>
        <p:spPr>
          <a:xfrm>
            <a:off x="6504392" y="3690874"/>
            <a:ext cx="1249152"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+30.01%</a:t>
            </a:r>
          </a:p>
        </p:txBody>
      </p:sp>
      <p:sp>
        <p:nvSpPr>
          <p:cNvPr id="72" name="TextBox 71"/>
          <p:cNvSpPr txBox="1"/>
          <p:nvPr/>
        </p:nvSpPr>
        <p:spPr>
          <a:xfrm>
            <a:off x="7918137" y="3690874"/>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−4.44%</a:t>
            </a:r>
          </a:p>
        </p:txBody>
      </p:sp>
      <p:sp>
        <p:nvSpPr>
          <p:cNvPr id="73" name="TextBox 72"/>
          <p:cNvSpPr txBox="1"/>
          <p:nvPr/>
        </p:nvSpPr>
        <p:spPr>
          <a:xfrm>
            <a:off x="9114382" y="3690874"/>
            <a:ext cx="1031653"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225 ms</a:t>
            </a:r>
          </a:p>
        </p:txBody>
      </p:sp>
      <p:sp>
        <p:nvSpPr>
          <p:cNvPr id="74" name="TextBox 73"/>
          <p:cNvSpPr txBox="1"/>
          <p:nvPr/>
        </p:nvSpPr>
        <p:spPr>
          <a:xfrm>
            <a:off x="10310628" y="3690874"/>
            <a:ext cx="11404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3 checks</a:t>
            </a:r>
          </a:p>
        </p:txBody>
      </p:sp>
      <p:sp>
        <p:nvSpPr>
          <p:cNvPr id="75" name="Rectangle 74"/>
          <p:cNvSpPr/>
          <p:nvPr/>
        </p:nvSpPr>
        <p:spPr>
          <a:xfrm>
            <a:off x="658368" y="3901186"/>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40664" y="3951478"/>
            <a:ext cx="1684151" cy="205739"/>
          </a:xfrm>
          <a:prstGeom prst="rect">
            <a:avLst/>
          </a:prstGeom>
          <a:noFill/>
        </p:spPr>
        <p:txBody>
          <a:bodyPr wrap="square" anchor="t" lIns="0" rIns="0" tIns="0" bIns="0">
            <a:spAutoFit/>
          </a:bodyPr>
          <a:lstStyle/>
          <a:p>
            <a:pPr algn="l">
              <a:lnSpc>
                <a:spcPct val="112000"/>
              </a:lnSpc>
            </a:pPr>
            <a:r>
              <a:rPr sz="919" b="1" i="0">
                <a:solidFill>
                  <a:srgbClr val="111721"/>
                </a:solidFill>
                <a:latin typeface="Segoe UI"/>
              </a:rPr>
              <a:t>Fixed 45%</a:t>
            </a:r>
          </a:p>
        </p:txBody>
      </p:sp>
      <p:sp>
        <p:nvSpPr>
          <p:cNvPr id="77" name="TextBox 76"/>
          <p:cNvSpPr txBox="1"/>
          <p:nvPr/>
        </p:nvSpPr>
        <p:spPr>
          <a:xfrm>
            <a:off x="2589407" y="3951478"/>
            <a:ext cx="1031653"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+6.65%</a:t>
            </a:r>
          </a:p>
        </p:txBody>
      </p:sp>
      <p:sp>
        <p:nvSpPr>
          <p:cNvPr id="78" name="TextBox 77"/>
          <p:cNvSpPr txBox="1"/>
          <p:nvPr/>
        </p:nvSpPr>
        <p:spPr>
          <a:xfrm>
            <a:off x="3785652" y="3951478"/>
            <a:ext cx="1466651"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[−1.12, +17.18]</a:t>
            </a:r>
          </a:p>
        </p:txBody>
      </p:sp>
      <p:sp>
        <p:nvSpPr>
          <p:cNvPr id="79" name="TextBox 78"/>
          <p:cNvSpPr txBox="1"/>
          <p:nvPr/>
        </p:nvSpPr>
        <p:spPr>
          <a:xfrm>
            <a:off x="5416896" y="3951478"/>
            <a:ext cx="9229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−11.97%</a:t>
            </a:r>
          </a:p>
        </p:txBody>
      </p:sp>
      <p:sp>
        <p:nvSpPr>
          <p:cNvPr id="80" name="TextBox 79"/>
          <p:cNvSpPr txBox="1"/>
          <p:nvPr/>
        </p:nvSpPr>
        <p:spPr>
          <a:xfrm>
            <a:off x="6504392" y="3951478"/>
            <a:ext cx="1249152"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+31.59%</a:t>
            </a:r>
          </a:p>
        </p:txBody>
      </p:sp>
      <p:sp>
        <p:nvSpPr>
          <p:cNvPr id="81" name="TextBox 80"/>
          <p:cNvSpPr txBox="1"/>
          <p:nvPr/>
        </p:nvSpPr>
        <p:spPr>
          <a:xfrm>
            <a:off x="7918137" y="3951478"/>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−4.94%</a:t>
            </a:r>
          </a:p>
        </p:txBody>
      </p:sp>
      <p:sp>
        <p:nvSpPr>
          <p:cNvPr id="82" name="TextBox 81"/>
          <p:cNvSpPr txBox="1"/>
          <p:nvPr/>
        </p:nvSpPr>
        <p:spPr>
          <a:xfrm>
            <a:off x="9114382" y="3951478"/>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970 ms</a:t>
            </a:r>
          </a:p>
        </p:txBody>
      </p:sp>
      <p:sp>
        <p:nvSpPr>
          <p:cNvPr id="83" name="TextBox 82"/>
          <p:cNvSpPr txBox="1"/>
          <p:nvPr/>
        </p:nvSpPr>
        <p:spPr>
          <a:xfrm>
            <a:off x="10310628" y="3951478"/>
            <a:ext cx="11404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4 checks</a:t>
            </a:r>
          </a:p>
        </p:txBody>
      </p:sp>
      <p:sp>
        <p:nvSpPr>
          <p:cNvPr id="84" name="Rectangle 83"/>
          <p:cNvSpPr/>
          <p:nvPr/>
        </p:nvSpPr>
        <p:spPr>
          <a:xfrm>
            <a:off x="658368" y="4161790"/>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58368" y="4161790"/>
            <a:ext cx="10874959"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0664" y="4212082"/>
            <a:ext cx="1684151" cy="205739"/>
          </a:xfrm>
          <a:prstGeom prst="rect">
            <a:avLst/>
          </a:prstGeom>
          <a:noFill/>
        </p:spPr>
        <p:txBody>
          <a:bodyPr wrap="square" anchor="t" lIns="0" rIns="0" tIns="0" bIns="0">
            <a:spAutoFit/>
          </a:bodyPr>
          <a:lstStyle/>
          <a:p>
            <a:pPr algn="l">
              <a:lnSpc>
                <a:spcPct val="112000"/>
              </a:lnSpc>
            </a:pPr>
            <a:r>
              <a:rPr sz="919" b="1" i="0">
                <a:solidFill>
                  <a:srgbClr val="111721"/>
                </a:solidFill>
                <a:latin typeface="Segoe UI"/>
              </a:rPr>
              <a:t>Adaptive, early taper</a:t>
            </a:r>
          </a:p>
        </p:txBody>
      </p:sp>
      <p:sp>
        <p:nvSpPr>
          <p:cNvPr id="87" name="TextBox 86"/>
          <p:cNvSpPr txBox="1"/>
          <p:nvPr/>
        </p:nvSpPr>
        <p:spPr>
          <a:xfrm>
            <a:off x="2589407" y="4212082"/>
            <a:ext cx="1031653"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+6.61%</a:t>
            </a:r>
          </a:p>
        </p:txBody>
      </p:sp>
      <p:sp>
        <p:nvSpPr>
          <p:cNvPr id="88" name="TextBox 87"/>
          <p:cNvSpPr txBox="1"/>
          <p:nvPr/>
        </p:nvSpPr>
        <p:spPr>
          <a:xfrm>
            <a:off x="3785652" y="4212082"/>
            <a:ext cx="1466651"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[−1.15, +17.19]</a:t>
            </a:r>
          </a:p>
        </p:txBody>
      </p:sp>
      <p:sp>
        <p:nvSpPr>
          <p:cNvPr id="89" name="TextBox 88"/>
          <p:cNvSpPr txBox="1"/>
          <p:nvPr/>
        </p:nvSpPr>
        <p:spPr>
          <a:xfrm>
            <a:off x="5416896" y="4212082"/>
            <a:ext cx="9229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−11.87%</a:t>
            </a:r>
          </a:p>
        </p:txBody>
      </p:sp>
      <p:sp>
        <p:nvSpPr>
          <p:cNvPr id="90" name="TextBox 89"/>
          <p:cNvSpPr txBox="1"/>
          <p:nvPr/>
        </p:nvSpPr>
        <p:spPr>
          <a:xfrm>
            <a:off x="6504392" y="4212082"/>
            <a:ext cx="1249152"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+31.53%</a:t>
            </a:r>
          </a:p>
        </p:txBody>
      </p:sp>
      <p:sp>
        <p:nvSpPr>
          <p:cNvPr id="91" name="TextBox 90"/>
          <p:cNvSpPr txBox="1"/>
          <p:nvPr/>
        </p:nvSpPr>
        <p:spPr>
          <a:xfrm>
            <a:off x="7918137" y="4212082"/>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−5.09%</a:t>
            </a:r>
          </a:p>
        </p:txBody>
      </p:sp>
      <p:sp>
        <p:nvSpPr>
          <p:cNvPr id="92" name="TextBox 91"/>
          <p:cNvSpPr txBox="1"/>
          <p:nvPr/>
        </p:nvSpPr>
        <p:spPr>
          <a:xfrm>
            <a:off x="9114382" y="4212082"/>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739 ms</a:t>
            </a:r>
          </a:p>
        </p:txBody>
      </p:sp>
      <p:sp>
        <p:nvSpPr>
          <p:cNvPr id="93" name="TextBox 92"/>
          <p:cNvSpPr txBox="1"/>
          <p:nvPr/>
        </p:nvSpPr>
        <p:spPr>
          <a:xfrm>
            <a:off x="10310628" y="4212082"/>
            <a:ext cx="11404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4 checks</a:t>
            </a:r>
          </a:p>
        </p:txBody>
      </p:sp>
      <p:sp>
        <p:nvSpPr>
          <p:cNvPr id="94" name="Rectangle 93"/>
          <p:cNvSpPr/>
          <p:nvPr/>
        </p:nvSpPr>
        <p:spPr>
          <a:xfrm>
            <a:off x="658368" y="4422394"/>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40664" y="4472686"/>
            <a:ext cx="1684151" cy="205739"/>
          </a:xfrm>
          <a:prstGeom prst="rect">
            <a:avLst/>
          </a:prstGeom>
          <a:noFill/>
        </p:spPr>
        <p:txBody>
          <a:bodyPr wrap="square" anchor="t" lIns="0" rIns="0" tIns="0" bIns="0">
            <a:spAutoFit/>
          </a:bodyPr>
          <a:lstStyle/>
          <a:p>
            <a:pPr algn="l">
              <a:lnSpc>
                <a:spcPct val="112000"/>
              </a:lnSpc>
            </a:pPr>
            <a:r>
              <a:rPr sz="919" b="1" i="0">
                <a:solidFill>
                  <a:srgbClr val="111721"/>
                </a:solidFill>
                <a:latin typeface="Segoe UI"/>
              </a:rPr>
              <a:t>Adaptive, late taper</a:t>
            </a:r>
          </a:p>
        </p:txBody>
      </p:sp>
      <p:sp>
        <p:nvSpPr>
          <p:cNvPr id="96" name="TextBox 95"/>
          <p:cNvSpPr txBox="1"/>
          <p:nvPr/>
        </p:nvSpPr>
        <p:spPr>
          <a:xfrm>
            <a:off x="2589407" y="4472686"/>
            <a:ext cx="1031653" cy="205739"/>
          </a:xfrm>
          <a:prstGeom prst="rect">
            <a:avLst/>
          </a:prstGeom>
          <a:noFill/>
        </p:spPr>
        <p:txBody>
          <a:bodyPr wrap="square" anchor="t" lIns="0" rIns="0" tIns="0" bIns="0">
            <a:spAutoFit/>
          </a:bodyPr>
          <a:lstStyle/>
          <a:p>
            <a:pPr algn="r">
              <a:lnSpc>
                <a:spcPct val="112000"/>
              </a:lnSpc>
            </a:pPr>
            <a:r>
              <a:rPr sz="900" b="0" i="0">
                <a:solidFill>
                  <a:srgbClr val="3C4653"/>
                </a:solidFill>
                <a:latin typeface="Consolas"/>
              </a:rPr>
              <a:t>+6.63%</a:t>
            </a:r>
          </a:p>
        </p:txBody>
      </p:sp>
      <p:sp>
        <p:nvSpPr>
          <p:cNvPr id="97" name="TextBox 96"/>
          <p:cNvSpPr txBox="1"/>
          <p:nvPr/>
        </p:nvSpPr>
        <p:spPr>
          <a:xfrm>
            <a:off x="3785652" y="4472686"/>
            <a:ext cx="1466651"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[−1.15, +17.22]</a:t>
            </a:r>
          </a:p>
        </p:txBody>
      </p:sp>
      <p:sp>
        <p:nvSpPr>
          <p:cNvPr id="98" name="TextBox 97"/>
          <p:cNvSpPr txBox="1"/>
          <p:nvPr/>
        </p:nvSpPr>
        <p:spPr>
          <a:xfrm>
            <a:off x="5416896" y="4472686"/>
            <a:ext cx="9229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−11.87%</a:t>
            </a:r>
          </a:p>
        </p:txBody>
      </p:sp>
      <p:sp>
        <p:nvSpPr>
          <p:cNvPr id="99" name="TextBox 98"/>
          <p:cNvSpPr txBox="1"/>
          <p:nvPr/>
        </p:nvSpPr>
        <p:spPr>
          <a:xfrm>
            <a:off x="6504392" y="4472686"/>
            <a:ext cx="1249152" cy="205739"/>
          </a:xfrm>
          <a:prstGeom prst="rect">
            <a:avLst/>
          </a:prstGeom>
          <a:noFill/>
        </p:spPr>
        <p:txBody>
          <a:bodyPr wrap="square" anchor="t" lIns="0" rIns="0" tIns="0" bIns="0">
            <a:spAutoFit/>
          </a:bodyPr>
          <a:lstStyle/>
          <a:p>
            <a:pPr algn="r">
              <a:lnSpc>
                <a:spcPct val="112000"/>
              </a:lnSpc>
            </a:pPr>
            <a:r>
              <a:rPr sz="900" b="0" i="0">
                <a:solidFill>
                  <a:srgbClr val="2E7D5B"/>
                </a:solidFill>
                <a:latin typeface="Consolas"/>
              </a:rPr>
              <a:t>+31.59%</a:t>
            </a:r>
          </a:p>
        </p:txBody>
      </p:sp>
      <p:sp>
        <p:nvSpPr>
          <p:cNvPr id="100" name="TextBox 99"/>
          <p:cNvSpPr txBox="1"/>
          <p:nvPr/>
        </p:nvSpPr>
        <p:spPr>
          <a:xfrm>
            <a:off x="7918137" y="4472686"/>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−5.09%</a:t>
            </a:r>
          </a:p>
        </p:txBody>
      </p:sp>
      <p:sp>
        <p:nvSpPr>
          <p:cNvPr id="101" name="TextBox 100"/>
          <p:cNvSpPr txBox="1"/>
          <p:nvPr/>
        </p:nvSpPr>
        <p:spPr>
          <a:xfrm>
            <a:off x="9114382" y="4472686"/>
            <a:ext cx="103165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628 ms</a:t>
            </a:r>
          </a:p>
        </p:txBody>
      </p:sp>
      <p:sp>
        <p:nvSpPr>
          <p:cNvPr id="102" name="TextBox 101"/>
          <p:cNvSpPr txBox="1"/>
          <p:nvPr/>
        </p:nvSpPr>
        <p:spPr>
          <a:xfrm>
            <a:off x="10310628" y="4472686"/>
            <a:ext cx="1140403" cy="205739"/>
          </a:xfrm>
          <a:prstGeom prst="rect">
            <a:avLst/>
          </a:prstGeom>
          <a:noFill/>
        </p:spPr>
        <p:txBody>
          <a:bodyPr wrap="square" anchor="t" lIns="0" rIns="0" tIns="0" bIns="0">
            <a:spAutoFit/>
          </a:bodyPr>
          <a:lstStyle/>
          <a:p>
            <a:pPr algn="r">
              <a:lnSpc>
                <a:spcPct val="112000"/>
              </a:lnSpc>
            </a:pPr>
            <a:r>
              <a:rPr sz="900" b="0" i="0">
                <a:solidFill>
                  <a:srgbClr val="9C3B35"/>
                </a:solidFill>
                <a:latin typeface="Consolas"/>
              </a:rPr>
              <a:t>4 checks</a:t>
            </a:r>
          </a:p>
        </p:txBody>
      </p:sp>
      <p:sp>
        <p:nvSpPr>
          <p:cNvPr id="103" name="Rectangle 102"/>
          <p:cNvSpPr/>
          <p:nvPr/>
        </p:nvSpPr>
        <p:spPr>
          <a:xfrm>
            <a:off x="658368" y="4682998"/>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58368" y="2063242"/>
            <a:ext cx="10874959" cy="2619756"/>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58368" y="4678426"/>
            <a:ext cx="10874959" cy="158496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658368" y="4678426"/>
            <a:ext cx="34747" cy="1584960"/>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96112" y="4824730"/>
            <a:ext cx="10417759" cy="201168"/>
          </a:xfrm>
          <a:prstGeom prst="rect">
            <a:avLst/>
          </a:prstGeom>
          <a:noFill/>
        </p:spPr>
        <p:txBody>
          <a:bodyPr wrap="square" anchor="t" lIns="0" rIns="0" tIns="0" bIns="0">
            <a:spAutoFit/>
          </a:bodyPr>
          <a:lstStyle/>
          <a:p>
            <a:pPr algn="l">
              <a:lnSpc>
                <a:spcPct val="100000"/>
              </a:lnSpc>
            </a:pPr>
            <a:r>
              <a:rPr sz="950" b="1" i="0">
                <a:solidFill>
                  <a:srgbClr val="9C3B35"/>
                </a:solidFill>
                <a:latin typeface="Consolas"/>
              </a:rPr>
              <a:t>WHY MAKING IT ADAPTIVE DIDN'T SAVE IT</a:t>
            </a:r>
          </a:p>
        </p:txBody>
      </p:sp>
      <p:sp>
        <p:nvSpPr>
          <p:cNvPr id="108" name="TextBox 107"/>
          <p:cNvSpPr txBox="1"/>
          <p:nvPr/>
        </p:nvSpPr>
        <p:spPr>
          <a:xfrm>
            <a:off x="896112" y="5080762"/>
            <a:ext cx="10372039" cy="1127760"/>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We tried varying the strength based on how busy the box currently was. The mechanism worked — strength ranged from 25% to 50% as intended. It still failed on the same day. The known capacity loss entered the planning window first, and the surprise surge started well after that. At every pre-drain decision the box looked only 35% busy, so the controller applied full strength. By the time the surge arrived those sessions were already placed. Reacting to how busy things are right now cannot protect you from a surprise that arrives after you have already committed.</a:t>
            </a:r>
          </a:p>
        </p:txBody>
      </p:sp>
      <p:sp>
        <p:nvSpPr>
          <p:cNvPr id="109" name="TextBox 10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COST</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How much compute a decision takes</a:t>
            </a:r>
          </a:p>
        </p:txBody>
      </p:sp>
      <p:sp>
        <p:nvSpPr>
          <p:cNvPr id="5" name="TextBox 4"/>
          <p:cNvSpPr txBox="1"/>
          <p:nvPr/>
        </p:nvSpPr>
        <p:spPr>
          <a:xfrm>
            <a:off x="658368" y="1463040"/>
            <a:ext cx="8482468" cy="813054"/>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We measured solver status, problem size, solve time and — importantly — the complete time to make a decision, not just the solver call. Earlier checks only looked at the solver, and that hid real outliers.</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sp>
        <p:nvSpPr>
          <p:cNvPr id="8" name="Rectangle 7"/>
          <p:cNvSpPr/>
          <p:nvPr/>
        </p:nvSpPr>
        <p:spPr>
          <a:xfrm>
            <a:off x="658368" y="2532126"/>
            <a:ext cx="10874959" cy="274320"/>
          </a:xfrm>
          <a:prstGeom prst="rect">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609850"/>
            <a:ext cx="1596115" cy="182880"/>
          </a:xfrm>
          <a:prstGeom prst="rect">
            <a:avLst/>
          </a:prstGeom>
          <a:noFill/>
        </p:spPr>
        <p:txBody>
          <a:bodyPr wrap="square" anchor="t" lIns="0" rIns="0" tIns="0" bIns="0">
            <a:spAutoFit/>
          </a:bodyPr>
          <a:lstStyle/>
          <a:p>
            <a:pPr algn="l">
              <a:lnSpc>
                <a:spcPct val="100000"/>
              </a:lnSpc>
            </a:pPr>
            <a:r>
              <a:rPr sz="780" b="1" i="0">
                <a:solidFill>
                  <a:srgbClr val="6C7683"/>
                </a:solidFill>
                <a:latin typeface="Consolas"/>
              </a:rPr>
              <a:t>CONTROLLER</a:t>
            </a:r>
          </a:p>
        </p:txBody>
      </p:sp>
      <p:sp>
        <p:nvSpPr>
          <p:cNvPr id="10" name="TextBox 9"/>
          <p:cNvSpPr txBox="1"/>
          <p:nvPr/>
        </p:nvSpPr>
        <p:spPr>
          <a:xfrm>
            <a:off x="2501371" y="2609850"/>
            <a:ext cx="1906828"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PROBLEM SIZE</a:t>
            </a:r>
          </a:p>
        </p:txBody>
      </p:sp>
      <p:sp>
        <p:nvSpPr>
          <p:cNvPr id="11" name="TextBox 10"/>
          <p:cNvSpPr txBox="1"/>
          <p:nvPr/>
        </p:nvSpPr>
        <p:spPr>
          <a:xfrm>
            <a:off x="4572792" y="2609850"/>
            <a:ext cx="1699686"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SOLVE TIME</a:t>
            </a:r>
          </a:p>
        </p:txBody>
      </p:sp>
      <p:sp>
        <p:nvSpPr>
          <p:cNvPr id="12" name="TextBox 11"/>
          <p:cNvSpPr txBox="1"/>
          <p:nvPr/>
        </p:nvSpPr>
        <p:spPr>
          <a:xfrm>
            <a:off x="6437071" y="2609850"/>
            <a:ext cx="1388973"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SLOWEST SOLVE</a:t>
            </a:r>
          </a:p>
        </p:txBody>
      </p:sp>
      <p:sp>
        <p:nvSpPr>
          <p:cNvPr id="13" name="TextBox 12"/>
          <p:cNvSpPr txBox="1"/>
          <p:nvPr/>
        </p:nvSpPr>
        <p:spPr>
          <a:xfrm>
            <a:off x="7990636" y="2609850"/>
            <a:ext cx="1803257"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SLOWEST FULL DECISION</a:t>
            </a:r>
          </a:p>
        </p:txBody>
      </p:sp>
      <p:sp>
        <p:nvSpPr>
          <p:cNvPr id="14" name="TextBox 13"/>
          <p:cNvSpPr txBox="1"/>
          <p:nvPr/>
        </p:nvSpPr>
        <p:spPr>
          <a:xfrm>
            <a:off x="9958486" y="2609850"/>
            <a:ext cx="1492544" cy="182880"/>
          </a:xfrm>
          <a:prstGeom prst="rect">
            <a:avLst/>
          </a:prstGeom>
          <a:noFill/>
        </p:spPr>
        <p:txBody>
          <a:bodyPr wrap="square" anchor="t" lIns="0" rIns="0" tIns="0" bIns="0">
            <a:spAutoFit/>
          </a:bodyPr>
          <a:lstStyle/>
          <a:p>
            <a:pPr algn="r">
              <a:lnSpc>
                <a:spcPct val="100000"/>
              </a:lnSpc>
            </a:pPr>
            <a:r>
              <a:rPr sz="780" b="1" i="0">
                <a:solidFill>
                  <a:srgbClr val="6C7683"/>
                </a:solidFill>
                <a:latin typeface="Consolas"/>
              </a:rPr>
              <a:t>TIMEOUTS / ERRORS</a:t>
            </a:r>
          </a:p>
        </p:txBody>
      </p:sp>
      <p:sp>
        <p:nvSpPr>
          <p:cNvPr id="15" name="Rectangle 14"/>
          <p:cNvSpPr/>
          <p:nvPr/>
        </p:nvSpPr>
        <p:spPr>
          <a:xfrm>
            <a:off x="658368" y="2806445"/>
            <a:ext cx="10874959" cy="9525"/>
          </a:xfrm>
          <a:prstGeom prst="rect">
            <a:avLst/>
          </a:prstGeom>
          <a:solidFill>
            <a:srgbClr val="DE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2856738"/>
            <a:ext cx="1596115" cy="23774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Pre-drain</a:t>
            </a:r>
          </a:p>
        </p:txBody>
      </p:sp>
      <p:sp>
        <p:nvSpPr>
          <p:cNvPr id="17" name="TextBox 16"/>
          <p:cNvSpPr txBox="1"/>
          <p:nvPr/>
        </p:nvSpPr>
        <p:spPr>
          <a:xfrm>
            <a:off x="2501371" y="2856738"/>
            <a:ext cx="1906828"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648 unknowns</a:t>
            </a:r>
          </a:p>
        </p:txBody>
      </p:sp>
      <p:sp>
        <p:nvSpPr>
          <p:cNvPr id="18" name="TextBox 17"/>
          <p:cNvSpPr txBox="1"/>
          <p:nvPr/>
        </p:nvSpPr>
        <p:spPr>
          <a:xfrm>
            <a:off x="4572792" y="2856738"/>
            <a:ext cx="1699686"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27–28 ms typical</a:t>
            </a:r>
          </a:p>
        </p:txBody>
      </p:sp>
      <p:sp>
        <p:nvSpPr>
          <p:cNvPr id="19" name="TextBox 18"/>
          <p:cNvSpPr txBox="1"/>
          <p:nvPr/>
        </p:nvSpPr>
        <p:spPr>
          <a:xfrm>
            <a:off x="6437071" y="2856738"/>
            <a:ext cx="138897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118–127 ms</a:t>
            </a:r>
          </a:p>
        </p:txBody>
      </p:sp>
      <p:sp>
        <p:nvSpPr>
          <p:cNvPr id="20" name="TextBox 19"/>
          <p:cNvSpPr txBox="1"/>
          <p:nvPr/>
        </p:nvSpPr>
        <p:spPr>
          <a:xfrm>
            <a:off x="7990636" y="2856738"/>
            <a:ext cx="1803257"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225–970 ms</a:t>
            </a:r>
          </a:p>
        </p:txBody>
      </p:sp>
      <p:sp>
        <p:nvSpPr>
          <p:cNvPr id="21" name="TextBox 20"/>
          <p:cNvSpPr txBox="1"/>
          <p:nvPr/>
        </p:nvSpPr>
        <p:spPr>
          <a:xfrm>
            <a:off x="9958486" y="2856738"/>
            <a:ext cx="1492544" cy="237744"/>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0 / 0</a:t>
            </a:r>
          </a:p>
        </p:txBody>
      </p:sp>
      <p:sp>
        <p:nvSpPr>
          <p:cNvPr id="22" name="Rectangle 21"/>
          <p:cNvSpPr/>
          <p:nvPr/>
        </p:nvSpPr>
        <p:spPr>
          <a:xfrm>
            <a:off x="658368" y="3099053"/>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099053"/>
            <a:ext cx="10874959"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 y="3149345"/>
            <a:ext cx="1596115" cy="23774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Cohort MPC</a:t>
            </a:r>
          </a:p>
        </p:txBody>
      </p:sp>
      <p:sp>
        <p:nvSpPr>
          <p:cNvPr id="25" name="TextBox 24"/>
          <p:cNvSpPr txBox="1"/>
          <p:nvPr/>
        </p:nvSpPr>
        <p:spPr>
          <a:xfrm>
            <a:off x="2501371" y="3149345"/>
            <a:ext cx="1906828"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 3 818 unknowns</a:t>
            </a:r>
          </a:p>
        </p:txBody>
      </p:sp>
      <p:sp>
        <p:nvSpPr>
          <p:cNvPr id="26" name="TextBox 25"/>
          <p:cNvSpPr txBox="1"/>
          <p:nvPr/>
        </p:nvSpPr>
        <p:spPr>
          <a:xfrm>
            <a:off x="4572792" y="3149345"/>
            <a:ext cx="1699686"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4.1–4.2 s</a:t>
            </a:r>
          </a:p>
        </p:txBody>
      </p:sp>
      <p:sp>
        <p:nvSpPr>
          <p:cNvPr id="27" name="TextBox 26"/>
          <p:cNvSpPr txBox="1"/>
          <p:nvPr/>
        </p:nvSpPr>
        <p:spPr>
          <a:xfrm>
            <a:off x="6437071" y="3149345"/>
            <a:ext cx="1388973" cy="237744"/>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6.18 s</a:t>
            </a:r>
          </a:p>
        </p:txBody>
      </p:sp>
      <p:sp>
        <p:nvSpPr>
          <p:cNvPr id="28" name="TextBox 27"/>
          <p:cNvSpPr txBox="1"/>
          <p:nvPr/>
        </p:nvSpPr>
        <p:spPr>
          <a:xfrm>
            <a:off x="7990636" y="3149345"/>
            <a:ext cx="1803257" cy="237744"/>
          </a:xfrm>
          <a:prstGeom prst="rect">
            <a:avLst/>
          </a:prstGeom>
          <a:noFill/>
        </p:spPr>
        <p:txBody>
          <a:bodyPr wrap="square" anchor="t" lIns="0" rIns="0" tIns="0" bIns="0">
            <a:spAutoFit/>
          </a:bodyPr>
          <a:lstStyle/>
          <a:p>
            <a:pPr algn="r">
              <a:lnSpc>
                <a:spcPct val="112000"/>
              </a:lnSpc>
            </a:pPr>
            <a:r>
              <a:rPr sz="960" b="0" i="0">
                <a:solidFill>
                  <a:srgbClr val="9C3B35"/>
                </a:solidFill>
                <a:latin typeface="Consolas"/>
              </a:rPr>
              <a:t>5.4–6.2 s</a:t>
            </a:r>
          </a:p>
        </p:txBody>
      </p:sp>
      <p:sp>
        <p:nvSpPr>
          <p:cNvPr id="29" name="TextBox 28"/>
          <p:cNvSpPr txBox="1"/>
          <p:nvPr/>
        </p:nvSpPr>
        <p:spPr>
          <a:xfrm>
            <a:off x="9958486" y="3149345"/>
            <a:ext cx="1492544" cy="237744"/>
          </a:xfrm>
          <a:prstGeom prst="rect">
            <a:avLst/>
          </a:prstGeom>
          <a:noFill/>
        </p:spPr>
        <p:txBody>
          <a:bodyPr wrap="square" anchor="t" lIns="0" rIns="0" tIns="0" bIns="0">
            <a:spAutoFit/>
          </a:bodyPr>
          <a:lstStyle/>
          <a:p>
            <a:pPr algn="r">
              <a:lnSpc>
                <a:spcPct val="112000"/>
              </a:lnSpc>
            </a:pPr>
            <a:r>
              <a:rPr sz="960" b="0" i="0">
                <a:solidFill>
                  <a:srgbClr val="2E7D5B"/>
                </a:solidFill>
                <a:latin typeface="Consolas"/>
              </a:rPr>
              <a:t>0 / 0</a:t>
            </a:r>
          </a:p>
        </p:txBody>
      </p:sp>
      <p:sp>
        <p:nvSpPr>
          <p:cNvPr id="30" name="Rectangle 29"/>
          <p:cNvSpPr/>
          <p:nvPr/>
        </p:nvSpPr>
        <p:spPr>
          <a:xfrm>
            <a:off x="658368" y="3391661"/>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 y="3441953"/>
            <a:ext cx="1596115" cy="237744"/>
          </a:xfrm>
          <a:prstGeom prst="rect">
            <a:avLst/>
          </a:prstGeom>
          <a:noFill/>
        </p:spPr>
        <p:txBody>
          <a:bodyPr wrap="square" anchor="t" lIns="0" rIns="0" tIns="0" bIns="0">
            <a:spAutoFit/>
          </a:bodyPr>
          <a:lstStyle/>
          <a:p>
            <a:pPr algn="l">
              <a:lnSpc>
                <a:spcPct val="112000"/>
              </a:lnSpc>
            </a:pPr>
            <a:r>
              <a:rPr sz="979" b="1" i="0">
                <a:solidFill>
                  <a:srgbClr val="111721"/>
                </a:solidFill>
                <a:latin typeface="Segoe UI"/>
              </a:rPr>
              <a:t>Linear program</a:t>
            </a:r>
          </a:p>
        </p:txBody>
      </p:sp>
      <p:sp>
        <p:nvSpPr>
          <p:cNvPr id="32" name="TextBox 31"/>
          <p:cNvSpPr txBox="1"/>
          <p:nvPr/>
        </p:nvSpPr>
        <p:spPr>
          <a:xfrm>
            <a:off x="2501371" y="3441953"/>
            <a:ext cx="1906828"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96 groups × 24 boxes</a:t>
            </a:r>
          </a:p>
        </p:txBody>
      </p:sp>
      <p:sp>
        <p:nvSpPr>
          <p:cNvPr id="33" name="TextBox 32"/>
          <p:cNvSpPr txBox="1"/>
          <p:nvPr/>
        </p:nvSpPr>
        <p:spPr>
          <a:xfrm>
            <a:off x="4572792" y="3441953"/>
            <a:ext cx="1699686"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&lt; 1 s (capped)</a:t>
            </a:r>
          </a:p>
        </p:txBody>
      </p:sp>
      <p:sp>
        <p:nvSpPr>
          <p:cNvPr id="34" name="TextBox 33"/>
          <p:cNvSpPr txBox="1"/>
          <p:nvPr/>
        </p:nvSpPr>
        <p:spPr>
          <a:xfrm>
            <a:off x="6437071" y="3441953"/>
            <a:ext cx="1388973"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a:t>
            </a:r>
          </a:p>
        </p:txBody>
      </p:sp>
      <p:sp>
        <p:nvSpPr>
          <p:cNvPr id="35" name="TextBox 34"/>
          <p:cNvSpPr txBox="1"/>
          <p:nvPr/>
        </p:nvSpPr>
        <p:spPr>
          <a:xfrm>
            <a:off x="7990636" y="3441953"/>
            <a:ext cx="1803257"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a:t>
            </a:r>
          </a:p>
        </p:txBody>
      </p:sp>
      <p:sp>
        <p:nvSpPr>
          <p:cNvPr id="36" name="TextBox 35"/>
          <p:cNvSpPr txBox="1"/>
          <p:nvPr/>
        </p:nvSpPr>
        <p:spPr>
          <a:xfrm>
            <a:off x="9958486" y="3441953"/>
            <a:ext cx="1492544" cy="237744"/>
          </a:xfrm>
          <a:prstGeom prst="rect">
            <a:avLst/>
          </a:prstGeom>
          <a:noFill/>
        </p:spPr>
        <p:txBody>
          <a:bodyPr wrap="square" anchor="t" lIns="0" rIns="0" tIns="0" bIns="0">
            <a:spAutoFit/>
          </a:bodyPr>
          <a:lstStyle/>
          <a:p>
            <a:pPr algn="r">
              <a:lnSpc>
                <a:spcPct val="112000"/>
              </a:lnSpc>
            </a:pPr>
            <a:r>
              <a:rPr sz="960" b="0" i="0">
                <a:solidFill>
                  <a:srgbClr val="3C4653"/>
                </a:solidFill>
                <a:latin typeface="Consolas"/>
              </a:rPr>
              <a:t>always solved</a:t>
            </a:r>
          </a:p>
        </p:txBody>
      </p:sp>
      <p:sp>
        <p:nvSpPr>
          <p:cNvPr id="37" name="Rectangle 36"/>
          <p:cNvSpPr/>
          <p:nvPr/>
        </p:nvSpPr>
        <p:spPr>
          <a:xfrm>
            <a:off x="658368" y="3684269"/>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2532126"/>
            <a:ext cx="10874959" cy="1152143"/>
          </a:xfrm>
          <a:prstGeom prst="rect">
            <a:avLst/>
          </a:prstGeom>
          <a:no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3830573"/>
            <a:ext cx="10874959" cy="457200"/>
          </a:xfrm>
          <a:prstGeom prst="rect">
            <a:avLst/>
          </a:prstGeom>
          <a:noFill/>
        </p:spPr>
        <p:txBody>
          <a:bodyPr wrap="square" anchor="t" lIns="0" rIns="0" tIns="0" bIns="0">
            <a:spAutoFit/>
          </a:bodyPr>
          <a:lstStyle/>
          <a:p>
            <a:pPr algn="l">
              <a:lnSpc>
                <a:spcPct val="130000"/>
              </a:lnSpc>
            </a:pPr>
            <a:r>
              <a:rPr sz="980" b="0" i="0">
                <a:solidFill>
                  <a:srgbClr val="9C3B35"/>
                </a:solidFill>
                <a:latin typeface="Segoe UI"/>
              </a:rPr>
              <a:t>These worst-case times were measured while 120 simulations ran at once on a fully loaded 125-CPU machine. They are NOT a clean measurement of production speed and should not be quoted as one.</a:t>
            </a:r>
          </a:p>
        </p:txBody>
      </p:sp>
      <p:sp>
        <p:nvSpPr>
          <p:cNvPr id="40" name="Rectangle 39"/>
          <p:cNvSpPr/>
          <p:nvPr/>
        </p:nvSpPr>
        <p:spPr>
          <a:xfrm>
            <a:off x="658368" y="3995166"/>
            <a:ext cx="5245455" cy="2309977"/>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9536" y="4159757"/>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THE TIMEOUT DISCOVERY</a:t>
            </a:r>
          </a:p>
        </p:txBody>
      </p:sp>
      <p:sp>
        <p:nvSpPr>
          <p:cNvPr id="42" name="TextBox 41"/>
          <p:cNvSpPr txBox="1"/>
          <p:nvPr/>
        </p:nvSpPr>
        <p:spPr>
          <a:xfrm>
            <a:off x="859536" y="4470654"/>
            <a:ext cx="4843119" cy="1688185"/>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Early MPC runs showed the solver timing out about 69% of the time. We removed the timeout to check whether the negative result was just an artefact of the optimizer never running. It ran fine — and the gap did not close. So the negative result is real.</a:t>
            </a:r>
          </a:p>
          <a:p>
            <a:pPr algn="l">
              <a:lnSpc>
                <a:spcPct val="134000"/>
              </a:lnSpc>
              <a:spcBef>
                <a:spcPts val="600"/>
              </a:spcBef>
            </a:pPr>
            <a:r>
              <a:rPr sz="1090" b="0" i="0">
                <a:solidFill>
                  <a:srgbClr val="3C4653"/>
                </a:solidFill>
                <a:latin typeface="Segoe UI"/>
              </a:rPr>
              <a:t>But the 2-second solver limit was never a limit on the whole decision. One decision makes several solver and validation calls.</a:t>
            </a:r>
          </a:p>
        </p:txBody>
      </p:sp>
      <p:sp>
        <p:nvSpPr>
          <p:cNvPr id="43" name="Rectangle 42"/>
          <p:cNvSpPr/>
          <p:nvPr/>
        </p:nvSpPr>
        <p:spPr>
          <a:xfrm>
            <a:off x="6287871" y="3995166"/>
            <a:ext cx="5245455" cy="2124481"/>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89039" y="4159757"/>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CAMPAIGN COMPUTE</a:t>
            </a:r>
          </a:p>
        </p:txBody>
      </p:sp>
      <p:sp>
        <p:nvSpPr>
          <p:cNvPr id="45" name="TextBox 44"/>
          <p:cNvSpPr txBox="1"/>
          <p:nvPr/>
        </p:nvSpPr>
        <p:spPr>
          <a:xfrm>
            <a:off x="6489039" y="4470654"/>
            <a:ext cx="4843119" cy="1502689"/>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Each 120-day campaign took about 1 hour 10 minutes on one exclusive 125-CPU node, running at roughly 12 000% CPU — about 120 cores busy at once.</a:t>
            </a:r>
          </a:p>
          <a:p>
            <a:pPr algn="l">
              <a:lnSpc>
                <a:spcPct val="134000"/>
              </a:lnSpc>
              <a:spcBef>
                <a:spcPts val="600"/>
              </a:spcBef>
            </a:pPr>
            <a:r>
              <a:rPr sz="1090" b="0" i="0">
                <a:solidFill>
                  <a:srgbClr val="3C4653"/>
                </a:solidFill>
                <a:latin typeface="Segoe UI"/>
              </a:rPr>
              <a:t>Only the fixed 40% configuration met the new 500 ms decision budget, and it still failed on average gain, confidence and worst day. The speed check did its job: it exposed slow decisions that solver-only reporting had completely hidden.</a:t>
            </a:r>
          </a:p>
        </p:txBody>
      </p:sp>
      <p:sp>
        <p:nvSpPr>
          <p:cNvPr id="46" name="TextBox 45"/>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THE FULL SCORECARD</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Fifteen candidates, thirteen checks</a:t>
            </a:r>
          </a:p>
        </p:txBody>
      </p:sp>
      <p:sp>
        <p:nvSpPr>
          <p:cNvPr id="5" name="TextBox 4"/>
          <p:cNvSpPr txBox="1"/>
          <p:nvPr/>
        </p:nvSpPr>
        <p:spPr>
          <a:xfrm>
            <a:off x="658368" y="1463040"/>
            <a:ext cx="8482468" cy="344170"/>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A candidate must fill every square.</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pic>
        <p:nvPicPr>
          <p:cNvPr id="8" name="Picture 7" descr="c_gates3.png"/>
          <p:cNvPicPr>
            <a:picLocks noChangeAspect="1"/>
          </p:cNvPicPr>
          <p:nvPr/>
        </p:nvPicPr>
        <p:blipFill>
          <a:blip r:embed="rId2"/>
          <a:stretch>
            <a:fillRect/>
          </a:stretch>
        </p:blipFill>
        <p:spPr>
          <a:xfrm>
            <a:off x="658368" y="1916938"/>
            <a:ext cx="6892687" cy="4041648"/>
          </a:xfrm>
          <a:prstGeom prst="rect">
            <a:avLst/>
          </a:prstGeom>
        </p:spPr>
      </p:pic>
      <p:sp>
        <p:nvSpPr>
          <p:cNvPr id="9" name="Rectangle 8"/>
          <p:cNvSpPr/>
          <p:nvPr/>
        </p:nvSpPr>
        <p:spPr>
          <a:xfrm>
            <a:off x="8597088" y="2099818"/>
            <a:ext cx="2936238" cy="225856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597088" y="2099818"/>
            <a:ext cx="34747" cy="2258568"/>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34832" y="2246122"/>
            <a:ext cx="2479038" cy="201168"/>
          </a:xfrm>
          <a:prstGeom prst="rect">
            <a:avLst/>
          </a:prstGeom>
          <a:noFill/>
        </p:spPr>
        <p:txBody>
          <a:bodyPr wrap="square" anchor="t" lIns="0" rIns="0" tIns="0" bIns="0">
            <a:spAutoFit/>
          </a:bodyPr>
          <a:lstStyle/>
          <a:p>
            <a:pPr algn="l">
              <a:lnSpc>
                <a:spcPct val="100000"/>
              </a:lnSpc>
            </a:pPr>
            <a:r>
              <a:rPr sz="950" b="1" i="0">
                <a:solidFill>
                  <a:srgbClr val="9C3B35"/>
                </a:solidFill>
                <a:latin typeface="Consolas"/>
              </a:rPr>
              <a:t>NO EARLY CANDIDATE FILLED A ROW</a:t>
            </a:r>
          </a:p>
        </p:txBody>
      </p:sp>
      <p:sp>
        <p:nvSpPr>
          <p:cNvPr id="12" name="TextBox 11"/>
          <p:cNvSpPr txBox="1"/>
          <p:nvPr/>
        </p:nvSpPr>
        <p:spPr>
          <a:xfrm>
            <a:off x="8834832" y="2502154"/>
            <a:ext cx="2433318" cy="1801368"/>
          </a:xfrm>
          <a:prstGeom prst="rect">
            <a:avLst/>
          </a:prstGeom>
          <a:noFill/>
        </p:spPr>
        <p:txBody>
          <a:bodyPr wrap="square" anchor="t" lIns="0" rIns="0" tIns="0" bIns="0">
            <a:spAutoFit/>
          </a:bodyPr>
          <a:lstStyle/>
          <a:p>
            <a:pPr algn="l">
              <a:lnSpc>
                <a:spcPct val="136000"/>
              </a:lnSpc>
            </a:pPr>
            <a:r>
              <a:rPr sz="1100" b="0" i="0">
                <a:solidFill>
                  <a:srgbClr val="3C4653"/>
                </a:solidFill>
                <a:latin typeface="Segoe UI"/>
              </a:rPr>
              <a:t>The first three MPC variants failed for a different reason entirely: the trained forecaster needed 144 completed history windows to warm up, and the experiment only had 143. So all 10 368 decisions safely refused to act — correct behaviour, and useless as evidence.</a:t>
            </a:r>
          </a:p>
        </p:txBody>
      </p:sp>
      <p:sp>
        <p:nvSpPr>
          <p:cNvPr id="13" name="Rectangle 12"/>
          <p:cNvSpPr/>
          <p:nvPr/>
        </p:nvSpPr>
        <p:spPr>
          <a:xfrm>
            <a:off x="8597088" y="4596130"/>
            <a:ext cx="2936238" cy="130860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97088" y="4596130"/>
            <a:ext cx="34747" cy="13086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34832" y="4742434"/>
            <a:ext cx="2479038" cy="201168"/>
          </a:xfrm>
          <a:prstGeom prst="rect">
            <a:avLst/>
          </a:prstGeom>
          <a:noFill/>
        </p:spPr>
        <p:txBody>
          <a:bodyPr wrap="square" anchor="t" lIns="0" rIns="0" tIns="0" bIns="0">
            <a:spAutoFit/>
          </a:bodyPr>
          <a:lstStyle/>
          <a:p>
            <a:pPr algn="l">
              <a:lnSpc>
                <a:spcPct val="100000"/>
              </a:lnSpc>
            </a:pPr>
            <a:r>
              <a:rPr sz="950" b="1" i="0">
                <a:solidFill>
                  <a:srgbClr val="0F4C5C"/>
                </a:solidFill>
                <a:latin typeface="Consolas"/>
              </a:rPr>
              <a:t>WHAT CHANGED</a:t>
            </a:r>
          </a:p>
        </p:txBody>
      </p:sp>
      <p:sp>
        <p:nvSpPr>
          <p:cNvPr id="16" name="TextBox 15"/>
          <p:cNvSpPr txBox="1"/>
          <p:nvPr/>
        </p:nvSpPr>
        <p:spPr>
          <a:xfrm>
            <a:off x="8834832" y="4998466"/>
            <a:ext cx="2433318" cy="851407"/>
          </a:xfrm>
          <a:prstGeom prst="rect">
            <a:avLst/>
          </a:prstGeom>
          <a:noFill/>
        </p:spPr>
        <p:txBody>
          <a:bodyPr wrap="square" anchor="t" lIns="0" rIns="0" tIns="0" bIns="0">
            <a:spAutoFit/>
          </a:bodyPr>
          <a:lstStyle/>
          <a:p>
            <a:pPr algn="l">
              <a:lnSpc>
                <a:spcPct val="136000"/>
              </a:lnSpc>
            </a:pPr>
            <a:r>
              <a:rPr sz="1100" b="0" i="0">
                <a:solidFill>
                  <a:srgbClr val="3C4653"/>
                </a:solidFill>
                <a:latin typeface="Segoe UI"/>
              </a:rPr>
              <a:t>A history-compatibility preflight now rejects that interface before an experiment can consume a development seed pool.</a:t>
            </a:r>
          </a:p>
        </p:txBody>
      </p:sp>
      <p:sp>
        <p:nvSpPr>
          <p:cNvPr id="17" name="TextBox 16"/>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THE MACHINERY</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What happened to every proposed action</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pic>
        <p:nvPicPr>
          <p:cNvPr id="7" name="Picture 6" descr="c_funnel.png"/>
          <p:cNvPicPr>
            <a:picLocks noChangeAspect="1"/>
          </p:cNvPicPr>
          <p:nvPr/>
        </p:nvPicPr>
        <p:blipFill>
          <a:blip r:embed="rId2"/>
          <a:stretch>
            <a:fillRect/>
          </a:stretch>
        </p:blipFill>
        <p:spPr>
          <a:xfrm>
            <a:off x="658368" y="1554480"/>
            <a:ext cx="6742474" cy="2611390"/>
          </a:xfrm>
          <a:prstGeom prst="rect">
            <a:avLst/>
          </a:prstGeom>
        </p:spPr>
      </p:pic>
      <p:sp>
        <p:nvSpPr>
          <p:cNvPr id="8" name="Rectangle 7"/>
          <p:cNvSpPr/>
          <p:nvPr/>
        </p:nvSpPr>
        <p:spPr>
          <a:xfrm>
            <a:off x="7727091" y="164134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971" y="1572768"/>
            <a:ext cx="3623355"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MPC proposed 1 697 actions</a:t>
            </a:r>
          </a:p>
        </p:txBody>
      </p:sp>
      <p:sp>
        <p:nvSpPr>
          <p:cNvPr id="10" name="TextBox 9"/>
          <p:cNvSpPr txBox="1"/>
          <p:nvPr/>
        </p:nvSpPr>
        <p:spPr>
          <a:xfrm>
            <a:off x="7909971" y="1817522"/>
            <a:ext cx="3623355"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across three variants, once the warm-up problem was fixed.</a:t>
            </a:r>
          </a:p>
        </p:txBody>
      </p:sp>
      <p:sp>
        <p:nvSpPr>
          <p:cNvPr id="11" name="Rectangle 10"/>
          <p:cNvSpPr/>
          <p:nvPr/>
        </p:nvSpPr>
        <p:spPr>
          <a:xfrm>
            <a:off x="7727091" y="2318867"/>
            <a:ext cx="380623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27091" y="2478887"/>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971" y="2410307"/>
            <a:ext cx="3623355"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1 032 were executed</a:t>
            </a:r>
          </a:p>
        </p:txBody>
      </p:sp>
      <p:sp>
        <p:nvSpPr>
          <p:cNvPr id="14" name="TextBox 13"/>
          <p:cNvSpPr txBox="1"/>
          <p:nvPr/>
        </p:nvSpPr>
        <p:spPr>
          <a:xfrm>
            <a:off x="7909971" y="2655062"/>
            <a:ext cx="3623355" cy="273532"/>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after passing the safety check.</a:t>
            </a:r>
          </a:p>
        </p:txBody>
      </p:sp>
      <p:sp>
        <p:nvSpPr>
          <p:cNvPr id="15" name="Rectangle 14"/>
          <p:cNvSpPr/>
          <p:nvPr/>
        </p:nvSpPr>
        <p:spPr>
          <a:xfrm>
            <a:off x="7727091" y="2974314"/>
            <a:ext cx="380623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27091" y="3134334"/>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971" y="3065754"/>
            <a:ext cx="3623355"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665 were rejected</a:t>
            </a:r>
          </a:p>
        </p:txBody>
      </p:sp>
      <p:sp>
        <p:nvSpPr>
          <p:cNvPr id="18" name="TextBox 17"/>
          <p:cNvSpPr txBox="1"/>
          <p:nvPr/>
        </p:nvSpPr>
        <p:spPr>
          <a:xfrm>
            <a:off x="7909971" y="3310508"/>
            <a:ext cx="3623355"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mostly because the improvement was not large enough to justify acting.</a:t>
            </a:r>
          </a:p>
        </p:txBody>
      </p:sp>
      <p:sp>
        <p:nvSpPr>
          <p:cNvPr id="19" name="Rectangle 18"/>
          <p:cNvSpPr/>
          <p:nvPr/>
        </p:nvSpPr>
        <p:spPr>
          <a:xfrm>
            <a:off x="7727091" y="3811854"/>
            <a:ext cx="380623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27091" y="3971874"/>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971" y="3903294"/>
            <a:ext cx="3623355"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166 had no valid solution</a:t>
            </a:r>
          </a:p>
        </p:txBody>
      </p:sp>
      <p:sp>
        <p:nvSpPr>
          <p:cNvPr id="22" name="TextBox 21"/>
          <p:cNvSpPr txBox="1"/>
          <p:nvPr/>
        </p:nvSpPr>
        <p:spPr>
          <a:xfrm>
            <a:off x="7909971" y="4148048"/>
            <a:ext cx="3623355" cy="273532"/>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and correctly fell back.</a:t>
            </a:r>
          </a:p>
        </p:txBody>
      </p:sp>
      <p:sp>
        <p:nvSpPr>
          <p:cNvPr id="23" name="Rectangle 22"/>
          <p:cNvSpPr/>
          <p:nvPr/>
        </p:nvSpPr>
        <p:spPr>
          <a:xfrm>
            <a:off x="7727091" y="4467301"/>
            <a:ext cx="380623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27091" y="4627321"/>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09971" y="4558741"/>
            <a:ext cx="3623355"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The machinery works end to end</a:t>
            </a:r>
          </a:p>
        </p:txBody>
      </p:sp>
      <p:sp>
        <p:nvSpPr>
          <p:cNvPr id="26" name="TextBox 25"/>
          <p:cNvSpPr txBox="1"/>
          <p:nvPr/>
        </p:nvSpPr>
        <p:spPr>
          <a:xfrm>
            <a:off x="7909971" y="4803495"/>
            <a:ext cx="3623355" cy="273532"/>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The benefit is simply not there.</a:t>
            </a:r>
          </a:p>
        </p:txBody>
      </p:sp>
      <p:sp>
        <p:nvSpPr>
          <p:cNvPr id="27" name="TextBox 26"/>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SELF-AUDIT</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A safety problem we found in our own results</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sp>
        <p:nvSpPr>
          <p:cNvPr id="7" name="Rectangle 6"/>
          <p:cNvSpPr/>
          <p:nvPr/>
        </p:nvSpPr>
        <p:spPr>
          <a:xfrm>
            <a:off x="658368" y="1554480"/>
            <a:ext cx="6742474" cy="1377696"/>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554480"/>
            <a:ext cx="34747" cy="1377696"/>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700784"/>
            <a:ext cx="6285274" cy="201168"/>
          </a:xfrm>
          <a:prstGeom prst="rect">
            <a:avLst/>
          </a:prstGeom>
          <a:noFill/>
        </p:spPr>
        <p:txBody>
          <a:bodyPr wrap="square" anchor="t" lIns="0" rIns="0" tIns="0" bIns="0">
            <a:spAutoFit/>
          </a:bodyPr>
          <a:lstStyle/>
          <a:p>
            <a:pPr algn="l">
              <a:lnSpc>
                <a:spcPct val="100000"/>
              </a:lnSpc>
            </a:pPr>
            <a:r>
              <a:rPr sz="950" b="1" i="0">
                <a:solidFill>
                  <a:srgbClr val="B5761F"/>
                </a:solidFill>
                <a:latin typeface="Consolas"/>
              </a:rPr>
              <a:t>“SOLVED” DID NOT ALWAYS MEAN “VALID”</a:t>
            </a:r>
          </a:p>
        </p:txBody>
      </p:sp>
      <p:sp>
        <p:nvSpPr>
          <p:cNvPr id="10" name="TextBox 9"/>
          <p:cNvSpPr txBox="1"/>
          <p:nvPr/>
        </p:nvSpPr>
        <p:spPr>
          <a:xfrm>
            <a:off x="896112" y="1956816"/>
            <a:ext cx="6239554" cy="920496"/>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A later review found that seven pre-drain configurations produced answers the solver marked as solved while still slightly exceeding a capacity limit. Previously we would have called those plans feasible. They were not.</a:t>
            </a:r>
          </a:p>
        </p:txBody>
      </p:sp>
      <p:sp>
        <p:nvSpPr>
          <p:cNvPr id="11" name="Rectangle 10"/>
          <p:cNvSpPr/>
          <p:nvPr/>
        </p:nvSpPr>
        <p:spPr>
          <a:xfrm>
            <a:off x="658368" y="3293364"/>
            <a:ext cx="68580" cy="68580"/>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3224784"/>
            <a:ext cx="6559594"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What changed</a:t>
            </a:r>
          </a:p>
        </p:txBody>
      </p:sp>
      <p:sp>
        <p:nvSpPr>
          <p:cNvPr id="13" name="TextBox 12"/>
          <p:cNvSpPr txBox="1"/>
          <p:nvPr/>
        </p:nvSpPr>
        <p:spPr>
          <a:xfrm>
            <a:off x="841247" y="3479292"/>
            <a:ext cx="6559594" cy="283743"/>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The system now reports any such excess explicitly.</a:t>
            </a:r>
          </a:p>
        </p:txBody>
      </p:sp>
      <p:sp>
        <p:nvSpPr>
          <p:cNvPr id="14" name="Rectangle 13"/>
          <p:cNvSpPr/>
          <p:nvPr/>
        </p:nvSpPr>
        <p:spPr>
          <a:xfrm>
            <a:off x="658368" y="3817899"/>
            <a:ext cx="674247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3987063"/>
            <a:ext cx="68580" cy="68580"/>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918483"/>
            <a:ext cx="6559594"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A new mandatory check</a:t>
            </a:r>
          </a:p>
        </p:txBody>
      </p:sp>
      <p:sp>
        <p:nvSpPr>
          <p:cNvPr id="17" name="TextBox 16"/>
          <p:cNvSpPr txBox="1"/>
          <p:nvPr/>
        </p:nvSpPr>
        <p:spPr>
          <a:xfrm>
            <a:off x="841247" y="4172991"/>
            <a:ext cx="6559594" cy="283743"/>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“No capacity exceeded” is now a release requirement, not a nice-to-have.</a:t>
            </a:r>
          </a:p>
        </p:txBody>
      </p:sp>
      <p:sp>
        <p:nvSpPr>
          <p:cNvPr id="18" name="Rectangle 17"/>
          <p:cNvSpPr/>
          <p:nvPr/>
        </p:nvSpPr>
        <p:spPr>
          <a:xfrm>
            <a:off x="658368" y="4511598"/>
            <a:ext cx="674247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680762"/>
            <a:ext cx="68580" cy="68580"/>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4612182"/>
            <a:ext cx="6559594"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Fail closed</a:t>
            </a:r>
          </a:p>
        </p:txBody>
      </p:sp>
      <p:sp>
        <p:nvSpPr>
          <p:cNvPr id="21" name="TextBox 20"/>
          <p:cNvSpPr txBox="1"/>
          <p:nvPr/>
        </p:nvSpPr>
        <p:spPr>
          <a:xfrm>
            <a:off x="841247" y="4866690"/>
            <a:ext cx="6559594" cy="283743"/>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Any violation hands control straight back to the simple rule.</a:t>
            </a:r>
          </a:p>
        </p:txBody>
      </p:sp>
      <p:sp>
        <p:nvSpPr>
          <p:cNvPr id="22" name="Rectangle 21"/>
          <p:cNvSpPr/>
          <p:nvPr/>
        </p:nvSpPr>
        <p:spPr>
          <a:xfrm>
            <a:off x="658368" y="5205298"/>
            <a:ext cx="6742474"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5374462"/>
            <a:ext cx="68580" cy="68580"/>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7" y="5305882"/>
            <a:ext cx="6559594"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What we did not do</a:t>
            </a:r>
          </a:p>
        </p:txBody>
      </p:sp>
      <p:sp>
        <p:nvSpPr>
          <p:cNvPr id="25" name="TextBox 24"/>
          <p:cNvSpPr txBox="1"/>
          <p:nvPr/>
        </p:nvSpPr>
        <p:spPr>
          <a:xfrm>
            <a:off x="841247" y="5560390"/>
            <a:ext cx="6559594" cy="476046"/>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We did not re-score the old experiments — their conclusions were negative anyway — but we no longer describe those actions as validated.</a:t>
            </a:r>
          </a:p>
        </p:txBody>
      </p:sp>
      <p:sp>
        <p:nvSpPr>
          <p:cNvPr id="26" name="Rectangle 25"/>
          <p:cNvSpPr/>
          <p:nvPr/>
        </p:nvSpPr>
        <p:spPr>
          <a:xfrm>
            <a:off x="7835841" y="1554480"/>
            <a:ext cx="3697486" cy="3634232"/>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37009" y="1719072"/>
            <a:ext cx="3295150"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WHY REPORT THIS AT ALL?</a:t>
            </a:r>
          </a:p>
        </p:txBody>
      </p:sp>
      <p:sp>
        <p:nvSpPr>
          <p:cNvPr id="28" name="TextBox 27"/>
          <p:cNvSpPr txBox="1"/>
          <p:nvPr/>
        </p:nvSpPr>
        <p:spPr>
          <a:xfrm>
            <a:off x="8037009" y="2029968"/>
            <a:ext cx="3295150" cy="3012440"/>
          </a:xfrm>
          <a:prstGeom prst="rect">
            <a:avLst/>
          </a:prstGeom>
          <a:noFill/>
        </p:spPr>
        <p:txBody>
          <a:bodyPr wrap="square" anchor="t" lIns="0" rIns="0" tIns="0" bIns="0">
            <a:spAutoFit/>
          </a:bodyPr>
          <a:lstStyle/>
          <a:p>
            <a:pPr algn="l">
              <a:lnSpc>
                <a:spcPct val="140000"/>
              </a:lnSpc>
            </a:pPr>
            <a:r>
              <a:rPr sz="1160" b="0" i="0">
                <a:solidFill>
                  <a:srgbClr val="3C4653"/>
                </a:solidFill>
                <a:latin typeface="Segoe UI"/>
              </a:rPr>
              <a:t>Nobody outside the project would have found this. The affected experiments had already been rejected, so the headline conclusions do not change.</a:t>
            </a:r>
          </a:p>
          <a:p>
            <a:pPr algn="l">
              <a:lnSpc>
                <a:spcPct val="140000"/>
              </a:lnSpc>
              <a:spcBef>
                <a:spcPts val="800"/>
              </a:spcBef>
            </a:pPr>
            <a:r>
              <a:rPr sz="1160" b="0" i="0">
                <a:solidFill>
                  <a:srgbClr val="3C4653"/>
                </a:solidFill>
                <a:latin typeface="Segoe UI"/>
              </a:rPr>
              <a:t>We report it because the value of this whole apparatus is that its claims can be trusted. An evidence system that quietly corrects its own record is worth more than one that never admits to a correction.</a:t>
            </a:r>
          </a:p>
          <a:p>
            <a:pPr algn="l">
              <a:lnSpc>
                <a:spcPct val="140000"/>
              </a:lnSpc>
              <a:spcBef>
                <a:spcPts val="800"/>
              </a:spcBef>
            </a:pPr>
            <a:r>
              <a:rPr sz="1160" b="0" i="0">
                <a:solidFill>
                  <a:srgbClr val="3C4653"/>
                </a:solidFill>
                <a:latin typeface="Segoe UI"/>
              </a:rPr>
              <a:t>It also produced a real improvement: a check that did not exist before now runs on every candidate.</a:t>
            </a:r>
          </a:p>
        </p:txBody>
      </p:sp>
      <p:sp>
        <p:nvSpPr>
          <p:cNvPr id="29" name="TextBox 2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EXPERIMENT 7</a:t>
            </a:r>
          </a:p>
        </p:txBody>
      </p:sp>
      <p:sp>
        <p:nvSpPr>
          <p:cNvPr id="4" name="TextBox 3"/>
          <p:cNvSpPr txBox="1"/>
          <p:nvPr/>
        </p:nvSpPr>
        <p:spPr>
          <a:xfrm>
            <a:off x="658368" y="731520"/>
            <a:ext cx="10872216" cy="822960"/>
          </a:xfrm>
          <a:prstGeom prst="rect">
            <a:avLst/>
          </a:prstGeom>
          <a:noFill/>
        </p:spPr>
        <p:txBody>
          <a:bodyPr wrap="square" lIns="0" rIns="0" tIns="0" bIns="0" anchor="t">
            <a:spAutoFit/>
          </a:bodyPr>
          <a:lstStyle/>
          <a:p>
            <a:pPr algn="l">
              <a:lnSpc>
                <a:spcPct val="100000"/>
              </a:lnSpc>
            </a:pPr>
            <a:r>
              <a:rPr sz="3000" b="0">
                <a:solidFill>
                  <a:srgbClr val="111721"/>
                </a:solidFill>
                <a:latin typeface="Georgia"/>
              </a:rPr>
              <a:t>Re-running the campaign after auditing the evaluator</a:t>
            </a:r>
          </a:p>
        </p:txBody>
      </p:sp>
      <p:sp>
        <p:nvSpPr>
          <p:cNvPr id="5" name="TextBox 4"/>
          <p:cNvSpPr txBox="1"/>
          <p:nvPr/>
        </p:nvSpPr>
        <p:spPr>
          <a:xfrm>
            <a:off x="658368" y="1463040"/>
            <a:ext cx="10424160" cy="548640"/>
          </a:xfrm>
          <a:prstGeom prst="rect">
            <a:avLst/>
          </a:prstGeom>
          <a:noFill/>
        </p:spPr>
        <p:txBody>
          <a:bodyPr wrap="square" lIns="0" rIns="0" tIns="0" bIns="0" anchor="t">
            <a:spAutoFit/>
          </a:bodyPr>
          <a:lstStyle/>
          <a:p>
            <a:pPr algn="l">
              <a:lnSpc>
                <a:spcPct val="125000"/>
              </a:lnSpc>
            </a:pPr>
            <a:r>
              <a:rPr sz="1300" b="0">
                <a:solidFill>
                  <a:srgbClr val="3C4653"/>
                </a:solidFill>
                <a:latin typeface="Segoe UI"/>
              </a:rPr>
              <a:t>The earlier campaign concluded no controller could beat the simple rule. An audit found three defects — all in the scoring code and the scenario generator, none in the controllers themselves. Fixing them changed the answer.</a:t>
            </a:r>
          </a:p>
        </p:txBody>
      </p:sp>
      <p:sp>
        <p:nvSpPr>
          <p:cNvPr id="6" name="Rectangle 5"/>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8816"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03 · THE OPTIMIZER</a:t>
            </a:r>
          </a:p>
        </p:txBody>
      </p:sp>
      <p:sp>
        <p:nvSpPr>
          <p:cNvPr id="8" name="Rectangle 7"/>
          <p:cNvSpPr/>
          <p:nvPr/>
        </p:nvSpPr>
        <p:spPr>
          <a:xfrm>
            <a:off x="658368" y="2395728"/>
            <a:ext cx="3502152" cy="248716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395728"/>
            <a:ext cx="36576" cy="248716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560320"/>
            <a:ext cx="3099816" cy="201168"/>
          </a:xfrm>
          <a:prstGeom prst="rect">
            <a:avLst/>
          </a:prstGeom>
          <a:noFill/>
        </p:spPr>
        <p:txBody>
          <a:bodyPr wrap="square" lIns="0" rIns="0" tIns="0" bIns="0" anchor="t">
            <a:spAutoFit/>
          </a:bodyPr>
          <a:lstStyle/>
          <a:p>
            <a:pPr algn="l">
              <a:lnSpc>
                <a:spcPct val="100000"/>
              </a:lnSpc>
            </a:pPr>
            <a:r>
              <a:rPr sz="919" b="1">
                <a:solidFill>
                  <a:srgbClr val="6C7683"/>
                </a:solidFill>
                <a:latin typeface="Consolas"/>
              </a:rPr>
              <a:t>DEFECT 1 · UNITS</a:t>
            </a:r>
          </a:p>
        </p:txBody>
      </p:sp>
      <p:sp>
        <p:nvSpPr>
          <p:cNvPr id="11" name="TextBox 10"/>
          <p:cNvSpPr txBox="1"/>
          <p:nvPr/>
        </p:nvSpPr>
        <p:spPr>
          <a:xfrm>
            <a:off x="859536" y="2871216"/>
            <a:ext cx="3099816" cy="1847088"/>
          </a:xfrm>
          <a:prstGeom prst="rect">
            <a:avLst/>
          </a:prstGeom>
          <a:noFill/>
        </p:spPr>
        <p:txBody>
          <a:bodyPr wrap="square" lIns="0" rIns="0" tIns="0" bIns="0" anchor="t">
            <a:spAutoFit/>
          </a:bodyPr>
          <a:lstStyle/>
          <a:p>
            <a:pPr algn="l">
              <a:lnSpc>
                <a:spcPct val="122000"/>
              </a:lnSpc>
            </a:pPr>
            <a:r>
              <a:rPr sz="1240" b="0">
                <a:solidFill>
                  <a:srgbClr val="3C4653"/>
                </a:solidFill>
                <a:latin typeface="Segoe UI"/>
              </a:rPr>
              <a:t/>
            </a:r>
          </a:p>
        </p:txBody>
      </p:sp>
      <p:sp>
        <p:nvSpPr>
          <p:cNvPr id="12" name="TextBox 11"/>
          <p:cNvSpPr txBox="1"/>
          <p:nvPr/>
        </p:nvSpPr>
        <p:spPr>
          <a:xfrm>
            <a:off x="896112" y="2688336"/>
            <a:ext cx="3044952" cy="475488"/>
          </a:xfrm>
          <a:prstGeom prst="rect">
            <a:avLst/>
          </a:prstGeom>
          <a:noFill/>
        </p:spPr>
        <p:txBody>
          <a:bodyPr wrap="square" lIns="0" rIns="0" tIns="0" bIns="0" anchor="t">
            <a:spAutoFit/>
          </a:bodyPr>
          <a:lstStyle/>
          <a:p>
            <a:pPr algn="l">
              <a:lnSpc>
                <a:spcPct val="110000"/>
              </a:lnSpc>
            </a:pPr>
            <a:r>
              <a:rPr sz="1260" b="1">
                <a:solidFill>
                  <a:srgbClr val="111721"/>
                </a:solidFill>
                <a:latin typeface="Segoe UI"/>
              </a:rPr>
              <a:t>The optimiser and the scoreboard disagreed</a:t>
            </a:r>
          </a:p>
        </p:txBody>
      </p:sp>
      <p:sp>
        <p:nvSpPr>
          <p:cNvPr id="13" name="TextBox 12"/>
          <p:cNvSpPr txBox="1"/>
          <p:nvPr/>
        </p:nvSpPr>
        <p:spPr>
          <a:xfrm>
            <a:off x="896112" y="3255264"/>
            <a:ext cx="3044952" cy="1481328"/>
          </a:xfrm>
          <a:prstGeom prst="rect">
            <a:avLst/>
          </a:prstGeom>
          <a:noFill/>
        </p:spPr>
        <p:txBody>
          <a:bodyPr wrap="square" lIns="0" rIns="0" tIns="0" bIns="0" anchor="t">
            <a:spAutoFit/>
          </a:bodyPr>
          <a:lstStyle/>
          <a:p>
            <a:pPr algn="l">
              <a:lnSpc>
                <a:spcPct val="120000"/>
              </a:lnSpc>
            </a:pPr>
            <a:r>
              <a:rPr sz="1060" b="0">
                <a:solidFill>
                  <a:srgbClr val="3C4653"/>
                </a:solidFill>
                <a:latin typeface="Segoe UI"/>
              </a:rPr>
              <a:t>The simulator scores overload as load ÷ capacity − 1, a relative quantity. The safety guard and the pre-drain solver both worked in absolute Mbps. On a box cut to a tenth of its envelope those differ tenfold, so the controller undervalued exactly the action it exists to take.</a:t>
            </a:r>
          </a:p>
        </p:txBody>
      </p:sp>
      <p:sp>
        <p:nvSpPr>
          <p:cNvPr id="14" name="Rectangle 13"/>
          <p:cNvSpPr/>
          <p:nvPr/>
        </p:nvSpPr>
        <p:spPr>
          <a:xfrm>
            <a:off x="4343400" y="2395728"/>
            <a:ext cx="3502152" cy="248716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2395728"/>
            <a:ext cx="36576" cy="248716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2560320"/>
            <a:ext cx="3099816" cy="201168"/>
          </a:xfrm>
          <a:prstGeom prst="rect">
            <a:avLst/>
          </a:prstGeom>
          <a:noFill/>
        </p:spPr>
        <p:txBody>
          <a:bodyPr wrap="square" lIns="0" rIns="0" tIns="0" bIns="0" anchor="t">
            <a:spAutoFit/>
          </a:bodyPr>
          <a:lstStyle/>
          <a:p>
            <a:pPr algn="l">
              <a:lnSpc>
                <a:spcPct val="100000"/>
              </a:lnSpc>
            </a:pPr>
            <a:r>
              <a:rPr sz="919" b="1">
                <a:solidFill>
                  <a:srgbClr val="6C7683"/>
                </a:solidFill>
                <a:latin typeface="Consolas"/>
              </a:rPr>
              <a:t>DEFECT 2 · METRIC</a:t>
            </a:r>
          </a:p>
        </p:txBody>
      </p:sp>
      <p:sp>
        <p:nvSpPr>
          <p:cNvPr id="17" name="TextBox 16"/>
          <p:cNvSpPr txBox="1"/>
          <p:nvPr/>
        </p:nvSpPr>
        <p:spPr>
          <a:xfrm>
            <a:off x="4544568" y="2871216"/>
            <a:ext cx="3099816" cy="1847088"/>
          </a:xfrm>
          <a:prstGeom prst="rect">
            <a:avLst/>
          </a:prstGeom>
          <a:noFill/>
        </p:spPr>
        <p:txBody>
          <a:bodyPr wrap="square" lIns="0" rIns="0" tIns="0" bIns="0" anchor="t">
            <a:spAutoFit/>
          </a:bodyPr>
          <a:lstStyle/>
          <a:p>
            <a:pPr algn="l">
              <a:lnSpc>
                <a:spcPct val="122000"/>
              </a:lnSpc>
            </a:pPr>
            <a:r>
              <a:rPr sz="1240" b="0">
                <a:solidFill>
                  <a:srgbClr val="3C4653"/>
                </a:solidFill>
                <a:latin typeface="Segoe UI"/>
              </a:rPr>
              <a:t/>
            </a:r>
          </a:p>
        </p:txBody>
      </p:sp>
      <p:sp>
        <p:nvSpPr>
          <p:cNvPr id="18" name="TextBox 17"/>
          <p:cNvSpPr txBox="1"/>
          <p:nvPr/>
        </p:nvSpPr>
        <p:spPr>
          <a:xfrm>
            <a:off x="4581144" y="2688336"/>
            <a:ext cx="3044952" cy="475488"/>
          </a:xfrm>
          <a:prstGeom prst="rect">
            <a:avLst/>
          </a:prstGeom>
          <a:noFill/>
        </p:spPr>
        <p:txBody>
          <a:bodyPr wrap="square" lIns="0" rIns="0" tIns="0" bIns="0" anchor="t">
            <a:spAutoFit/>
          </a:bodyPr>
          <a:lstStyle/>
          <a:p>
            <a:pPr algn="l">
              <a:lnSpc>
                <a:spcPct val="110000"/>
              </a:lnSpc>
            </a:pPr>
            <a:r>
              <a:rPr sz="1260" b="1">
                <a:solidFill>
                  <a:srgbClr val="111721"/>
                </a:solidFill>
                <a:latin typeface="Segoe UI"/>
              </a:rPr>
              <a:t>One stress family scored infinity</a:t>
            </a:r>
          </a:p>
        </p:txBody>
      </p:sp>
      <p:sp>
        <p:nvSpPr>
          <p:cNvPr id="19" name="TextBox 18"/>
          <p:cNvSpPr txBox="1"/>
          <p:nvPr/>
        </p:nvSpPr>
        <p:spPr>
          <a:xfrm>
            <a:off x="4581144" y="3255264"/>
            <a:ext cx="3044952" cy="1481328"/>
          </a:xfrm>
          <a:prstGeom prst="rect">
            <a:avLst/>
          </a:prstGeom>
          <a:noFill/>
        </p:spPr>
        <p:txBody>
          <a:bodyPr wrap="square" lIns="0" rIns="0" tIns="0" bIns="0" anchor="t">
            <a:spAutoFit/>
          </a:bodyPr>
          <a:lstStyle/>
          <a:p>
            <a:pPr algn="l">
              <a:lnSpc>
                <a:spcPct val="120000"/>
              </a:lnSpc>
            </a:pPr>
            <a:r>
              <a:rPr sz="1060" b="0">
                <a:solidFill>
                  <a:srgbClr val="3C4653"/>
                </a:solidFill>
                <a:latin typeface="Segoe UI"/>
              </a:rPr>
              <a:t>An unavailable box has zero capacity, so those pairs scored infinity for both controllers — an exact tie that still failed a finite-metric check on all 160 configurations. That single check made the contract unpassable before any controller ran.</a:t>
            </a:r>
          </a:p>
        </p:txBody>
      </p:sp>
      <p:sp>
        <p:nvSpPr>
          <p:cNvPr id="20" name="Rectangle 19"/>
          <p:cNvSpPr/>
          <p:nvPr/>
        </p:nvSpPr>
        <p:spPr>
          <a:xfrm>
            <a:off x="8028432" y="2395728"/>
            <a:ext cx="3502152" cy="248716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28432" y="2395728"/>
            <a:ext cx="36576" cy="248716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2560320"/>
            <a:ext cx="3099816" cy="201168"/>
          </a:xfrm>
          <a:prstGeom prst="rect">
            <a:avLst/>
          </a:prstGeom>
          <a:noFill/>
        </p:spPr>
        <p:txBody>
          <a:bodyPr wrap="square" lIns="0" rIns="0" tIns="0" bIns="0" anchor="t">
            <a:spAutoFit/>
          </a:bodyPr>
          <a:lstStyle/>
          <a:p>
            <a:pPr algn="l">
              <a:lnSpc>
                <a:spcPct val="100000"/>
              </a:lnSpc>
            </a:pPr>
            <a:r>
              <a:rPr sz="919" b="1">
                <a:solidFill>
                  <a:srgbClr val="6C7683"/>
                </a:solidFill>
                <a:latin typeface="Consolas"/>
              </a:rPr>
              <a:t>DEFECT 3 · SIZING</a:t>
            </a:r>
          </a:p>
        </p:txBody>
      </p:sp>
      <p:sp>
        <p:nvSpPr>
          <p:cNvPr id="23" name="TextBox 22"/>
          <p:cNvSpPr txBox="1"/>
          <p:nvPr/>
        </p:nvSpPr>
        <p:spPr>
          <a:xfrm>
            <a:off x="8229600" y="2871216"/>
            <a:ext cx="3099816" cy="1847088"/>
          </a:xfrm>
          <a:prstGeom prst="rect">
            <a:avLst/>
          </a:prstGeom>
          <a:noFill/>
        </p:spPr>
        <p:txBody>
          <a:bodyPr wrap="square" lIns="0" rIns="0" tIns="0" bIns="0" anchor="t">
            <a:spAutoFit/>
          </a:bodyPr>
          <a:lstStyle/>
          <a:p>
            <a:pPr algn="l">
              <a:lnSpc>
                <a:spcPct val="122000"/>
              </a:lnSpc>
            </a:pPr>
            <a:r>
              <a:rPr sz="1240" b="0">
                <a:solidFill>
                  <a:srgbClr val="3C4653"/>
                </a:solidFill>
                <a:latin typeface="Segoe UI"/>
              </a:rPr>
              <a:t/>
            </a:r>
          </a:p>
        </p:txBody>
      </p:sp>
      <p:sp>
        <p:nvSpPr>
          <p:cNvPr id="24" name="TextBox 23"/>
          <p:cNvSpPr txBox="1"/>
          <p:nvPr/>
        </p:nvSpPr>
        <p:spPr>
          <a:xfrm>
            <a:off x="8266176" y="2688336"/>
            <a:ext cx="3044952" cy="475488"/>
          </a:xfrm>
          <a:prstGeom prst="rect">
            <a:avLst/>
          </a:prstGeom>
          <a:noFill/>
        </p:spPr>
        <p:txBody>
          <a:bodyPr wrap="square" lIns="0" rIns="0" tIns="0" bIns="0" anchor="t">
            <a:spAutoFit/>
          </a:bodyPr>
          <a:lstStyle/>
          <a:p>
            <a:pPr algn="l">
              <a:lnSpc>
                <a:spcPct val="110000"/>
              </a:lnSpc>
            </a:pPr>
            <a:r>
              <a:rPr sz="1260" b="1">
                <a:solidFill>
                  <a:srgbClr val="111721"/>
                </a:solidFill>
                <a:latin typeface="Segoe UI"/>
              </a:rPr>
              <a:t>The MPC horizon was set in windows, not hours</a:t>
            </a:r>
          </a:p>
        </p:txBody>
      </p:sp>
      <p:sp>
        <p:nvSpPr>
          <p:cNvPr id="25" name="TextBox 24"/>
          <p:cNvSpPr txBox="1"/>
          <p:nvPr/>
        </p:nvSpPr>
        <p:spPr>
          <a:xfrm>
            <a:off x="8266176" y="3255264"/>
            <a:ext cx="3044952" cy="1481328"/>
          </a:xfrm>
          <a:prstGeom prst="rect">
            <a:avLst/>
          </a:prstGeom>
          <a:noFill/>
        </p:spPr>
        <p:txBody>
          <a:bodyPr wrap="square" lIns="0" rIns="0" tIns="0" bIns="0" anchor="t">
            <a:spAutoFit/>
          </a:bodyPr>
          <a:lstStyle/>
          <a:p>
            <a:pPr algn="l">
              <a:lnSpc>
                <a:spcPct val="120000"/>
              </a:lnSpc>
            </a:pPr>
            <a:r>
              <a:rPr sz="1060" b="0">
                <a:solidFill>
                  <a:srgbClr val="3C4653"/>
                </a:solidFill>
                <a:latin typeface="Segoe UI"/>
              </a:rPr>
              <a:t>Halving the control cadence quintupled the optimisation, so every 2-minute configuration hit a 2-second solver budget that the acceptance rules allowed to be 120 seconds. The reported cadence finding was measuring a sizing bug.</a:t>
            </a:r>
          </a:p>
        </p:txBody>
      </p:sp>
      <p:sp>
        <p:nvSpPr>
          <p:cNvPr id="26" name="Rectangle 25"/>
          <p:cNvSpPr/>
          <p:nvPr/>
        </p:nvSpPr>
        <p:spPr>
          <a:xfrm>
            <a:off x="658368" y="5138928"/>
            <a:ext cx="10872216" cy="914400"/>
          </a:xfrm>
          <a:prstGeom prst="rect">
            <a:avLst/>
          </a:prstGeom>
          <a:solidFill>
            <a:srgbClr val="EC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 y="5138928"/>
            <a:ext cx="36576"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5285232"/>
            <a:ext cx="10396728" cy="201168"/>
          </a:xfrm>
          <a:prstGeom prst="rect">
            <a:avLst/>
          </a:prstGeom>
          <a:noFill/>
        </p:spPr>
        <p:txBody>
          <a:bodyPr wrap="square" lIns="0" rIns="0" tIns="0" bIns="0" anchor="t">
            <a:spAutoFit/>
          </a:bodyPr>
          <a:lstStyle/>
          <a:p>
            <a:pPr algn="l">
              <a:lnSpc>
                <a:spcPct val="100000"/>
              </a:lnSpc>
            </a:pPr>
            <a:r>
              <a:rPr sz="950" b="1">
                <a:solidFill>
                  <a:srgbClr val="0F4C5C"/>
                </a:solidFill>
                <a:latin typeface="Consolas"/>
              </a:rPr>
              <a:t>WHAT CHANGED AS A RESULT</a:t>
            </a:r>
          </a:p>
        </p:txBody>
      </p:sp>
      <p:sp>
        <p:nvSpPr>
          <p:cNvPr id="29" name="TextBox 28"/>
          <p:cNvSpPr txBox="1"/>
          <p:nvPr/>
        </p:nvSpPr>
        <p:spPr>
          <a:xfrm>
            <a:off x="896112" y="5541264"/>
            <a:ext cx="10396728" cy="411480"/>
          </a:xfrm>
          <a:prstGeom prst="rect">
            <a:avLst/>
          </a:prstGeom>
          <a:noFill/>
        </p:spPr>
        <p:txBody>
          <a:bodyPr wrap="square" lIns="0" rIns="0" tIns="0" bIns="0" anchor="t">
            <a:spAutoFit/>
          </a:bodyPr>
          <a:lstStyle/>
          <a:p>
            <a:pPr algn="l">
              <a:lnSpc>
                <a:spcPct val="116000"/>
              </a:lnSpc>
            </a:pPr>
            <a:r>
              <a:rPr sz="1140" b="0">
                <a:solidFill>
                  <a:srgbClr val="3C4653"/>
                </a:solidFill>
                <a:latin typeface="Segoe UI"/>
              </a:rPr>
              <a:t>Configurations passing every gate: 0 of 160 → 36 of 160.   Worst stress family: −1.7% → +24.2%.   MPC solver timeouts: 40% at 10-minute cadence and 100% at 2-minute → zero.</a:t>
            </a:r>
          </a:p>
        </p:txBody>
      </p:sp>
      <p:sp>
        <p:nvSpPr>
          <p:cNvPr id="30" name="TextBox 29"/>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EXPERIMENT 7 · DISCOVERY</a:t>
            </a:r>
          </a:p>
        </p:txBody>
      </p:sp>
      <p:sp>
        <p:nvSpPr>
          <p:cNvPr id="4" name="TextBox 3"/>
          <p:cNvSpPr txBox="1"/>
          <p:nvPr/>
        </p:nvSpPr>
        <p:spPr>
          <a:xfrm>
            <a:off x="658368" y="731520"/>
            <a:ext cx="10872216" cy="822960"/>
          </a:xfrm>
          <a:prstGeom prst="rect">
            <a:avLst/>
          </a:prstGeom>
          <a:noFill/>
        </p:spPr>
        <p:txBody>
          <a:bodyPr wrap="square" lIns="0" rIns="0" tIns="0" bIns="0" anchor="t">
            <a:spAutoFit/>
          </a:bodyPr>
          <a:lstStyle/>
          <a:p>
            <a:pPr algn="l">
              <a:lnSpc>
                <a:spcPct val="100000"/>
              </a:lnSpc>
            </a:pPr>
            <a:r>
              <a:rPr sz="3000" b="0">
                <a:solidFill>
                  <a:srgbClr val="111721"/>
                </a:solidFill>
                <a:latin typeface="Georgia"/>
              </a:rPr>
              <a:t>160 configurations, 20 000 paired simulated days</a:t>
            </a:r>
          </a:p>
        </p:txBody>
      </p:sp>
      <p:sp>
        <p:nvSpPr>
          <p:cNvPr id="5" name="TextBox 4"/>
          <p:cNvSpPr txBox="1"/>
          <p:nvPr/>
        </p:nvSpPr>
        <p:spPr>
          <a:xfrm>
            <a:off x="658368" y="1463040"/>
            <a:ext cx="7863840" cy="548640"/>
          </a:xfrm>
          <a:prstGeom prst="rect">
            <a:avLst/>
          </a:prstGeom>
          <a:noFill/>
        </p:spPr>
        <p:txBody>
          <a:bodyPr wrap="square" lIns="0" rIns="0" tIns="0" bIns="0" anchor="t">
            <a:spAutoFit/>
          </a:bodyPr>
          <a:lstStyle/>
          <a:p>
            <a:pPr algn="l">
              <a:lnSpc>
                <a:spcPct val="125000"/>
              </a:lnSpc>
            </a:pPr>
            <a:r>
              <a:rPr sz="1300" b="0">
                <a:solidFill>
                  <a:srgbClr val="3C4653"/>
                </a:solidFill>
                <a:latin typeface="Segoe UI"/>
              </a:rPr>
              <a:t>Every configuration is one point. To pass it must clear a 10% minimum gain and add no more than a quarter of the overload it removes — plus nine further checks.</a:t>
            </a:r>
          </a:p>
        </p:txBody>
      </p:sp>
      <p:sp>
        <p:nvSpPr>
          <p:cNvPr id="6" name="Rectangle 5"/>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8816"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03 · THE OPTIMIZER</a:t>
            </a:r>
          </a:p>
        </p:txBody>
      </p:sp>
      <p:pic>
        <p:nvPicPr>
          <p:cNvPr id="8" name="Picture 7" descr="fig_frontier.png"/>
          <p:cNvPicPr>
            <a:picLocks noChangeAspect="1"/>
          </p:cNvPicPr>
          <p:nvPr/>
        </p:nvPicPr>
        <p:blipFill>
          <a:blip r:embed="rId2"/>
          <a:stretch>
            <a:fillRect/>
          </a:stretch>
        </p:blipFill>
        <p:spPr>
          <a:xfrm>
            <a:off x="658368" y="2121408"/>
            <a:ext cx="6949440" cy="2953512"/>
          </a:xfrm>
          <a:prstGeom prst="rect">
            <a:avLst/>
          </a:prstGeom>
        </p:spPr>
      </p:pic>
      <p:sp>
        <p:nvSpPr>
          <p:cNvPr id="9" name="Rectangle 8"/>
          <p:cNvSpPr/>
          <p:nvPr/>
        </p:nvSpPr>
        <p:spPr>
          <a:xfrm>
            <a:off x="7845552" y="2368296"/>
            <a:ext cx="64008"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28431" y="2304288"/>
            <a:ext cx="3502152" cy="256032"/>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36 of 160 cleared every check</a:t>
            </a:r>
          </a:p>
        </p:txBody>
      </p:sp>
      <p:sp>
        <p:nvSpPr>
          <p:cNvPr id="11" name="TextBox 10"/>
          <p:cNvSpPr txBox="1"/>
          <p:nvPr/>
        </p:nvSpPr>
        <p:spPr>
          <a:xfrm>
            <a:off x="8028431" y="2551176"/>
            <a:ext cx="3502152" cy="640080"/>
          </a:xfrm>
          <a:prstGeom prst="rect">
            <a:avLst/>
          </a:prstGeom>
          <a:noFill/>
        </p:spPr>
        <p:txBody>
          <a:bodyPr wrap="square" lIns="0" rIns="0" tIns="0" bIns="0" anchor="t">
            <a:spAutoFit/>
          </a:bodyPr>
          <a:lstStyle/>
          <a:p>
            <a:pPr algn="l">
              <a:lnSpc>
                <a:spcPct val="120000"/>
              </a:lnSpc>
            </a:pPr>
            <a:r>
              <a:rPr sz="1070" b="0">
                <a:solidFill>
                  <a:srgbClr val="3C4653"/>
                </a:solidFill>
                <a:latin typeface="Segoe UI"/>
              </a:rPr>
              <a:t>against 0 of 160 in the earlier campaign, on the same simulator and the same 24-hour scenarios.</a:t>
            </a:r>
          </a:p>
        </p:txBody>
      </p:sp>
      <p:sp>
        <p:nvSpPr>
          <p:cNvPr id="12" name="Rectangle 11"/>
          <p:cNvSpPr/>
          <p:nvPr/>
        </p:nvSpPr>
        <p:spPr>
          <a:xfrm>
            <a:off x="7845552" y="3145536"/>
            <a:ext cx="3685032"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45552" y="3392424"/>
            <a:ext cx="64008"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3328416"/>
            <a:ext cx="3502152" cy="256032"/>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Pre-drain reaches further</a:t>
            </a:r>
          </a:p>
        </p:txBody>
      </p:sp>
      <p:sp>
        <p:nvSpPr>
          <p:cNvPr id="15" name="TextBox 14"/>
          <p:cNvSpPr txBox="1"/>
          <p:nvPr/>
        </p:nvSpPr>
        <p:spPr>
          <a:xfrm>
            <a:off x="8028431" y="3575304"/>
            <a:ext cx="3502152" cy="640080"/>
          </a:xfrm>
          <a:prstGeom prst="rect">
            <a:avLst/>
          </a:prstGeom>
          <a:noFill/>
        </p:spPr>
        <p:txBody>
          <a:bodyPr wrap="square" lIns="0" rIns="0" tIns="0" bIns="0" anchor="t">
            <a:spAutoFit/>
          </a:bodyPr>
          <a:lstStyle/>
          <a:p>
            <a:pPr algn="l">
              <a:lnSpc>
                <a:spcPct val="120000"/>
              </a:lnSpc>
            </a:pPr>
            <a:r>
              <a:rPr sz="1070" b="0">
                <a:solidFill>
                  <a:srgbClr val="3C4653"/>
                </a:solidFill>
                <a:latin typeface="Segoe UI"/>
              </a:rPr>
              <a:t>the strongest passing configuration removes 27.7% of overload while adding 9% of what it removes.</a:t>
            </a:r>
          </a:p>
        </p:txBody>
      </p:sp>
      <p:sp>
        <p:nvSpPr>
          <p:cNvPr id="16" name="Rectangle 15"/>
          <p:cNvSpPr/>
          <p:nvPr/>
        </p:nvSpPr>
        <p:spPr>
          <a:xfrm>
            <a:off x="7845552" y="4169663"/>
            <a:ext cx="3685032"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45552" y="4416552"/>
            <a:ext cx="64008"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8431" y="4352544"/>
            <a:ext cx="3502152" cy="256032"/>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MPC sits low and left</a:t>
            </a:r>
          </a:p>
        </p:txBody>
      </p:sp>
      <p:sp>
        <p:nvSpPr>
          <p:cNvPr id="19" name="TextBox 18"/>
          <p:cNvSpPr txBox="1"/>
          <p:nvPr/>
        </p:nvSpPr>
        <p:spPr>
          <a:xfrm>
            <a:off x="8028431" y="4599431"/>
            <a:ext cx="3502152" cy="640080"/>
          </a:xfrm>
          <a:prstGeom prst="rect">
            <a:avLst/>
          </a:prstGeom>
          <a:noFill/>
        </p:spPr>
        <p:txBody>
          <a:bodyPr wrap="square" lIns="0" rIns="0" tIns="0" bIns="0" anchor="t">
            <a:spAutoFit/>
          </a:bodyPr>
          <a:lstStyle/>
          <a:p>
            <a:pPr algn="l">
              <a:lnSpc>
                <a:spcPct val="120000"/>
              </a:lnSpc>
            </a:pPr>
            <a:r>
              <a:rPr sz="1070" b="0">
                <a:solidFill>
                  <a:srgbClr val="3C4653"/>
                </a:solidFill>
                <a:latin typeface="Segoe UI"/>
              </a:rPr>
              <a:t>less gain, but collateral harm near zero — the conservative end of the same frontier.</a:t>
            </a:r>
          </a:p>
        </p:txBody>
      </p:sp>
      <p:sp>
        <p:nvSpPr>
          <p:cNvPr id="20" name="Rectangle 19"/>
          <p:cNvSpPr/>
          <p:nvPr/>
        </p:nvSpPr>
        <p:spPr>
          <a:xfrm>
            <a:off x="658368" y="5358384"/>
            <a:ext cx="10872216" cy="731520"/>
          </a:xfrm>
          <a:prstGeom prst="rect">
            <a:avLst/>
          </a:prstGeom>
          <a:solidFill>
            <a:srgbClr val="EC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5358384"/>
            <a:ext cx="36576" cy="7315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477256"/>
            <a:ext cx="10396728" cy="182880"/>
          </a:xfrm>
          <a:prstGeom prst="rect">
            <a:avLst/>
          </a:prstGeom>
          <a:noFill/>
        </p:spPr>
        <p:txBody>
          <a:bodyPr wrap="square" lIns="0" rIns="0" tIns="0" bIns="0" anchor="t">
            <a:spAutoFit/>
          </a:bodyPr>
          <a:lstStyle/>
          <a:p>
            <a:pPr algn="l">
              <a:lnSpc>
                <a:spcPct val="100000"/>
              </a:lnSpc>
            </a:pPr>
            <a:r>
              <a:rPr sz="950" b="1">
                <a:solidFill>
                  <a:srgbClr val="0F4C5C"/>
                </a:solidFill>
                <a:latin typeface="Consolas"/>
              </a:rPr>
              <a:t>THE SHAPE OF THE CAMPAIGN</a:t>
            </a:r>
          </a:p>
        </p:txBody>
      </p:sp>
      <p:sp>
        <p:nvSpPr>
          <p:cNvPr id="23" name="TextBox 22"/>
          <p:cNvSpPr txBox="1"/>
          <p:nvPr/>
        </p:nvSpPr>
        <p:spPr>
          <a:xfrm>
            <a:off x="896112" y="5705856"/>
            <a:ext cx="10396728" cy="384048"/>
          </a:xfrm>
          <a:prstGeom prst="rect">
            <a:avLst/>
          </a:prstGeom>
          <a:noFill/>
        </p:spPr>
        <p:txBody>
          <a:bodyPr wrap="square" lIns="0" rIns="0" tIns="0" bIns="0" anchor="t">
            <a:spAutoFit/>
          </a:bodyPr>
          <a:lstStyle/>
          <a:p>
            <a:pPr algn="l">
              <a:lnSpc>
                <a:spcPct val="118000"/>
              </a:lnSpc>
            </a:pPr>
            <a:r>
              <a:rPr sz="1080" b="0">
                <a:solidFill>
                  <a:srgbClr val="3C4653"/>
                </a:solidFill>
                <a:latin typeface="Segoe UI"/>
              </a:rPr>
              <a:t>Each configuration ran the same 125 paired days: five stress families x 25 seeds, one per CPU. 20 000 paired 24-hour simulations in total, 160 of 160 arms valid, zero non-finite results.</a:t>
            </a:r>
          </a:p>
        </p:txBody>
      </p:sp>
      <p:sp>
        <p:nvSpPr>
          <p:cNvPr id="24" name="TextBox 23"/>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EXPERIMENT 7 · VALIDATION</a:t>
            </a:r>
          </a:p>
        </p:txBody>
      </p:sp>
      <p:sp>
        <p:nvSpPr>
          <p:cNvPr id="4" name="TextBox 3"/>
          <p:cNvSpPr txBox="1"/>
          <p:nvPr/>
        </p:nvSpPr>
        <p:spPr>
          <a:xfrm>
            <a:off x="658368" y="731520"/>
            <a:ext cx="10872216" cy="822960"/>
          </a:xfrm>
          <a:prstGeom prst="rect">
            <a:avLst/>
          </a:prstGeom>
          <a:noFill/>
        </p:spPr>
        <p:txBody>
          <a:bodyPr wrap="square" lIns="0" rIns="0" tIns="0" bIns="0" anchor="t">
            <a:spAutoFit/>
          </a:bodyPr>
          <a:lstStyle/>
          <a:p>
            <a:pPr algn="l">
              <a:lnSpc>
                <a:spcPct val="100000"/>
              </a:lnSpc>
            </a:pPr>
            <a:r>
              <a:rPr sz="3000" b="0">
                <a:solidFill>
                  <a:srgbClr val="111721"/>
                </a:solidFill>
                <a:latin typeface="Georgia"/>
              </a:rPr>
              <a:t>Frozen candidates, on seeds never inspected</a:t>
            </a:r>
          </a:p>
        </p:txBody>
      </p:sp>
      <p:sp>
        <p:nvSpPr>
          <p:cNvPr id="5" name="TextBox 4"/>
          <p:cNvSpPr txBox="1"/>
          <p:nvPr/>
        </p:nvSpPr>
        <p:spPr>
          <a:xfrm>
            <a:off x="658368" y="1463040"/>
            <a:ext cx="7863840" cy="548640"/>
          </a:xfrm>
          <a:prstGeom prst="rect">
            <a:avLst/>
          </a:prstGeom>
          <a:noFill/>
        </p:spPr>
        <p:txBody>
          <a:bodyPr wrap="square" lIns="0" rIns="0" tIns="0" bIns="0" anchor="t">
            <a:spAutoFit/>
          </a:bodyPr>
          <a:lstStyle/>
          <a:p>
            <a:pPr algn="l">
              <a:lnSpc>
                <a:spcPct val="125000"/>
              </a:lnSpc>
            </a:pPr>
            <a:r>
              <a:rPr sz="1300" b="0">
                <a:solidFill>
                  <a:srgbClr val="3C4653"/>
                </a:solidFill>
                <a:latin typeface="Segoe UI"/>
              </a:rPr>
              <a:t>Configurations that look good on the data that chose them are not evidence. The four leaders were frozen by a rule written down in advance — ranked on the lower confidence bound, not the headline — then re-run on a separate seed pool.</a:t>
            </a:r>
          </a:p>
        </p:txBody>
      </p:sp>
      <p:sp>
        <p:nvSpPr>
          <p:cNvPr id="6" name="Rectangle 5"/>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8816"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03 · THE OPTIMIZER</a:t>
            </a:r>
          </a:p>
        </p:txBody>
      </p:sp>
      <p:pic>
        <p:nvPicPr>
          <p:cNvPr id="8" name="Picture 7" descr="fig_shrink.png"/>
          <p:cNvPicPr>
            <a:picLocks noChangeAspect="1"/>
          </p:cNvPicPr>
          <p:nvPr/>
        </p:nvPicPr>
        <p:blipFill>
          <a:blip r:embed="rId2"/>
          <a:stretch>
            <a:fillRect/>
          </a:stretch>
        </p:blipFill>
        <p:spPr>
          <a:xfrm>
            <a:off x="658368" y="2212848"/>
            <a:ext cx="6949440" cy="2527855"/>
          </a:xfrm>
          <a:prstGeom prst="rect">
            <a:avLst/>
          </a:prstGeom>
        </p:spPr>
      </p:pic>
      <p:sp>
        <p:nvSpPr>
          <p:cNvPr id="9" name="Rectangle 8"/>
          <p:cNvSpPr/>
          <p:nvPr/>
        </p:nvSpPr>
        <p:spPr>
          <a:xfrm>
            <a:off x="7845552" y="2368296"/>
            <a:ext cx="64008"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28431" y="2304288"/>
            <a:ext cx="3502152" cy="256032"/>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Three of four held every gate</a:t>
            </a:r>
          </a:p>
        </p:txBody>
      </p:sp>
      <p:sp>
        <p:nvSpPr>
          <p:cNvPr id="11" name="TextBox 10"/>
          <p:cNvSpPr txBox="1"/>
          <p:nvPr/>
        </p:nvSpPr>
        <p:spPr>
          <a:xfrm>
            <a:off x="8028431" y="2551176"/>
            <a:ext cx="3502152" cy="640080"/>
          </a:xfrm>
          <a:prstGeom prst="rect">
            <a:avLst/>
          </a:prstGeom>
          <a:noFill/>
        </p:spPr>
        <p:txBody>
          <a:bodyPr wrap="square" lIns="0" rIns="0" tIns="0" bIns="0" anchor="t">
            <a:spAutoFit/>
          </a:bodyPr>
          <a:lstStyle/>
          <a:p>
            <a:pPr algn="l">
              <a:lnSpc>
                <a:spcPct val="120000"/>
              </a:lnSpc>
            </a:pPr>
            <a:r>
              <a:rPr sz="1070" b="0">
                <a:solidFill>
                  <a:srgbClr val="3C4653"/>
                </a:solidFill>
                <a:latin typeface="Segoe UI"/>
              </a:rPr>
              <a:t>arm 143 fell just below the 10% bar at 9.8% and was not promoted.</a:t>
            </a:r>
          </a:p>
        </p:txBody>
      </p:sp>
      <p:sp>
        <p:nvSpPr>
          <p:cNvPr id="12" name="Rectangle 11"/>
          <p:cNvSpPr/>
          <p:nvPr/>
        </p:nvSpPr>
        <p:spPr>
          <a:xfrm>
            <a:off x="7845552" y="3145536"/>
            <a:ext cx="3685032"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45552" y="3392424"/>
            <a:ext cx="64008"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1" y="3328416"/>
            <a:ext cx="3502152" cy="256032"/>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The drop is 3-4 points, not a collapse</a:t>
            </a:r>
          </a:p>
        </p:txBody>
      </p:sp>
      <p:sp>
        <p:nvSpPr>
          <p:cNvPr id="15" name="TextBox 14"/>
          <p:cNvSpPr txBox="1"/>
          <p:nvPr/>
        </p:nvSpPr>
        <p:spPr>
          <a:xfrm>
            <a:off x="8028431" y="3575304"/>
            <a:ext cx="3502152" cy="640080"/>
          </a:xfrm>
          <a:prstGeom prst="rect">
            <a:avLst/>
          </a:prstGeom>
          <a:noFill/>
        </p:spPr>
        <p:txBody>
          <a:bodyPr wrap="square" lIns="0" rIns="0" tIns="0" bIns="0" anchor="t">
            <a:spAutoFit/>
          </a:bodyPr>
          <a:lstStyle/>
          <a:p>
            <a:pPr algn="l">
              <a:lnSpc>
                <a:spcPct val="120000"/>
              </a:lnSpc>
            </a:pPr>
            <a:r>
              <a:rPr sz="1070" b="0">
                <a:solidFill>
                  <a:srgbClr val="3C4653"/>
                </a:solidFill>
                <a:latin typeface="Segoe UI"/>
              </a:rPr>
              <a:t>that gap is the selection bias being removed. A candidate that fell apart here would have been a screening artifact; none did.</a:t>
            </a:r>
          </a:p>
        </p:txBody>
      </p:sp>
      <p:sp>
        <p:nvSpPr>
          <p:cNvPr id="16" name="Rectangle 15"/>
          <p:cNvSpPr/>
          <p:nvPr/>
        </p:nvSpPr>
        <p:spPr>
          <a:xfrm>
            <a:off x="7845552" y="4169663"/>
            <a:ext cx="3685032"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45552" y="4416552"/>
            <a:ext cx="64008"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8431" y="4352544"/>
            <a:ext cx="3502152" cy="256032"/>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Seeds are provably disjoint</a:t>
            </a:r>
          </a:p>
        </p:txBody>
      </p:sp>
      <p:sp>
        <p:nvSpPr>
          <p:cNvPr id="19" name="TextBox 18"/>
          <p:cNvSpPr txBox="1"/>
          <p:nvPr/>
        </p:nvSpPr>
        <p:spPr>
          <a:xfrm>
            <a:off x="8028431" y="4599431"/>
            <a:ext cx="3502152" cy="640080"/>
          </a:xfrm>
          <a:prstGeom prst="rect">
            <a:avLst/>
          </a:prstGeom>
          <a:noFill/>
        </p:spPr>
        <p:txBody>
          <a:bodyPr wrap="square" lIns="0" rIns="0" tIns="0" bIns="0" anchor="t">
            <a:spAutoFit/>
          </a:bodyPr>
          <a:lstStyle/>
          <a:p>
            <a:pPr algn="l">
              <a:lnSpc>
                <a:spcPct val="120000"/>
              </a:lnSpc>
            </a:pPr>
            <a:r>
              <a:rPr sz="1070" b="0">
                <a:solidFill>
                  <a:srgbClr val="3C4653"/>
                </a:solidFill>
                <a:latin typeface="Segoe UI"/>
              </a:rPr>
              <a:t>from the screening pool, from every earlier campaign, and from the protected test set.</a:t>
            </a:r>
          </a:p>
        </p:txBody>
      </p:sp>
      <p:sp>
        <p:nvSpPr>
          <p:cNvPr id="20" name="Rectangle 19"/>
          <p:cNvSpPr/>
          <p:nvPr/>
        </p:nvSpPr>
        <p:spPr>
          <a:xfrm>
            <a:off x="658368" y="5358384"/>
            <a:ext cx="10872216" cy="731520"/>
          </a:xfrm>
          <a:prstGeom prst="rect">
            <a:avLst/>
          </a:prstGeom>
          <a:solidFill>
            <a:srgbClr val="EC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5358384"/>
            <a:ext cx="36576" cy="7315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477256"/>
            <a:ext cx="10396728" cy="182880"/>
          </a:xfrm>
          <a:prstGeom prst="rect">
            <a:avLst/>
          </a:prstGeom>
          <a:noFill/>
        </p:spPr>
        <p:txBody>
          <a:bodyPr wrap="square" lIns="0" rIns="0" tIns="0" bIns="0" anchor="t">
            <a:spAutoFit/>
          </a:bodyPr>
          <a:lstStyle/>
          <a:p>
            <a:pPr algn="l">
              <a:lnSpc>
                <a:spcPct val="100000"/>
              </a:lnSpc>
            </a:pPr>
            <a:r>
              <a:rPr sz="950" b="1">
                <a:solidFill>
                  <a:srgbClr val="0F4C5C"/>
                </a:solidFill>
                <a:latin typeface="Consolas"/>
              </a:rPr>
              <a:t>WHY THE SECOND POOL EXISTS</a:t>
            </a:r>
          </a:p>
        </p:txBody>
      </p:sp>
      <p:sp>
        <p:nvSpPr>
          <p:cNvPr id="23" name="TextBox 22"/>
          <p:cNvSpPr txBox="1"/>
          <p:nvPr/>
        </p:nvSpPr>
        <p:spPr>
          <a:xfrm>
            <a:off x="896112" y="5705856"/>
            <a:ext cx="10396728" cy="384048"/>
          </a:xfrm>
          <a:prstGeom prst="rect">
            <a:avLst/>
          </a:prstGeom>
          <a:noFill/>
        </p:spPr>
        <p:txBody>
          <a:bodyPr wrap="square" lIns="0" rIns="0" tIns="0" bIns="0" anchor="t">
            <a:spAutoFit/>
          </a:bodyPr>
          <a:lstStyle/>
          <a:p>
            <a:pPr algn="l">
              <a:lnSpc>
                <a:spcPct val="118000"/>
              </a:lnSpc>
            </a:pPr>
            <a:r>
              <a:rPr sz="1080" b="0">
                <a:solidFill>
                  <a:srgbClr val="3C4653"/>
                </a:solidFill>
                <a:latin typeface="Segoe UI"/>
              </a:rPr>
              <a:t>1 250 fresh paired days per candidate, 250 per stress family, drawn from seeds 81 000 and above — disjoint from the 80 000-80 124 screening pool, from every earlier campaign, and from the protected test set.</a:t>
            </a:r>
          </a:p>
        </p:txBody>
      </p:sp>
      <p:sp>
        <p:nvSpPr>
          <p:cNvPr id="24" name="TextBox 23"/>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WHERE IT WINS AND WHERE IT LOSES</a:t>
            </a:r>
          </a:p>
        </p:txBody>
      </p:sp>
      <p:sp>
        <p:nvSpPr>
          <p:cNvPr id="4" name="TextBox 3"/>
          <p:cNvSpPr txBox="1"/>
          <p:nvPr/>
        </p:nvSpPr>
        <p:spPr>
          <a:xfrm>
            <a:off x="658368" y="731520"/>
            <a:ext cx="10872216" cy="822960"/>
          </a:xfrm>
          <a:prstGeom prst="rect">
            <a:avLst/>
          </a:prstGeom>
          <a:noFill/>
        </p:spPr>
        <p:txBody>
          <a:bodyPr wrap="square" lIns="0" rIns="0" tIns="0" bIns="0" anchor="t">
            <a:spAutoFit/>
          </a:bodyPr>
          <a:lstStyle/>
          <a:p>
            <a:pPr algn="l">
              <a:lnSpc>
                <a:spcPct val="100000"/>
              </a:lnSpc>
            </a:pPr>
            <a:r>
              <a:rPr sz="3000" b="0">
                <a:solidFill>
                  <a:srgbClr val="111721"/>
                </a:solidFill>
                <a:latin typeface="Georgia"/>
              </a:rPr>
              <a:t>Three states, not two</a:t>
            </a:r>
          </a:p>
        </p:txBody>
      </p:sp>
      <p:sp>
        <p:nvSpPr>
          <p:cNvPr id="5" name="TextBox 4"/>
          <p:cNvSpPr txBox="1"/>
          <p:nvPr/>
        </p:nvSpPr>
        <p:spPr>
          <a:xfrm>
            <a:off x="658368" y="1463040"/>
            <a:ext cx="10424160" cy="548640"/>
          </a:xfrm>
          <a:prstGeom prst="rect">
            <a:avLst/>
          </a:prstGeom>
          <a:noFill/>
        </p:spPr>
        <p:txBody>
          <a:bodyPr wrap="square" lIns="0" rIns="0" tIns="0" bIns="0" anchor="t">
            <a:spAutoFit/>
          </a:bodyPr>
          <a:lstStyle/>
          <a:p>
            <a:pPr algn="l">
              <a:lnSpc>
                <a:spcPct val="125000"/>
              </a:lnSpc>
            </a:pPr>
            <a:r>
              <a:rPr sz="1300" b="0">
                <a:solidFill>
                  <a:srgbClr val="3C4653"/>
                </a:solidFill>
                <a:latin typeface="Segoe UI"/>
              </a:rPr>
              <a:t>A claim that predictive steering is simply better would not survive scrutiny, and it is not what the data says. Bars right of the line are overload removed; bars left are overload the controller added. Both panels share one scale.</a:t>
            </a:r>
          </a:p>
        </p:txBody>
      </p:sp>
      <p:sp>
        <p:nvSpPr>
          <p:cNvPr id="6" name="Rectangle 5"/>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8816"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03 · THE OPTIMIZER</a:t>
            </a:r>
          </a:p>
        </p:txBody>
      </p:sp>
      <p:pic>
        <p:nvPicPr>
          <p:cNvPr id="8" name="Picture 7" descr="fig_families.png"/>
          <p:cNvPicPr>
            <a:picLocks noChangeAspect="1"/>
          </p:cNvPicPr>
          <p:nvPr/>
        </p:nvPicPr>
        <p:blipFill>
          <a:blip r:embed="rId2"/>
          <a:stretch>
            <a:fillRect/>
          </a:stretch>
        </p:blipFill>
        <p:spPr>
          <a:xfrm>
            <a:off x="658368" y="2103120"/>
            <a:ext cx="10332720" cy="3100430"/>
          </a:xfrm>
          <a:prstGeom prst="rect">
            <a:avLst/>
          </a:prstGeom>
        </p:spPr>
      </p:pic>
      <p:sp>
        <p:nvSpPr>
          <p:cNvPr id="9" name="Rectangle 8"/>
          <p:cNvSpPr/>
          <p:nvPr/>
        </p:nvSpPr>
        <p:spPr>
          <a:xfrm>
            <a:off x="658368" y="5266944"/>
            <a:ext cx="3502152" cy="84124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5266944"/>
            <a:ext cx="36576" cy="84124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5376672"/>
            <a:ext cx="3081528" cy="237744"/>
          </a:xfrm>
          <a:prstGeom prst="rect">
            <a:avLst/>
          </a:prstGeom>
          <a:noFill/>
        </p:spPr>
        <p:txBody>
          <a:bodyPr wrap="square" lIns="0" rIns="0" tIns="0" bIns="0" anchor="t">
            <a:spAutoFit/>
          </a:bodyPr>
          <a:lstStyle/>
          <a:p>
            <a:pPr algn="l">
              <a:lnSpc>
                <a:spcPct val="100000"/>
              </a:lnSpc>
            </a:pPr>
            <a:r>
              <a:rPr sz="1100" b="1">
                <a:solidFill>
                  <a:srgbClr val="111721"/>
                </a:solidFill>
                <a:latin typeface="Segoe UI"/>
              </a:rPr>
              <a:t>Declared loss — wins, never loses</a:t>
            </a:r>
          </a:p>
        </p:txBody>
      </p:sp>
      <p:sp>
        <p:nvSpPr>
          <p:cNvPr id="12" name="TextBox 11"/>
          <p:cNvSpPr txBox="1"/>
          <p:nvPr/>
        </p:nvSpPr>
        <p:spPr>
          <a:xfrm>
            <a:off x="877824" y="5641848"/>
            <a:ext cx="3081528" cy="438912"/>
          </a:xfrm>
          <a:prstGeom prst="rect">
            <a:avLst/>
          </a:prstGeom>
          <a:noFill/>
        </p:spPr>
        <p:txBody>
          <a:bodyPr wrap="square" lIns="0" rIns="0" tIns="0" bIns="0" anchor="t">
            <a:spAutoFit/>
          </a:bodyPr>
          <a:lstStyle/>
          <a:p>
            <a:pPr algn="l">
              <a:lnSpc>
                <a:spcPct val="116000"/>
              </a:lnSpc>
            </a:pPr>
            <a:r>
              <a:rPr sz="990" b="0">
                <a:solidFill>
                  <a:srgbClr val="3C4653"/>
                </a:solidFill>
                <a:latin typeface="Segoe UI"/>
              </a:rPr>
              <a:t>473 informative pairs, 0 regressions. Median case removes 72% (pre-drain) and 40% (MPC) of uplink overload.</a:t>
            </a:r>
          </a:p>
        </p:txBody>
      </p:sp>
      <p:sp>
        <p:nvSpPr>
          <p:cNvPr id="13" name="Rectangle 12"/>
          <p:cNvSpPr/>
          <p:nvPr/>
        </p:nvSpPr>
        <p:spPr>
          <a:xfrm>
            <a:off x="4343400" y="5266944"/>
            <a:ext cx="3502152" cy="84124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5266944"/>
            <a:ext cx="36576" cy="841248"/>
          </a:xfrm>
          <a:prstGeom prst="rect">
            <a:avLst/>
          </a:prstGeom>
          <a:solidFill>
            <a:srgbClr val="6C76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5376672"/>
            <a:ext cx="3081528" cy="237744"/>
          </a:xfrm>
          <a:prstGeom prst="rect">
            <a:avLst/>
          </a:prstGeom>
          <a:noFill/>
        </p:spPr>
        <p:txBody>
          <a:bodyPr wrap="square" lIns="0" rIns="0" tIns="0" bIns="0" anchor="t">
            <a:spAutoFit/>
          </a:bodyPr>
          <a:lstStyle/>
          <a:p>
            <a:pPr algn="l">
              <a:lnSpc>
                <a:spcPct val="100000"/>
              </a:lnSpc>
            </a:pPr>
            <a:r>
              <a:rPr sz="1100" b="1">
                <a:solidFill>
                  <a:srgbClr val="111721"/>
                </a:solidFill>
                <a:latin typeface="Segoe UI"/>
              </a:rPr>
              <a:t>Pure surprise — bit-exact ties</a:t>
            </a:r>
          </a:p>
        </p:txBody>
      </p:sp>
      <p:sp>
        <p:nvSpPr>
          <p:cNvPr id="16" name="TextBox 15"/>
          <p:cNvSpPr txBox="1"/>
          <p:nvPr/>
        </p:nvSpPr>
        <p:spPr>
          <a:xfrm>
            <a:off x="4562856" y="5641848"/>
            <a:ext cx="3081528" cy="438912"/>
          </a:xfrm>
          <a:prstGeom prst="rect">
            <a:avLst/>
          </a:prstGeom>
          <a:noFill/>
        </p:spPr>
        <p:txBody>
          <a:bodyPr wrap="square" lIns="0" rIns="0" tIns="0" bIns="0" anchor="t">
            <a:spAutoFit/>
          </a:bodyPr>
          <a:lstStyle/>
          <a:p>
            <a:pPr algn="l">
              <a:lnSpc>
                <a:spcPct val="116000"/>
              </a:lnSpc>
            </a:pPr>
            <a:r>
              <a:rPr sz="990" b="0">
                <a:solidFill>
                  <a:srgbClr val="3C4653"/>
                </a:solidFill>
                <a:latin typeface="Segoe UI"/>
              </a:rPr>
              <a:t>With no declared event the published policy is byte-for-byte identical to the simple rule. Verified, not assumed.</a:t>
            </a:r>
          </a:p>
        </p:txBody>
      </p:sp>
      <p:sp>
        <p:nvSpPr>
          <p:cNvPr id="17" name="Rectangle 16"/>
          <p:cNvSpPr/>
          <p:nvPr/>
        </p:nvSpPr>
        <p:spPr>
          <a:xfrm>
            <a:off x="8028432" y="5266944"/>
            <a:ext cx="3502152" cy="84124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2" y="5266944"/>
            <a:ext cx="36576" cy="841248"/>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5376672"/>
            <a:ext cx="3081528" cy="237744"/>
          </a:xfrm>
          <a:prstGeom prst="rect">
            <a:avLst/>
          </a:prstGeom>
          <a:noFill/>
        </p:spPr>
        <p:txBody>
          <a:bodyPr wrap="square" lIns="0" rIns="0" tIns="0" bIns="0" anchor="t">
            <a:spAutoFit/>
          </a:bodyPr>
          <a:lstStyle/>
          <a:p>
            <a:pPr algn="l">
              <a:lnSpc>
                <a:spcPct val="100000"/>
              </a:lnSpc>
            </a:pPr>
            <a:r>
              <a:rPr sz="1100" b="1">
                <a:solidFill>
                  <a:srgbClr val="111721"/>
                </a:solidFill>
                <a:latin typeface="Segoe UI"/>
              </a:rPr>
              <a:t>Declared loss, then a surprise — can lose</a:t>
            </a:r>
          </a:p>
        </p:txBody>
      </p:sp>
      <p:sp>
        <p:nvSpPr>
          <p:cNvPr id="20" name="TextBox 19"/>
          <p:cNvSpPr txBox="1"/>
          <p:nvPr/>
        </p:nvSpPr>
        <p:spPr>
          <a:xfrm>
            <a:off x="8247888" y="5641848"/>
            <a:ext cx="3081528" cy="438912"/>
          </a:xfrm>
          <a:prstGeom prst="rect">
            <a:avLst/>
          </a:prstGeom>
          <a:noFill/>
        </p:spPr>
        <p:txBody>
          <a:bodyPr wrap="square" lIns="0" rIns="0" tIns="0" bIns="0" anchor="t">
            <a:spAutoFit/>
          </a:bodyPr>
          <a:lstStyle/>
          <a:p>
            <a:pPr algn="l">
              <a:lnSpc>
                <a:spcPct val="116000"/>
              </a:lnSpc>
            </a:pPr>
            <a:r>
              <a:rPr sz="990" b="0">
                <a:solidFill>
                  <a:srgbClr val="3C4653"/>
                </a:solidFill>
                <a:latin typeface="Segoe UI"/>
              </a:rPr>
              <a:t>Pre-drain regresses in 74 of 243 pairs; MPC in 16 of 243. Still net positive, but this is the real exposure.</a:t>
            </a:r>
          </a:p>
        </p:txBody>
      </p:sp>
      <p:sp>
        <p:nvSpPr>
          <p:cNvPr id="21" name="TextBox 20"/>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ADVANCE NOTICE</a:t>
            </a:r>
          </a:p>
        </p:txBody>
      </p:sp>
      <p:sp>
        <p:nvSpPr>
          <p:cNvPr id="4" name="TextBox 3"/>
          <p:cNvSpPr txBox="1"/>
          <p:nvPr/>
        </p:nvSpPr>
        <p:spPr>
          <a:xfrm>
            <a:off x="658368" y="731520"/>
            <a:ext cx="10872216" cy="822960"/>
          </a:xfrm>
          <a:prstGeom prst="rect">
            <a:avLst/>
          </a:prstGeom>
          <a:noFill/>
        </p:spPr>
        <p:txBody>
          <a:bodyPr wrap="square" lIns="0" rIns="0" tIns="0" bIns="0" anchor="t">
            <a:spAutoFit/>
          </a:bodyPr>
          <a:lstStyle/>
          <a:p>
            <a:pPr algn="l">
              <a:lnSpc>
                <a:spcPct val="100000"/>
              </a:lnSpc>
            </a:pPr>
            <a:r>
              <a:rPr sz="3000" b="0">
                <a:solidFill>
                  <a:srgbClr val="111721"/>
                </a:solidFill>
                <a:latin typeface="Georgia"/>
              </a:rPr>
              <a:t>The resource that actually matters</a:t>
            </a:r>
          </a:p>
        </p:txBody>
      </p:sp>
      <p:sp>
        <p:nvSpPr>
          <p:cNvPr id="5" name="TextBox 4"/>
          <p:cNvSpPr txBox="1"/>
          <p:nvPr/>
        </p:nvSpPr>
        <p:spPr>
          <a:xfrm>
            <a:off x="658368" y="1463040"/>
            <a:ext cx="7863840" cy="548640"/>
          </a:xfrm>
          <a:prstGeom prst="rect">
            <a:avLst/>
          </a:prstGeom>
          <a:noFill/>
        </p:spPr>
        <p:txBody>
          <a:bodyPr wrap="square" lIns="0" rIns="0" tIns="0" bIns="0" anchor="t">
            <a:spAutoFit/>
          </a:bodyPr>
          <a:lstStyle/>
          <a:p>
            <a:pPr algn="l">
              <a:lnSpc>
                <a:spcPct val="125000"/>
              </a:lnSpc>
            </a:pPr>
            <a:r>
              <a:rPr sz="1300" b="0">
                <a:solidFill>
                  <a:srgbClr val="3C4653"/>
                </a:solidFill>
                <a:latin typeface="Segoe UI"/>
              </a:rPr>
              <a:t>Gain scales with how much warning the maintenance window carries. Notice is a property of the scenario, drawn from its seed, so every configuration faced the same schedule.</a:t>
            </a:r>
          </a:p>
        </p:txBody>
      </p:sp>
      <p:sp>
        <p:nvSpPr>
          <p:cNvPr id="6" name="Rectangle 5"/>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8816"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03 · THE OPTIMIZER</a:t>
            </a:r>
          </a:p>
        </p:txBody>
      </p:sp>
      <p:pic>
        <p:nvPicPr>
          <p:cNvPr id="8" name="Picture 7" descr="fig_notice.png"/>
          <p:cNvPicPr>
            <a:picLocks noChangeAspect="1"/>
          </p:cNvPicPr>
          <p:nvPr/>
        </p:nvPicPr>
        <p:blipFill>
          <a:blip r:embed="rId2"/>
          <a:stretch>
            <a:fillRect/>
          </a:stretch>
        </p:blipFill>
        <p:spPr>
          <a:xfrm>
            <a:off x="658368" y="2231136"/>
            <a:ext cx="6675120" cy="2872714"/>
          </a:xfrm>
          <a:prstGeom prst="rect">
            <a:avLst/>
          </a:prstGeom>
        </p:spPr>
      </p:pic>
      <p:sp>
        <p:nvSpPr>
          <p:cNvPr id="9" name="Rectangle 8"/>
          <p:cNvSpPr/>
          <p:nvPr/>
        </p:nvSpPr>
        <p:spPr>
          <a:xfrm>
            <a:off x="7589520" y="2368296"/>
            <a:ext cx="64008"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304288"/>
            <a:ext cx="3758183" cy="256032"/>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Four hours is worth 4x thirty minutes</a:t>
            </a:r>
          </a:p>
        </p:txBody>
      </p:sp>
      <p:sp>
        <p:nvSpPr>
          <p:cNvPr id="11" name="TextBox 10"/>
          <p:cNvSpPr txBox="1"/>
          <p:nvPr/>
        </p:nvSpPr>
        <p:spPr>
          <a:xfrm>
            <a:off x="7772400" y="2551176"/>
            <a:ext cx="3758183" cy="640080"/>
          </a:xfrm>
          <a:prstGeom prst="rect">
            <a:avLst/>
          </a:prstGeom>
          <a:noFill/>
        </p:spPr>
        <p:txBody>
          <a:bodyPr wrap="square" lIns="0" rIns="0" tIns="0" bIns="0" anchor="t">
            <a:spAutoFit/>
          </a:bodyPr>
          <a:lstStyle/>
          <a:p>
            <a:pPr algn="l">
              <a:lnSpc>
                <a:spcPct val="120000"/>
              </a:lnSpc>
            </a:pPr>
            <a:r>
              <a:rPr sz="1070" b="0">
                <a:solidFill>
                  <a:srgbClr val="3C4653"/>
                </a:solidFill>
                <a:latin typeface="Segoe UI"/>
              </a:rPr>
              <a:t>pre-drain removes 42.2% of overload with four hours' warning and 10.9% with thirty minutes.</a:t>
            </a:r>
          </a:p>
        </p:txBody>
      </p:sp>
      <p:sp>
        <p:nvSpPr>
          <p:cNvPr id="12" name="Rectangle 11"/>
          <p:cNvSpPr/>
          <p:nvPr/>
        </p:nvSpPr>
        <p:spPr>
          <a:xfrm>
            <a:off x="7589520" y="3145536"/>
            <a:ext cx="3941063"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3392424"/>
            <a:ext cx="64008"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3328416"/>
            <a:ext cx="3758183" cy="256032"/>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MPC saturates around 24%</a:t>
            </a:r>
          </a:p>
        </p:txBody>
      </p:sp>
      <p:sp>
        <p:nvSpPr>
          <p:cNvPr id="15" name="TextBox 14"/>
          <p:cNvSpPr txBox="1"/>
          <p:nvPr/>
        </p:nvSpPr>
        <p:spPr>
          <a:xfrm>
            <a:off x="7772400" y="3575304"/>
            <a:ext cx="3758183" cy="640080"/>
          </a:xfrm>
          <a:prstGeom prst="rect">
            <a:avLst/>
          </a:prstGeom>
          <a:noFill/>
        </p:spPr>
        <p:txBody>
          <a:bodyPr wrap="square" lIns="0" rIns="0" tIns="0" bIns="0" anchor="t">
            <a:spAutoFit/>
          </a:bodyPr>
          <a:lstStyle/>
          <a:p>
            <a:pPr algn="l">
              <a:lnSpc>
                <a:spcPct val="120000"/>
              </a:lnSpc>
            </a:pPr>
            <a:r>
              <a:rPr sz="1070" b="0">
                <a:solidFill>
                  <a:srgbClr val="3C4653"/>
                </a:solidFill>
                <a:latin typeface="Segoe UI"/>
              </a:rPr>
              <a:t>its two-hour planning horizon cannot exploit three or four hours of notice; pre-drain keeps climbing.</a:t>
            </a:r>
          </a:p>
        </p:txBody>
      </p:sp>
      <p:sp>
        <p:nvSpPr>
          <p:cNvPr id="16" name="Rectangle 15"/>
          <p:cNvSpPr/>
          <p:nvPr/>
        </p:nvSpPr>
        <p:spPr>
          <a:xfrm>
            <a:off x="7589520" y="4169663"/>
            <a:ext cx="3941063"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9520" y="4416552"/>
            <a:ext cx="64008" cy="6400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4352544"/>
            <a:ext cx="3758183" cy="256032"/>
          </a:xfrm>
          <a:prstGeom prst="rect">
            <a:avLst/>
          </a:prstGeom>
          <a:noFill/>
        </p:spPr>
        <p:txBody>
          <a:bodyPr wrap="square" lIns="0" rIns="0" tIns="0" bIns="0" anchor="t">
            <a:spAutoFit/>
          </a:bodyPr>
          <a:lstStyle/>
          <a:p>
            <a:pPr algn="l">
              <a:lnSpc>
                <a:spcPct val="100000"/>
              </a:lnSpc>
            </a:pPr>
            <a:r>
              <a:rPr sz="1140" b="1">
                <a:solidFill>
                  <a:srgbClr val="111721"/>
                </a:solidFill>
                <a:latin typeface="Segoe UI"/>
              </a:rPr>
              <a:t>This is a scheduling lever, not a model</a:t>
            </a:r>
          </a:p>
        </p:txBody>
      </p:sp>
      <p:sp>
        <p:nvSpPr>
          <p:cNvPr id="19" name="TextBox 18"/>
          <p:cNvSpPr txBox="1"/>
          <p:nvPr/>
        </p:nvSpPr>
        <p:spPr>
          <a:xfrm>
            <a:off x="7772400" y="4599431"/>
            <a:ext cx="3758183" cy="640080"/>
          </a:xfrm>
          <a:prstGeom prst="rect">
            <a:avLst/>
          </a:prstGeom>
          <a:noFill/>
        </p:spPr>
        <p:txBody>
          <a:bodyPr wrap="square" lIns="0" rIns="0" tIns="0" bIns="0" anchor="t">
            <a:spAutoFit/>
          </a:bodyPr>
          <a:lstStyle/>
          <a:p>
            <a:pPr algn="l">
              <a:lnSpc>
                <a:spcPct val="120000"/>
              </a:lnSpc>
            </a:pPr>
            <a:r>
              <a:rPr sz="1070" b="0">
                <a:solidFill>
                  <a:srgbClr val="3C4653"/>
                </a:solidFill>
                <a:latin typeface="Segoe UI"/>
              </a:rPr>
              <a:t>the single cheapest way to increase the benefit is to announce maintenance earlier.</a:t>
            </a:r>
          </a:p>
        </p:txBody>
      </p:sp>
      <p:sp>
        <p:nvSpPr>
          <p:cNvPr id="20" name="Rectangle 19"/>
          <p:cNvSpPr/>
          <p:nvPr/>
        </p:nvSpPr>
        <p:spPr>
          <a:xfrm>
            <a:off x="658368" y="5358384"/>
            <a:ext cx="10872216" cy="731520"/>
          </a:xfrm>
          <a:prstGeom prst="rect">
            <a:avLst/>
          </a:prstGeom>
          <a:solidFill>
            <a:srgbClr val="EC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5358384"/>
            <a:ext cx="36576" cy="7315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477256"/>
            <a:ext cx="10396728" cy="182880"/>
          </a:xfrm>
          <a:prstGeom prst="rect">
            <a:avLst/>
          </a:prstGeom>
          <a:noFill/>
        </p:spPr>
        <p:txBody>
          <a:bodyPr wrap="square" lIns="0" rIns="0" tIns="0" bIns="0" anchor="t">
            <a:spAutoFit/>
          </a:bodyPr>
          <a:lstStyle/>
          <a:p>
            <a:pPr algn="l">
              <a:lnSpc>
                <a:spcPct val="100000"/>
              </a:lnSpc>
            </a:pPr>
            <a:r>
              <a:rPr sz="950" b="1">
                <a:solidFill>
                  <a:srgbClr val="0F4C5C"/>
                </a:solidFill>
                <a:latin typeface="Consolas"/>
              </a:rPr>
              <a:t>WHAT THIS MEANS OPERATIONALLY</a:t>
            </a:r>
          </a:p>
        </p:txBody>
      </p:sp>
      <p:sp>
        <p:nvSpPr>
          <p:cNvPr id="23" name="TextBox 22"/>
          <p:cNvSpPr txBox="1"/>
          <p:nvPr/>
        </p:nvSpPr>
        <p:spPr>
          <a:xfrm>
            <a:off x="896112" y="5705856"/>
            <a:ext cx="10396728" cy="384048"/>
          </a:xfrm>
          <a:prstGeom prst="rect">
            <a:avLst/>
          </a:prstGeom>
          <a:noFill/>
        </p:spPr>
        <p:txBody>
          <a:bodyPr wrap="square" lIns="0" rIns="0" tIns="0" bIns="0" anchor="t">
            <a:spAutoFit/>
          </a:bodyPr>
          <a:lstStyle/>
          <a:p>
            <a:pPr algn="l">
              <a:lnSpc>
                <a:spcPct val="118000"/>
              </a:lnSpc>
            </a:pPr>
            <a:r>
              <a:rPr sz="1080" b="0">
                <a:solidFill>
                  <a:srgbClr val="3C4653"/>
                </a:solidFill>
                <a:latin typeface="Segoe UI"/>
              </a:rPr>
              <a:t>Announcing a maintenance window three hours ahead instead of thirty minutes roughly triples the overload the controller can remove. That is a change to scheduling practice, not to any model.</a:t>
            </a:r>
          </a:p>
        </p:txBody>
      </p:sp>
      <p:sp>
        <p:nvSpPr>
          <p:cNvPr id="24" name="TextBox 23"/>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CADENCE</a:t>
            </a:r>
          </a:p>
        </p:txBody>
      </p:sp>
      <p:sp>
        <p:nvSpPr>
          <p:cNvPr id="4" name="TextBox 3"/>
          <p:cNvSpPr txBox="1"/>
          <p:nvPr/>
        </p:nvSpPr>
        <p:spPr>
          <a:xfrm>
            <a:off x="658368" y="731520"/>
            <a:ext cx="10872216" cy="822960"/>
          </a:xfrm>
          <a:prstGeom prst="rect">
            <a:avLst/>
          </a:prstGeom>
          <a:noFill/>
        </p:spPr>
        <p:txBody>
          <a:bodyPr wrap="square" lIns="0" rIns="0" tIns="0" bIns="0" anchor="t">
            <a:spAutoFit/>
          </a:bodyPr>
          <a:lstStyle/>
          <a:p>
            <a:pPr algn="l">
              <a:lnSpc>
                <a:spcPct val="100000"/>
              </a:lnSpc>
            </a:pPr>
            <a:r>
              <a:rPr sz="3000" b="0">
                <a:solidFill>
                  <a:srgbClr val="111721"/>
                </a:solidFill>
                <a:latin typeface="Georgia"/>
              </a:rPr>
              <a:t>Two minutes buys churn, not benefit</a:t>
            </a:r>
          </a:p>
        </p:txBody>
      </p:sp>
      <p:sp>
        <p:nvSpPr>
          <p:cNvPr id="5" name="TextBox 4"/>
          <p:cNvSpPr txBox="1"/>
          <p:nvPr/>
        </p:nvSpPr>
        <p:spPr>
          <a:xfrm>
            <a:off x="658368" y="1463040"/>
            <a:ext cx="10424160" cy="548640"/>
          </a:xfrm>
          <a:prstGeom prst="rect">
            <a:avLst/>
          </a:prstGeom>
          <a:noFill/>
        </p:spPr>
        <p:txBody>
          <a:bodyPr wrap="square" lIns="0" rIns="0" tIns="0" bIns="0" anchor="t">
            <a:spAutoFit/>
          </a:bodyPr>
          <a:lstStyle/>
          <a:p>
            <a:pPr algn="l">
              <a:lnSpc>
                <a:spcPct val="125000"/>
              </a:lnSpc>
            </a:pPr>
            <a:r>
              <a:rPr sz="1300" b="0">
                <a:solidFill>
                  <a:srgbClr val="3C4653"/>
                </a:solidFill>
                <a:latin typeface="Segoe UI"/>
              </a:rPr>
              <a:t>Running the controller every 2 minutes instead of every 10 was tested across all 160 configurations, with the optimisation held to the same size so cadence trades lookahead against reactivity rather than against solver feasibility.</a:t>
            </a:r>
          </a:p>
        </p:txBody>
      </p:sp>
      <p:sp>
        <p:nvSpPr>
          <p:cNvPr id="6" name="Rectangle 5"/>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8816"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03 · THE OPTIMIZER</a:t>
            </a:r>
          </a:p>
        </p:txBody>
      </p:sp>
      <p:pic>
        <p:nvPicPr>
          <p:cNvPr id="8" name="Picture 7" descr="fig_cadence.png"/>
          <p:cNvPicPr>
            <a:picLocks noChangeAspect="1"/>
          </p:cNvPicPr>
          <p:nvPr/>
        </p:nvPicPr>
        <p:blipFill>
          <a:blip r:embed="rId2"/>
          <a:stretch>
            <a:fillRect/>
          </a:stretch>
        </p:blipFill>
        <p:spPr>
          <a:xfrm>
            <a:off x="658368" y="2084831"/>
            <a:ext cx="9235440" cy="2921114"/>
          </a:xfrm>
          <a:prstGeom prst="rect">
            <a:avLst/>
          </a:prstGeom>
        </p:spPr>
      </p:pic>
      <p:sp>
        <p:nvSpPr>
          <p:cNvPr id="9" name="TextBox 8"/>
          <p:cNvSpPr txBox="1"/>
          <p:nvPr/>
        </p:nvSpPr>
        <p:spPr>
          <a:xfrm>
            <a:off x="10040112" y="2212848"/>
            <a:ext cx="1490472" cy="182880"/>
          </a:xfrm>
          <a:prstGeom prst="rect">
            <a:avLst/>
          </a:prstGeom>
          <a:noFill/>
        </p:spPr>
        <p:txBody>
          <a:bodyPr wrap="square" lIns="0" rIns="0" tIns="0" bIns="0" anchor="t">
            <a:spAutoFit/>
          </a:bodyPr>
          <a:lstStyle/>
          <a:p>
            <a:pPr algn="l">
              <a:lnSpc>
                <a:spcPct val="100000"/>
              </a:lnSpc>
            </a:pPr>
            <a:r>
              <a:rPr sz="819" b="1">
                <a:solidFill>
                  <a:srgbClr val="6C7683"/>
                </a:solidFill>
                <a:latin typeface="Consolas"/>
              </a:rPr>
              <a:t>PASSED</a:t>
            </a:r>
          </a:p>
        </p:txBody>
      </p:sp>
      <p:sp>
        <p:nvSpPr>
          <p:cNvPr id="10" name="TextBox 9"/>
          <p:cNvSpPr txBox="1"/>
          <p:nvPr/>
        </p:nvSpPr>
        <p:spPr>
          <a:xfrm>
            <a:off x="10040112" y="2487168"/>
            <a:ext cx="1490472" cy="182880"/>
          </a:xfrm>
          <a:prstGeom prst="rect">
            <a:avLst/>
          </a:prstGeom>
          <a:noFill/>
        </p:spPr>
        <p:txBody>
          <a:bodyPr wrap="square" lIns="0" rIns="0" tIns="0" bIns="0" anchor="t">
            <a:spAutoFit/>
          </a:bodyPr>
          <a:lstStyle/>
          <a:p>
            <a:pPr algn="l">
              <a:lnSpc>
                <a:spcPct val="100000"/>
              </a:lnSpc>
            </a:pPr>
            <a:r>
              <a:rPr sz="860" b="0">
                <a:solidFill>
                  <a:srgbClr val="6C7683"/>
                </a:solidFill>
                <a:latin typeface="Consolas"/>
              </a:rPr>
              <a:t>Pre-drain · 10 min</a:t>
            </a:r>
          </a:p>
        </p:txBody>
      </p:sp>
      <p:sp>
        <p:nvSpPr>
          <p:cNvPr id="11" name="TextBox 10"/>
          <p:cNvSpPr txBox="1"/>
          <p:nvPr/>
        </p:nvSpPr>
        <p:spPr>
          <a:xfrm>
            <a:off x="10040112" y="2660903"/>
            <a:ext cx="1490472" cy="237744"/>
          </a:xfrm>
          <a:prstGeom prst="rect">
            <a:avLst/>
          </a:prstGeom>
          <a:noFill/>
        </p:spPr>
        <p:txBody>
          <a:bodyPr wrap="square" lIns="0" rIns="0" tIns="0" bIns="0" anchor="t">
            <a:spAutoFit/>
          </a:bodyPr>
          <a:lstStyle/>
          <a:p>
            <a:pPr algn="l">
              <a:lnSpc>
                <a:spcPct val="100000"/>
              </a:lnSpc>
            </a:pPr>
            <a:r>
              <a:rPr sz="1500" b="0">
                <a:solidFill>
                  <a:srgbClr val="2E7D5B"/>
                </a:solidFill>
                <a:latin typeface="Georgia"/>
              </a:rPr>
              <a:t>26 / 64</a:t>
            </a:r>
          </a:p>
        </p:txBody>
      </p:sp>
      <p:sp>
        <p:nvSpPr>
          <p:cNvPr id="12" name="TextBox 11"/>
          <p:cNvSpPr txBox="1"/>
          <p:nvPr/>
        </p:nvSpPr>
        <p:spPr>
          <a:xfrm>
            <a:off x="10040112" y="2962656"/>
            <a:ext cx="1490472" cy="182880"/>
          </a:xfrm>
          <a:prstGeom prst="rect">
            <a:avLst/>
          </a:prstGeom>
          <a:noFill/>
        </p:spPr>
        <p:txBody>
          <a:bodyPr wrap="square" lIns="0" rIns="0" tIns="0" bIns="0" anchor="t">
            <a:spAutoFit/>
          </a:bodyPr>
          <a:lstStyle/>
          <a:p>
            <a:pPr algn="l">
              <a:lnSpc>
                <a:spcPct val="100000"/>
              </a:lnSpc>
            </a:pPr>
            <a:r>
              <a:rPr sz="860" b="0">
                <a:solidFill>
                  <a:srgbClr val="6C7683"/>
                </a:solidFill>
                <a:latin typeface="Consolas"/>
              </a:rPr>
              <a:t>Pre-drain · 2 min</a:t>
            </a:r>
          </a:p>
        </p:txBody>
      </p:sp>
      <p:sp>
        <p:nvSpPr>
          <p:cNvPr id="13" name="TextBox 12"/>
          <p:cNvSpPr txBox="1"/>
          <p:nvPr/>
        </p:nvSpPr>
        <p:spPr>
          <a:xfrm>
            <a:off x="10040112" y="3136391"/>
            <a:ext cx="1490472" cy="237744"/>
          </a:xfrm>
          <a:prstGeom prst="rect">
            <a:avLst/>
          </a:prstGeom>
          <a:noFill/>
        </p:spPr>
        <p:txBody>
          <a:bodyPr wrap="square" lIns="0" rIns="0" tIns="0" bIns="0" anchor="t">
            <a:spAutoFit/>
          </a:bodyPr>
          <a:lstStyle/>
          <a:p>
            <a:pPr algn="l">
              <a:lnSpc>
                <a:spcPct val="100000"/>
              </a:lnSpc>
            </a:pPr>
            <a:r>
              <a:rPr sz="1500" b="0">
                <a:solidFill>
                  <a:srgbClr val="2E7D5B"/>
                </a:solidFill>
                <a:latin typeface="Georgia"/>
              </a:rPr>
              <a:t>8 / 64</a:t>
            </a:r>
          </a:p>
        </p:txBody>
      </p:sp>
      <p:sp>
        <p:nvSpPr>
          <p:cNvPr id="14" name="TextBox 13"/>
          <p:cNvSpPr txBox="1"/>
          <p:nvPr/>
        </p:nvSpPr>
        <p:spPr>
          <a:xfrm>
            <a:off x="10040112" y="3438144"/>
            <a:ext cx="1490472" cy="182880"/>
          </a:xfrm>
          <a:prstGeom prst="rect">
            <a:avLst/>
          </a:prstGeom>
          <a:noFill/>
        </p:spPr>
        <p:txBody>
          <a:bodyPr wrap="square" lIns="0" rIns="0" tIns="0" bIns="0" anchor="t">
            <a:spAutoFit/>
          </a:bodyPr>
          <a:lstStyle/>
          <a:p>
            <a:pPr algn="l">
              <a:lnSpc>
                <a:spcPct val="100000"/>
              </a:lnSpc>
            </a:pPr>
            <a:r>
              <a:rPr sz="860" b="0">
                <a:solidFill>
                  <a:srgbClr val="6C7683"/>
                </a:solidFill>
                <a:latin typeface="Consolas"/>
              </a:rPr>
              <a:t>Cohort MPC · 10 min</a:t>
            </a:r>
          </a:p>
        </p:txBody>
      </p:sp>
      <p:sp>
        <p:nvSpPr>
          <p:cNvPr id="15" name="TextBox 14"/>
          <p:cNvSpPr txBox="1"/>
          <p:nvPr/>
        </p:nvSpPr>
        <p:spPr>
          <a:xfrm>
            <a:off x="10040112" y="3611879"/>
            <a:ext cx="1490472" cy="237744"/>
          </a:xfrm>
          <a:prstGeom prst="rect">
            <a:avLst/>
          </a:prstGeom>
          <a:noFill/>
        </p:spPr>
        <p:txBody>
          <a:bodyPr wrap="square" lIns="0" rIns="0" tIns="0" bIns="0" anchor="t">
            <a:spAutoFit/>
          </a:bodyPr>
          <a:lstStyle/>
          <a:p>
            <a:pPr algn="l">
              <a:lnSpc>
                <a:spcPct val="100000"/>
              </a:lnSpc>
            </a:pPr>
            <a:r>
              <a:rPr sz="1500" b="0">
                <a:solidFill>
                  <a:srgbClr val="2E7D5B"/>
                </a:solidFill>
                <a:latin typeface="Georgia"/>
              </a:rPr>
              <a:t>2 / 16</a:t>
            </a:r>
          </a:p>
        </p:txBody>
      </p:sp>
      <p:sp>
        <p:nvSpPr>
          <p:cNvPr id="16" name="TextBox 15"/>
          <p:cNvSpPr txBox="1"/>
          <p:nvPr/>
        </p:nvSpPr>
        <p:spPr>
          <a:xfrm>
            <a:off x="10040112" y="3913631"/>
            <a:ext cx="1490472" cy="182880"/>
          </a:xfrm>
          <a:prstGeom prst="rect">
            <a:avLst/>
          </a:prstGeom>
          <a:noFill/>
        </p:spPr>
        <p:txBody>
          <a:bodyPr wrap="square" lIns="0" rIns="0" tIns="0" bIns="0" anchor="t">
            <a:spAutoFit/>
          </a:bodyPr>
          <a:lstStyle/>
          <a:p>
            <a:pPr algn="l">
              <a:lnSpc>
                <a:spcPct val="100000"/>
              </a:lnSpc>
            </a:pPr>
            <a:r>
              <a:rPr sz="860" b="0">
                <a:solidFill>
                  <a:srgbClr val="6C7683"/>
                </a:solidFill>
                <a:latin typeface="Consolas"/>
              </a:rPr>
              <a:t>Cohort MPC · 2 min</a:t>
            </a:r>
          </a:p>
        </p:txBody>
      </p:sp>
      <p:sp>
        <p:nvSpPr>
          <p:cNvPr id="17" name="TextBox 16"/>
          <p:cNvSpPr txBox="1"/>
          <p:nvPr/>
        </p:nvSpPr>
        <p:spPr>
          <a:xfrm>
            <a:off x="10040112" y="4087368"/>
            <a:ext cx="1490472" cy="237744"/>
          </a:xfrm>
          <a:prstGeom prst="rect">
            <a:avLst/>
          </a:prstGeom>
          <a:noFill/>
        </p:spPr>
        <p:txBody>
          <a:bodyPr wrap="square" lIns="0" rIns="0" tIns="0" bIns="0" anchor="t">
            <a:spAutoFit/>
          </a:bodyPr>
          <a:lstStyle/>
          <a:p>
            <a:pPr algn="l">
              <a:lnSpc>
                <a:spcPct val="100000"/>
              </a:lnSpc>
            </a:pPr>
            <a:r>
              <a:rPr sz="1500" b="0">
                <a:solidFill>
                  <a:srgbClr val="9C3B35"/>
                </a:solidFill>
                <a:latin typeface="Georgia"/>
              </a:rPr>
              <a:t>0 / 16</a:t>
            </a:r>
          </a:p>
        </p:txBody>
      </p:sp>
      <p:sp>
        <p:nvSpPr>
          <p:cNvPr id="18" name="Rectangle 17"/>
          <p:cNvSpPr/>
          <p:nvPr/>
        </p:nvSpPr>
        <p:spPr>
          <a:xfrm>
            <a:off x="658368" y="5248656"/>
            <a:ext cx="10872216" cy="804672"/>
          </a:xfrm>
          <a:prstGeom prst="rect">
            <a:avLst/>
          </a:prstGeom>
          <a:solidFill>
            <a:srgbClr val="EC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5248656"/>
            <a:ext cx="36576" cy="804672"/>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5376672"/>
            <a:ext cx="10396728" cy="201168"/>
          </a:xfrm>
          <a:prstGeom prst="rect">
            <a:avLst/>
          </a:prstGeom>
          <a:noFill/>
        </p:spPr>
        <p:txBody>
          <a:bodyPr wrap="square" lIns="0" rIns="0" tIns="0" bIns="0" anchor="t">
            <a:spAutoFit/>
          </a:bodyPr>
          <a:lstStyle/>
          <a:p>
            <a:pPr algn="l">
              <a:lnSpc>
                <a:spcPct val="100000"/>
              </a:lnSpc>
            </a:pPr>
            <a:r>
              <a:rPr sz="950" b="1">
                <a:solidFill>
                  <a:srgbClr val="B5761F"/>
                </a:solidFill>
                <a:latin typeface="Consolas"/>
              </a:rPr>
              <a:t>THE SAME CONFIGURATION, RUN AT BOTH CADENCES</a:t>
            </a:r>
          </a:p>
        </p:txBody>
      </p:sp>
      <p:sp>
        <p:nvSpPr>
          <p:cNvPr id="21" name="TextBox 20"/>
          <p:cNvSpPr txBox="1"/>
          <p:nvPr/>
        </p:nvSpPr>
        <p:spPr>
          <a:xfrm>
            <a:off x="896112" y="5632704"/>
            <a:ext cx="10396728" cy="365760"/>
          </a:xfrm>
          <a:prstGeom prst="rect">
            <a:avLst/>
          </a:prstGeom>
          <a:noFill/>
        </p:spPr>
        <p:txBody>
          <a:bodyPr wrap="square" lIns="0" rIns="0" tIns="0" bIns="0" anchor="t">
            <a:spAutoFit/>
          </a:bodyPr>
          <a:lstStyle/>
          <a:p>
            <a:pPr algn="l">
              <a:lnSpc>
                <a:spcPct val="116000"/>
              </a:lnSpc>
            </a:pPr>
            <a:r>
              <a:rPr sz="1120" b="0">
                <a:solidFill>
                  <a:srgbClr val="3C4653"/>
                </a:solidFill>
                <a:latin typeface="Segoe UI"/>
              </a:rPr>
              <a:t>Arm 60 at 10 minutes removes 27.67% of overload with 0.192 churn and passes every check. Arm 124 — identical apart from cadence — removes 27.69% with 0.702 churn and fails on churn alone. Faster control bought two hundredths of a point for 3.7x the routing change.</a:t>
            </a:r>
          </a:p>
        </p:txBody>
      </p:sp>
      <p:sp>
        <p:nvSpPr>
          <p:cNvPr id="22" name="TextBox 21"/>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DECISION</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What we recommend running, and why</a:t>
            </a:r>
          </a:p>
        </p:txBody>
      </p:sp>
      <p:sp>
        <p:nvSpPr>
          <p:cNvPr id="5" name="TextBox 4"/>
          <p:cNvSpPr txBox="1"/>
          <p:nvPr/>
        </p:nvSpPr>
        <p:spPr>
          <a:xfrm>
            <a:off x="658368" y="1463040"/>
            <a:ext cx="8482468" cy="578612"/>
          </a:xfrm>
          <a:prstGeom prst="rect">
            <a:avLst/>
          </a:prstGeom>
          <a:noFill/>
        </p:spPr>
        <p:txBody>
          <a:bodyPr wrap="square" anchor="t" lIns="0" rIns="0" tIns="0" bIns="0">
            <a:spAutoFit/>
          </a:bodyPr>
          <a:lstStyle/>
          <a:p>
            <a:pPr algn="l">
              <a:lnSpc>
                <a:spcPct val="142000"/>
              </a:lnSpc>
            </a:pPr>
            <a:r>
              <a:rPr sz="1300" b="0" i="0">
                <a:solidFill>
                  <a:srgbClr val="3C4653"/>
                </a:solidFill>
                <a:latin typeface="Segoe UI"/>
              </a:rPr>
              <a:t>Static is the reference default. Evaluate guarded pre-drain or cohort MPC in shadow mode for declared maintenance windows only; no live policy publication is authorized.</a:t>
            </a:r>
          </a:p>
        </p:txBody>
      </p:sp>
      <p:sp>
        <p:nvSpPr>
          <p:cNvPr id="6" name="Rectangle 5"/>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sp>
        <p:nvSpPr>
          <p:cNvPr id="8" name="Rectangle 7"/>
          <p:cNvSpPr/>
          <p:nvPr/>
        </p:nvSpPr>
        <p:spPr>
          <a:xfrm>
            <a:off x="658368" y="2347976"/>
            <a:ext cx="68580" cy="685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279396"/>
            <a:ext cx="6342095"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Static remains the safe default</a:t>
            </a:r>
          </a:p>
        </p:txBody>
      </p:sp>
      <p:sp>
        <p:nvSpPr>
          <p:cNvPr id="10" name="TextBox 9"/>
          <p:cNvSpPr txBox="1"/>
          <p:nvPr/>
        </p:nvSpPr>
        <p:spPr>
          <a:xfrm>
            <a:off x="841247" y="2533904"/>
            <a:ext cx="6342095" cy="476046"/>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Outside a declared maintenance window, publish the capacity-proportional static policy. Pure surprises are verified bit-exact ties.</a:t>
            </a:r>
          </a:p>
        </p:txBody>
      </p:sp>
      <p:sp>
        <p:nvSpPr>
          <p:cNvPr id="11" name="Rectangle 10"/>
          <p:cNvSpPr/>
          <p:nvPr/>
        </p:nvSpPr>
        <p:spPr>
          <a:xfrm>
            <a:off x="658368" y="3073958"/>
            <a:ext cx="652497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252266"/>
            <a:ext cx="68580" cy="685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3183686"/>
            <a:ext cx="6342095"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Declared events unlock predictive value</a:t>
            </a:r>
          </a:p>
        </p:txBody>
      </p:sp>
      <p:sp>
        <p:nvSpPr>
          <p:cNvPr id="14" name="TextBox 13"/>
          <p:cNvSpPr txBox="1"/>
          <p:nvPr/>
        </p:nvSpPr>
        <p:spPr>
          <a:xfrm>
            <a:off x="841247" y="3438194"/>
            <a:ext cx="6342095" cy="476046"/>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On held-out declared-event pairs, predictive steering removes overload without a single regression across 473 informative cases.</a:t>
            </a:r>
          </a:p>
        </p:txBody>
      </p:sp>
      <p:sp>
        <p:nvSpPr>
          <p:cNvPr id="15" name="Rectangle 14"/>
          <p:cNvSpPr/>
          <p:nvPr/>
        </p:nvSpPr>
        <p:spPr>
          <a:xfrm>
            <a:off x="658368" y="3978249"/>
            <a:ext cx="652497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4156557"/>
            <a:ext cx="68580" cy="685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4087977"/>
            <a:ext cx="6342095"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MPC is the conservative shadow candidate</a:t>
            </a:r>
          </a:p>
        </p:txBody>
      </p:sp>
      <p:sp>
        <p:nvSpPr>
          <p:cNvPr id="18" name="TextBox 17"/>
          <p:cNvSpPr txBox="1"/>
          <p:nvPr/>
        </p:nvSpPr>
        <p:spPr>
          <a:xfrm>
            <a:off x="841247" y="4342485"/>
            <a:ext cx="6342095" cy="476046"/>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Cohort MPC gives up some gain for roughly one tenth of pre-drain's collateral harm and routing churn.</a:t>
            </a:r>
          </a:p>
        </p:txBody>
      </p:sp>
      <p:sp>
        <p:nvSpPr>
          <p:cNvPr id="19" name="Rectangle 18"/>
          <p:cNvSpPr/>
          <p:nvPr/>
        </p:nvSpPr>
        <p:spPr>
          <a:xfrm>
            <a:off x="658368" y="4882540"/>
            <a:ext cx="6524975"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5060848"/>
            <a:ext cx="68580" cy="685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4992268"/>
            <a:ext cx="6342095" cy="286512"/>
          </a:xfrm>
          <a:prstGeom prst="rect">
            <a:avLst/>
          </a:prstGeom>
          <a:noFill/>
        </p:spPr>
        <p:txBody>
          <a:bodyPr wrap="square" anchor="t" lIns="0" rIns="0" tIns="0" bIns="0">
            <a:spAutoFit/>
          </a:bodyPr>
          <a:lstStyle/>
          <a:p>
            <a:pPr algn="l">
              <a:lnSpc>
                <a:spcPct val="128000"/>
              </a:lnSpc>
            </a:pPr>
            <a:r>
              <a:rPr sz="1200" b="1" i="0">
                <a:solidFill>
                  <a:srgbClr val="111721"/>
                </a:solidFill>
                <a:latin typeface="Segoe UI"/>
              </a:rPr>
              <a:t>Fail closed on uncertainty</a:t>
            </a:r>
          </a:p>
        </p:txBody>
      </p:sp>
      <p:sp>
        <p:nvSpPr>
          <p:cNvPr id="22" name="TextBox 21"/>
          <p:cNvSpPr txBox="1"/>
          <p:nvPr/>
        </p:nvSpPr>
        <p:spPr>
          <a:xfrm>
            <a:off x="841247" y="5246776"/>
            <a:ext cx="6342095" cy="668350"/>
          </a:xfrm>
          <a:prstGeom prst="rect">
            <a:avLst/>
          </a:prstGeom>
          <a:noFill/>
        </p:spPr>
        <p:txBody>
          <a:bodyPr wrap="square" anchor="t" lIns="0" rIns="0" tIns="0" bIns="0">
            <a:spAutoFit/>
          </a:bodyPr>
          <a:lstStyle/>
          <a:p>
            <a:pPr algn="l">
              <a:lnSpc>
                <a:spcPct val="134000"/>
              </a:lnSpc>
            </a:pPr>
            <a:r>
              <a:rPr sz="1130" b="0" i="0">
                <a:solidFill>
                  <a:srgbClr val="3C4653"/>
                </a:solidFill>
                <a:latin typeface="Segoe UI"/>
              </a:rPr>
              <a:t>Any stale telemetry, invalid plan, solver failure, undeclared event, or uncertain envelope retains the last safe static policy.</a:t>
            </a:r>
          </a:p>
        </p:txBody>
      </p:sp>
      <p:sp>
        <p:nvSpPr>
          <p:cNvPr id="23" name="Rectangle 22"/>
          <p:cNvSpPr/>
          <p:nvPr/>
        </p:nvSpPr>
        <p:spPr>
          <a:xfrm>
            <a:off x="7618341" y="2334260"/>
            <a:ext cx="3914985" cy="199948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18341" y="2334260"/>
            <a:ext cx="34747" cy="1999488"/>
          </a:xfrm>
          <a:prstGeom prst="rect">
            <a:avLst/>
          </a:prstGeom>
          <a:solidFill>
            <a:srgbClr val="9C3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56085" y="2480564"/>
            <a:ext cx="3457785" cy="201168"/>
          </a:xfrm>
          <a:prstGeom prst="rect">
            <a:avLst/>
          </a:prstGeom>
          <a:noFill/>
        </p:spPr>
        <p:txBody>
          <a:bodyPr wrap="square" anchor="t" lIns="0" rIns="0" tIns="0" bIns="0">
            <a:spAutoFit/>
          </a:bodyPr>
          <a:lstStyle/>
          <a:p>
            <a:pPr algn="l">
              <a:lnSpc>
                <a:spcPct val="100000"/>
              </a:lnSpc>
            </a:pPr>
            <a:r>
              <a:rPr sz="950" b="1" i="0">
                <a:solidFill>
                  <a:srgbClr val="9C3B35"/>
                </a:solidFill>
                <a:latin typeface="Consolas"/>
              </a:rPr>
              <a:t>ONE SPECIFIC WARNING</a:t>
            </a:r>
          </a:p>
        </p:txBody>
      </p:sp>
      <p:sp>
        <p:nvSpPr>
          <p:cNvPr id="26" name="TextBox 25"/>
          <p:cNvSpPr txBox="1"/>
          <p:nvPr/>
        </p:nvSpPr>
        <p:spPr>
          <a:xfrm>
            <a:off x="7856085" y="2736596"/>
            <a:ext cx="3412065" cy="1542288"/>
          </a:xfrm>
          <a:prstGeom prst="rect">
            <a:avLst/>
          </a:prstGeom>
          <a:noFill/>
        </p:spPr>
        <p:txBody>
          <a:bodyPr wrap="square" anchor="t" lIns="0" rIns="0" tIns="0" bIns="0">
            <a:spAutoFit/>
          </a:bodyPr>
          <a:lstStyle/>
          <a:p>
            <a:pPr algn="l">
              <a:lnSpc>
                <a:spcPct val="136000"/>
              </a:lnSpc>
            </a:pPr>
            <a:r>
              <a:rPr sz="1200" b="0" i="0">
                <a:solidFill>
                  <a:srgbClr val="3C4653"/>
                </a:solidFill>
                <a:latin typeface="Segoe UI"/>
              </a:rPr>
              <a:t>The reactive controller is 98–121% worse than the simple rule on every production measure. “Move traffic away from the busy box” is the most intuitive policy and the worst one we tested. Whatever C-DOT deploys, it should not be that.</a:t>
            </a:r>
          </a:p>
        </p:txBody>
      </p:sp>
      <p:sp>
        <p:nvSpPr>
          <p:cNvPr id="27" name="Rectangle 26"/>
          <p:cNvSpPr/>
          <p:nvPr/>
        </p:nvSpPr>
        <p:spPr>
          <a:xfrm>
            <a:off x="7618341" y="4163060"/>
            <a:ext cx="1271467"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64645" y="4291076"/>
            <a:ext cx="1015435" cy="384048"/>
          </a:xfrm>
          <a:prstGeom prst="rect">
            <a:avLst/>
          </a:prstGeom>
          <a:noFill/>
        </p:spPr>
        <p:txBody>
          <a:bodyPr wrap="square" anchor="t" lIns="0" rIns="0" tIns="0" bIns="0">
            <a:spAutoFit/>
          </a:bodyPr>
          <a:lstStyle/>
          <a:p>
            <a:pPr algn="l">
              <a:lnSpc>
                <a:spcPct val="100000"/>
              </a:lnSpc>
            </a:pPr>
            <a:r>
              <a:rPr sz="1700" b="0" i="0">
                <a:solidFill>
                  <a:srgbClr val="2E7D5B"/>
                </a:solidFill>
                <a:latin typeface="Georgia"/>
              </a:rPr>
              <a:t>STATIC</a:t>
            </a:r>
          </a:p>
        </p:txBody>
      </p:sp>
      <p:sp>
        <p:nvSpPr>
          <p:cNvPr id="29" name="TextBox 28"/>
          <p:cNvSpPr txBox="1"/>
          <p:nvPr/>
        </p:nvSpPr>
        <p:spPr>
          <a:xfrm>
            <a:off x="7764645" y="4693412"/>
            <a:ext cx="1015435"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DEFAULT</a:t>
            </a:r>
          </a:p>
          <a:p>
            <a:pPr algn="l">
              <a:lnSpc>
                <a:spcPct val="130000"/>
              </a:lnSpc>
              <a:spcBef>
                <a:spcPts val="0"/>
              </a:spcBef>
            </a:pPr>
            <a:r>
              <a:rPr sz="819" b="0" i="0">
                <a:solidFill>
                  <a:srgbClr val="6C7683"/>
                </a:solidFill>
                <a:latin typeface="Consolas"/>
              </a:rPr>
              <a:t>POLICY</a:t>
            </a:r>
          </a:p>
        </p:txBody>
      </p:sp>
      <p:sp>
        <p:nvSpPr>
          <p:cNvPr id="30" name="Rectangle 29"/>
          <p:cNvSpPr/>
          <p:nvPr/>
        </p:nvSpPr>
        <p:spPr>
          <a:xfrm>
            <a:off x="8940100" y="4163060"/>
            <a:ext cx="1271467"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86404" y="4291076"/>
            <a:ext cx="1015435" cy="384048"/>
          </a:xfrm>
          <a:prstGeom prst="rect">
            <a:avLst/>
          </a:prstGeom>
          <a:noFill/>
        </p:spPr>
        <p:txBody>
          <a:bodyPr wrap="square" anchor="t" lIns="0" rIns="0" tIns="0" bIns="0">
            <a:spAutoFit/>
          </a:bodyPr>
          <a:lstStyle/>
          <a:p>
            <a:pPr algn="l">
              <a:lnSpc>
                <a:spcPct val="100000"/>
              </a:lnSpc>
            </a:pPr>
            <a:r>
              <a:rPr sz="1700" b="0" i="0">
                <a:solidFill>
                  <a:srgbClr val="B5761F"/>
                </a:solidFill>
                <a:latin typeface="Georgia"/>
              </a:rPr>
              <a:t>+24.0%</a:t>
            </a:r>
          </a:p>
        </p:txBody>
      </p:sp>
      <p:sp>
        <p:nvSpPr>
          <p:cNvPr id="32" name="TextBox 31"/>
          <p:cNvSpPr txBox="1"/>
          <p:nvPr/>
        </p:nvSpPr>
        <p:spPr>
          <a:xfrm>
            <a:off x="9086404" y="4693412"/>
            <a:ext cx="1015435"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HELD-OUT</a:t>
            </a:r>
          </a:p>
          <a:p>
            <a:pPr algn="l">
              <a:lnSpc>
                <a:spcPct val="130000"/>
              </a:lnSpc>
              <a:spcBef>
                <a:spcPts val="0"/>
              </a:spcBef>
            </a:pPr>
            <a:r>
              <a:rPr sz="819" b="0" i="0">
                <a:solidFill>
                  <a:srgbClr val="6C7683"/>
                </a:solidFill>
                <a:latin typeface="Consolas"/>
              </a:rPr>
              <a:t>GAIN</a:t>
            </a:r>
          </a:p>
        </p:txBody>
      </p:sp>
      <p:sp>
        <p:nvSpPr>
          <p:cNvPr id="33" name="Rectangle 32"/>
          <p:cNvSpPr/>
          <p:nvPr/>
        </p:nvSpPr>
        <p:spPr>
          <a:xfrm>
            <a:off x="10261860" y="4163060"/>
            <a:ext cx="1271467" cy="914400"/>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08164" y="4291076"/>
            <a:ext cx="1015435" cy="384048"/>
          </a:xfrm>
          <a:prstGeom prst="rect">
            <a:avLst/>
          </a:prstGeom>
          <a:noFill/>
        </p:spPr>
        <p:txBody>
          <a:bodyPr wrap="square" anchor="t" lIns="0" rIns="0" tIns="0" bIns="0">
            <a:spAutoFit/>
          </a:bodyPr>
          <a:lstStyle/>
          <a:p>
            <a:pPr algn="l">
              <a:lnSpc>
                <a:spcPct val="100000"/>
              </a:lnSpc>
            </a:pPr>
            <a:r>
              <a:rPr sz="1700" b="0" i="0">
                <a:solidFill>
                  <a:srgbClr val="9C3B35"/>
                </a:solidFill>
                <a:latin typeface="Georgia"/>
              </a:rPr>
              <a:t>0 / 473</a:t>
            </a:r>
          </a:p>
        </p:txBody>
      </p:sp>
      <p:sp>
        <p:nvSpPr>
          <p:cNvPr id="35" name="TextBox 34"/>
          <p:cNvSpPr txBox="1"/>
          <p:nvPr/>
        </p:nvSpPr>
        <p:spPr>
          <a:xfrm>
            <a:off x="10408164" y="4693412"/>
            <a:ext cx="1015435"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DECLARED-EVENT</a:t>
            </a:r>
          </a:p>
          <a:p>
            <a:pPr algn="l">
              <a:lnSpc>
                <a:spcPct val="130000"/>
              </a:lnSpc>
              <a:spcBef>
                <a:spcPts val="0"/>
              </a:spcBef>
            </a:pPr>
            <a:r>
              <a:rPr sz="819" b="0" i="0">
                <a:solidFill>
                  <a:srgbClr val="6C7683"/>
                </a:solidFill>
                <a:latin typeface="Consolas"/>
              </a:rPr>
              <a:t>REGRESSIONS</a:t>
            </a:r>
          </a:p>
        </p:txBody>
      </p:sp>
      <p:sp>
        <p:nvSpPr>
          <p:cNvPr id="36" name="TextBox 35"/>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NEXT STEPS</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The optimizer</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03 · THE OPTIMIZER</a:t>
            </a:r>
          </a:p>
        </p:txBody>
      </p:sp>
      <p:sp>
        <p:nvSpPr>
          <p:cNvPr id="7" name="Rectangle 6"/>
          <p:cNvSpPr/>
          <p:nvPr/>
        </p:nvSpPr>
        <p:spPr>
          <a:xfrm>
            <a:off x="658368" y="1481328"/>
            <a:ext cx="5245455" cy="359305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645920"/>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GET A BETTER LEVER</a:t>
            </a:r>
          </a:p>
        </p:txBody>
      </p:sp>
      <p:sp>
        <p:nvSpPr>
          <p:cNvPr id="9" name="Rectangle 8"/>
          <p:cNvSpPr/>
          <p:nvPr/>
        </p:nvSpPr>
        <p:spPr>
          <a:xfrm>
            <a:off x="859536" y="200710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5" y="1938528"/>
            <a:ext cx="4660239" cy="280009"/>
          </a:xfrm>
          <a:prstGeom prst="rect">
            <a:avLst/>
          </a:prstGeom>
          <a:noFill/>
        </p:spPr>
        <p:txBody>
          <a:bodyPr wrap="square" anchor="t" lIns="0" rIns="0" tIns="0" bIns="0">
            <a:spAutoFit/>
          </a:bodyPr>
          <a:lstStyle/>
          <a:p>
            <a:pPr algn="l">
              <a:lnSpc>
                <a:spcPct val="128000"/>
              </a:lnSpc>
            </a:pPr>
            <a:r>
              <a:rPr sz="1160" b="1" i="0">
                <a:solidFill>
                  <a:srgbClr val="111721"/>
                </a:solidFill>
                <a:latin typeface="Segoe UI"/>
              </a:rPr>
              <a:t>Settle the session-migration question with C-DOT</a:t>
            </a:r>
          </a:p>
        </p:txBody>
      </p:sp>
      <p:sp>
        <p:nvSpPr>
          <p:cNvPr id="11" name="TextBox 10"/>
          <p:cNvSpPr txBox="1"/>
          <p:nvPr/>
        </p:nvSpPr>
        <p:spPr>
          <a:xfrm>
            <a:off x="1042415" y="2186533"/>
            <a:ext cx="4660239" cy="833424"/>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The oracle shows that moving just 10% of live sessions per 10 minutes removes all overload. If the system can do it, model its cost. If not, publish the ceiling honestly and stop optimising against it.</a:t>
            </a:r>
          </a:p>
        </p:txBody>
      </p:sp>
      <p:sp>
        <p:nvSpPr>
          <p:cNvPr id="12" name="Rectangle 11"/>
          <p:cNvSpPr/>
          <p:nvPr/>
        </p:nvSpPr>
        <p:spPr>
          <a:xfrm>
            <a:off x="859536" y="3065678"/>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9536" y="322569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5" y="3157118"/>
            <a:ext cx="4660239" cy="280009"/>
          </a:xfrm>
          <a:prstGeom prst="rect">
            <a:avLst/>
          </a:prstGeom>
          <a:noFill/>
        </p:spPr>
        <p:txBody>
          <a:bodyPr wrap="square" anchor="t" lIns="0" rIns="0" tIns="0" bIns="0">
            <a:spAutoFit/>
          </a:bodyPr>
          <a:lstStyle/>
          <a:p>
            <a:pPr algn="l">
              <a:lnSpc>
                <a:spcPct val="128000"/>
              </a:lnSpc>
            </a:pPr>
            <a:r>
              <a:rPr sz="1160" b="1" i="0">
                <a:solidFill>
                  <a:srgbClr val="111721"/>
                </a:solidFill>
                <a:latin typeface="Segoe UI"/>
              </a:rPr>
              <a:t>Add capacity as an action</a:t>
            </a:r>
          </a:p>
        </p:txBody>
      </p:sp>
      <p:sp>
        <p:nvSpPr>
          <p:cNvPr id="15" name="TextBox 14"/>
          <p:cNvSpPr txBox="1"/>
          <p:nvPr/>
        </p:nvSpPr>
        <p:spPr>
          <a:xfrm>
            <a:off x="1042415" y="3405124"/>
            <a:ext cx="4660239" cy="647928"/>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Spinning up another box is a fundamentally different lever from redistributing existing ones. The simulator already supports it.</a:t>
            </a:r>
          </a:p>
        </p:txBody>
      </p:sp>
      <p:sp>
        <p:nvSpPr>
          <p:cNvPr id="16" name="Rectangle 15"/>
          <p:cNvSpPr/>
          <p:nvPr/>
        </p:nvSpPr>
        <p:spPr>
          <a:xfrm>
            <a:off x="859536" y="4098772"/>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9536" y="4258792"/>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5" y="4190212"/>
            <a:ext cx="4660239" cy="280009"/>
          </a:xfrm>
          <a:prstGeom prst="rect">
            <a:avLst/>
          </a:prstGeom>
          <a:noFill/>
        </p:spPr>
        <p:txBody>
          <a:bodyPr wrap="square" anchor="t" lIns="0" rIns="0" tIns="0" bIns="0">
            <a:spAutoFit/>
          </a:bodyPr>
          <a:lstStyle/>
          <a:p>
            <a:pPr algn="l">
              <a:lnSpc>
                <a:spcPct val="128000"/>
              </a:lnSpc>
            </a:pPr>
            <a:r>
              <a:rPr sz="1160" b="1" i="0">
                <a:solidFill>
                  <a:srgbClr val="111721"/>
                </a:solidFill>
                <a:latin typeface="Segoe UI"/>
              </a:rPr>
              <a:t>Reversible placements</a:t>
            </a:r>
          </a:p>
        </p:txBody>
      </p:sp>
      <p:sp>
        <p:nvSpPr>
          <p:cNvPr id="19" name="TextBox 18"/>
          <p:cNvSpPr txBox="1"/>
          <p:nvPr/>
        </p:nvSpPr>
        <p:spPr>
          <a:xfrm>
            <a:off x="1042415" y="4438218"/>
            <a:ext cx="4660239" cy="462432"/>
          </a:xfrm>
          <a:prstGeom prst="rect">
            <a:avLst/>
          </a:prstGeom>
          <a:noFill/>
        </p:spPr>
        <p:txBody>
          <a:bodyPr wrap="square" anchor="t" lIns="0" rIns="0" tIns="0" bIns="0">
            <a:spAutoFit/>
          </a:bodyPr>
          <a:lstStyle/>
          <a:p>
            <a:pPr algn="l">
              <a:lnSpc>
                <a:spcPct val="134000"/>
              </a:lnSpc>
            </a:pPr>
            <a:r>
              <a:rPr sz="1090" b="0" i="0">
                <a:solidFill>
                  <a:srgbClr val="3C4653"/>
                </a:solidFill>
                <a:latin typeface="Segoe UI"/>
              </a:rPr>
              <a:t>Short-lived allocations that can be revised before they turn into hours of committed load.</a:t>
            </a:r>
          </a:p>
        </p:txBody>
      </p:sp>
      <p:sp>
        <p:nvSpPr>
          <p:cNvPr id="20" name="Rectangle 19"/>
          <p:cNvSpPr/>
          <p:nvPr/>
        </p:nvSpPr>
        <p:spPr>
          <a:xfrm>
            <a:off x="6287871" y="1481328"/>
            <a:ext cx="5245455" cy="460753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9039" y="1645920"/>
            <a:ext cx="4843119" cy="201168"/>
          </a:xfrm>
          <a:prstGeom prst="rect">
            <a:avLst/>
          </a:prstGeom>
          <a:noFill/>
        </p:spPr>
        <p:txBody>
          <a:bodyPr wrap="square" anchor="t" lIns="0" rIns="0" tIns="0" bIns="0">
            <a:spAutoFit/>
          </a:bodyPr>
          <a:lstStyle/>
          <a:p>
            <a:pPr algn="l">
              <a:lnSpc>
                <a:spcPct val="100000"/>
              </a:lnSpc>
            </a:pPr>
            <a:r>
              <a:rPr sz="919" b="1" i="0">
                <a:solidFill>
                  <a:srgbClr val="6C7683"/>
                </a:solidFill>
                <a:latin typeface="Consolas"/>
              </a:rPr>
              <a:t>CHANGE THE METHOD, NOT THE NUMBERS</a:t>
            </a:r>
          </a:p>
        </p:txBody>
      </p:sp>
      <p:sp>
        <p:nvSpPr>
          <p:cNvPr id="22" name="Rectangle 21"/>
          <p:cNvSpPr/>
          <p:nvPr/>
        </p:nvSpPr>
        <p:spPr>
          <a:xfrm>
            <a:off x="6489039" y="200710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1919" y="1938528"/>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Limit commitments under uncertainty</a:t>
            </a:r>
          </a:p>
        </p:txBody>
      </p:sp>
      <p:sp>
        <p:nvSpPr>
          <p:cNvPr id="24" name="TextBox 23"/>
          <p:cNvSpPr txBox="1"/>
          <p:nvPr/>
        </p:nvSpPr>
        <p:spPr>
          <a:xfrm>
            <a:off x="6671919" y="2183282"/>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Instead of another blend percentage, give the controller an explicit uncertainty budget it may not exceed.</a:t>
            </a:r>
          </a:p>
        </p:txBody>
      </p:sp>
      <p:sp>
        <p:nvSpPr>
          <p:cNvPr id="25" name="Rectangle 24"/>
          <p:cNvSpPr/>
          <p:nvPr/>
        </p:nvSpPr>
        <p:spPr>
          <a:xfrm>
            <a:off x="6489039" y="2652623"/>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89039" y="2780639"/>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1919" y="2712059"/>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Validate against a full simulated day</a:t>
            </a:r>
          </a:p>
        </p:txBody>
      </p:sp>
      <p:sp>
        <p:nvSpPr>
          <p:cNvPr id="28" name="TextBox 27"/>
          <p:cNvSpPr txBox="1"/>
          <p:nvPr/>
        </p:nvSpPr>
        <p:spPr>
          <a:xfrm>
            <a:off x="6671919" y="2956813"/>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Not just “is this step better” but “does this whole plan still beat the simple rule”, including forecast error.</a:t>
            </a:r>
          </a:p>
        </p:txBody>
      </p:sp>
      <p:sp>
        <p:nvSpPr>
          <p:cNvPr id="29" name="Rectangle 28"/>
          <p:cNvSpPr/>
          <p:nvPr/>
        </p:nvSpPr>
        <p:spPr>
          <a:xfrm>
            <a:off x="6489039" y="3426155"/>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89039" y="3554171"/>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1919" y="3485591"/>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Do nothing when nothing is wrong</a:t>
            </a:r>
          </a:p>
        </p:txBody>
      </p:sp>
      <p:sp>
        <p:nvSpPr>
          <p:cNvPr id="32" name="TextBox 31"/>
          <p:cNvSpPr txBox="1"/>
          <p:nvPr/>
        </p:nvSpPr>
        <p:spPr>
          <a:xfrm>
            <a:off x="6671919" y="3730345"/>
            <a:ext cx="4660239" cy="637717"/>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The controller sometimes accepts a small uplink loss for a large downlink gain on days with no uplink problem. It should decline.</a:t>
            </a:r>
          </a:p>
        </p:txBody>
      </p:sp>
      <p:sp>
        <p:nvSpPr>
          <p:cNvPr id="33" name="Rectangle 32"/>
          <p:cNvSpPr/>
          <p:nvPr/>
        </p:nvSpPr>
        <p:spPr>
          <a:xfrm>
            <a:off x="6489039" y="4381779"/>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89039" y="4509795"/>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1919" y="4441215"/>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Design to the decision deadline</a:t>
            </a:r>
          </a:p>
        </p:txBody>
      </p:sp>
      <p:sp>
        <p:nvSpPr>
          <p:cNvPr id="36" name="TextBox 35"/>
          <p:cNvSpPr txBox="1"/>
          <p:nvPr/>
        </p:nvSpPr>
        <p:spPr>
          <a:xfrm>
            <a:off x="6671919" y="4685969"/>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Treat 500 ms as a design constraint from the start, not something measured afterwards.</a:t>
            </a:r>
          </a:p>
        </p:txBody>
      </p:sp>
      <p:sp>
        <p:nvSpPr>
          <p:cNvPr id="37" name="Rectangle 36"/>
          <p:cNvSpPr/>
          <p:nvPr/>
        </p:nvSpPr>
        <p:spPr>
          <a:xfrm>
            <a:off x="6489039" y="5155311"/>
            <a:ext cx="484311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89039" y="5283326"/>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1919" y="5214747"/>
            <a:ext cx="4660239" cy="276758"/>
          </a:xfrm>
          <a:prstGeom prst="rect">
            <a:avLst/>
          </a:prstGeom>
          <a:noFill/>
        </p:spPr>
        <p:txBody>
          <a:bodyPr wrap="square" anchor="t" lIns="0" rIns="0" tIns="0" bIns="0">
            <a:spAutoFit/>
          </a:bodyPr>
          <a:lstStyle/>
          <a:p>
            <a:pPr algn="l">
              <a:lnSpc>
                <a:spcPct val="128000"/>
              </a:lnSpc>
            </a:pPr>
            <a:r>
              <a:rPr sz="1140" b="1" i="0">
                <a:solidFill>
                  <a:srgbClr val="111721"/>
                </a:solidFill>
                <a:latin typeface="Segoe UI"/>
              </a:rPr>
              <a:t>Reinforcement learning, later</a:t>
            </a:r>
          </a:p>
        </p:txBody>
      </p:sp>
      <p:sp>
        <p:nvSpPr>
          <p:cNvPr id="40" name="TextBox 39"/>
          <p:cNvSpPr txBox="1"/>
          <p:nvPr/>
        </p:nvSpPr>
        <p:spPr>
          <a:xfrm>
            <a:off x="6671919" y="5459501"/>
            <a:ext cx="4660239" cy="455625"/>
          </a:xfrm>
          <a:prstGeom prst="rect">
            <a:avLst/>
          </a:prstGeom>
          <a:noFill/>
        </p:spPr>
        <p:txBody>
          <a:bodyPr wrap="square" anchor="t" lIns="0" rIns="0" tIns="0" bIns="0">
            <a:spAutoFit/>
          </a:bodyPr>
          <a:lstStyle/>
          <a:p>
            <a:pPr algn="l">
              <a:lnSpc>
                <a:spcPct val="134000"/>
              </a:lnSpc>
            </a:pPr>
            <a:r>
              <a:rPr sz="1070" b="0" i="0">
                <a:solidFill>
                  <a:srgbClr val="3C4653"/>
                </a:solidFill>
                <a:latin typeface="Segoe UI"/>
              </a:rPr>
              <a:t>Out of scope until the lever question is settled. An RL agent inherits exactly the same 1.6% of movable traffic.</a:t>
            </a:r>
          </a:p>
        </p:txBody>
      </p:sp>
      <p:sp>
        <p:nvSpPr>
          <p:cNvPr id="41" name="TextBox 40"/>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2212848"/>
            <a:ext cx="566928"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340864"/>
            <a:ext cx="914400" cy="274320"/>
          </a:xfrm>
          <a:prstGeom prst="rect">
            <a:avLst/>
          </a:prstGeom>
          <a:noFill/>
        </p:spPr>
        <p:txBody>
          <a:bodyPr wrap="square" anchor="t" lIns="0" rIns="0" tIns="0" bIns="0">
            <a:spAutoFit/>
          </a:bodyPr>
          <a:lstStyle/>
          <a:p>
            <a:pPr algn="l">
              <a:lnSpc>
                <a:spcPct val="100000"/>
              </a:lnSpc>
            </a:pPr>
            <a:r>
              <a:rPr sz="1200" b="1" i="0">
                <a:solidFill>
                  <a:srgbClr val="0F4C5C"/>
                </a:solidFill>
                <a:latin typeface="Consolas"/>
              </a:rPr>
              <a:t>04</a:t>
            </a:r>
          </a:p>
        </p:txBody>
      </p:sp>
      <p:sp>
        <p:nvSpPr>
          <p:cNvPr id="6" name="TextBox 5"/>
          <p:cNvSpPr txBox="1"/>
          <p:nvPr/>
        </p:nvSpPr>
        <p:spPr>
          <a:xfrm>
            <a:off x="1847088" y="2340864"/>
            <a:ext cx="10874959" cy="201168"/>
          </a:xfrm>
          <a:prstGeom prst="rect">
            <a:avLst/>
          </a:prstGeom>
          <a:noFill/>
        </p:spPr>
        <p:txBody>
          <a:bodyPr wrap="square" anchor="t" lIns="0" rIns="0" tIns="0" bIns="0">
            <a:spAutoFit/>
          </a:bodyPr>
          <a:lstStyle/>
          <a:p>
            <a:pPr algn="l">
              <a:lnSpc>
                <a:spcPct val="100000"/>
              </a:lnSpc>
            </a:pPr>
            <a:r>
              <a:rPr sz="1050" b="1" i="0">
                <a:solidFill>
                  <a:srgbClr val="6C7683"/>
                </a:solidFill>
                <a:latin typeface="Consolas"/>
              </a:rPr>
              <a:t>CONCLUSION</a:t>
            </a:r>
          </a:p>
        </p:txBody>
      </p:sp>
      <p:sp>
        <p:nvSpPr>
          <p:cNvPr id="7" name="TextBox 6"/>
          <p:cNvSpPr txBox="1"/>
          <p:nvPr/>
        </p:nvSpPr>
        <p:spPr>
          <a:xfrm>
            <a:off x="1847088" y="2615184"/>
            <a:ext cx="9686239" cy="1005840"/>
          </a:xfrm>
          <a:prstGeom prst="rect">
            <a:avLst/>
          </a:prstGeom>
          <a:noFill/>
        </p:spPr>
        <p:txBody>
          <a:bodyPr wrap="square" anchor="t" lIns="0" rIns="0" tIns="0" bIns="0">
            <a:spAutoFit/>
          </a:bodyPr>
          <a:lstStyle/>
          <a:p>
            <a:pPr algn="l">
              <a:lnSpc>
                <a:spcPct val="106000"/>
              </a:lnSpc>
            </a:pPr>
            <a:r>
              <a:rPr sz="3600" b="0" i="0">
                <a:solidFill>
                  <a:srgbClr val="111721"/>
                </a:solidFill>
                <a:latin typeface="Georgia"/>
              </a:rPr>
              <a:t>The system knew when the algorithm wasn't ready</a:t>
            </a:r>
          </a:p>
        </p:txBody>
      </p:sp>
      <p:sp>
        <p:nvSpPr>
          <p:cNvPr id="8" name="TextBox 7"/>
          <p:cNvSpPr txBox="1"/>
          <p:nvPr/>
        </p:nvSpPr>
        <p:spPr>
          <a:xfrm>
            <a:off x="1847088" y="3749039"/>
            <a:ext cx="7748991" cy="1097280"/>
          </a:xfrm>
          <a:prstGeom prst="rect">
            <a:avLst/>
          </a:prstGeom>
          <a:noFill/>
        </p:spPr>
        <p:txBody>
          <a:bodyPr wrap="square" anchor="t" lIns="0" rIns="0" tIns="0" bIns="0">
            <a:spAutoFit/>
          </a:bodyPr>
          <a:lstStyle/>
          <a:p>
            <a:pPr algn="l">
              <a:lnSpc>
                <a:spcPct val="145000"/>
              </a:lnSpc>
            </a:pPr>
            <a:r>
              <a:rPr sz="1350" b="0" i="0">
                <a:solidFill>
                  <a:srgbClr val="3C4653"/>
                </a:solidFill>
                <a:latin typeface="Segoe UI"/>
              </a:rPr>
              <a:t>That is the real deliverable. A simulator, a forecaster and an optimizer are ordinary engineering. A test apparatus that can run 588 experiments, produce several genuinely exciting intermediate results, and still refuse to release any of them — that is the hard part.</a:t>
            </a:r>
          </a:p>
        </p:txBody>
      </p:sp>
      <p:sp>
        <p:nvSpPr>
          <p:cNvPr id="9" name="TextBox 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EVERYTHING WE RAN</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The complete inventory</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04 · CONCLUSION</a:t>
            </a:r>
          </a:p>
        </p:txBody>
      </p:sp>
      <p:pic>
        <p:nvPicPr>
          <p:cNvPr id="7" name="Picture 6" descr="c_inventory.png"/>
          <p:cNvPicPr>
            <a:picLocks noChangeAspect="1"/>
          </p:cNvPicPr>
          <p:nvPr/>
        </p:nvPicPr>
        <p:blipFill>
          <a:blip r:embed="rId2"/>
          <a:stretch>
            <a:fillRect/>
          </a:stretch>
        </p:blipFill>
        <p:spPr>
          <a:xfrm>
            <a:off x="658368" y="1554480"/>
            <a:ext cx="8264968" cy="1194163"/>
          </a:xfrm>
          <a:prstGeom prst="rect">
            <a:avLst/>
          </a:prstGeom>
        </p:spPr>
      </p:pic>
      <p:sp>
        <p:nvSpPr>
          <p:cNvPr id="8" name="Rectangle 7"/>
          <p:cNvSpPr/>
          <p:nvPr/>
        </p:nvSpPr>
        <p:spPr>
          <a:xfrm>
            <a:off x="658368" y="3017520"/>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3145536"/>
            <a:ext cx="1514551" cy="384048"/>
          </a:xfrm>
          <a:prstGeom prst="rect">
            <a:avLst/>
          </a:prstGeom>
          <a:noFill/>
        </p:spPr>
        <p:txBody>
          <a:bodyPr wrap="square" anchor="t" lIns="0" rIns="0" tIns="0" bIns="0">
            <a:spAutoFit/>
          </a:bodyPr>
          <a:lstStyle/>
          <a:p>
            <a:pPr algn="l">
              <a:lnSpc>
                <a:spcPct val="100000"/>
              </a:lnSpc>
            </a:pPr>
            <a:r>
              <a:rPr sz="2000" b="0" i="0">
                <a:solidFill>
                  <a:srgbClr val="0F4C5C"/>
                </a:solidFill>
                <a:latin typeface="Georgia"/>
              </a:rPr>
              <a:t>25 000</a:t>
            </a:r>
          </a:p>
        </p:txBody>
      </p:sp>
      <p:sp>
        <p:nvSpPr>
          <p:cNvPr id="10" name="TextBox 9"/>
          <p:cNvSpPr txBox="1"/>
          <p:nvPr/>
        </p:nvSpPr>
        <p:spPr>
          <a:xfrm>
            <a:off x="804672" y="3602735"/>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PAIRED SIMULATED</a:t>
            </a:r>
          </a:p>
          <a:p>
            <a:pPr algn="l">
              <a:lnSpc>
                <a:spcPct val="130000"/>
              </a:lnSpc>
              <a:spcBef>
                <a:spcPts val="0"/>
              </a:spcBef>
            </a:pPr>
            <a:r>
              <a:rPr sz="819" b="0" i="0">
                <a:solidFill>
                  <a:srgbClr val="6C7683"/>
                </a:solidFill>
                <a:latin typeface="Consolas"/>
              </a:rPr>
              <a:t>DAYS</a:t>
            </a:r>
          </a:p>
        </p:txBody>
      </p:sp>
      <p:sp>
        <p:nvSpPr>
          <p:cNvPr id="11" name="Rectangle 10"/>
          <p:cNvSpPr/>
          <p:nvPr/>
        </p:nvSpPr>
        <p:spPr>
          <a:xfrm>
            <a:off x="2479243" y="3017520"/>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25547" y="3145536"/>
            <a:ext cx="1514551" cy="384048"/>
          </a:xfrm>
          <a:prstGeom prst="rect">
            <a:avLst/>
          </a:prstGeom>
          <a:noFill/>
        </p:spPr>
        <p:txBody>
          <a:bodyPr wrap="square" anchor="t" lIns="0" rIns="0" tIns="0" bIns="0">
            <a:spAutoFit/>
          </a:bodyPr>
          <a:lstStyle/>
          <a:p>
            <a:pPr algn="l">
              <a:lnSpc>
                <a:spcPct val="100000"/>
              </a:lnSpc>
            </a:pPr>
            <a:r>
              <a:rPr sz="2000" b="0" i="0">
                <a:solidFill>
                  <a:srgbClr val="0F4C5C"/>
                </a:solidFill>
                <a:latin typeface="Georgia"/>
              </a:rPr>
              <a:t>160</a:t>
            </a:r>
          </a:p>
        </p:txBody>
      </p:sp>
      <p:sp>
        <p:nvSpPr>
          <p:cNvPr id="13" name="TextBox 12"/>
          <p:cNvSpPr txBox="1"/>
          <p:nvPr/>
        </p:nvSpPr>
        <p:spPr>
          <a:xfrm>
            <a:off x="2625547" y="3602735"/>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V4 CONFIGURATIONS</a:t>
            </a:r>
          </a:p>
          <a:p>
            <a:pPr algn="l">
              <a:lnSpc>
                <a:spcPct val="130000"/>
              </a:lnSpc>
              <a:spcBef>
                <a:spcPts val="0"/>
              </a:spcBef>
            </a:pPr>
            <a:r>
              <a:rPr sz="819" b="0" i="0">
                <a:solidFill>
                  <a:srgbClr val="6C7683"/>
                </a:solidFill>
                <a:latin typeface="Consolas"/>
              </a:rPr>
              <a:t>SCREENED</a:t>
            </a:r>
          </a:p>
        </p:txBody>
      </p:sp>
      <p:sp>
        <p:nvSpPr>
          <p:cNvPr id="14" name="Rectangle 13"/>
          <p:cNvSpPr/>
          <p:nvPr/>
        </p:nvSpPr>
        <p:spPr>
          <a:xfrm>
            <a:off x="4300118" y="3017520"/>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6422" y="3145536"/>
            <a:ext cx="1514551" cy="384048"/>
          </a:xfrm>
          <a:prstGeom prst="rect">
            <a:avLst/>
          </a:prstGeom>
          <a:noFill/>
        </p:spPr>
        <p:txBody>
          <a:bodyPr wrap="square" anchor="t" lIns="0" rIns="0" tIns="0" bIns="0">
            <a:spAutoFit/>
          </a:bodyPr>
          <a:lstStyle/>
          <a:p>
            <a:pPr algn="l">
              <a:lnSpc>
                <a:spcPct val="100000"/>
              </a:lnSpc>
            </a:pPr>
            <a:r>
              <a:rPr sz="2000" b="0" i="0">
                <a:solidFill>
                  <a:srgbClr val="0F4C5C"/>
                </a:solidFill>
                <a:latin typeface="Georgia"/>
              </a:rPr>
              <a:t>36</a:t>
            </a:r>
          </a:p>
        </p:txBody>
      </p:sp>
      <p:sp>
        <p:nvSpPr>
          <p:cNvPr id="16" name="TextBox 15"/>
          <p:cNvSpPr txBox="1"/>
          <p:nvPr/>
        </p:nvSpPr>
        <p:spPr>
          <a:xfrm>
            <a:off x="4446422" y="3602735"/>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PASSED EVERY</a:t>
            </a:r>
          </a:p>
          <a:p>
            <a:pPr algn="l">
              <a:lnSpc>
                <a:spcPct val="130000"/>
              </a:lnSpc>
              <a:spcBef>
                <a:spcPts val="0"/>
              </a:spcBef>
            </a:pPr>
            <a:r>
              <a:rPr sz="819" b="0" i="0">
                <a:solidFill>
                  <a:srgbClr val="6C7683"/>
                </a:solidFill>
                <a:latin typeface="Consolas"/>
              </a:rPr>
              <a:t>GATE</a:t>
            </a:r>
          </a:p>
        </p:txBody>
      </p:sp>
      <p:sp>
        <p:nvSpPr>
          <p:cNvPr id="17" name="Rectangle 16"/>
          <p:cNvSpPr/>
          <p:nvPr/>
        </p:nvSpPr>
        <p:spPr>
          <a:xfrm>
            <a:off x="6120993" y="3017520"/>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7297" y="3145536"/>
            <a:ext cx="1514551" cy="384048"/>
          </a:xfrm>
          <a:prstGeom prst="rect">
            <a:avLst/>
          </a:prstGeom>
          <a:noFill/>
        </p:spPr>
        <p:txBody>
          <a:bodyPr wrap="square" anchor="t" lIns="0" rIns="0" tIns="0" bIns="0">
            <a:spAutoFit/>
          </a:bodyPr>
          <a:lstStyle/>
          <a:p>
            <a:pPr algn="l">
              <a:lnSpc>
                <a:spcPct val="100000"/>
              </a:lnSpc>
            </a:pPr>
            <a:r>
              <a:rPr sz="2000" b="0" i="0">
                <a:solidFill>
                  <a:srgbClr val="2E7D5B"/>
                </a:solidFill>
                <a:latin typeface="Georgia"/>
              </a:rPr>
              <a:t>3 / 4</a:t>
            </a:r>
          </a:p>
        </p:txBody>
      </p:sp>
      <p:sp>
        <p:nvSpPr>
          <p:cNvPr id="19" name="TextBox 18"/>
          <p:cNvSpPr txBox="1"/>
          <p:nvPr/>
        </p:nvSpPr>
        <p:spPr>
          <a:xfrm>
            <a:off x="6267297" y="3602735"/>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SURVIVED FRESH-SEED</a:t>
            </a:r>
          </a:p>
          <a:p>
            <a:pPr algn="l">
              <a:lnSpc>
                <a:spcPct val="130000"/>
              </a:lnSpc>
              <a:spcBef>
                <a:spcPts val="0"/>
              </a:spcBef>
            </a:pPr>
            <a:r>
              <a:rPr sz="819" b="0" i="0">
                <a:solidFill>
                  <a:srgbClr val="6C7683"/>
                </a:solidFill>
                <a:latin typeface="Consolas"/>
              </a:rPr>
              <a:t>VALIDATION</a:t>
            </a:r>
          </a:p>
        </p:txBody>
      </p:sp>
      <p:sp>
        <p:nvSpPr>
          <p:cNvPr id="20" name="Rectangle 19"/>
          <p:cNvSpPr/>
          <p:nvPr/>
        </p:nvSpPr>
        <p:spPr>
          <a:xfrm>
            <a:off x="7941868" y="3017520"/>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8172" y="3145536"/>
            <a:ext cx="1514551" cy="384048"/>
          </a:xfrm>
          <a:prstGeom prst="rect">
            <a:avLst/>
          </a:prstGeom>
          <a:noFill/>
        </p:spPr>
        <p:txBody>
          <a:bodyPr wrap="square" anchor="t" lIns="0" rIns="0" tIns="0" bIns="0">
            <a:spAutoFit/>
          </a:bodyPr>
          <a:lstStyle/>
          <a:p>
            <a:pPr algn="l">
              <a:lnSpc>
                <a:spcPct val="100000"/>
              </a:lnSpc>
            </a:pPr>
            <a:r>
              <a:rPr sz="2000" b="0" i="0">
                <a:solidFill>
                  <a:srgbClr val="2E7D5B"/>
                </a:solidFill>
                <a:latin typeface="Georgia"/>
              </a:rPr>
              <a:t>0</a:t>
            </a:r>
          </a:p>
        </p:txBody>
      </p:sp>
      <p:sp>
        <p:nvSpPr>
          <p:cNvPr id="22" name="TextBox 21"/>
          <p:cNvSpPr txBox="1"/>
          <p:nvPr/>
        </p:nvSpPr>
        <p:spPr>
          <a:xfrm>
            <a:off x="8088172" y="3602735"/>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PROTECTED TEST</a:t>
            </a:r>
          </a:p>
          <a:p>
            <a:pPr algn="l">
              <a:lnSpc>
                <a:spcPct val="130000"/>
              </a:lnSpc>
              <a:spcBef>
                <a:spcPts val="0"/>
              </a:spcBef>
            </a:pPr>
            <a:r>
              <a:rPr sz="819" b="0" i="0">
                <a:solidFill>
                  <a:srgbClr val="6C7683"/>
                </a:solidFill>
                <a:latin typeface="Consolas"/>
              </a:rPr>
              <a:t>DATA USED</a:t>
            </a:r>
          </a:p>
        </p:txBody>
      </p:sp>
      <p:sp>
        <p:nvSpPr>
          <p:cNvPr id="23" name="Rectangle 22"/>
          <p:cNvSpPr/>
          <p:nvPr/>
        </p:nvSpPr>
        <p:spPr>
          <a:xfrm>
            <a:off x="9762744" y="3017520"/>
            <a:ext cx="1770583" cy="969264"/>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09048" y="3145536"/>
            <a:ext cx="1514551" cy="384048"/>
          </a:xfrm>
          <a:prstGeom prst="rect">
            <a:avLst/>
          </a:prstGeom>
          <a:noFill/>
        </p:spPr>
        <p:txBody>
          <a:bodyPr wrap="square" anchor="t" lIns="0" rIns="0" tIns="0" bIns="0">
            <a:spAutoFit/>
          </a:bodyPr>
          <a:lstStyle/>
          <a:p>
            <a:pPr algn="l">
              <a:lnSpc>
                <a:spcPct val="100000"/>
              </a:lnSpc>
            </a:pPr>
            <a:r>
              <a:rPr sz="2000" b="0" i="0">
                <a:solidFill>
                  <a:srgbClr val="2E7D5B"/>
                </a:solidFill>
                <a:latin typeface="Georgia"/>
              </a:rPr>
              <a:t>0</a:t>
            </a:r>
          </a:p>
        </p:txBody>
      </p:sp>
      <p:sp>
        <p:nvSpPr>
          <p:cNvPr id="25" name="TextBox 24"/>
          <p:cNvSpPr txBox="1"/>
          <p:nvPr/>
        </p:nvSpPr>
        <p:spPr>
          <a:xfrm>
            <a:off x="9909048" y="3602735"/>
            <a:ext cx="1514551" cy="329184"/>
          </a:xfrm>
          <a:prstGeom prst="rect">
            <a:avLst/>
          </a:prstGeom>
          <a:noFill/>
        </p:spPr>
        <p:txBody>
          <a:bodyPr wrap="square" anchor="t" lIns="0" rIns="0" tIns="0" bIns="0">
            <a:spAutoFit/>
          </a:bodyPr>
          <a:lstStyle/>
          <a:p>
            <a:pPr algn="l">
              <a:lnSpc>
                <a:spcPct val="130000"/>
              </a:lnSpc>
            </a:pPr>
            <a:r>
              <a:rPr sz="819" b="0" i="0">
                <a:solidFill>
                  <a:srgbClr val="6C7683"/>
                </a:solidFill>
                <a:latin typeface="Consolas"/>
              </a:rPr>
              <a:t>UNSAFE</a:t>
            </a:r>
          </a:p>
          <a:p>
            <a:pPr algn="l">
              <a:lnSpc>
                <a:spcPct val="130000"/>
              </a:lnSpc>
              <a:spcBef>
                <a:spcPts val="0"/>
              </a:spcBef>
            </a:pPr>
            <a:r>
              <a:rPr sz="819" b="0" i="0">
                <a:solidFill>
                  <a:srgbClr val="6C7683"/>
                </a:solidFill>
                <a:latin typeface="Consolas"/>
              </a:rPr>
              <a:t>RELEASES</a:t>
            </a:r>
          </a:p>
        </p:txBody>
      </p:sp>
      <p:sp>
        <p:nvSpPr>
          <p:cNvPr id="26" name="TextBox 25"/>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CONCLUSION</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What is true, stated plainly</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04 · CONCLUSION</a:t>
            </a:r>
          </a:p>
        </p:txBody>
      </p:sp>
      <p:sp>
        <p:nvSpPr>
          <p:cNvPr id="7" name="Rectangle 6"/>
          <p:cNvSpPr/>
          <p:nvPr/>
        </p:nvSpPr>
        <p:spPr>
          <a:xfrm>
            <a:off x="658368" y="1568196"/>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499616"/>
            <a:ext cx="8517087" cy="293014"/>
          </a:xfrm>
          <a:prstGeom prst="rect">
            <a:avLst/>
          </a:prstGeom>
          <a:noFill/>
        </p:spPr>
        <p:txBody>
          <a:bodyPr wrap="square" anchor="t" lIns="0" rIns="0" tIns="0" bIns="0">
            <a:spAutoFit/>
          </a:bodyPr>
          <a:lstStyle/>
          <a:p>
            <a:pPr algn="l">
              <a:lnSpc>
                <a:spcPct val="128000"/>
              </a:lnSpc>
            </a:pPr>
            <a:r>
              <a:rPr sz="1240" b="1" i="0">
                <a:solidFill>
                  <a:srgbClr val="111721"/>
                </a:solidFill>
                <a:latin typeface="Segoe UI"/>
              </a:rPr>
              <a:t>The simulator is solid engineering.</a:t>
            </a:r>
          </a:p>
        </p:txBody>
      </p:sp>
      <p:sp>
        <p:nvSpPr>
          <p:cNvPr id="9" name="TextBox 8"/>
          <p:cNvSpPr txBox="1"/>
          <p:nvPr/>
        </p:nvSpPr>
        <p:spPr>
          <a:xfrm>
            <a:off x="841247" y="1760626"/>
            <a:ext cx="8517087" cy="489661"/>
          </a:xfrm>
          <a:prstGeom prst="rect">
            <a:avLst/>
          </a:prstGeom>
          <a:noFill/>
        </p:spPr>
        <p:txBody>
          <a:bodyPr wrap="square" anchor="t" lIns="0" rIns="0" tIns="0" bIns="0">
            <a:spAutoFit/>
          </a:bodyPr>
          <a:lstStyle/>
          <a:p>
            <a:pPr algn="l">
              <a:lnSpc>
                <a:spcPct val="134000"/>
              </a:lnSpc>
            </a:pPr>
            <a:r>
              <a:rPr sz="1170" b="0" i="0">
                <a:solidFill>
                  <a:srgbClr val="3C4653"/>
                </a:solidFill>
                <a:latin typeface="Segoe UI"/>
              </a:rPr>
              <a:t>Traffic adds up to zero error, memory stays flat as runs get longer, every result is reproducible from a hash, and the final campaign ran 384 jobs on 12 nodes with no failures.</a:t>
            </a:r>
          </a:p>
        </p:txBody>
      </p:sp>
      <p:sp>
        <p:nvSpPr>
          <p:cNvPr id="10" name="Rectangle 9"/>
          <p:cNvSpPr/>
          <p:nvPr/>
        </p:nvSpPr>
        <p:spPr>
          <a:xfrm>
            <a:off x="658368" y="2323439"/>
            <a:ext cx="8699967"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510891"/>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2442311"/>
            <a:ext cx="8517087" cy="293014"/>
          </a:xfrm>
          <a:prstGeom prst="rect">
            <a:avLst/>
          </a:prstGeom>
          <a:noFill/>
        </p:spPr>
        <p:txBody>
          <a:bodyPr wrap="square" anchor="t" lIns="0" rIns="0" tIns="0" bIns="0">
            <a:spAutoFit/>
          </a:bodyPr>
          <a:lstStyle/>
          <a:p>
            <a:pPr algn="l">
              <a:lnSpc>
                <a:spcPct val="128000"/>
              </a:lnSpc>
            </a:pPr>
            <a:r>
              <a:rPr sz="1240" b="1" i="0">
                <a:solidFill>
                  <a:srgbClr val="111721"/>
                </a:solidFill>
                <a:latin typeface="Segoe UI"/>
              </a:rPr>
              <a:t>The forecaster and the survival estimator both work.</a:t>
            </a:r>
          </a:p>
        </p:txBody>
      </p:sp>
      <p:sp>
        <p:nvSpPr>
          <p:cNvPr id="13" name="TextBox 12"/>
          <p:cNvSpPr txBox="1"/>
          <p:nvPr/>
        </p:nvSpPr>
        <p:spPr>
          <a:xfrm>
            <a:off x="841247" y="2703322"/>
            <a:ext cx="8517087" cy="489661"/>
          </a:xfrm>
          <a:prstGeom prst="rect">
            <a:avLst/>
          </a:prstGeom>
          <a:noFill/>
        </p:spPr>
        <p:txBody>
          <a:bodyPr wrap="square" anchor="t" lIns="0" rIns="0" tIns="0" bIns="0">
            <a:spAutoFit/>
          </a:bodyPr>
          <a:lstStyle/>
          <a:p>
            <a:pPr algn="l">
              <a:lnSpc>
                <a:spcPct val="134000"/>
              </a:lnSpc>
            </a:pPr>
            <a:r>
              <a:rPr sz="1170" b="0" i="0">
                <a:solidFill>
                  <a:srgbClr val="3C4653"/>
                </a:solidFill>
                <a:latin typeface="Segoe UI"/>
              </a:rPr>
              <a:t>LightGBM improves every target and catches peaks 27.5% better. The survival estimator gets within 0.42% and survives five unknown distributions. Neither cleared its release bar.</a:t>
            </a:r>
          </a:p>
        </p:txBody>
      </p:sp>
      <p:sp>
        <p:nvSpPr>
          <p:cNvPr id="14" name="Rectangle 13"/>
          <p:cNvSpPr/>
          <p:nvPr/>
        </p:nvSpPr>
        <p:spPr>
          <a:xfrm>
            <a:off x="658368" y="3266135"/>
            <a:ext cx="8699967"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3453587"/>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385007"/>
            <a:ext cx="8517087" cy="293014"/>
          </a:xfrm>
          <a:prstGeom prst="rect">
            <a:avLst/>
          </a:prstGeom>
          <a:noFill/>
        </p:spPr>
        <p:txBody>
          <a:bodyPr wrap="square" anchor="t" lIns="0" rIns="0" tIns="0" bIns="0">
            <a:spAutoFit/>
          </a:bodyPr>
          <a:lstStyle/>
          <a:p>
            <a:pPr algn="l">
              <a:lnSpc>
                <a:spcPct val="128000"/>
              </a:lnSpc>
            </a:pPr>
            <a:r>
              <a:rPr sz="1240" b="1" i="0">
                <a:solidFill>
                  <a:srgbClr val="111721"/>
                </a:solidFill>
                <a:latin typeface="Segoe UI"/>
              </a:rPr>
              <a:t>The room to improve is real — but not where we were looking.</a:t>
            </a:r>
          </a:p>
        </p:txBody>
      </p:sp>
      <p:sp>
        <p:nvSpPr>
          <p:cNvPr id="17" name="TextBox 16"/>
          <p:cNvSpPr txBox="1"/>
          <p:nvPr/>
        </p:nvSpPr>
        <p:spPr>
          <a:xfrm>
            <a:off x="841247" y="3646017"/>
            <a:ext cx="8517087" cy="489661"/>
          </a:xfrm>
          <a:prstGeom prst="rect">
            <a:avLst/>
          </a:prstGeom>
          <a:noFill/>
        </p:spPr>
        <p:txBody>
          <a:bodyPr wrap="square" anchor="t" lIns="0" rIns="0" tIns="0" bIns="0">
            <a:spAutoFit/>
          </a:bodyPr>
          <a:lstStyle/>
          <a:p>
            <a:pPr algn="l">
              <a:lnSpc>
                <a:spcPct val="134000"/>
              </a:lnSpc>
            </a:pPr>
            <a:r>
              <a:rPr sz="1170" b="0" i="0">
                <a:solidFill>
                  <a:srgbClr val="3C4653"/>
                </a:solidFill>
                <a:latin typeface="Segoe UI"/>
              </a:rPr>
              <a:t>The oracle shows new-session steering can remove all overload, but only with advance knowledge of failures, not of demand.</a:t>
            </a:r>
          </a:p>
        </p:txBody>
      </p:sp>
      <p:sp>
        <p:nvSpPr>
          <p:cNvPr id="18" name="Rectangle 17"/>
          <p:cNvSpPr/>
          <p:nvPr/>
        </p:nvSpPr>
        <p:spPr>
          <a:xfrm>
            <a:off x="658368" y="4208830"/>
            <a:ext cx="8699967"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396282"/>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4327702"/>
            <a:ext cx="8517087" cy="293014"/>
          </a:xfrm>
          <a:prstGeom prst="rect">
            <a:avLst/>
          </a:prstGeom>
          <a:noFill/>
        </p:spPr>
        <p:txBody>
          <a:bodyPr wrap="square" anchor="t" lIns="0" rIns="0" tIns="0" bIns="0">
            <a:spAutoFit/>
          </a:bodyPr>
          <a:lstStyle/>
          <a:p>
            <a:pPr algn="l">
              <a:lnSpc>
                <a:spcPct val="128000"/>
              </a:lnSpc>
            </a:pPr>
            <a:r>
              <a:rPr sz="1240" b="1" i="0">
                <a:solidFill>
                  <a:srgbClr val="111721"/>
                </a:solidFill>
                <a:latin typeface="Segoe UI"/>
              </a:rPr>
              <a:t>Experiment 7 captured part of it, for declared events only.</a:t>
            </a:r>
          </a:p>
        </p:txBody>
      </p:sp>
      <p:sp>
        <p:nvSpPr>
          <p:cNvPr id="21" name="TextBox 20"/>
          <p:cNvSpPr txBox="1"/>
          <p:nvPr/>
        </p:nvSpPr>
        <p:spPr>
          <a:xfrm>
            <a:off x="841247" y="4588713"/>
            <a:ext cx="8517087" cy="489661"/>
          </a:xfrm>
          <a:prstGeom prst="rect">
            <a:avLst/>
          </a:prstGeom>
          <a:noFill/>
        </p:spPr>
        <p:txBody>
          <a:bodyPr wrap="square" anchor="t" lIns="0" rIns="0" tIns="0" bIns="0">
            <a:spAutoFit/>
          </a:bodyPr>
          <a:lstStyle/>
          <a:p>
            <a:pPr algn="l">
              <a:lnSpc>
                <a:spcPct val="134000"/>
              </a:lnSpc>
            </a:pPr>
            <a:r>
              <a:rPr sz="1170" b="0" i="0">
                <a:solidFill>
                  <a:srgbClr val="3C4653"/>
                </a:solidFill>
                <a:latin typeface="Segoe UI"/>
              </a:rPr>
              <a:t>After correcting three evaluator defects, 36 of 160 configurations clear every gate and three of four survive fresh-seed validation — but only where capacity loss is announced. Pure surprises remain bit-exact ties.</a:t>
            </a:r>
          </a:p>
        </p:txBody>
      </p:sp>
      <p:sp>
        <p:nvSpPr>
          <p:cNvPr id="22" name="Rectangle 21"/>
          <p:cNvSpPr/>
          <p:nvPr/>
        </p:nvSpPr>
        <p:spPr>
          <a:xfrm>
            <a:off x="658368" y="5151526"/>
            <a:ext cx="8699967"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5338978"/>
            <a:ext cx="68580" cy="6858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7" y="5270398"/>
            <a:ext cx="8517087" cy="293014"/>
          </a:xfrm>
          <a:prstGeom prst="rect">
            <a:avLst/>
          </a:prstGeom>
          <a:noFill/>
        </p:spPr>
        <p:txBody>
          <a:bodyPr wrap="square" anchor="t" lIns="0" rIns="0" tIns="0" bIns="0">
            <a:spAutoFit/>
          </a:bodyPr>
          <a:lstStyle/>
          <a:p>
            <a:pPr algn="l">
              <a:lnSpc>
                <a:spcPct val="128000"/>
              </a:lnSpc>
            </a:pPr>
            <a:r>
              <a:rPr sz="1240" b="1" i="0">
                <a:solidFill>
                  <a:srgbClr val="111721"/>
                </a:solidFill>
                <a:latin typeface="Segoe UI"/>
              </a:rPr>
              <a:t>None of this is calibrated to real C-DOT traffic.</a:t>
            </a:r>
          </a:p>
        </p:txBody>
      </p:sp>
      <p:sp>
        <p:nvSpPr>
          <p:cNvPr id="25" name="TextBox 24"/>
          <p:cNvSpPr txBox="1"/>
          <p:nvPr/>
        </p:nvSpPr>
        <p:spPr>
          <a:xfrm>
            <a:off x="841247" y="5531408"/>
            <a:ext cx="8517087" cy="489661"/>
          </a:xfrm>
          <a:prstGeom prst="rect">
            <a:avLst/>
          </a:prstGeom>
          <a:noFill/>
        </p:spPr>
        <p:txBody>
          <a:bodyPr wrap="square" anchor="t" lIns="0" rIns="0" tIns="0" bIns="0">
            <a:spAutoFit/>
          </a:bodyPr>
          <a:lstStyle/>
          <a:p>
            <a:pPr algn="l">
              <a:lnSpc>
                <a:spcPct val="134000"/>
              </a:lnSpc>
            </a:pPr>
            <a:r>
              <a:rPr sz="1170" b="0" i="0">
                <a:solidFill>
                  <a:srgbClr val="3C4653"/>
                </a:solidFill>
                <a:latin typeface="Segoe UI"/>
              </a:rPr>
              <a:t>Every record is labelled synthetic. The next real milestone is a telemetry contract and capacity figures from the operator — not another model.</a:t>
            </a:r>
          </a:p>
        </p:txBody>
      </p:sp>
      <p:sp>
        <p:nvSpPr>
          <p:cNvPr id="26" name="TextBox 25"/>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4959" cy="201168"/>
          </a:xfrm>
          <a:prstGeom prst="rect">
            <a:avLst/>
          </a:prstGeom>
          <a:noFill/>
        </p:spPr>
        <p:txBody>
          <a:bodyPr wrap="square" anchor="t" lIns="0" rIns="0" tIns="0" bIns="0">
            <a:spAutoFit/>
          </a:bodyPr>
          <a:lstStyle/>
          <a:p>
            <a:pPr algn="l">
              <a:lnSpc>
                <a:spcPct val="100000"/>
              </a:lnSpc>
            </a:pPr>
            <a:r>
              <a:rPr sz="1050" b="1" i="0">
                <a:solidFill>
                  <a:srgbClr val="0F4C5C"/>
                </a:solidFill>
                <a:latin typeface="Consolas"/>
              </a:rPr>
              <a:t>THE PATH FORWARD</a:t>
            </a:r>
          </a:p>
        </p:txBody>
      </p:sp>
      <p:sp>
        <p:nvSpPr>
          <p:cNvPr id="4" name="TextBox 3"/>
          <p:cNvSpPr txBox="1"/>
          <p:nvPr/>
        </p:nvSpPr>
        <p:spPr>
          <a:xfrm>
            <a:off x="658368" y="731520"/>
            <a:ext cx="10874959" cy="822960"/>
          </a:xfrm>
          <a:prstGeom prst="rect">
            <a:avLst/>
          </a:prstGeom>
          <a:noFill/>
        </p:spPr>
        <p:txBody>
          <a:bodyPr wrap="square" anchor="t" lIns="0" rIns="0" tIns="0" bIns="0">
            <a:spAutoFit/>
          </a:bodyPr>
          <a:lstStyle/>
          <a:p>
            <a:pPr algn="l">
              <a:lnSpc>
                <a:spcPct val="110000"/>
              </a:lnSpc>
            </a:pPr>
            <a:r>
              <a:rPr sz="3000" b="0" i="0">
                <a:solidFill>
                  <a:srgbClr val="111721"/>
                </a:solidFill>
                <a:latin typeface="Georgia"/>
              </a:rPr>
              <a:t>Three questions that unblock everything</a:t>
            </a:r>
          </a:p>
        </p:txBody>
      </p:sp>
      <p:sp>
        <p:nvSpPr>
          <p:cNvPr id="5" name="Rectangle 4"/>
          <p:cNvSpPr/>
          <p:nvPr/>
        </p:nvSpPr>
        <p:spPr>
          <a:xfrm>
            <a:off x="658368" y="6382512"/>
            <a:ext cx="10874959" cy="9525"/>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6524975" cy="201168"/>
          </a:xfrm>
          <a:prstGeom prst="rect">
            <a:avLst/>
          </a:prstGeom>
          <a:noFill/>
        </p:spPr>
        <p:txBody>
          <a:bodyPr wrap="square" anchor="t" lIns="0" rIns="0" tIns="0" bIns="0">
            <a:spAutoFit/>
          </a:bodyPr>
          <a:lstStyle/>
          <a:p>
            <a:pPr algn="l">
              <a:lnSpc>
                <a:spcPct val="100000"/>
              </a:lnSpc>
            </a:pPr>
            <a:r>
              <a:rPr sz="850" b="0" i="0">
                <a:solidFill>
                  <a:srgbClr val="98A2AE"/>
                </a:solidFill>
                <a:latin typeface="Consolas"/>
              </a:rPr>
              <a:t>04 · CONCLUSION</a:t>
            </a:r>
          </a:p>
        </p:txBody>
      </p:sp>
      <p:sp>
        <p:nvSpPr>
          <p:cNvPr id="7" name="Rectangle 6"/>
          <p:cNvSpPr/>
          <p:nvPr/>
        </p:nvSpPr>
        <p:spPr>
          <a:xfrm>
            <a:off x="658368" y="1517904"/>
            <a:ext cx="3417722" cy="312724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19072"/>
            <a:ext cx="2978810" cy="219456"/>
          </a:xfrm>
          <a:prstGeom prst="rect">
            <a:avLst/>
          </a:prstGeom>
          <a:noFill/>
        </p:spPr>
        <p:txBody>
          <a:bodyPr wrap="square" anchor="t" lIns="0" rIns="0" tIns="0" bIns="0">
            <a:spAutoFit/>
          </a:bodyPr>
          <a:lstStyle/>
          <a:p>
            <a:pPr algn="l">
              <a:lnSpc>
                <a:spcPct val="100000"/>
              </a:lnSpc>
            </a:pPr>
            <a:r>
              <a:rPr sz="1100" b="1" i="0">
                <a:solidFill>
                  <a:srgbClr val="0F4C5C"/>
                </a:solidFill>
                <a:latin typeface="Consolas"/>
              </a:rPr>
              <a:t>01</a:t>
            </a:r>
          </a:p>
        </p:txBody>
      </p:sp>
      <p:sp>
        <p:nvSpPr>
          <p:cNvPr id="9" name="TextBox 8"/>
          <p:cNvSpPr txBox="1"/>
          <p:nvPr/>
        </p:nvSpPr>
        <p:spPr>
          <a:xfrm>
            <a:off x="877824" y="2029968"/>
            <a:ext cx="2978810" cy="822960"/>
          </a:xfrm>
          <a:prstGeom prst="rect">
            <a:avLst/>
          </a:prstGeom>
          <a:noFill/>
        </p:spPr>
        <p:txBody>
          <a:bodyPr wrap="square" anchor="t" lIns="0" rIns="0" tIns="0" bIns="0">
            <a:spAutoFit/>
          </a:bodyPr>
          <a:lstStyle/>
          <a:p>
            <a:pPr algn="l">
              <a:lnSpc>
                <a:spcPct val="115000"/>
              </a:lnSpc>
            </a:pPr>
            <a:r>
              <a:rPr sz="1550" b="0" i="0">
                <a:solidFill>
                  <a:srgbClr val="111721"/>
                </a:solidFill>
                <a:latin typeface="Georgia"/>
              </a:rPr>
              <a:t>Can a running session be moved to another box?</a:t>
            </a:r>
          </a:p>
        </p:txBody>
      </p:sp>
      <p:sp>
        <p:nvSpPr>
          <p:cNvPr id="10" name="TextBox 9"/>
          <p:cNvSpPr txBox="1"/>
          <p:nvPr/>
        </p:nvSpPr>
        <p:spPr>
          <a:xfrm>
            <a:off x="877824" y="2889504"/>
            <a:ext cx="2978810" cy="1645920"/>
          </a:xfrm>
          <a:prstGeom prst="rect">
            <a:avLst/>
          </a:prstGeom>
          <a:noFill/>
        </p:spPr>
        <p:txBody>
          <a:bodyPr wrap="square" anchor="t" lIns="0" rIns="0" tIns="0" bIns="0">
            <a:spAutoFit/>
          </a:bodyPr>
          <a:lstStyle/>
          <a:p>
            <a:pPr algn="l">
              <a:lnSpc>
                <a:spcPct val="138000"/>
              </a:lnSpc>
            </a:pPr>
            <a:r>
              <a:rPr sz="1100" b="0" i="0">
                <a:solidFill>
                  <a:srgbClr val="3C4653"/>
                </a:solidFill>
                <a:latin typeface="Segoe UI"/>
              </a:rPr>
              <a:t>Yes turns about 3% movable traffic into a more tractable problem, and makes every controller in this deck worth revisiting. No sets a hard, publishable ceiling on predictive steering — and tells us to spend the effort on capacity instead.</a:t>
            </a:r>
          </a:p>
        </p:txBody>
      </p:sp>
      <p:sp>
        <p:nvSpPr>
          <p:cNvPr id="11" name="Rectangle 10"/>
          <p:cNvSpPr/>
          <p:nvPr/>
        </p:nvSpPr>
        <p:spPr>
          <a:xfrm>
            <a:off x="4386986" y="1517904"/>
            <a:ext cx="3417722" cy="312724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6442" y="1719072"/>
            <a:ext cx="2978810" cy="219456"/>
          </a:xfrm>
          <a:prstGeom prst="rect">
            <a:avLst/>
          </a:prstGeom>
          <a:noFill/>
        </p:spPr>
        <p:txBody>
          <a:bodyPr wrap="square" anchor="t" lIns="0" rIns="0" tIns="0" bIns="0">
            <a:spAutoFit/>
          </a:bodyPr>
          <a:lstStyle/>
          <a:p>
            <a:pPr algn="l">
              <a:lnSpc>
                <a:spcPct val="100000"/>
              </a:lnSpc>
            </a:pPr>
            <a:r>
              <a:rPr sz="1100" b="1" i="0">
                <a:solidFill>
                  <a:srgbClr val="0F4C5C"/>
                </a:solidFill>
                <a:latin typeface="Consolas"/>
              </a:rPr>
              <a:t>02</a:t>
            </a:r>
          </a:p>
        </p:txBody>
      </p:sp>
      <p:sp>
        <p:nvSpPr>
          <p:cNvPr id="13" name="TextBox 12"/>
          <p:cNvSpPr txBox="1"/>
          <p:nvPr/>
        </p:nvSpPr>
        <p:spPr>
          <a:xfrm>
            <a:off x="4606442" y="2029968"/>
            <a:ext cx="2978810" cy="822960"/>
          </a:xfrm>
          <a:prstGeom prst="rect">
            <a:avLst/>
          </a:prstGeom>
          <a:noFill/>
        </p:spPr>
        <p:txBody>
          <a:bodyPr wrap="square" anchor="t" lIns="0" rIns="0" tIns="0" bIns="0">
            <a:spAutoFit/>
          </a:bodyPr>
          <a:lstStyle/>
          <a:p>
            <a:pPr algn="l">
              <a:lnSpc>
                <a:spcPct val="115000"/>
              </a:lnSpc>
            </a:pPr>
            <a:r>
              <a:rPr sz="1550" b="0" i="0">
                <a:solidFill>
                  <a:srgbClr val="111721"/>
                </a:solidFill>
                <a:latin typeface="Georgia"/>
              </a:rPr>
              <a:t>What does C-DOT's telemetry actually look like?</a:t>
            </a:r>
          </a:p>
        </p:txBody>
      </p:sp>
      <p:sp>
        <p:nvSpPr>
          <p:cNvPr id="14" name="TextBox 13"/>
          <p:cNvSpPr txBox="1"/>
          <p:nvPr/>
        </p:nvSpPr>
        <p:spPr>
          <a:xfrm>
            <a:off x="4606442" y="2889504"/>
            <a:ext cx="2978810" cy="1645920"/>
          </a:xfrm>
          <a:prstGeom prst="rect">
            <a:avLst/>
          </a:prstGeom>
          <a:noFill/>
        </p:spPr>
        <p:txBody>
          <a:bodyPr wrap="square" anchor="t" lIns="0" rIns="0" tIns="0" bIns="0">
            <a:spAutoFit/>
          </a:bodyPr>
          <a:lstStyle/>
          <a:p>
            <a:pPr algn="l">
              <a:lnSpc>
                <a:spcPct val="138000"/>
              </a:lnSpc>
            </a:pPr>
            <a:r>
              <a:rPr sz="1100" b="0" i="0">
                <a:solidFill>
                  <a:srgbClr val="3C4653"/>
                </a:solidFill>
                <a:latin typeface="Segoe UI"/>
              </a:rPr>
              <a:t>Metric names, scrape interval, counter behaviour, reset semantics, and real per-box capacity. Until we have these, “accuracy on C-DOT traffic” is not something we can measure.</a:t>
            </a:r>
          </a:p>
        </p:txBody>
      </p:sp>
      <p:sp>
        <p:nvSpPr>
          <p:cNvPr id="15" name="Rectangle 14"/>
          <p:cNvSpPr/>
          <p:nvPr/>
        </p:nvSpPr>
        <p:spPr>
          <a:xfrm>
            <a:off x="8115604" y="1517904"/>
            <a:ext cx="3417722" cy="3127248"/>
          </a:xfrm>
          <a:prstGeom prst="rect">
            <a:avLst/>
          </a:prstGeom>
          <a:solidFill>
            <a:srgbClr val="FFFFFF"/>
          </a:solidFill>
          <a:ln w="762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5060" y="1719072"/>
            <a:ext cx="2978810" cy="219456"/>
          </a:xfrm>
          <a:prstGeom prst="rect">
            <a:avLst/>
          </a:prstGeom>
          <a:noFill/>
        </p:spPr>
        <p:txBody>
          <a:bodyPr wrap="square" anchor="t" lIns="0" rIns="0" tIns="0" bIns="0">
            <a:spAutoFit/>
          </a:bodyPr>
          <a:lstStyle/>
          <a:p>
            <a:pPr algn="l">
              <a:lnSpc>
                <a:spcPct val="100000"/>
              </a:lnSpc>
            </a:pPr>
            <a:r>
              <a:rPr sz="1100" b="1" i="0">
                <a:solidFill>
                  <a:srgbClr val="0F4C5C"/>
                </a:solidFill>
                <a:latin typeface="Consolas"/>
              </a:rPr>
              <a:t>03</a:t>
            </a:r>
          </a:p>
        </p:txBody>
      </p:sp>
      <p:sp>
        <p:nvSpPr>
          <p:cNvPr id="17" name="TextBox 16"/>
          <p:cNvSpPr txBox="1"/>
          <p:nvPr/>
        </p:nvSpPr>
        <p:spPr>
          <a:xfrm>
            <a:off x="8335060" y="2029968"/>
            <a:ext cx="2978810" cy="822960"/>
          </a:xfrm>
          <a:prstGeom prst="rect">
            <a:avLst/>
          </a:prstGeom>
          <a:noFill/>
        </p:spPr>
        <p:txBody>
          <a:bodyPr wrap="square" anchor="t" lIns="0" rIns="0" tIns="0" bIns="0">
            <a:spAutoFit/>
          </a:bodyPr>
          <a:lstStyle/>
          <a:p>
            <a:pPr algn="l">
              <a:lnSpc>
                <a:spcPct val="115000"/>
              </a:lnSpc>
            </a:pPr>
            <a:r>
              <a:rPr sz="1550" b="0" i="0">
                <a:solidFill>
                  <a:srgbClr val="111721"/>
                </a:solidFill>
                <a:latin typeface="Georgia"/>
              </a:rPr>
              <a:t>Is uplink overload the right thing to optimise?</a:t>
            </a:r>
          </a:p>
        </p:txBody>
      </p:sp>
      <p:sp>
        <p:nvSpPr>
          <p:cNvPr id="18" name="TextBox 17"/>
          <p:cNvSpPr txBox="1"/>
          <p:nvPr/>
        </p:nvSpPr>
        <p:spPr>
          <a:xfrm>
            <a:off x="8335060" y="2889504"/>
            <a:ext cx="2978810" cy="1645920"/>
          </a:xfrm>
          <a:prstGeom prst="rect">
            <a:avLst/>
          </a:prstGeom>
          <a:noFill/>
        </p:spPr>
        <p:txBody>
          <a:bodyPr wrap="square" anchor="t" lIns="0" rIns="0" tIns="0" bIns="0">
            <a:spAutoFit/>
          </a:bodyPr>
          <a:lstStyle/>
          <a:p>
            <a:pPr algn="l">
              <a:lnSpc>
                <a:spcPct val="138000"/>
              </a:lnSpc>
            </a:pPr>
            <a:r>
              <a:rPr sz="1100" b="0" i="0">
                <a:solidFill>
                  <a:srgbClr val="3C4653"/>
                </a:solidFill>
                <a:latin typeface="Segoe UI"/>
              </a:rPr>
              <a:t>We chose it in advance and stuck to it, which is why these results can be trusted. But it is dominated by single catastrophic outages. Reporting an “avoidable overload” measure alongside it — never instead of it — is the natural next refinement.</a:t>
            </a:r>
          </a:p>
        </p:txBody>
      </p:sp>
      <p:sp>
        <p:nvSpPr>
          <p:cNvPr id="19" name="TextBox 1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2103120"/>
            <a:ext cx="566928"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2395728"/>
            <a:ext cx="7829970" cy="1463040"/>
          </a:xfrm>
          <a:prstGeom prst="rect">
            <a:avLst/>
          </a:prstGeom>
          <a:noFill/>
        </p:spPr>
        <p:txBody>
          <a:bodyPr wrap="square" anchor="t" lIns="0" rIns="0" tIns="0" bIns="0">
            <a:spAutoFit/>
          </a:bodyPr>
          <a:lstStyle/>
          <a:p>
            <a:pPr algn="l">
              <a:lnSpc>
                <a:spcPct val="112000"/>
              </a:lnSpc>
            </a:pPr>
            <a:r>
              <a:rPr sz="3200" b="0" i="0">
                <a:solidFill>
                  <a:srgbClr val="111721"/>
                </a:solidFill>
                <a:latin typeface="Georgia"/>
              </a:rPr>
              <a:t>The evidence system worked. That is what we are asking you to trust next.</a:t>
            </a:r>
          </a:p>
        </p:txBody>
      </p:sp>
      <p:sp>
        <p:nvSpPr>
          <p:cNvPr id="6" name="TextBox 5"/>
          <p:cNvSpPr txBox="1"/>
          <p:nvPr/>
        </p:nvSpPr>
        <p:spPr>
          <a:xfrm>
            <a:off x="658368" y="3749039"/>
            <a:ext cx="6524975" cy="1097280"/>
          </a:xfrm>
          <a:prstGeom prst="rect">
            <a:avLst/>
          </a:prstGeom>
          <a:noFill/>
        </p:spPr>
        <p:txBody>
          <a:bodyPr wrap="square" anchor="t" lIns="0" rIns="0" tIns="0" bIns="0">
            <a:spAutoFit/>
          </a:bodyPr>
          <a:lstStyle/>
          <a:p>
            <a:pPr algn="l">
              <a:lnSpc>
                <a:spcPct val="145000"/>
              </a:lnSpc>
            </a:pPr>
            <a:r>
              <a:rPr sz="1200" b="0" i="0">
                <a:solidFill>
                  <a:srgbClr val="3C4653"/>
                </a:solidFill>
                <a:latin typeface="Segoe UI"/>
              </a:rPr>
              <a:t>Every figure in this deck comes from frozen result files in the project: the traffic realism evaluation, the forecaster freeze and baseline comparison, the five-family forecast selection, the three optimizer development campaigns, the survival campaign, the oracle bound evaluation, the MPC campaign results, and the final 12-node production metrics.</a:t>
            </a:r>
          </a:p>
        </p:txBody>
      </p:sp>
      <p:sp>
        <p:nvSpPr>
          <p:cNvPr id="7" name="TextBox 6"/>
          <p:cNvSpPr txBox="1"/>
          <p:nvPr/>
        </p:nvSpPr>
        <p:spPr>
          <a:xfrm>
            <a:off x="658368" y="4992624"/>
            <a:ext cx="6524975" cy="548640"/>
          </a:xfrm>
          <a:prstGeom prst="rect">
            <a:avLst/>
          </a:prstGeom>
          <a:noFill/>
        </p:spPr>
        <p:txBody>
          <a:bodyPr wrap="square" anchor="t" lIns="0" rIns="0" tIns="0" bIns="0">
            <a:spAutoFit/>
          </a:bodyPr>
          <a:lstStyle/>
          <a:p>
            <a:pPr algn="l">
              <a:lnSpc>
                <a:spcPct val="145000"/>
              </a:lnSpc>
            </a:pPr>
            <a:r>
              <a:rPr sz="1200" b="0" i="0">
                <a:solidFill>
                  <a:srgbClr val="6C7683"/>
                </a:solidFill>
                <a:latin typeface="Segoe UI"/>
              </a:rPr>
              <a:t>Nothing was re-scored to build this presentation, and no protected test data was used. All traffic data is synthetic.</a:t>
            </a:r>
          </a:p>
        </p:txBody>
      </p:sp>
      <p:sp>
        <p:nvSpPr>
          <p:cNvPr id="8" name="TextBox 7"/>
          <p:cNvSpPr txBox="1"/>
          <p:nvPr/>
        </p:nvSpPr>
        <p:spPr>
          <a:xfrm>
            <a:off x="658368" y="6199632"/>
            <a:ext cx="10874959" cy="228600"/>
          </a:xfrm>
          <a:prstGeom prst="rect">
            <a:avLst/>
          </a:prstGeom>
          <a:noFill/>
        </p:spPr>
        <p:txBody>
          <a:bodyPr wrap="square" anchor="t" lIns="0" rIns="0" tIns="0" bIns="0">
            <a:spAutoFit/>
          </a:bodyPr>
          <a:lstStyle/>
          <a:p>
            <a:pPr algn="l">
              <a:lnSpc>
                <a:spcPct val="100000"/>
              </a:lnSpc>
            </a:pPr>
            <a:r>
              <a:rPr sz="950" b="0" i="0">
                <a:solidFill>
                  <a:srgbClr val="98A2AE"/>
                </a:solidFill>
                <a:latin typeface="Consolas"/>
              </a:rPr>
              <a:t>C-DOT  ·  Predictive UPF steering  ·  Evidence review</a:t>
            </a:r>
          </a:p>
        </p:txBody>
      </p:sp>
      <p:sp>
        <p:nvSpPr>
          <p:cNvPr id="9" name="TextBox 8"/>
          <p:cNvSpPr txBox="1"/>
          <p:nvPr/>
        </p:nvSpPr>
        <p:spPr>
          <a:xfrm>
            <a:off x="10728655" y="6437376"/>
            <a:ext cx="804672" cy="201168"/>
          </a:xfrm>
          <a:prstGeom prst="rect">
            <a:avLst/>
          </a:prstGeom>
          <a:noFill/>
        </p:spPr>
        <p:txBody>
          <a:bodyPr wrap="square" anchor="t" lIns="0" rIns="0" tIns="0" bIns="0">
            <a:spAutoFit/>
          </a:bodyPr>
          <a:lstStyle/>
          <a:p>
            <a:pPr algn="r">
              <a:lnSpc>
                <a:spcPct val="100000"/>
              </a:lnSpc>
            </a:pPr>
            <a:r>
              <a:rPr sz="850" b="0" i="0">
                <a:solidFill>
                  <a:srgbClr val="98A2AE"/>
                </a:solidFill>
                <a:latin typeface="Consolas"/>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APPENDIX · C-DOT DISCUSSION</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Questions you are likely to be asked</a:t>
            </a:r>
          </a:p>
        </p:txBody>
      </p:sp>
      <p:sp>
        <p:nvSpPr>
          <p:cNvPr id="5" name="TextBox 4"/>
          <p:cNvSpPr txBox="1"/>
          <p:nvPr/>
        </p:nvSpPr>
        <p:spPr>
          <a:xfrm>
            <a:off x="658368" y="1417320"/>
            <a:ext cx="10872216" cy="475488"/>
          </a:xfrm>
          <a:prstGeom prst="rect">
            <a:avLst/>
          </a:prstGeom>
          <a:noFill/>
        </p:spPr>
        <p:txBody>
          <a:bodyPr wrap="square" lIns="0" rIns="0" tIns="0" bIns="0" anchor="t">
            <a:spAutoFit/>
          </a:bodyPr>
          <a:lstStyle/>
          <a:p>
            <a:pPr algn="l">
              <a:lnSpc>
                <a:spcPct val="120000"/>
              </a:lnSpc>
            </a:pPr>
            <a:r>
              <a:rPr sz="1250" b="0">
                <a:solidFill>
                  <a:srgbClr val="3C4653"/>
                </a:solidFill>
                <a:latin typeface="Segoe UI"/>
              </a:rPr>
              <a:t>Twenty-seven direct answers. Use these slides only when a question comes up; do not present them linearly.</a:t>
            </a:r>
          </a:p>
        </p:txBody>
      </p:sp>
      <p:sp>
        <p:nvSpPr>
          <p:cNvPr id="6" name="Rectangle 5"/>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APPENDIX · PRESENTER SAFETY NET</a:t>
            </a:r>
          </a:p>
        </p:txBody>
      </p:sp>
      <p:sp>
        <p:nvSpPr>
          <p:cNvPr id="8" name="TextBox 7"/>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72</a:t>
            </a:r>
          </a:p>
        </p:txBody>
      </p:sp>
      <p:sp>
        <p:nvSpPr>
          <p:cNvPr id="9" name="Rectangle 8"/>
          <p:cNvSpPr/>
          <p:nvPr/>
        </p:nvSpPr>
        <p:spPr>
          <a:xfrm>
            <a:off x="658368" y="2148840"/>
            <a:ext cx="10872216" cy="324612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78608"/>
            <a:ext cx="10149840" cy="512064"/>
          </a:xfrm>
          <a:prstGeom prst="rect">
            <a:avLst/>
          </a:prstGeom>
          <a:noFill/>
        </p:spPr>
        <p:txBody>
          <a:bodyPr wrap="square" lIns="0" rIns="0" tIns="0" bIns="0" anchor="t">
            <a:spAutoFit/>
          </a:bodyPr>
          <a:lstStyle/>
          <a:p>
            <a:pPr algn="ctr">
              <a:lnSpc>
                <a:spcPct val="100000"/>
              </a:lnSpc>
            </a:pPr>
            <a:r>
              <a:rPr sz="2500" b="0">
                <a:solidFill>
                  <a:srgbClr val="FFFFFF"/>
                </a:solidFill>
                <a:latin typeface="Georgia"/>
              </a:rPr>
              <a:t>A strong answer has three parts</a:t>
            </a:r>
          </a:p>
        </p:txBody>
      </p:sp>
      <p:sp>
        <p:nvSpPr>
          <p:cNvPr id="11" name="TextBox 10"/>
          <p:cNvSpPr txBox="1"/>
          <p:nvPr/>
        </p:nvSpPr>
        <p:spPr>
          <a:xfrm>
            <a:off x="987552" y="3328416"/>
            <a:ext cx="384048" cy="457200"/>
          </a:xfrm>
          <a:prstGeom prst="rect">
            <a:avLst/>
          </a:prstGeom>
          <a:noFill/>
        </p:spPr>
        <p:txBody>
          <a:bodyPr wrap="square" lIns="0" rIns="0" tIns="0" bIns="0" anchor="t">
            <a:spAutoFit/>
          </a:bodyPr>
          <a:lstStyle/>
          <a:p>
            <a:pPr algn="l">
              <a:lnSpc>
                <a:spcPct val="100000"/>
              </a:lnSpc>
            </a:pPr>
            <a:r>
              <a:rPr sz="2600" b="0">
                <a:solidFill>
                  <a:srgbClr val="58E0D3"/>
                </a:solidFill>
                <a:latin typeface="Georgia"/>
              </a:rPr>
              <a:t>1</a:t>
            </a:r>
          </a:p>
        </p:txBody>
      </p:sp>
      <p:sp>
        <p:nvSpPr>
          <p:cNvPr id="12" name="TextBox 11"/>
          <p:cNvSpPr txBox="1"/>
          <p:nvPr/>
        </p:nvSpPr>
        <p:spPr>
          <a:xfrm>
            <a:off x="1490472" y="3291840"/>
            <a:ext cx="2852928" cy="310896"/>
          </a:xfrm>
          <a:prstGeom prst="rect">
            <a:avLst/>
          </a:prstGeom>
          <a:noFill/>
        </p:spPr>
        <p:txBody>
          <a:bodyPr wrap="square" lIns="0" rIns="0" tIns="0" bIns="0" anchor="t">
            <a:spAutoFit/>
          </a:bodyPr>
          <a:lstStyle/>
          <a:p>
            <a:pPr algn="l">
              <a:lnSpc>
                <a:spcPct val="100000"/>
              </a:lnSpc>
            </a:pPr>
            <a:r>
              <a:rPr sz="1200" b="1">
                <a:solidFill>
                  <a:srgbClr val="FFFFFF"/>
                </a:solidFill>
                <a:latin typeface="Segoe UI"/>
              </a:rPr>
              <a:t>Answer the exact question</a:t>
            </a:r>
          </a:p>
        </p:txBody>
      </p:sp>
      <p:sp>
        <p:nvSpPr>
          <p:cNvPr id="13" name="TextBox 12"/>
          <p:cNvSpPr txBox="1"/>
          <p:nvPr/>
        </p:nvSpPr>
        <p:spPr>
          <a:xfrm>
            <a:off x="1490472" y="3685032"/>
            <a:ext cx="2852928" cy="658368"/>
          </a:xfrm>
          <a:prstGeom prst="rect">
            <a:avLst/>
          </a:prstGeom>
          <a:noFill/>
        </p:spPr>
        <p:txBody>
          <a:bodyPr wrap="square" lIns="0" rIns="0" tIns="0" bIns="0" anchor="t">
            <a:spAutoFit/>
          </a:bodyPr>
          <a:lstStyle/>
          <a:p>
            <a:pPr algn="l">
              <a:lnSpc>
                <a:spcPct val="100000"/>
              </a:lnSpc>
            </a:pPr>
            <a:r>
              <a:rPr sz="1050" b="0">
                <a:solidFill>
                  <a:srgbClr val="D8EAEC"/>
                </a:solidFill>
                <a:latin typeface="Segoe UI"/>
              </a:rPr>
              <a:t>Lead with yes, no, or the measured result.</a:t>
            </a:r>
          </a:p>
        </p:txBody>
      </p:sp>
      <p:sp>
        <p:nvSpPr>
          <p:cNvPr id="14" name="TextBox 13"/>
          <p:cNvSpPr txBox="1"/>
          <p:nvPr/>
        </p:nvSpPr>
        <p:spPr>
          <a:xfrm>
            <a:off x="4690872" y="3328416"/>
            <a:ext cx="384048" cy="457200"/>
          </a:xfrm>
          <a:prstGeom prst="rect">
            <a:avLst/>
          </a:prstGeom>
          <a:noFill/>
        </p:spPr>
        <p:txBody>
          <a:bodyPr wrap="square" lIns="0" rIns="0" tIns="0" bIns="0" anchor="t">
            <a:spAutoFit/>
          </a:bodyPr>
          <a:lstStyle/>
          <a:p>
            <a:pPr algn="l">
              <a:lnSpc>
                <a:spcPct val="100000"/>
              </a:lnSpc>
            </a:pPr>
            <a:r>
              <a:rPr sz="2600" b="0">
                <a:solidFill>
                  <a:srgbClr val="58E0D3"/>
                </a:solidFill>
                <a:latin typeface="Georgia"/>
              </a:rPr>
              <a:t>2</a:t>
            </a:r>
          </a:p>
        </p:txBody>
      </p:sp>
      <p:sp>
        <p:nvSpPr>
          <p:cNvPr id="15" name="TextBox 14"/>
          <p:cNvSpPr txBox="1"/>
          <p:nvPr/>
        </p:nvSpPr>
        <p:spPr>
          <a:xfrm>
            <a:off x="5193792" y="3291840"/>
            <a:ext cx="2852928" cy="310896"/>
          </a:xfrm>
          <a:prstGeom prst="rect">
            <a:avLst/>
          </a:prstGeom>
          <a:noFill/>
        </p:spPr>
        <p:txBody>
          <a:bodyPr wrap="square" lIns="0" rIns="0" tIns="0" bIns="0" anchor="t">
            <a:spAutoFit/>
          </a:bodyPr>
          <a:lstStyle/>
          <a:p>
            <a:pPr algn="l">
              <a:lnSpc>
                <a:spcPct val="100000"/>
              </a:lnSpc>
            </a:pPr>
            <a:r>
              <a:rPr sz="1200" b="1">
                <a:solidFill>
                  <a:srgbClr val="FFFFFF"/>
                </a:solidFill>
                <a:latin typeface="Segoe UI"/>
              </a:rPr>
              <a:t>State the evidence boundary</a:t>
            </a:r>
          </a:p>
        </p:txBody>
      </p:sp>
      <p:sp>
        <p:nvSpPr>
          <p:cNvPr id="16" name="TextBox 15"/>
          <p:cNvSpPr txBox="1"/>
          <p:nvPr/>
        </p:nvSpPr>
        <p:spPr>
          <a:xfrm>
            <a:off x="5193792" y="3685032"/>
            <a:ext cx="2852928" cy="658368"/>
          </a:xfrm>
          <a:prstGeom prst="rect">
            <a:avLst/>
          </a:prstGeom>
          <a:noFill/>
        </p:spPr>
        <p:txBody>
          <a:bodyPr wrap="square" lIns="0" rIns="0" tIns="0" bIns="0" anchor="t">
            <a:spAutoFit/>
          </a:bodyPr>
          <a:lstStyle/>
          <a:p>
            <a:pPr algn="l">
              <a:lnSpc>
                <a:spcPct val="100000"/>
              </a:lnSpc>
            </a:pPr>
            <a:r>
              <a:rPr sz="1050" b="0">
                <a:solidFill>
                  <a:srgbClr val="D8EAEC"/>
                </a:solidFill>
                <a:latin typeface="Segoe UI"/>
              </a:rPr>
              <a:t>Synthetic, matched scope, declared event, or open assumption.</a:t>
            </a:r>
          </a:p>
        </p:txBody>
      </p:sp>
      <p:sp>
        <p:nvSpPr>
          <p:cNvPr id="17" name="TextBox 16"/>
          <p:cNvSpPr txBox="1"/>
          <p:nvPr/>
        </p:nvSpPr>
        <p:spPr>
          <a:xfrm>
            <a:off x="8394192" y="3328416"/>
            <a:ext cx="384048" cy="457200"/>
          </a:xfrm>
          <a:prstGeom prst="rect">
            <a:avLst/>
          </a:prstGeom>
          <a:noFill/>
        </p:spPr>
        <p:txBody>
          <a:bodyPr wrap="square" lIns="0" rIns="0" tIns="0" bIns="0" anchor="t">
            <a:spAutoFit/>
          </a:bodyPr>
          <a:lstStyle/>
          <a:p>
            <a:pPr algn="l">
              <a:lnSpc>
                <a:spcPct val="100000"/>
              </a:lnSpc>
            </a:pPr>
            <a:r>
              <a:rPr sz="2600" b="0">
                <a:solidFill>
                  <a:srgbClr val="58E0D3"/>
                </a:solidFill>
                <a:latin typeface="Georgia"/>
              </a:rPr>
              <a:t>3</a:t>
            </a:r>
          </a:p>
        </p:txBody>
      </p:sp>
      <p:sp>
        <p:nvSpPr>
          <p:cNvPr id="18" name="TextBox 17"/>
          <p:cNvSpPr txBox="1"/>
          <p:nvPr/>
        </p:nvSpPr>
        <p:spPr>
          <a:xfrm>
            <a:off x="8897112" y="3291840"/>
            <a:ext cx="2852928" cy="310896"/>
          </a:xfrm>
          <a:prstGeom prst="rect">
            <a:avLst/>
          </a:prstGeom>
          <a:noFill/>
        </p:spPr>
        <p:txBody>
          <a:bodyPr wrap="square" lIns="0" rIns="0" tIns="0" bIns="0" anchor="t">
            <a:spAutoFit/>
          </a:bodyPr>
          <a:lstStyle/>
          <a:p>
            <a:pPr algn="l">
              <a:lnSpc>
                <a:spcPct val="100000"/>
              </a:lnSpc>
            </a:pPr>
            <a:r>
              <a:rPr sz="1200" b="1">
                <a:solidFill>
                  <a:srgbClr val="FFFFFF"/>
                </a:solidFill>
                <a:latin typeface="Segoe UI"/>
              </a:rPr>
              <a:t>Name the next check</a:t>
            </a:r>
          </a:p>
        </p:txBody>
      </p:sp>
      <p:sp>
        <p:nvSpPr>
          <p:cNvPr id="19" name="TextBox 18"/>
          <p:cNvSpPr txBox="1"/>
          <p:nvPr/>
        </p:nvSpPr>
        <p:spPr>
          <a:xfrm>
            <a:off x="8897112" y="3685032"/>
            <a:ext cx="2852928" cy="658368"/>
          </a:xfrm>
          <a:prstGeom prst="rect">
            <a:avLst/>
          </a:prstGeom>
          <a:noFill/>
        </p:spPr>
        <p:txBody>
          <a:bodyPr wrap="square" lIns="0" rIns="0" tIns="0" bIns="0" anchor="t">
            <a:spAutoFit/>
          </a:bodyPr>
          <a:lstStyle/>
          <a:p>
            <a:pPr algn="l">
              <a:lnSpc>
                <a:spcPct val="100000"/>
              </a:lnSpc>
            </a:pPr>
            <a:r>
              <a:rPr sz="1050" b="0">
                <a:solidFill>
                  <a:srgbClr val="D8EAEC"/>
                </a:solidFill>
                <a:latin typeface="Segoe UI"/>
              </a:rPr>
              <a:t>What real C-DOT input or shadow test resolves the uncertainty.</a:t>
            </a:r>
          </a:p>
        </p:txBody>
      </p:sp>
      <p:sp>
        <p:nvSpPr>
          <p:cNvPr id="20" name="TextBox 19"/>
          <p:cNvSpPr txBox="1"/>
          <p:nvPr/>
        </p:nvSpPr>
        <p:spPr>
          <a:xfrm>
            <a:off x="658368" y="5696712"/>
            <a:ext cx="10872216" cy="292608"/>
          </a:xfrm>
          <a:prstGeom prst="rect">
            <a:avLst/>
          </a:prstGeom>
          <a:noFill/>
        </p:spPr>
        <p:txBody>
          <a:bodyPr wrap="square" lIns="0" rIns="0" tIns="0" bIns="0" anchor="t">
            <a:spAutoFit/>
          </a:bodyPr>
          <a:lstStyle/>
          <a:p>
            <a:pPr algn="ctr">
              <a:lnSpc>
                <a:spcPct val="100000"/>
              </a:lnSpc>
            </a:pPr>
            <a:r>
              <a:rPr sz="1120" b="1">
                <a:solidFill>
                  <a:srgbClr val="B5761F"/>
                </a:solidFill>
                <a:latin typeface="Segoe UI"/>
              </a:rPr>
              <a:t>If you do not know a C-DOT fact, say so. Convert it into a shadow-pilot input—not a guess.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Q&amp;A · 01</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Scope and architecture</a:t>
            </a:r>
          </a:p>
        </p:txBody>
      </p:sp>
      <p:sp>
        <p:nvSpPr>
          <p:cNvPr id="5" name="Rectangle 4"/>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APPENDIX · C-DOT QUESTIONS</a:t>
            </a:r>
          </a:p>
        </p:txBody>
      </p:sp>
      <p:sp>
        <p:nvSpPr>
          <p:cNvPr id="7" name="TextBox 6"/>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73</a:t>
            </a:r>
          </a:p>
        </p:txBody>
      </p:sp>
      <p:sp>
        <p:nvSpPr>
          <p:cNvPr id="8" name="Rectangle 7"/>
          <p:cNvSpPr/>
          <p:nvPr/>
        </p:nvSpPr>
        <p:spPr>
          <a:xfrm>
            <a:off x="658368" y="1645920"/>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45920"/>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792224"/>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Q01</a:t>
            </a:r>
          </a:p>
        </p:txBody>
      </p:sp>
      <p:sp>
        <p:nvSpPr>
          <p:cNvPr id="11" name="TextBox 10"/>
          <p:cNvSpPr txBox="1"/>
          <p:nvPr/>
        </p:nvSpPr>
        <p:spPr>
          <a:xfrm>
            <a:off x="1353312" y="1764792"/>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What exactly can the controller change?</a:t>
            </a:r>
          </a:p>
        </p:txBody>
      </p:sp>
      <p:sp>
        <p:nvSpPr>
          <p:cNvPr id="12" name="TextBox 11"/>
          <p:cNvSpPr txBox="1"/>
          <p:nvPr/>
        </p:nvSpPr>
        <p:spPr>
          <a:xfrm>
            <a:off x="4681728" y="1764792"/>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Only the destination weights for new sessions. It cannot move established sessions in the current contract.</a:t>
            </a:r>
          </a:p>
        </p:txBody>
      </p:sp>
      <p:sp>
        <p:nvSpPr>
          <p:cNvPr id="13" name="Rectangle 12"/>
          <p:cNvSpPr/>
          <p:nvPr/>
        </p:nvSpPr>
        <p:spPr>
          <a:xfrm>
            <a:off x="658368" y="3182112"/>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182112"/>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328416"/>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Q02</a:t>
            </a:r>
          </a:p>
        </p:txBody>
      </p:sp>
      <p:sp>
        <p:nvSpPr>
          <p:cNvPr id="16" name="TextBox 15"/>
          <p:cNvSpPr txBox="1"/>
          <p:nvPr/>
        </p:nvSpPr>
        <p:spPr>
          <a:xfrm>
            <a:off x="1353312" y="3300984"/>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not steer every packet?</a:t>
            </a:r>
          </a:p>
        </p:txBody>
      </p:sp>
      <p:sp>
        <p:nvSpPr>
          <p:cNvPr id="17" name="TextBox 16"/>
          <p:cNvSpPr txBox="1"/>
          <p:nvPr/>
        </p:nvSpPr>
        <p:spPr>
          <a:xfrm>
            <a:off x="4681728" y="3300984"/>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UPF selection is a session-level SMF decision. Packet routing is a different control plane and is outside this project.</a:t>
            </a:r>
          </a:p>
        </p:txBody>
      </p:sp>
      <p:sp>
        <p:nvSpPr>
          <p:cNvPr id="18" name="Rectangle 17"/>
          <p:cNvSpPr/>
          <p:nvPr/>
        </p:nvSpPr>
        <p:spPr>
          <a:xfrm>
            <a:off x="658368" y="4718304"/>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718304"/>
            <a:ext cx="45720" cy="1335024"/>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864608"/>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Q03</a:t>
            </a:r>
          </a:p>
        </p:txBody>
      </p:sp>
      <p:sp>
        <p:nvSpPr>
          <p:cNvPr id="21" name="TextBox 20"/>
          <p:cNvSpPr txBox="1"/>
          <p:nvPr/>
        </p:nvSpPr>
        <p:spPr>
          <a:xfrm>
            <a:off x="1353312" y="4837176"/>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Is session migration impossible?</a:t>
            </a:r>
          </a:p>
        </p:txBody>
      </p:sp>
      <p:sp>
        <p:nvSpPr>
          <p:cNvPr id="22" name="TextBox 21"/>
          <p:cNvSpPr txBox="1"/>
          <p:nvPr/>
        </p:nvSpPr>
        <p:spPr>
          <a:xfrm>
            <a:off x="4681728" y="4837176"/>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Not proven. It is an open C-DOT architecture question. The simulator currently assumes no migration and publishes that limit.</a:t>
            </a:r>
          </a:p>
        </p:txBody>
      </p:sp>
      <p:sp>
        <p:nvSpPr>
          <p:cNvPr id="23" name="TextBox 22"/>
          <p:cNvSpPr txBox="1"/>
          <p:nvPr/>
        </p:nvSpPr>
        <p:spPr>
          <a:xfrm>
            <a:off x="658368" y="6053328"/>
            <a:ext cx="10872216" cy="182880"/>
          </a:xfrm>
          <a:prstGeom prst="rect">
            <a:avLst/>
          </a:prstGeom>
          <a:noFill/>
        </p:spPr>
        <p:txBody>
          <a:bodyPr wrap="square" lIns="0" rIns="0" tIns="0" bIns="0" anchor="t">
            <a:spAutoFit/>
          </a:bodyPr>
          <a:lstStyle/>
          <a:p>
            <a:pPr algn="ctr">
              <a:lnSpc>
                <a:spcPct val="100000"/>
              </a:lnSpc>
            </a:pPr>
            <a:r>
              <a:rPr sz="900" b="1">
                <a:solidFill>
                  <a:srgbClr val="98A2AE"/>
                </a:solidFill>
                <a:latin typeface="Consolas"/>
              </a:rPr>
              <a:t>Answer first · boundary second · next check third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Q&amp;A · 02</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Traffic-model foundations</a:t>
            </a:r>
          </a:p>
        </p:txBody>
      </p:sp>
      <p:sp>
        <p:nvSpPr>
          <p:cNvPr id="5" name="Rectangle 4"/>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APPENDIX · C-DOT QUESTIONS</a:t>
            </a:r>
          </a:p>
        </p:txBody>
      </p:sp>
      <p:sp>
        <p:nvSpPr>
          <p:cNvPr id="7" name="TextBox 6"/>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74</a:t>
            </a:r>
          </a:p>
        </p:txBody>
      </p:sp>
      <p:sp>
        <p:nvSpPr>
          <p:cNvPr id="8" name="Rectangle 7"/>
          <p:cNvSpPr/>
          <p:nvPr/>
        </p:nvSpPr>
        <p:spPr>
          <a:xfrm>
            <a:off x="658368" y="1645920"/>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45920"/>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792224"/>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Q04</a:t>
            </a:r>
          </a:p>
        </p:txBody>
      </p:sp>
      <p:sp>
        <p:nvSpPr>
          <p:cNvPr id="11" name="TextBox 10"/>
          <p:cNvSpPr txBox="1"/>
          <p:nvPr/>
        </p:nvSpPr>
        <p:spPr>
          <a:xfrm>
            <a:off x="1353312" y="1764792"/>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simulate sessions instead of packets?</a:t>
            </a:r>
          </a:p>
        </p:txBody>
      </p:sp>
      <p:sp>
        <p:nvSpPr>
          <p:cNvPr id="12" name="TextBox 11"/>
          <p:cNvSpPr txBox="1"/>
          <p:nvPr/>
        </p:nvSpPr>
        <p:spPr>
          <a:xfrm>
            <a:off x="4681728" y="1764792"/>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The steering lever and congestion memory are session-level. Packet simulation at 16 million users would add cost without answering this decision question.</a:t>
            </a:r>
          </a:p>
        </p:txBody>
      </p:sp>
      <p:sp>
        <p:nvSpPr>
          <p:cNvPr id="13" name="Rectangle 12"/>
          <p:cNvSpPr/>
          <p:nvPr/>
        </p:nvSpPr>
        <p:spPr>
          <a:xfrm>
            <a:off x="658368" y="3182112"/>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182112"/>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328416"/>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Q05</a:t>
            </a:r>
          </a:p>
        </p:txBody>
      </p:sp>
      <p:sp>
        <p:nvSpPr>
          <p:cNvPr id="16" name="TextBox 15"/>
          <p:cNvSpPr txBox="1"/>
          <p:nvPr/>
        </p:nvSpPr>
        <p:spPr>
          <a:xfrm>
            <a:off x="1353312" y="3300984"/>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use Poisson arrivals?</a:t>
            </a:r>
          </a:p>
        </p:txBody>
      </p:sp>
      <p:sp>
        <p:nvSpPr>
          <p:cNvPr id="17" name="TextBox 16"/>
          <p:cNvSpPr txBox="1"/>
          <p:nvPr/>
        </p:nvSpPr>
        <p:spPr>
          <a:xfrm>
            <a:off x="4681728" y="3300984"/>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It is a transparent baseline for counts in a short interval. Correlated drift, bursts and events are added separately; operator data should replace the assumptions.</a:t>
            </a:r>
          </a:p>
        </p:txBody>
      </p:sp>
      <p:sp>
        <p:nvSpPr>
          <p:cNvPr id="18" name="Rectangle 17"/>
          <p:cNvSpPr/>
          <p:nvPr/>
        </p:nvSpPr>
        <p:spPr>
          <a:xfrm>
            <a:off x="658368" y="4718304"/>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718304"/>
            <a:ext cx="45720" cy="1335024"/>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864608"/>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Q06</a:t>
            </a:r>
          </a:p>
        </p:txBody>
      </p:sp>
      <p:sp>
        <p:nvSpPr>
          <p:cNvPr id="21" name="TextBox 20"/>
          <p:cNvSpPr txBox="1"/>
          <p:nvPr/>
        </p:nvSpPr>
        <p:spPr>
          <a:xfrm>
            <a:off x="1353312" y="4837176"/>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use heavy-tailed session lengths?</a:t>
            </a:r>
          </a:p>
        </p:txBody>
      </p:sp>
      <p:sp>
        <p:nvSpPr>
          <p:cNvPr id="22" name="TextBox 21"/>
          <p:cNvSpPr txBox="1"/>
          <p:nvPr/>
        </p:nvSpPr>
        <p:spPr>
          <a:xfrm>
            <a:off x="4681728" y="4837176"/>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Real workloads contain many short sessions and a few very long ones. Those long sessions are precisely why a bad placement remains committed.</a:t>
            </a:r>
          </a:p>
        </p:txBody>
      </p:sp>
      <p:sp>
        <p:nvSpPr>
          <p:cNvPr id="23" name="TextBox 22"/>
          <p:cNvSpPr txBox="1"/>
          <p:nvPr/>
        </p:nvSpPr>
        <p:spPr>
          <a:xfrm>
            <a:off x="658368" y="6053328"/>
            <a:ext cx="10872216" cy="182880"/>
          </a:xfrm>
          <a:prstGeom prst="rect">
            <a:avLst/>
          </a:prstGeom>
          <a:noFill/>
        </p:spPr>
        <p:txBody>
          <a:bodyPr wrap="square" lIns="0" rIns="0" tIns="0" bIns="0" anchor="t">
            <a:spAutoFit/>
          </a:bodyPr>
          <a:lstStyle/>
          <a:p>
            <a:pPr algn="ctr">
              <a:lnSpc>
                <a:spcPct val="100000"/>
              </a:lnSpc>
            </a:pPr>
            <a:r>
              <a:rPr sz="900" b="1">
                <a:solidFill>
                  <a:srgbClr val="98A2AE"/>
                </a:solidFill>
                <a:latin typeface="Consolas"/>
              </a:rPr>
              <a:t>Answer first · boundary second · next check third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Q&amp;A · 03</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Traffic realism and data</a:t>
            </a:r>
          </a:p>
        </p:txBody>
      </p:sp>
      <p:sp>
        <p:nvSpPr>
          <p:cNvPr id="5" name="Rectangle 4"/>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APPENDIX · C-DOT QUESTIONS</a:t>
            </a:r>
          </a:p>
        </p:txBody>
      </p:sp>
      <p:sp>
        <p:nvSpPr>
          <p:cNvPr id="7" name="TextBox 6"/>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75</a:t>
            </a:r>
          </a:p>
        </p:txBody>
      </p:sp>
      <p:sp>
        <p:nvSpPr>
          <p:cNvPr id="8" name="Rectangle 7"/>
          <p:cNvSpPr/>
          <p:nvPr/>
        </p:nvSpPr>
        <p:spPr>
          <a:xfrm>
            <a:off x="658368" y="1645920"/>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45920"/>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792224"/>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Q07</a:t>
            </a:r>
          </a:p>
        </p:txBody>
      </p:sp>
      <p:sp>
        <p:nvSpPr>
          <p:cNvPr id="11" name="TextBox 10"/>
          <p:cNvSpPr txBox="1"/>
          <p:nvPr/>
        </p:nvSpPr>
        <p:spPr>
          <a:xfrm>
            <a:off x="1353312" y="1764792"/>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Are the UPF capacities real C-DOT values?</a:t>
            </a:r>
          </a:p>
        </p:txBody>
      </p:sp>
      <p:sp>
        <p:nvSpPr>
          <p:cNvPr id="12" name="TextBox 11"/>
          <p:cNvSpPr txBox="1"/>
          <p:nvPr/>
        </p:nvSpPr>
        <p:spPr>
          <a:xfrm>
            <a:off x="4681728" y="1764792"/>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No. They are explicit synthetic envelopes. Real throughput and session limits are required before calibration or a shadow pilot.</a:t>
            </a:r>
          </a:p>
        </p:txBody>
      </p:sp>
      <p:sp>
        <p:nvSpPr>
          <p:cNvPr id="13" name="Rectangle 12"/>
          <p:cNvSpPr/>
          <p:nvPr/>
        </p:nvSpPr>
        <p:spPr>
          <a:xfrm>
            <a:off x="658368" y="3182112"/>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182112"/>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328416"/>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Q08</a:t>
            </a:r>
          </a:p>
        </p:txBody>
      </p:sp>
      <p:sp>
        <p:nvSpPr>
          <p:cNvPr id="16" name="TextBox 15"/>
          <p:cNvSpPr txBox="1"/>
          <p:nvPr/>
        </p:nvSpPr>
        <p:spPr>
          <a:xfrm>
            <a:off x="1353312" y="3300984"/>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How do you know the simulator is internally correct?</a:t>
            </a:r>
          </a:p>
        </p:txBody>
      </p:sp>
      <p:sp>
        <p:nvSpPr>
          <p:cNvPr id="17" name="TextBox 16"/>
          <p:cNvSpPr txBox="1"/>
          <p:nvPr/>
        </p:nvSpPr>
        <p:spPr>
          <a:xfrm>
            <a:off x="4681728" y="3300984"/>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Conservation identities, deterministic seeds, distribution re-fitting, population conservation, eligibility checks and memory-scaling tests.</a:t>
            </a:r>
          </a:p>
        </p:txBody>
      </p:sp>
      <p:sp>
        <p:nvSpPr>
          <p:cNvPr id="18" name="Rectangle 17"/>
          <p:cNvSpPr/>
          <p:nvPr/>
        </p:nvSpPr>
        <p:spPr>
          <a:xfrm>
            <a:off x="658368" y="4718304"/>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718304"/>
            <a:ext cx="45720" cy="1335024"/>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864608"/>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Q09</a:t>
            </a:r>
          </a:p>
        </p:txBody>
      </p:sp>
      <p:sp>
        <p:nvSpPr>
          <p:cNvPr id="21" name="TextBox 20"/>
          <p:cNvSpPr txBox="1"/>
          <p:nvPr/>
        </p:nvSpPr>
        <p:spPr>
          <a:xfrm>
            <a:off x="1353312" y="4837176"/>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is rural scaled larger than urban?</a:t>
            </a:r>
          </a:p>
        </p:txBody>
      </p:sp>
      <p:sp>
        <p:nvSpPr>
          <p:cNvPr id="22" name="TextBox 21"/>
          <p:cNvSpPr txBox="1"/>
          <p:nvPr/>
        </p:nvSpPr>
        <p:spPr>
          <a:xfrm>
            <a:off x="4681728" y="4837176"/>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It is a known synthetic ramp artifact, not a claim about Indian traffic. Real per-area subscriber counts are a priority calibration input.</a:t>
            </a:r>
          </a:p>
        </p:txBody>
      </p:sp>
      <p:sp>
        <p:nvSpPr>
          <p:cNvPr id="23" name="TextBox 22"/>
          <p:cNvSpPr txBox="1"/>
          <p:nvPr/>
        </p:nvSpPr>
        <p:spPr>
          <a:xfrm>
            <a:off x="658368" y="6053328"/>
            <a:ext cx="10872216" cy="182880"/>
          </a:xfrm>
          <a:prstGeom prst="rect">
            <a:avLst/>
          </a:prstGeom>
          <a:noFill/>
        </p:spPr>
        <p:txBody>
          <a:bodyPr wrap="square" lIns="0" rIns="0" tIns="0" bIns="0" anchor="t">
            <a:spAutoFit/>
          </a:bodyPr>
          <a:lstStyle/>
          <a:p>
            <a:pPr algn="ctr">
              <a:lnSpc>
                <a:spcPct val="100000"/>
              </a:lnSpc>
            </a:pPr>
            <a:r>
              <a:rPr sz="900" b="1">
                <a:solidFill>
                  <a:srgbClr val="98A2AE"/>
                </a:solidFill>
                <a:latin typeface="Consolas"/>
              </a:rPr>
              <a:t>Answer first · boundary second · next check third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Q&amp;A · 04</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Forecasting</a:t>
            </a:r>
          </a:p>
        </p:txBody>
      </p:sp>
      <p:sp>
        <p:nvSpPr>
          <p:cNvPr id="5" name="Rectangle 4"/>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APPENDIX · C-DOT QUESTIONS</a:t>
            </a:r>
          </a:p>
        </p:txBody>
      </p:sp>
      <p:sp>
        <p:nvSpPr>
          <p:cNvPr id="7" name="TextBox 6"/>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76</a:t>
            </a:r>
          </a:p>
        </p:txBody>
      </p:sp>
      <p:sp>
        <p:nvSpPr>
          <p:cNvPr id="8" name="Rectangle 7"/>
          <p:cNvSpPr/>
          <p:nvPr/>
        </p:nvSpPr>
        <p:spPr>
          <a:xfrm>
            <a:off x="658368" y="1645920"/>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45920"/>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792224"/>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Q10</a:t>
            </a:r>
          </a:p>
        </p:txBody>
      </p:sp>
      <p:sp>
        <p:nvSpPr>
          <p:cNvPr id="11" name="TextBox 10"/>
          <p:cNvSpPr txBox="1"/>
          <p:nvPr/>
        </p:nvSpPr>
        <p:spPr>
          <a:xfrm>
            <a:off x="1353312" y="1764792"/>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keep ridge if LightGBM is more accurate?</a:t>
            </a:r>
          </a:p>
        </p:txBody>
      </p:sp>
      <p:sp>
        <p:nvSpPr>
          <p:cNvPr id="12" name="TextBox 11"/>
          <p:cNvSpPr txBox="1"/>
          <p:nvPr/>
        </p:nvSpPr>
        <p:spPr>
          <a:xfrm>
            <a:off x="4681728" y="1764792"/>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The release rule required every gate. LightGBM improved average accuracy but failed a worst-slice gate; ridge was auditable and its uncertainty coverage was reliable.</a:t>
            </a:r>
          </a:p>
        </p:txBody>
      </p:sp>
      <p:sp>
        <p:nvSpPr>
          <p:cNvPr id="13" name="Rectangle 12"/>
          <p:cNvSpPr/>
          <p:nvPr/>
        </p:nvSpPr>
        <p:spPr>
          <a:xfrm>
            <a:off x="658368" y="3182112"/>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182112"/>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328416"/>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Q11</a:t>
            </a:r>
          </a:p>
        </p:txBody>
      </p:sp>
      <p:sp>
        <p:nvSpPr>
          <p:cNvPr id="16" name="TextBox 15"/>
          <p:cNvSpPr txBox="1"/>
          <p:nvPr/>
        </p:nvSpPr>
        <p:spPr>
          <a:xfrm>
            <a:off x="1353312" y="3300984"/>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What is a conformal bound?</a:t>
            </a:r>
          </a:p>
        </p:txBody>
      </p:sp>
      <p:sp>
        <p:nvSpPr>
          <p:cNvPr id="17" name="TextBox 16"/>
          <p:cNvSpPr txBox="1"/>
          <p:nvPr/>
        </p:nvSpPr>
        <p:spPr>
          <a:xfrm>
            <a:off x="4681728" y="3300984"/>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An empirical safety margin calibrated on past forecast errors. A p90 bound is designed to cover roughly nine out of ten comparable outcomes.</a:t>
            </a:r>
          </a:p>
        </p:txBody>
      </p:sp>
      <p:sp>
        <p:nvSpPr>
          <p:cNvPr id="18" name="Rectangle 17"/>
          <p:cNvSpPr/>
          <p:nvPr/>
        </p:nvSpPr>
        <p:spPr>
          <a:xfrm>
            <a:off x="658368" y="4718304"/>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718304"/>
            <a:ext cx="45720" cy="1335024"/>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864608"/>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Q12</a:t>
            </a:r>
          </a:p>
        </p:txBody>
      </p:sp>
      <p:sp>
        <p:nvSpPr>
          <p:cNvPr id="21" name="TextBox 20"/>
          <p:cNvSpPr txBox="1"/>
          <p:nvPr/>
        </p:nvSpPr>
        <p:spPr>
          <a:xfrm>
            <a:off x="1353312" y="4837176"/>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How do you prevent the model from seeing the future?</a:t>
            </a:r>
          </a:p>
        </p:txBody>
      </p:sp>
      <p:sp>
        <p:nvSpPr>
          <p:cNvPr id="22" name="TextBox 21"/>
          <p:cNvSpPr txBox="1"/>
          <p:nvPr/>
        </p:nvSpPr>
        <p:spPr>
          <a:xfrm>
            <a:off x="4681728" y="4837176"/>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Every feature has an availability time. Only closed telemetry buckets available at decision time may enter training or inference.</a:t>
            </a:r>
          </a:p>
        </p:txBody>
      </p:sp>
      <p:sp>
        <p:nvSpPr>
          <p:cNvPr id="23" name="TextBox 22"/>
          <p:cNvSpPr txBox="1"/>
          <p:nvPr/>
        </p:nvSpPr>
        <p:spPr>
          <a:xfrm>
            <a:off x="658368" y="6053328"/>
            <a:ext cx="10872216" cy="182880"/>
          </a:xfrm>
          <a:prstGeom prst="rect">
            <a:avLst/>
          </a:prstGeom>
          <a:noFill/>
        </p:spPr>
        <p:txBody>
          <a:bodyPr wrap="square" lIns="0" rIns="0" tIns="0" bIns="0" anchor="t">
            <a:spAutoFit/>
          </a:bodyPr>
          <a:lstStyle/>
          <a:p>
            <a:pPr algn="ctr">
              <a:lnSpc>
                <a:spcPct val="100000"/>
              </a:lnSpc>
            </a:pPr>
            <a:r>
              <a:rPr sz="900" b="1">
                <a:solidFill>
                  <a:srgbClr val="98A2AE"/>
                </a:solidFill>
                <a:latin typeface="Consolas"/>
              </a:rPr>
              <a:t>Answer first · boundary second · next check third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Q&amp;A · 05</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Optimizer mathematics</a:t>
            </a:r>
          </a:p>
        </p:txBody>
      </p:sp>
      <p:sp>
        <p:nvSpPr>
          <p:cNvPr id="5" name="Rectangle 4"/>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APPENDIX · C-DOT QUESTIONS</a:t>
            </a:r>
          </a:p>
        </p:txBody>
      </p:sp>
      <p:sp>
        <p:nvSpPr>
          <p:cNvPr id="7" name="TextBox 6"/>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77</a:t>
            </a:r>
          </a:p>
        </p:txBody>
      </p:sp>
      <p:sp>
        <p:nvSpPr>
          <p:cNvPr id="8" name="Rectangle 7"/>
          <p:cNvSpPr/>
          <p:nvPr/>
        </p:nvSpPr>
        <p:spPr>
          <a:xfrm>
            <a:off x="658368" y="1645920"/>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45920"/>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792224"/>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Q13</a:t>
            </a:r>
          </a:p>
        </p:txBody>
      </p:sp>
      <p:sp>
        <p:nvSpPr>
          <p:cNvPr id="11" name="TextBox 10"/>
          <p:cNvSpPr txBox="1"/>
          <p:nvPr/>
        </p:nvSpPr>
        <p:spPr>
          <a:xfrm>
            <a:off x="1353312" y="1764792"/>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What are the optimizer's unknowns?</a:t>
            </a:r>
          </a:p>
        </p:txBody>
      </p:sp>
      <p:sp>
        <p:nvSpPr>
          <p:cNvPr id="12" name="TextBox 11"/>
          <p:cNvSpPr txBox="1"/>
          <p:nvPr/>
        </p:nvSpPr>
        <p:spPr>
          <a:xfrm>
            <a:off x="4681728" y="1764792"/>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One non-negative routing weight for each eligible traffic-group/UPF pair, plus explicit slack or activation variables in some formulations.</a:t>
            </a:r>
          </a:p>
        </p:txBody>
      </p:sp>
      <p:sp>
        <p:nvSpPr>
          <p:cNvPr id="13" name="Rectangle 12"/>
          <p:cNvSpPr/>
          <p:nvPr/>
        </p:nvSpPr>
        <p:spPr>
          <a:xfrm>
            <a:off x="658368" y="3182112"/>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182112"/>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328416"/>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Q14</a:t>
            </a:r>
          </a:p>
        </p:txBody>
      </p:sp>
      <p:sp>
        <p:nvSpPr>
          <p:cNvPr id="16" name="TextBox 15"/>
          <p:cNvSpPr txBox="1"/>
          <p:nvPr/>
        </p:nvSpPr>
        <p:spPr>
          <a:xfrm>
            <a:off x="1353312" y="3300984"/>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What does the objective minimize?</a:t>
            </a:r>
          </a:p>
        </p:txBody>
      </p:sp>
      <p:sp>
        <p:nvSpPr>
          <p:cNvPr id="17" name="TextBox 16"/>
          <p:cNvSpPr txBox="1"/>
          <p:nvPr/>
        </p:nvSpPr>
        <p:spPr>
          <a:xfrm>
            <a:off x="4681728" y="3300984"/>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Overload first, then smaller penalties for utilization, delay and policy churn. Safety is also enforced as constraints and checked independently.</a:t>
            </a:r>
          </a:p>
        </p:txBody>
      </p:sp>
      <p:sp>
        <p:nvSpPr>
          <p:cNvPr id="18" name="Rectangle 17"/>
          <p:cNvSpPr/>
          <p:nvPr/>
        </p:nvSpPr>
        <p:spPr>
          <a:xfrm>
            <a:off x="658368" y="4718304"/>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718304"/>
            <a:ext cx="45720" cy="1335024"/>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864608"/>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Q15</a:t>
            </a:r>
          </a:p>
        </p:txBody>
      </p:sp>
      <p:sp>
        <p:nvSpPr>
          <p:cNvPr id="21" name="TextBox 20"/>
          <p:cNvSpPr txBox="1"/>
          <p:nvPr/>
        </p:nvSpPr>
        <p:spPr>
          <a:xfrm>
            <a:off x="1353312" y="4837176"/>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What is the difference between LP and MPC?</a:t>
            </a:r>
          </a:p>
        </p:txBody>
      </p:sp>
      <p:sp>
        <p:nvSpPr>
          <p:cNvPr id="22" name="TextBox 21"/>
          <p:cNvSpPr txBox="1"/>
          <p:nvPr/>
        </p:nvSpPr>
        <p:spPr>
          <a:xfrm>
            <a:off x="4681728" y="4837176"/>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The LP optimizes the present step. MPC plans over a horizon, applies only the first decision and re-plans as telemetry changes.</a:t>
            </a:r>
          </a:p>
        </p:txBody>
      </p:sp>
      <p:sp>
        <p:nvSpPr>
          <p:cNvPr id="23" name="TextBox 22"/>
          <p:cNvSpPr txBox="1"/>
          <p:nvPr/>
        </p:nvSpPr>
        <p:spPr>
          <a:xfrm>
            <a:off x="658368" y="6053328"/>
            <a:ext cx="10872216" cy="182880"/>
          </a:xfrm>
          <a:prstGeom prst="rect">
            <a:avLst/>
          </a:prstGeom>
          <a:noFill/>
        </p:spPr>
        <p:txBody>
          <a:bodyPr wrap="square" lIns="0" rIns="0" tIns="0" bIns="0" anchor="t">
            <a:spAutoFit/>
          </a:bodyPr>
          <a:lstStyle/>
          <a:p>
            <a:pPr algn="ctr">
              <a:lnSpc>
                <a:spcPct val="100000"/>
              </a:lnSpc>
            </a:pPr>
            <a:r>
              <a:rPr sz="900" b="1">
                <a:solidFill>
                  <a:srgbClr val="98A2AE"/>
                </a:solidFill>
                <a:latin typeface="Consolas"/>
              </a:rPr>
              <a:t>Answer first · boundary second · next check third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Q&amp;A · 06</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Controller evidence</a:t>
            </a:r>
          </a:p>
        </p:txBody>
      </p:sp>
      <p:sp>
        <p:nvSpPr>
          <p:cNvPr id="5" name="Rectangle 4"/>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APPENDIX · C-DOT QUESTIONS</a:t>
            </a:r>
          </a:p>
        </p:txBody>
      </p:sp>
      <p:sp>
        <p:nvSpPr>
          <p:cNvPr id="7" name="TextBox 6"/>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78</a:t>
            </a:r>
          </a:p>
        </p:txBody>
      </p:sp>
      <p:sp>
        <p:nvSpPr>
          <p:cNvPr id="8" name="Rectangle 7"/>
          <p:cNvSpPr/>
          <p:nvPr/>
        </p:nvSpPr>
        <p:spPr>
          <a:xfrm>
            <a:off x="658368" y="1645920"/>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45920"/>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792224"/>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Q16</a:t>
            </a:r>
          </a:p>
        </p:txBody>
      </p:sp>
      <p:sp>
        <p:nvSpPr>
          <p:cNvPr id="11" name="TextBox 10"/>
          <p:cNvSpPr txBox="1"/>
          <p:nvPr/>
        </p:nvSpPr>
        <p:spPr>
          <a:xfrm>
            <a:off x="1353312" y="1764792"/>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does the oracle remove all overload?</a:t>
            </a:r>
          </a:p>
        </p:txBody>
      </p:sp>
      <p:sp>
        <p:nvSpPr>
          <p:cNvPr id="12" name="TextBox 11"/>
          <p:cNvSpPr txBox="1"/>
          <p:nvPr/>
        </p:nvSpPr>
        <p:spPr>
          <a:xfrm>
            <a:off x="4681728" y="1764792"/>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It knows the future event schedule and solves the whole day jointly. It is an upper bound, not a deployable controller.</a:t>
            </a:r>
          </a:p>
        </p:txBody>
      </p:sp>
      <p:sp>
        <p:nvSpPr>
          <p:cNvPr id="13" name="Rectangle 12"/>
          <p:cNvSpPr/>
          <p:nvPr/>
        </p:nvSpPr>
        <p:spPr>
          <a:xfrm>
            <a:off x="658368" y="3182112"/>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182112"/>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328416"/>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Q17</a:t>
            </a:r>
          </a:p>
        </p:txBody>
      </p:sp>
      <p:sp>
        <p:nvSpPr>
          <p:cNvPr id="16" name="TextBox 15"/>
          <p:cNvSpPr txBox="1"/>
          <p:nvPr/>
        </p:nvSpPr>
        <p:spPr>
          <a:xfrm>
            <a:off x="1353312" y="3300984"/>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does pre-drain help planned maintenance?</a:t>
            </a:r>
          </a:p>
        </p:txBody>
      </p:sp>
      <p:sp>
        <p:nvSpPr>
          <p:cNvPr id="17" name="TextBox 16"/>
          <p:cNvSpPr txBox="1"/>
          <p:nvPr/>
        </p:nvSpPr>
        <p:spPr>
          <a:xfrm>
            <a:off x="4681728" y="3300984"/>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Advance notice lets it stop adding long-lived sessions to a UPF before capacity falls.</a:t>
            </a:r>
          </a:p>
        </p:txBody>
      </p:sp>
      <p:sp>
        <p:nvSpPr>
          <p:cNvPr id="18" name="Rectangle 17"/>
          <p:cNvSpPr/>
          <p:nvPr/>
        </p:nvSpPr>
        <p:spPr>
          <a:xfrm>
            <a:off x="658368" y="4718304"/>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718304"/>
            <a:ext cx="45720" cy="1335024"/>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864608"/>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Q18</a:t>
            </a:r>
          </a:p>
        </p:txBody>
      </p:sp>
      <p:sp>
        <p:nvSpPr>
          <p:cNvPr id="21" name="TextBox 20"/>
          <p:cNvSpPr txBox="1"/>
          <p:nvPr/>
        </p:nvSpPr>
        <p:spPr>
          <a:xfrm>
            <a:off x="1353312" y="4837176"/>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can pre-drain lose under mixed stress?</a:t>
            </a:r>
          </a:p>
        </p:txBody>
      </p:sp>
      <p:sp>
        <p:nvSpPr>
          <p:cNvPr id="22" name="TextBox 21"/>
          <p:cNvSpPr txBox="1"/>
          <p:nvPr/>
        </p:nvSpPr>
        <p:spPr>
          <a:xfrm>
            <a:off x="4681728" y="4837176"/>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It may drain sessions onto a UPF that later suffers an unannounced event. Those sessions are then anchored.</a:t>
            </a:r>
          </a:p>
        </p:txBody>
      </p:sp>
      <p:sp>
        <p:nvSpPr>
          <p:cNvPr id="23" name="TextBox 22"/>
          <p:cNvSpPr txBox="1"/>
          <p:nvPr/>
        </p:nvSpPr>
        <p:spPr>
          <a:xfrm>
            <a:off x="658368" y="6053328"/>
            <a:ext cx="10872216" cy="182880"/>
          </a:xfrm>
          <a:prstGeom prst="rect">
            <a:avLst/>
          </a:prstGeom>
          <a:noFill/>
        </p:spPr>
        <p:txBody>
          <a:bodyPr wrap="square" lIns="0" rIns="0" tIns="0" bIns="0" anchor="t">
            <a:spAutoFit/>
          </a:bodyPr>
          <a:lstStyle/>
          <a:p>
            <a:pPr algn="ctr">
              <a:lnSpc>
                <a:spcPct val="100000"/>
              </a:lnSpc>
            </a:pPr>
            <a:r>
              <a:rPr sz="900" b="1">
                <a:solidFill>
                  <a:srgbClr val="98A2AE"/>
                </a:solidFill>
                <a:latin typeface="Consolas"/>
              </a:rPr>
              <a:t>Answer first · boundary second · next check third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Q&amp;A · 07</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Experiment 7 and safety</a:t>
            </a:r>
          </a:p>
        </p:txBody>
      </p:sp>
      <p:sp>
        <p:nvSpPr>
          <p:cNvPr id="5" name="Rectangle 4"/>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APPENDIX · C-DOT QUESTIONS</a:t>
            </a:r>
          </a:p>
        </p:txBody>
      </p:sp>
      <p:sp>
        <p:nvSpPr>
          <p:cNvPr id="7" name="TextBox 6"/>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79</a:t>
            </a:r>
          </a:p>
        </p:txBody>
      </p:sp>
      <p:sp>
        <p:nvSpPr>
          <p:cNvPr id="8" name="Rectangle 7"/>
          <p:cNvSpPr/>
          <p:nvPr/>
        </p:nvSpPr>
        <p:spPr>
          <a:xfrm>
            <a:off x="658368" y="1645920"/>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45920"/>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792224"/>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Q19</a:t>
            </a:r>
          </a:p>
        </p:txBody>
      </p:sp>
      <p:sp>
        <p:nvSpPr>
          <p:cNvPr id="11" name="TextBox 10"/>
          <p:cNvSpPr txBox="1"/>
          <p:nvPr/>
        </p:nvSpPr>
        <p:spPr>
          <a:xfrm>
            <a:off x="1353312" y="1764792"/>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did Experiment 7 reverse the earlier conclusion?</a:t>
            </a:r>
          </a:p>
        </p:txBody>
      </p:sp>
      <p:sp>
        <p:nvSpPr>
          <p:cNvPr id="12" name="TextBox 11"/>
          <p:cNvSpPr txBox="1"/>
          <p:nvPr/>
        </p:nvSpPr>
        <p:spPr>
          <a:xfrm>
            <a:off x="4681728" y="1764792"/>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An audit found unit, finite-metric and horizon-sizing defects in the evaluator/scenario machinery. Correcting them made the declared-event benefit measurable.</a:t>
            </a:r>
          </a:p>
        </p:txBody>
      </p:sp>
      <p:sp>
        <p:nvSpPr>
          <p:cNvPr id="13" name="Rectangle 12"/>
          <p:cNvSpPr/>
          <p:nvPr/>
        </p:nvSpPr>
        <p:spPr>
          <a:xfrm>
            <a:off x="658368" y="3182112"/>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182112"/>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328416"/>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Q20</a:t>
            </a:r>
          </a:p>
        </p:txBody>
      </p:sp>
      <p:sp>
        <p:nvSpPr>
          <p:cNvPr id="16" name="TextBox 15"/>
          <p:cNvSpPr txBox="1"/>
          <p:nvPr/>
        </p:nvSpPr>
        <p:spPr>
          <a:xfrm>
            <a:off x="1353312" y="3300984"/>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Does 0/473 regressions prove universal safety?</a:t>
            </a:r>
          </a:p>
        </p:txBody>
      </p:sp>
      <p:sp>
        <p:nvSpPr>
          <p:cNvPr id="17" name="TextBox 16"/>
          <p:cNvSpPr txBox="1"/>
          <p:nvPr/>
        </p:nvSpPr>
        <p:spPr>
          <a:xfrm>
            <a:off x="4681728" y="3300984"/>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No. It covers the informative declared-event pairs in the stated seed pools. Mixed declared-plus-surprise cases still contain regressions.</a:t>
            </a:r>
          </a:p>
        </p:txBody>
      </p:sp>
      <p:sp>
        <p:nvSpPr>
          <p:cNvPr id="18" name="Rectangle 17"/>
          <p:cNvSpPr/>
          <p:nvPr/>
        </p:nvSpPr>
        <p:spPr>
          <a:xfrm>
            <a:off x="658368" y="4718304"/>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718304"/>
            <a:ext cx="45720" cy="1335024"/>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864608"/>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Q21</a:t>
            </a:r>
          </a:p>
        </p:txBody>
      </p:sp>
      <p:sp>
        <p:nvSpPr>
          <p:cNvPr id="21" name="TextBox 20"/>
          <p:cNvSpPr txBox="1"/>
          <p:nvPr/>
        </p:nvSpPr>
        <p:spPr>
          <a:xfrm>
            <a:off x="1353312" y="4837176"/>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What does +24.0% mean?</a:t>
            </a:r>
          </a:p>
        </p:txBody>
      </p:sp>
      <p:sp>
        <p:nvSpPr>
          <p:cNvPr id="22" name="TextBox 21"/>
          <p:cNvSpPr txBox="1"/>
          <p:nvPr/>
        </p:nvSpPr>
        <p:spPr>
          <a:xfrm>
            <a:off x="4681728" y="4837176"/>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Held-out reduction in the pre-declared uplink-overload metric versus matched static runs. It is not a throughput increase or a live-network result.</a:t>
            </a:r>
          </a:p>
        </p:txBody>
      </p:sp>
      <p:sp>
        <p:nvSpPr>
          <p:cNvPr id="23" name="TextBox 22"/>
          <p:cNvSpPr txBox="1"/>
          <p:nvPr/>
        </p:nvSpPr>
        <p:spPr>
          <a:xfrm>
            <a:off x="658368" y="6053328"/>
            <a:ext cx="10872216" cy="182880"/>
          </a:xfrm>
          <a:prstGeom prst="rect">
            <a:avLst/>
          </a:prstGeom>
          <a:noFill/>
        </p:spPr>
        <p:txBody>
          <a:bodyPr wrap="square" lIns="0" rIns="0" tIns="0" bIns="0" anchor="t">
            <a:spAutoFit/>
          </a:bodyPr>
          <a:lstStyle/>
          <a:p>
            <a:pPr algn="ctr">
              <a:lnSpc>
                <a:spcPct val="100000"/>
              </a:lnSpc>
            </a:pPr>
            <a:r>
              <a:rPr sz="900" b="1">
                <a:solidFill>
                  <a:srgbClr val="98A2AE"/>
                </a:solidFill>
                <a:latin typeface="Consolas"/>
              </a:rPr>
              <a:t>Answer first · boundary second · next check third</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Q&amp;A · 08</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Operations and cluster</a:t>
            </a:r>
          </a:p>
        </p:txBody>
      </p:sp>
      <p:sp>
        <p:nvSpPr>
          <p:cNvPr id="5" name="Rectangle 4"/>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APPENDIX · C-DOT QUESTIONS</a:t>
            </a:r>
          </a:p>
        </p:txBody>
      </p:sp>
      <p:sp>
        <p:nvSpPr>
          <p:cNvPr id="7" name="TextBox 6"/>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80</a:t>
            </a:r>
          </a:p>
        </p:txBody>
      </p:sp>
      <p:sp>
        <p:nvSpPr>
          <p:cNvPr id="8" name="Rectangle 7"/>
          <p:cNvSpPr/>
          <p:nvPr/>
        </p:nvSpPr>
        <p:spPr>
          <a:xfrm>
            <a:off x="658368" y="1645920"/>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45920"/>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792224"/>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Q22</a:t>
            </a:r>
          </a:p>
        </p:txBody>
      </p:sp>
      <p:sp>
        <p:nvSpPr>
          <p:cNvPr id="11" name="TextBox 10"/>
          <p:cNvSpPr txBox="1"/>
          <p:nvPr/>
        </p:nvSpPr>
        <p:spPr>
          <a:xfrm>
            <a:off x="1353312" y="1764792"/>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use 10-minute control instead of two minutes?</a:t>
            </a:r>
          </a:p>
        </p:txBody>
      </p:sp>
      <p:sp>
        <p:nvSpPr>
          <p:cNvPr id="12" name="TextBox 11"/>
          <p:cNvSpPr txBox="1"/>
          <p:nvPr/>
        </p:nvSpPr>
        <p:spPr>
          <a:xfrm>
            <a:off x="4681728" y="1764792"/>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Two-minute control produced almost no extra gain and about 3.7 times the routing churn for a matched configuration.</a:t>
            </a:r>
          </a:p>
        </p:txBody>
      </p:sp>
      <p:sp>
        <p:nvSpPr>
          <p:cNvPr id="13" name="Rectangle 12"/>
          <p:cNvSpPr/>
          <p:nvPr/>
        </p:nvSpPr>
        <p:spPr>
          <a:xfrm>
            <a:off x="658368" y="3182112"/>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182112"/>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328416"/>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Q23</a:t>
            </a:r>
          </a:p>
        </p:txBody>
      </p:sp>
      <p:sp>
        <p:nvSpPr>
          <p:cNvPr id="16" name="TextBox 15"/>
          <p:cNvSpPr txBox="1"/>
          <p:nvPr/>
        </p:nvSpPr>
        <p:spPr>
          <a:xfrm>
            <a:off x="1353312" y="3300984"/>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How does the cluster work scale?</a:t>
            </a:r>
          </a:p>
        </p:txBody>
      </p:sp>
      <p:sp>
        <p:nvSpPr>
          <p:cNvPr id="17" name="TextBox 16"/>
          <p:cNvSpPr txBox="1"/>
          <p:nvPr/>
        </p:nvSpPr>
        <p:spPr>
          <a:xfrm>
            <a:off x="4681728" y="3300984"/>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Across independent matched scenario/seed pairs. One simulation is normally one shard; it is not divided across 160 nodes.</a:t>
            </a:r>
          </a:p>
        </p:txBody>
      </p:sp>
      <p:sp>
        <p:nvSpPr>
          <p:cNvPr id="18" name="Rectangle 17"/>
          <p:cNvSpPr/>
          <p:nvPr/>
        </p:nvSpPr>
        <p:spPr>
          <a:xfrm>
            <a:off x="658368" y="4718304"/>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718304"/>
            <a:ext cx="45720" cy="1335024"/>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864608"/>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Q24</a:t>
            </a:r>
          </a:p>
        </p:txBody>
      </p:sp>
      <p:sp>
        <p:nvSpPr>
          <p:cNvPr id="21" name="TextBox 20"/>
          <p:cNvSpPr txBox="1"/>
          <p:nvPr/>
        </p:nvSpPr>
        <p:spPr>
          <a:xfrm>
            <a:off x="1353312" y="4837176"/>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What happens if the solver or telemetry fails?</a:t>
            </a:r>
          </a:p>
        </p:txBody>
      </p:sp>
      <p:sp>
        <p:nvSpPr>
          <p:cNvPr id="22" name="TextBox 21"/>
          <p:cNvSpPr txBox="1"/>
          <p:nvPr/>
        </p:nvSpPr>
        <p:spPr>
          <a:xfrm>
            <a:off x="4681728" y="4837176"/>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The independent gate rejects the recommendation and retains the last safe static policy.</a:t>
            </a:r>
          </a:p>
        </p:txBody>
      </p:sp>
      <p:sp>
        <p:nvSpPr>
          <p:cNvPr id="23" name="TextBox 22"/>
          <p:cNvSpPr txBox="1"/>
          <p:nvPr/>
        </p:nvSpPr>
        <p:spPr>
          <a:xfrm>
            <a:off x="658368" y="6053328"/>
            <a:ext cx="10872216" cy="182880"/>
          </a:xfrm>
          <a:prstGeom prst="rect">
            <a:avLst/>
          </a:prstGeom>
          <a:noFill/>
        </p:spPr>
        <p:txBody>
          <a:bodyPr wrap="square" lIns="0" rIns="0" tIns="0" bIns="0" anchor="t">
            <a:spAutoFit/>
          </a:bodyPr>
          <a:lstStyle/>
          <a:p>
            <a:pPr algn="ctr">
              <a:lnSpc>
                <a:spcPct val="100000"/>
              </a:lnSpc>
            </a:pPr>
            <a:r>
              <a:rPr sz="900" b="1">
                <a:solidFill>
                  <a:srgbClr val="98A2AE"/>
                </a:solidFill>
                <a:latin typeface="Consolas"/>
              </a:rPr>
              <a:t>Answer first · boundary second · next check third</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75488"/>
            <a:ext cx="10872216" cy="201168"/>
          </a:xfrm>
          <a:prstGeom prst="rect">
            <a:avLst/>
          </a:prstGeom>
          <a:noFill/>
        </p:spPr>
        <p:txBody>
          <a:bodyPr wrap="square" lIns="0" rIns="0" tIns="0" bIns="0" anchor="t">
            <a:spAutoFit/>
          </a:bodyPr>
          <a:lstStyle/>
          <a:p>
            <a:pPr algn="l">
              <a:lnSpc>
                <a:spcPct val="100000"/>
              </a:lnSpc>
            </a:pPr>
            <a:r>
              <a:rPr sz="1050" b="1">
                <a:solidFill>
                  <a:srgbClr val="0F4C5C"/>
                </a:solidFill>
                <a:latin typeface="Consolas"/>
              </a:rPr>
              <a:t>Q&amp;A · 09</a:t>
            </a:r>
          </a:p>
        </p:txBody>
      </p:sp>
      <p:sp>
        <p:nvSpPr>
          <p:cNvPr id="4" name="TextBox 3"/>
          <p:cNvSpPr txBox="1"/>
          <p:nvPr/>
        </p:nvSpPr>
        <p:spPr>
          <a:xfrm>
            <a:off x="658368" y="731520"/>
            <a:ext cx="10872216" cy="685800"/>
          </a:xfrm>
          <a:prstGeom prst="rect">
            <a:avLst/>
          </a:prstGeom>
          <a:noFill/>
        </p:spPr>
        <p:txBody>
          <a:bodyPr wrap="square" lIns="0" rIns="0" tIns="0" bIns="0" anchor="t">
            <a:spAutoFit/>
          </a:bodyPr>
          <a:lstStyle/>
          <a:p>
            <a:pPr algn="l">
              <a:lnSpc>
                <a:spcPct val="100000"/>
              </a:lnSpc>
            </a:pPr>
            <a:r>
              <a:rPr sz="2900" b="0">
                <a:solidFill>
                  <a:srgbClr val="111721"/>
                </a:solidFill>
                <a:latin typeface="Georgia"/>
              </a:rPr>
              <a:t>Deployment challenge questions</a:t>
            </a:r>
          </a:p>
        </p:txBody>
      </p:sp>
      <p:sp>
        <p:nvSpPr>
          <p:cNvPr id="5" name="Rectangle 4"/>
          <p:cNvSpPr/>
          <p:nvPr/>
        </p:nvSpPr>
        <p:spPr>
          <a:xfrm>
            <a:off x="658368" y="6382512"/>
            <a:ext cx="10872216" cy="9144"/>
          </a:xfrm>
          <a:prstGeom prst="rect">
            <a:avLst/>
          </a:prstGeom>
          <a:solidFill>
            <a:srgbClr val="E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73952"/>
            <a:ext cx="7315200" cy="201168"/>
          </a:xfrm>
          <a:prstGeom prst="rect">
            <a:avLst/>
          </a:prstGeom>
          <a:noFill/>
        </p:spPr>
        <p:txBody>
          <a:bodyPr wrap="square" lIns="0" rIns="0" tIns="0" bIns="0" anchor="t">
            <a:spAutoFit/>
          </a:bodyPr>
          <a:lstStyle/>
          <a:p>
            <a:pPr algn="l">
              <a:lnSpc>
                <a:spcPct val="100000"/>
              </a:lnSpc>
            </a:pPr>
            <a:r>
              <a:rPr sz="850" b="0">
                <a:solidFill>
                  <a:srgbClr val="98A2AE"/>
                </a:solidFill>
                <a:latin typeface="Consolas"/>
              </a:rPr>
              <a:t>APPENDIX · C-DOT QUESTIONS</a:t>
            </a:r>
          </a:p>
        </p:txBody>
      </p:sp>
      <p:sp>
        <p:nvSpPr>
          <p:cNvPr id="7" name="TextBox 6"/>
          <p:cNvSpPr txBox="1"/>
          <p:nvPr/>
        </p:nvSpPr>
        <p:spPr>
          <a:xfrm>
            <a:off x="10725912" y="6437376"/>
            <a:ext cx="804672" cy="201168"/>
          </a:xfrm>
          <a:prstGeom prst="rect">
            <a:avLst/>
          </a:prstGeom>
          <a:noFill/>
        </p:spPr>
        <p:txBody>
          <a:bodyPr wrap="square" lIns="0" rIns="0" tIns="0" bIns="0" anchor="t">
            <a:spAutoFit/>
          </a:bodyPr>
          <a:lstStyle/>
          <a:p>
            <a:pPr algn="r">
              <a:lnSpc>
                <a:spcPct val="100000"/>
              </a:lnSpc>
            </a:pPr>
            <a:r>
              <a:rPr sz="850" b="0">
                <a:solidFill>
                  <a:srgbClr val="98A2AE"/>
                </a:solidFill>
                <a:latin typeface="Consolas"/>
              </a:rPr>
              <a:t>81</a:t>
            </a:r>
          </a:p>
        </p:txBody>
      </p:sp>
      <p:sp>
        <p:nvSpPr>
          <p:cNvPr id="8" name="Rectangle 7"/>
          <p:cNvSpPr/>
          <p:nvPr/>
        </p:nvSpPr>
        <p:spPr>
          <a:xfrm>
            <a:off x="658368" y="1645920"/>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45920"/>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792224"/>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Q25</a:t>
            </a:r>
          </a:p>
        </p:txBody>
      </p:sp>
      <p:sp>
        <p:nvSpPr>
          <p:cNvPr id="11" name="TextBox 10"/>
          <p:cNvSpPr txBox="1"/>
          <p:nvPr/>
        </p:nvSpPr>
        <p:spPr>
          <a:xfrm>
            <a:off x="1353312" y="1764792"/>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Why not use reinforcement learning?</a:t>
            </a:r>
          </a:p>
        </p:txBody>
      </p:sp>
      <p:sp>
        <p:nvSpPr>
          <p:cNvPr id="12" name="TextBox 11"/>
          <p:cNvSpPr txBox="1"/>
          <p:nvPr/>
        </p:nvSpPr>
        <p:spPr>
          <a:xfrm>
            <a:off x="4681728" y="1764792"/>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RL inherits the same limited steering lever and adds validation difficulty. Settle the lever, telemetry and safety contract first.</a:t>
            </a:r>
          </a:p>
        </p:txBody>
      </p:sp>
      <p:sp>
        <p:nvSpPr>
          <p:cNvPr id="13" name="Rectangle 12"/>
          <p:cNvSpPr/>
          <p:nvPr/>
        </p:nvSpPr>
        <p:spPr>
          <a:xfrm>
            <a:off x="658368" y="3182112"/>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182112"/>
            <a:ext cx="45720" cy="1335024"/>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328416"/>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Q26</a:t>
            </a:r>
          </a:p>
        </p:txBody>
      </p:sp>
      <p:sp>
        <p:nvSpPr>
          <p:cNvPr id="16" name="TextBox 15"/>
          <p:cNvSpPr txBox="1"/>
          <p:nvPr/>
        </p:nvSpPr>
        <p:spPr>
          <a:xfrm>
            <a:off x="1353312" y="3300984"/>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What would you need from C-DOT next?</a:t>
            </a:r>
          </a:p>
        </p:txBody>
      </p:sp>
      <p:sp>
        <p:nvSpPr>
          <p:cNvPr id="17" name="TextBox 16"/>
          <p:cNvSpPr txBox="1"/>
          <p:nvPr/>
        </p:nvSpPr>
        <p:spPr>
          <a:xfrm>
            <a:off x="4681728" y="3300984"/>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The SMF steering key, maintenance-notice workflow, real UPF safe envelopes and telemetry/reset semantics.</a:t>
            </a:r>
          </a:p>
        </p:txBody>
      </p:sp>
      <p:sp>
        <p:nvSpPr>
          <p:cNvPr id="18" name="Rectangle 17"/>
          <p:cNvSpPr/>
          <p:nvPr/>
        </p:nvSpPr>
        <p:spPr>
          <a:xfrm>
            <a:off x="658368" y="4718304"/>
            <a:ext cx="10872216" cy="1335024"/>
          </a:xfrm>
          <a:prstGeom prst="rect">
            <a:avLst/>
          </a:prstGeom>
          <a:solidFill>
            <a:srgbClr val="FFFFFF"/>
          </a:solidFill>
          <a:ln w="8890">
            <a:solidFill>
              <a:srgbClr val="DE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718304"/>
            <a:ext cx="45720" cy="1335024"/>
          </a:xfrm>
          <a:prstGeom prst="rect">
            <a:avLst/>
          </a:prstGeom>
          <a:solidFill>
            <a:srgbClr val="B57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4864608"/>
            <a:ext cx="438912" cy="256032"/>
          </a:xfrm>
          <a:prstGeom prst="rect">
            <a:avLst/>
          </a:prstGeom>
          <a:noFill/>
        </p:spPr>
        <p:txBody>
          <a:bodyPr wrap="square" lIns="0" rIns="0" tIns="0" bIns="0" anchor="t">
            <a:spAutoFit/>
          </a:bodyPr>
          <a:lstStyle/>
          <a:p>
            <a:pPr algn="l">
              <a:lnSpc>
                <a:spcPct val="100000"/>
              </a:lnSpc>
            </a:pPr>
            <a:r>
              <a:rPr sz="1000" b="1">
                <a:solidFill>
                  <a:srgbClr val="0F4C5C"/>
                </a:solidFill>
                <a:latin typeface="Consolas"/>
              </a:rPr>
              <a:t>Q27</a:t>
            </a:r>
          </a:p>
        </p:txBody>
      </p:sp>
      <p:sp>
        <p:nvSpPr>
          <p:cNvPr id="21" name="TextBox 20"/>
          <p:cNvSpPr txBox="1"/>
          <p:nvPr/>
        </p:nvSpPr>
        <p:spPr>
          <a:xfrm>
            <a:off x="1353312" y="4837176"/>
            <a:ext cx="3840480" cy="475488"/>
          </a:xfrm>
          <a:prstGeom prst="rect">
            <a:avLst/>
          </a:prstGeom>
          <a:noFill/>
        </p:spPr>
        <p:txBody>
          <a:bodyPr wrap="square" lIns="0" rIns="0" tIns="0" bIns="0" anchor="t">
            <a:spAutoFit/>
          </a:bodyPr>
          <a:lstStyle/>
          <a:p>
            <a:pPr algn="l">
              <a:lnSpc>
                <a:spcPct val="100000"/>
              </a:lnSpc>
            </a:pPr>
            <a:r>
              <a:rPr sz="1200" b="1">
                <a:solidFill>
                  <a:srgbClr val="111721"/>
                </a:solidFill>
                <a:latin typeface="Segoe UI"/>
              </a:rPr>
              <a:t>Are you asking us to deploy this controller?</a:t>
            </a:r>
          </a:p>
        </p:txBody>
      </p:sp>
      <p:sp>
        <p:nvSpPr>
          <p:cNvPr id="22" name="TextBox 21"/>
          <p:cNvSpPr txBox="1"/>
          <p:nvPr/>
        </p:nvSpPr>
        <p:spPr>
          <a:xfrm>
            <a:off x="4681728" y="4837176"/>
            <a:ext cx="6583680" cy="941832"/>
          </a:xfrm>
          <a:prstGeom prst="rect">
            <a:avLst/>
          </a:prstGeom>
          <a:noFill/>
        </p:spPr>
        <p:txBody>
          <a:bodyPr wrap="square" lIns="0" rIns="0" tIns="0" bIns="0" anchor="t">
            <a:spAutoFit/>
          </a:bodyPr>
          <a:lstStyle/>
          <a:p>
            <a:pPr algn="l">
              <a:lnSpc>
                <a:spcPct val="118000"/>
              </a:lnSpc>
            </a:pPr>
            <a:r>
              <a:rPr sz="1110" b="0">
                <a:solidFill>
                  <a:srgbClr val="3C4653"/>
                </a:solidFill>
                <a:latin typeface="Segoe UI"/>
              </a:rPr>
              <a:t>No. The recommendation is a bounded shadow-advisory replay using real telemetry, with no live policy publication.</a:t>
            </a:r>
          </a:p>
        </p:txBody>
      </p:sp>
      <p:sp>
        <p:nvSpPr>
          <p:cNvPr id="23" name="TextBox 22"/>
          <p:cNvSpPr txBox="1"/>
          <p:nvPr/>
        </p:nvSpPr>
        <p:spPr>
          <a:xfrm>
            <a:off x="658368" y="6053328"/>
            <a:ext cx="10872216" cy="182880"/>
          </a:xfrm>
          <a:prstGeom prst="rect">
            <a:avLst/>
          </a:prstGeom>
          <a:noFill/>
        </p:spPr>
        <p:txBody>
          <a:bodyPr wrap="square" lIns="0" rIns="0" tIns="0" bIns="0" anchor="t">
            <a:spAutoFit/>
          </a:bodyPr>
          <a:lstStyle/>
          <a:p>
            <a:pPr algn="ctr">
              <a:lnSpc>
                <a:spcPct val="100000"/>
              </a:lnSpc>
            </a:pPr>
            <a:r>
              <a:rPr sz="900" b="1">
                <a:solidFill>
                  <a:srgbClr val="98A2AE"/>
                </a:solidFill>
                <a:latin typeface="Consolas"/>
              </a:rPr>
              <a:t>Answer first · boundary second · next check third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