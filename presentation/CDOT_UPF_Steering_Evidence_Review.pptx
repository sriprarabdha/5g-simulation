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_band.png"/>
          <p:cNvPicPr>
            <a:picLocks noChangeAspect="1"/>
          </p:cNvPicPr>
          <p:nvPr/>
        </p:nvPicPr>
        <p:blipFill>
          <a:blip r:embed="rId2"/>
          <a:stretch>
            <a:fillRect/>
          </a:stretch>
        </p:blipFill>
        <p:spPr>
          <a:xfrm>
            <a:off x="0" y="4590288"/>
            <a:ext cx="12191695" cy="2267712"/>
          </a:xfrm>
          <a:prstGeom prst="rect">
            <a:avLst/>
          </a:prstGeom>
        </p:spPr>
      </p:pic>
      <p:sp>
        <p:nvSpPr>
          <p:cNvPr id="5" name="TextBox 4"/>
          <p:cNvSpPr txBox="1"/>
          <p:nvPr/>
        </p:nvSpPr>
        <p:spPr>
          <a:xfrm>
            <a:off x="658368" y="9326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DIGITAL TWIN · FORECASTING · CONTROL SCIENCE</a:t>
            </a:r>
          </a:p>
        </p:txBody>
      </p:sp>
      <p:sp>
        <p:nvSpPr>
          <p:cNvPr id="6" name="TextBox 5"/>
          <p:cNvSpPr txBox="1"/>
          <p:nvPr/>
        </p:nvSpPr>
        <p:spPr>
          <a:xfrm>
            <a:off x="658368" y="1298448"/>
            <a:ext cx="8778240" cy="2011680"/>
          </a:xfrm>
          <a:prstGeom prst="rect">
            <a:avLst/>
          </a:prstGeom>
          <a:noFill/>
        </p:spPr>
        <p:txBody>
          <a:bodyPr wrap="square" anchor="t" lIns="0" rIns="0" tIns="0" bIns="0">
            <a:spAutoFit/>
          </a:bodyPr>
          <a:lstStyle/>
          <a:p>
            <a:pPr algn="l">
              <a:lnSpc>
                <a:spcPct val="105000"/>
              </a:lnSpc>
            </a:pPr>
            <a:r>
              <a:rPr sz="4400" b="0" i="0">
                <a:solidFill>
                  <a:srgbClr val="111721"/>
                </a:solidFill>
                <a:latin typeface="Georgia"/>
              </a:rPr>
              <a:t>Sending 5G traffic to the right box </a:t>
            </a:r>
            <a:r>
              <a:rPr sz="4400" b="0" i="1">
                <a:solidFill>
                  <a:srgbClr val="0F4C5C"/>
                </a:solidFill>
                <a:latin typeface="Georgia"/>
              </a:rPr>
              <a:t>before</a:t>
            </a:r>
            <a:r>
              <a:rPr sz="4400" b="0" i="0">
                <a:solidFill>
                  <a:srgbClr val="111721"/>
                </a:solidFill>
                <a:latin typeface="Georgia"/>
              </a:rPr>
              <a:t> it jams</a:t>
            </a:r>
          </a:p>
        </p:txBody>
      </p:sp>
      <p:sp>
        <p:nvSpPr>
          <p:cNvPr id="7" name="TextBox 6"/>
          <p:cNvSpPr txBox="1"/>
          <p:nvPr/>
        </p:nvSpPr>
        <p:spPr>
          <a:xfrm>
            <a:off x="658368" y="2962656"/>
            <a:ext cx="6766560" cy="82296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digital twin of a national 5G user plane, a demand forecaster, an optimizer — and 588 head-to-head experiments to find out whether the smart version actually wins.</a:t>
            </a:r>
          </a:p>
        </p:txBody>
      </p:sp>
      <p:sp>
        <p:nvSpPr>
          <p:cNvPr id="8" name="Rectangle 7"/>
          <p:cNvSpPr/>
          <p:nvPr/>
        </p:nvSpPr>
        <p:spPr>
          <a:xfrm>
            <a:off x="658368" y="376732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16 M</a:t>
            </a:r>
          </a:p>
        </p:txBody>
      </p:sp>
      <p:sp>
        <p:nvSpPr>
          <p:cNvPr id="10" name="TextBox 9"/>
          <p:cNvSpPr txBox="1"/>
          <p:nvPr/>
        </p:nvSpPr>
        <p:spPr>
          <a:xfrm>
            <a:off x="658368"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SIMULATED USERS</a:t>
            </a:r>
          </a:p>
        </p:txBody>
      </p:sp>
      <p:sp>
        <p:nvSpPr>
          <p:cNvPr id="11" name="Rectangle 10"/>
          <p:cNvSpPr/>
          <p:nvPr/>
        </p:nvSpPr>
        <p:spPr>
          <a:xfrm>
            <a:off x="2461717"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35453"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24</a:t>
            </a:r>
          </a:p>
        </p:txBody>
      </p:sp>
      <p:sp>
        <p:nvSpPr>
          <p:cNvPr id="13" name="TextBox 12"/>
          <p:cNvSpPr txBox="1"/>
          <p:nvPr/>
        </p:nvSpPr>
        <p:spPr>
          <a:xfrm>
            <a:off x="2635453"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UPF BOXES</a:t>
            </a:r>
          </a:p>
        </p:txBody>
      </p:sp>
      <p:sp>
        <p:nvSpPr>
          <p:cNvPr id="14" name="Rectangle 13"/>
          <p:cNvSpPr/>
          <p:nvPr/>
        </p:nvSpPr>
        <p:spPr>
          <a:xfrm>
            <a:off x="427421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794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96</a:t>
            </a:r>
          </a:p>
        </p:txBody>
      </p:sp>
      <p:sp>
        <p:nvSpPr>
          <p:cNvPr id="16" name="TextBox 15"/>
          <p:cNvSpPr txBox="1"/>
          <p:nvPr/>
        </p:nvSpPr>
        <p:spPr>
          <a:xfrm>
            <a:off x="444794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TRAFFIC GROUPS</a:t>
            </a:r>
          </a:p>
        </p:txBody>
      </p:sp>
      <p:sp>
        <p:nvSpPr>
          <p:cNvPr id="17" name="Rectangle 16"/>
          <p:cNvSpPr/>
          <p:nvPr/>
        </p:nvSpPr>
        <p:spPr>
          <a:xfrm>
            <a:off x="6086703"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0439"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112</a:t>
            </a:r>
          </a:p>
        </p:txBody>
      </p:sp>
      <p:sp>
        <p:nvSpPr>
          <p:cNvPr id="19" name="TextBox 18"/>
          <p:cNvSpPr txBox="1"/>
          <p:nvPr/>
        </p:nvSpPr>
        <p:spPr>
          <a:xfrm>
            <a:off x="6260439"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DAYS SIMULATED</a:t>
            </a:r>
          </a:p>
        </p:txBody>
      </p:sp>
      <p:sp>
        <p:nvSpPr>
          <p:cNvPr id="20" name="Rectangle 19"/>
          <p:cNvSpPr/>
          <p:nvPr/>
        </p:nvSpPr>
        <p:spPr>
          <a:xfrm>
            <a:off x="7899196"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2932"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588</a:t>
            </a:r>
          </a:p>
        </p:txBody>
      </p:sp>
      <p:sp>
        <p:nvSpPr>
          <p:cNvPr id="22" name="TextBox 21"/>
          <p:cNvSpPr txBox="1"/>
          <p:nvPr/>
        </p:nvSpPr>
        <p:spPr>
          <a:xfrm>
            <a:off x="8072932"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CONTROLLER TESTS</a:t>
            </a:r>
          </a:p>
        </p:txBody>
      </p:sp>
      <p:sp>
        <p:nvSpPr>
          <p:cNvPr id="23" name="Rectangle 22"/>
          <p:cNvSpPr/>
          <p:nvPr/>
        </p:nvSpPr>
        <p:spPr>
          <a:xfrm>
            <a:off x="971169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8542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0</a:t>
            </a:r>
          </a:p>
        </p:txBody>
      </p:sp>
      <p:sp>
        <p:nvSpPr>
          <p:cNvPr id="25" name="TextBox 24"/>
          <p:cNvSpPr txBox="1"/>
          <p:nvPr/>
        </p:nvSpPr>
        <p:spPr>
          <a:xfrm>
            <a:off x="988542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UNSAFE RELEASES</a:t>
            </a:r>
          </a:p>
        </p:txBody>
      </p:sp>
      <p:sp>
        <p:nvSpPr>
          <p:cNvPr id="26" name="TextBox 25"/>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THIS DECK IS ORGANISED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Four parts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CONTENTS</a:t>
            </a:r>
          </a:p>
        </p:txBody>
      </p:sp>
      <p:sp>
        <p:nvSpPr>
          <p:cNvPr id="7" name="TextBox 6"/>
          <p:cNvSpPr txBox="1"/>
          <p:nvPr/>
        </p:nvSpPr>
        <p:spPr>
          <a:xfrm>
            <a:off x="658368" y="1554480"/>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00 — The big picture</a:t>
            </a:r>
          </a:p>
        </p:txBody>
      </p:sp>
      <p:sp>
        <p:nvSpPr>
          <p:cNvPr id="8" name="TextBox 7"/>
          <p:cNvSpPr txBox="1"/>
          <p:nvPr/>
        </p:nvSpPr>
        <p:spPr>
          <a:xfrm>
            <a:off x="3858768" y="1595628"/>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the problem is, how the system fits together, and the headline result.</a:t>
            </a:r>
          </a:p>
        </p:txBody>
      </p:sp>
      <p:sp>
        <p:nvSpPr>
          <p:cNvPr id="9" name="Rectangle 8"/>
          <p:cNvSpPr/>
          <p:nvPr/>
        </p:nvSpPr>
        <p:spPr>
          <a:xfrm>
            <a:off x="658368" y="209397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212848"/>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01 — The simulator</a:t>
            </a:r>
          </a:p>
        </p:txBody>
      </p:sp>
      <p:sp>
        <p:nvSpPr>
          <p:cNvPr id="11" name="TextBox 10"/>
          <p:cNvSpPr txBox="1"/>
          <p:nvPr/>
        </p:nvSpPr>
        <p:spPr>
          <a:xfrm>
            <a:off x="3858768" y="2253996"/>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model national 5G traffic, how we check it is right, and how we ran it on 12 cluster nodes.</a:t>
            </a:r>
          </a:p>
        </p:txBody>
      </p:sp>
      <p:sp>
        <p:nvSpPr>
          <p:cNvPr id="12" name="Rectangle 11"/>
          <p:cNvSpPr/>
          <p:nvPr/>
        </p:nvSpPr>
        <p:spPr>
          <a:xfrm>
            <a:off x="658368" y="27523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871215"/>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02 — The forecaster</a:t>
            </a:r>
          </a:p>
        </p:txBody>
      </p:sp>
      <p:sp>
        <p:nvSpPr>
          <p:cNvPr id="14" name="TextBox 13"/>
          <p:cNvSpPr txBox="1"/>
          <p:nvPr/>
        </p:nvSpPr>
        <p:spPr>
          <a:xfrm>
            <a:off x="3858768" y="2912363"/>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predict demand, which models we tried, and which one we kept.</a:t>
            </a:r>
          </a:p>
        </p:txBody>
      </p:sp>
      <p:sp>
        <p:nvSpPr>
          <p:cNvPr id="15" name="Rectangle 14"/>
          <p:cNvSpPr/>
          <p:nvPr/>
        </p:nvSpPr>
        <p:spPr>
          <a:xfrm>
            <a:off x="658368" y="34107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29583"/>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03 — The optimizer</a:t>
            </a:r>
          </a:p>
        </p:txBody>
      </p:sp>
      <p:sp>
        <p:nvSpPr>
          <p:cNvPr id="17" name="TextBox 16"/>
          <p:cNvSpPr txBox="1"/>
          <p:nvPr/>
        </p:nvSpPr>
        <p:spPr>
          <a:xfrm>
            <a:off x="3858768" y="3570731"/>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Seven controller designs, what each one scored, and why the simple rule is still in production.</a:t>
            </a:r>
          </a:p>
        </p:txBody>
      </p:sp>
      <p:sp>
        <p:nvSpPr>
          <p:cNvPr id="18" name="Rectangle 17"/>
          <p:cNvSpPr/>
          <p:nvPr/>
        </p:nvSpPr>
        <p:spPr>
          <a:xfrm>
            <a:off x="658368" y="4069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187951"/>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04 — Conclusion</a:t>
            </a:r>
          </a:p>
        </p:txBody>
      </p:sp>
      <p:sp>
        <p:nvSpPr>
          <p:cNvPr id="20" name="TextBox 19"/>
          <p:cNvSpPr txBox="1"/>
          <p:nvPr/>
        </p:nvSpPr>
        <p:spPr>
          <a:xfrm>
            <a:off x="3858768" y="4229099"/>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is true, and the three questions that unblock everything else.</a:t>
            </a:r>
          </a:p>
        </p:txBody>
      </p:sp>
      <p:sp>
        <p:nvSpPr>
          <p:cNvPr id="21" name="TextBox 2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00</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BIG PICTURE</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What we built, and what we learned</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UPF is the box that carries 5G user traffic. When a phone starts a session, the network picks which UPF it attaches to. That pick is the only thing we can control. The question: does predicting traffic make that pick better than a simple fixed rule?</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PROBLEM</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One box, one lever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7" name="Rectangle 6"/>
          <p:cNvSpPr/>
          <p:nvPr/>
        </p:nvSpPr>
        <p:spPr>
          <a:xfrm>
            <a:off x="658368" y="1463040"/>
            <a:ext cx="5208879" cy="271678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A UPF IS</a:t>
            </a:r>
          </a:p>
        </p:txBody>
      </p:sp>
      <p:sp>
        <p:nvSpPr>
          <p:cNvPr id="9" name="TextBox 8"/>
          <p:cNvSpPr txBox="1"/>
          <p:nvPr/>
        </p:nvSpPr>
        <p:spPr>
          <a:xfrm>
            <a:off x="859536" y="1938528"/>
            <a:ext cx="4806543" cy="2094991"/>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A UPF — User Plane Function — is the box that carries 5G user traffic. Every video, call and download passes through one.</a:t>
            </a:r>
          </a:p>
          <a:p>
            <a:pPr algn="l">
              <a:lnSpc>
                <a:spcPct val="140000"/>
              </a:lnSpc>
              <a:spcBef>
                <a:spcPts val="800"/>
              </a:spcBef>
            </a:pPr>
            <a:r>
              <a:rPr sz="1240" b="0" i="0">
                <a:solidFill>
                  <a:srgbClr val="3C4653"/>
                </a:solidFill>
                <a:latin typeface="Segoe UI"/>
              </a:rPr>
              <a:t>If a UPF gets too busy, traffic queues up, and then it gets dropped. That is the failure we are trying to avoid.</a:t>
            </a:r>
          </a:p>
          <a:p>
            <a:pPr algn="l">
              <a:lnSpc>
                <a:spcPct val="140000"/>
              </a:lnSpc>
              <a:spcBef>
                <a:spcPts val="800"/>
              </a:spcBef>
            </a:pPr>
            <a:r>
              <a:rPr sz="1240" b="0" i="0">
                <a:solidFill>
                  <a:srgbClr val="3C4653"/>
                </a:solidFill>
                <a:latin typeface="Segoe UI"/>
              </a:rPr>
              <a:t>When a phone starts a new session, a component called the SMF decides which UPF it attaches to.</a:t>
            </a:r>
          </a:p>
        </p:txBody>
      </p:sp>
      <p:sp>
        <p:nvSpPr>
          <p:cNvPr id="10" name="Rectangle 9"/>
          <p:cNvSpPr/>
          <p:nvPr/>
        </p:nvSpPr>
        <p:spPr>
          <a:xfrm>
            <a:off x="6324447" y="1463040"/>
            <a:ext cx="5208879" cy="293725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5615"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CAN AND CANNOT CHANGE</a:t>
            </a:r>
          </a:p>
        </p:txBody>
      </p:sp>
      <p:sp>
        <p:nvSpPr>
          <p:cNvPr id="12" name="TextBox 11"/>
          <p:cNvSpPr txBox="1"/>
          <p:nvPr/>
        </p:nvSpPr>
        <p:spPr>
          <a:xfrm>
            <a:off x="6525615" y="1938528"/>
            <a:ext cx="4806543" cy="2315464"/>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We can change where NEW sessions are sent. That is the entire lever.</a:t>
            </a:r>
          </a:p>
          <a:p>
            <a:pPr algn="l">
              <a:lnSpc>
                <a:spcPct val="140000"/>
              </a:lnSpc>
              <a:spcBef>
                <a:spcPts val="800"/>
              </a:spcBef>
            </a:pPr>
            <a:r>
              <a:rPr sz="1240" b="0" i="0">
                <a:solidFill>
                  <a:srgbClr val="3C4653"/>
                </a:solidFill>
                <a:latin typeface="Segoe UI"/>
              </a:rPr>
              <a:t>We cannot move a session once it is running. Whether C-DOT's system can do that at all is still an open question — and it turns out to be the most important one in this whole project.</a:t>
            </a:r>
          </a:p>
          <a:p>
            <a:pPr algn="l">
              <a:lnSpc>
                <a:spcPct val="140000"/>
              </a:lnSpc>
              <a:spcBef>
                <a:spcPts val="800"/>
              </a:spcBef>
            </a:pPr>
            <a:r>
              <a:rPr sz="1240" b="0" i="0">
                <a:solidFill>
                  <a:srgbClr val="3C4653"/>
                </a:solidFill>
                <a:latin typeface="Segoe UI"/>
              </a:rPr>
              <a:t>Sessions last hours. So most of the load on a box at any moment was placed there long ago, and cannot be taken back.</a:t>
            </a:r>
          </a:p>
        </p:txBody>
      </p:sp>
      <p:sp>
        <p:nvSpPr>
          <p:cNvPr id="13" name="Rectangle 12"/>
          <p:cNvSpPr/>
          <p:nvPr/>
        </p:nvSpPr>
        <p:spPr>
          <a:xfrm>
            <a:off x="658368" y="469290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692904"/>
            <a:ext cx="34747" cy="963167"/>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839208"/>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THE QUESTION THIS PROJECT ANSWERS</a:t>
            </a:r>
          </a:p>
        </p:txBody>
      </p:sp>
      <p:sp>
        <p:nvSpPr>
          <p:cNvPr id="16" name="TextBox 15"/>
          <p:cNvSpPr txBox="1"/>
          <p:nvPr/>
        </p:nvSpPr>
        <p:spPr>
          <a:xfrm>
            <a:off x="896112" y="509524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Can predicting how much traffic is coming let us place new sessions better than a simple capacity-proportional rule — well enough, and safely enough, to deploy?</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THE SYSTEM WORKS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loop, end to end</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system runs once every 10 minutes. The most important rule is that no stage is allowed to see the future.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1</a:t>
            </a:r>
          </a:p>
        </p:txBody>
      </p:sp>
      <p:sp>
        <p:nvSpPr>
          <p:cNvPr id="10" name="TextBox 9"/>
          <p:cNvSpPr txBox="1"/>
          <p:nvPr/>
        </p:nvSpPr>
        <p:spPr>
          <a:xfrm>
            <a:off x="822959"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Simulate</a:t>
            </a:r>
          </a:p>
        </p:txBody>
      </p:sp>
      <p:sp>
        <p:nvSpPr>
          <p:cNvPr id="11" name="TextBox 10"/>
          <p:cNvSpPr txBox="1"/>
          <p:nvPr/>
        </p:nvSpPr>
        <p:spPr>
          <a:xfrm>
            <a:off x="822959"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Generate 30 seconds of network activity: who starts a session, how long it lasts, how much bandwidth it uses, which boxes are healthy.</a:t>
            </a:r>
          </a:p>
        </p:txBody>
      </p:sp>
      <p:sp>
        <p:nvSpPr>
          <p:cNvPr id="12" name="Rectangle 11"/>
          <p:cNvSpPr/>
          <p:nvPr/>
        </p:nvSpPr>
        <p:spPr>
          <a:xfrm>
            <a:off x="28434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80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2</a:t>
            </a:r>
          </a:p>
        </p:txBody>
      </p:sp>
      <p:sp>
        <p:nvSpPr>
          <p:cNvPr id="14" name="TextBox 13"/>
          <p:cNvSpPr txBox="1"/>
          <p:nvPr/>
        </p:nvSpPr>
        <p:spPr>
          <a:xfrm>
            <a:off x="30080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Clean up</a:t>
            </a:r>
          </a:p>
        </p:txBody>
      </p:sp>
      <p:sp>
        <p:nvSpPr>
          <p:cNvPr id="15" name="TextBox 14"/>
          <p:cNvSpPr txBox="1"/>
          <p:nvPr/>
        </p:nvSpPr>
        <p:spPr>
          <a:xfrm>
            <a:off x="30080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Turn raw counters into usable measurements. Throw away readings that are broken — resets, gaps, duplicates, stale samples.</a:t>
            </a:r>
          </a:p>
        </p:txBody>
      </p:sp>
      <p:sp>
        <p:nvSpPr>
          <p:cNvPr id="16" name="Rectangle 15"/>
          <p:cNvSpPr/>
          <p:nvPr/>
        </p:nvSpPr>
        <p:spPr>
          <a:xfrm>
            <a:off x="50284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0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3</a:t>
            </a:r>
          </a:p>
        </p:txBody>
      </p:sp>
      <p:sp>
        <p:nvSpPr>
          <p:cNvPr id="18" name="TextBox 17"/>
          <p:cNvSpPr txBox="1"/>
          <p:nvPr/>
        </p:nvSpPr>
        <p:spPr>
          <a:xfrm>
            <a:off x="51930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Predict</a:t>
            </a:r>
          </a:p>
        </p:txBody>
      </p:sp>
      <p:sp>
        <p:nvSpPr>
          <p:cNvPr id="19" name="TextBox 18"/>
          <p:cNvSpPr txBox="1"/>
          <p:nvPr/>
        </p:nvSpPr>
        <p:spPr>
          <a:xfrm>
            <a:off x="51930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For each traffic group, forecast demand 10 to 80 minutes ahead. Give a best guess and a safe upper bound.</a:t>
            </a:r>
          </a:p>
        </p:txBody>
      </p:sp>
      <p:sp>
        <p:nvSpPr>
          <p:cNvPr id="20" name="Rectangle 19"/>
          <p:cNvSpPr/>
          <p:nvPr/>
        </p:nvSpPr>
        <p:spPr>
          <a:xfrm>
            <a:off x="72135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81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4</a:t>
            </a:r>
          </a:p>
        </p:txBody>
      </p:sp>
      <p:sp>
        <p:nvSpPr>
          <p:cNvPr id="22" name="TextBox 21"/>
          <p:cNvSpPr txBox="1"/>
          <p:nvPr/>
        </p:nvSpPr>
        <p:spPr>
          <a:xfrm>
            <a:off x="73781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Decide</a:t>
            </a:r>
          </a:p>
        </p:txBody>
      </p:sp>
      <p:sp>
        <p:nvSpPr>
          <p:cNvPr id="23" name="TextBox 22"/>
          <p:cNvSpPr txBox="1"/>
          <p:nvPr/>
        </p:nvSpPr>
        <p:spPr>
          <a:xfrm>
            <a:off x="73781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An optimizer works out what share of new sessions each box should receive, given the forecast and the capacity limits.</a:t>
            </a:r>
          </a:p>
        </p:txBody>
      </p:sp>
      <p:sp>
        <p:nvSpPr>
          <p:cNvPr id="24" name="Rectangle 23"/>
          <p:cNvSpPr/>
          <p:nvPr/>
        </p:nvSpPr>
        <p:spPr>
          <a:xfrm>
            <a:off x="93985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31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5</a:t>
            </a:r>
          </a:p>
        </p:txBody>
      </p:sp>
      <p:sp>
        <p:nvSpPr>
          <p:cNvPr id="26" name="TextBox 25"/>
          <p:cNvSpPr txBox="1"/>
          <p:nvPr/>
        </p:nvSpPr>
        <p:spPr>
          <a:xfrm>
            <a:off x="95631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Check &amp; apply</a:t>
            </a:r>
          </a:p>
        </p:txBody>
      </p:sp>
      <p:sp>
        <p:nvSpPr>
          <p:cNvPr id="27" name="TextBox 26"/>
          <p:cNvSpPr txBox="1"/>
          <p:nvPr/>
        </p:nvSpPr>
        <p:spPr>
          <a:xfrm>
            <a:off x="95631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 separate checker validates the plan. If anything looks wrong, fall back to the simple rule instead.</a:t>
            </a:r>
          </a:p>
        </p:txBody>
      </p:sp>
      <p:sp>
        <p:nvSpPr>
          <p:cNvPr id="28" name="Rectangle 27"/>
          <p:cNvSpPr/>
          <p:nvPr/>
        </p:nvSpPr>
        <p:spPr>
          <a:xfrm>
            <a:off x="658368" y="463854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638548"/>
            <a:ext cx="34747" cy="13776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78485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“NO PEEKING” MATTERS</a:t>
            </a:r>
          </a:p>
        </p:txBody>
      </p:sp>
      <p:sp>
        <p:nvSpPr>
          <p:cNvPr id="31" name="TextBox 30"/>
          <p:cNvSpPr txBox="1"/>
          <p:nvPr/>
        </p:nvSpPr>
        <p:spPr>
          <a:xfrm>
            <a:off x="896112" y="504088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Telemetry arrives in 30-second buckets, and a bucket is only usable once it closes. Every input feature carries a timestamp, and training discards anything that was not yet available when the forecast was made. A decision made at time t can only affect sessions starting after t. Without this rule, a model can quietly cheat and look far better than it really is.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HEADLINE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platform works. The smart controllers do not.</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Keeping those two findings apart is the point of the whole project.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91258"/>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PASS</a:t>
            </a:r>
          </a:p>
        </p:txBody>
      </p:sp>
      <p:sp>
        <p:nvSpPr>
          <p:cNvPr id="10" name="TextBox 9"/>
          <p:cNvSpPr txBox="1"/>
          <p:nvPr/>
        </p:nvSpPr>
        <p:spPr>
          <a:xfrm>
            <a:off x="80467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SIMULATOR</a:t>
            </a:r>
          </a:p>
          <a:p>
            <a:pPr algn="l">
              <a:lnSpc>
                <a:spcPct val="130000"/>
              </a:lnSpc>
              <a:spcBef>
                <a:spcPts val="0"/>
              </a:spcBef>
            </a:pPr>
            <a:r>
              <a:rPr sz="819" b="0" i="0">
                <a:solidFill>
                  <a:srgbClr val="6C7683"/>
                </a:solidFill>
                <a:latin typeface="Consolas"/>
              </a:rPr>
              <a:t>ENGINEERING</a:t>
            </a:r>
          </a:p>
        </p:txBody>
      </p:sp>
      <p:sp>
        <p:nvSpPr>
          <p:cNvPr id="11" name="Rectangle 10"/>
          <p:cNvSpPr/>
          <p:nvPr/>
        </p:nvSpPr>
        <p:spPr>
          <a:xfrm>
            <a:off x="2479243"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191258"/>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PASS</a:t>
            </a:r>
          </a:p>
        </p:txBody>
      </p:sp>
      <p:sp>
        <p:nvSpPr>
          <p:cNvPr id="13" name="TextBox 12"/>
          <p:cNvSpPr txBox="1"/>
          <p:nvPr/>
        </p:nvSpPr>
        <p:spPr>
          <a:xfrm>
            <a:off x="2625547"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RUNS ON 12</a:t>
            </a:r>
          </a:p>
          <a:p>
            <a:pPr algn="l">
              <a:lnSpc>
                <a:spcPct val="130000"/>
              </a:lnSpc>
              <a:spcBef>
                <a:spcPts val="0"/>
              </a:spcBef>
            </a:pPr>
            <a:r>
              <a:rPr sz="819" b="0" i="0">
                <a:solidFill>
                  <a:srgbClr val="6C7683"/>
                </a:solidFill>
                <a:latin typeface="Consolas"/>
              </a:rPr>
              <a:t>CLUSTER NODES</a:t>
            </a:r>
          </a:p>
        </p:txBody>
      </p:sp>
      <p:sp>
        <p:nvSpPr>
          <p:cNvPr id="14" name="Rectangle 13"/>
          <p:cNvSpPr/>
          <p:nvPr/>
        </p:nvSpPr>
        <p:spPr>
          <a:xfrm>
            <a:off x="430011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191258"/>
            <a:ext cx="1514551"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11.6</a:t>
            </a:r>
            <a:r>
              <a:rPr sz="1000" b="0" i="0">
                <a:solidFill>
                  <a:srgbClr val="6C7683"/>
                </a:solidFill>
                <a:latin typeface="Consolas"/>
              </a:rPr>
              <a:t>%</a:t>
            </a:r>
          </a:p>
        </p:txBody>
      </p:sp>
      <p:sp>
        <p:nvSpPr>
          <p:cNvPr id="16" name="TextBox 15"/>
          <p:cNvSpPr txBox="1"/>
          <p:nvPr/>
        </p:nvSpPr>
        <p:spPr>
          <a:xfrm>
            <a:off x="444642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BEST FORECAST GAIN</a:t>
            </a:r>
          </a:p>
          <a:p>
            <a:pPr algn="l">
              <a:lnSpc>
                <a:spcPct val="130000"/>
              </a:lnSpc>
              <a:spcBef>
                <a:spcPts val="0"/>
              </a:spcBef>
            </a:pPr>
            <a:r>
              <a:rPr sz="819" b="0" i="0">
                <a:solidFill>
                  <a:srgbClr val="6C7683"/>
                </a:solidFill>
                <a:latin typeface="Consolas"/>
              </a:rPr>
              <a:t>TARGET WAS 15%</a:t>
            </a:r>
          </a:p>
        </p:txBody>
      </p:sp>
      <p:sp>
        <p:nvSpPr>
          <p:cNvPr id="17" name="Rectangle 16"/>
          <p:cNvSpPr/>
          <p:nvPr/>
        </p:nvSpPr>
        <p:spPr>
          <a:xfrm>
            <a:off x="6120993"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191258"/>
            <a:ext cx="1514551"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NO</a:t>
            </a:r>
          </a:p>
        </p:txBody>
      </p:sp>
      <p:sp>
        <p:nvSpPr>
          <p:cNvPr id="19" name="TextBox 18"/>
          <p:cNvSpPr txBox="1"/>
          <p:nvPr/>
        </p:nvSpPr>
        <p:spPr>
          <a:xfrm>
            <a:off x="6267297"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MPC CONTROLLER</a:t>
            </a:r>
          </a:p>
          <a:p>
            <a:pPr algn="l">
              <a:lnSpc>
                <a:spcPct val="130000"/>
              </a:lnSpc>
              <a:spcBef>
                <a:spcPts val="0"/>
              </a:spcBef>
            </a:pPr>
            <a:r>
              <a:rPr sz="819" b="0" i="0">
                <a:solidFill>
                  <a:srgbClr val="6C7683"/>
                </a:solidFill>
                <a:latin typeface="Consolas"/>
              </a:rPr>
              <a:t>NOT RELEASED</a:t>
            </a:r>
          </a:p>
        </p:txBody>
      </p:sp>
      <p:sp>
        <p:nvSpPr>
          <p:cNvPr id="20" name="Rectangle 19"/>
          <p:cNvSpPr/>
          <p:nvPr/>
        </p:nvSpPr>
        <p:spPr>
          <a:xfrm>
            <a:off x="794186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191258"/>
            <a:ext cx="1514551"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NO</a:t>
            </a:r>
          </a:p>
        </p:txBody>
      </p:sp>
      <p:sp>
        <p:nvSpPr>
          <p:cNvPr id="22" name="TextBox 21"/>
          <p:cNvSpPr txBox="1"/>
          <p:nvPr/>
        </p:nvSpPr>
        <p:spPr>
          <a:xfrm>
            <a:off x="808817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PRE-DRAIN</a:t>
            </a:r>
          </a:p>
          <a:p>
            <a:pPr algn="l">
              <a:lnSpc>
                <a:spcPct val="130000"/>
              </a:lnSpc>
              <a:spcBef>
                <a:spcPts val="0"/>
              </a:spcBef>
            </a:pPr>
            <a:r>
              <a:rPr sz="819" b="0" i="0">
                <a:solidFill>
                  <a:srgbClr val="6C7683"/>
                </a:solidFill>
                <a:latin typeface="Consolas"/>
              </a:rPr>
              <a:t>NOT RELEASED</a:t>
            </a:r>
          </a:p>
        </p:txBody>
      </p:sp>
      <p:sp>
        <p:nvSpPr>
          <p:cNvPr id="23" name="Rectangle 22"/>
          <p:cNvSpPr/>
          <p:nvPr/>
        </p:nvSpPr>
        <p:spPr>
          <a:xfrm>
            <a:off x="9762744"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191258"/>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SIMPLE</a:t>
            </a:r>
          </a:p>
        </p:txBody>
      </p:sp>
      <p:sp>
        <p:nvSpPr>
          <p:cNvPr id="25" name="TextBox 24"/>
          <p:cNvSpPr txBox="1"/>
          <p:nvPr/>
        </p:nvSpPr>
        <p:spPr>
          <a:xfrm>
            <a:off x="9909048"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THE RULE WE</a:t>
            </a:r>
          </a:p>
          <a:p>
            <a:pPr algn="l">
              <a:lnSpc>
                <a:spcPct val="130000"/>
              </a:lnSpc>
              <a:spcBef>
                <a:spcPts val="0"/>
              </a:spcBef>
            </a:pPr>
            <a:r>
              <a:rPr sz="819" b="0" i="0">
                <a:solidFill>
                  <a:srgbClr val="6C7683"/>
                </a:solidFill>
                <a:latin typeface="Consolas"/>
              </a:rPr>
              <a:t>STILL USE</a:t>
            </a:r>
          </a:p>
        </p:txBody>
      </p:sp>
      <p:sp>
        <p:nvSpPr>
          <p:cNvPr id="26" name="Rectangle 25"/>
          <p:cNvSpPr/>
          <p:nvPr/>
        </p:nvSpPr>
        <p:spPr>
          <a:xfrm>
            <a:off x="658368" y="3233674"/>
            <a:ext cx="5245455" cy="298094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9536" y="3448558"/>
            <a:ext cx="77724" cy="7772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4128" y="3398266"/>
            <a:ext cx="4696815" cy="182880"/>
          </a:xfrm>
          <a:prstGeom prst="rect">
            <a:avLst/>
          </a:prstGeom>
          <a:noFill/>
        </p:spPr>
        <p:txBody>
          <a:bodyPr wrap="square" anchor="t" lIns="0" rIns="0" tIns="0" bIns="0">
            <a:spAutoFit/>
          </a:bodyPr>
          <a:lstStyle/>
          <a:p>
            <a:pPr algn="l">
              <a:lnSpc>
                <a:spcPct val="100000"/>
              </a:lnSpc>
            </a:pPr>
            <a:r>
              <a:rPr sz="940" b="1" i="0">
                <a:solidFill>
                  <a:srgbClr val="2E7D5B"/>
                </a:solidFill>
                <a:latin typeface="Consolas"/>
              </a:rPr>
              <a:t>WHAT WORKED</a:t>
            </a:r>
          </a:p>
        </p:txBody>
      </p:sp>
      <p:sp>
        <p:nvSpPr>
          <p:cNvPr id="29" name="TextBox 28"/>
          <p:cNvSpPr txBox="1"/>
          <p:nvPr/>
        </p:nvSpPr>
        <p:spPr>
          <a:xfrm>
            <a:off x="859536" y="370916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traffic adds up exactly</a:t>
            </a:r>
          </a:p>
        </p:txBody>
      </p:sp>
      <p:sp>
        <p:nvSpPr>
          <p:cNvPr id="30" name="TextBox 29"/>
          <p:cNvSpPr txBox="1"/>
          <p:nvPr/>
        </p:nvSpPr>
        <p:spPr>
          <a:xfrm>
            <a:off x="859536" y="387832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Offered = carried + dropped + queued + rejected. Gap: 0.0 bytes.</a:t>
            </a:r>
          </a:p>
        </p:txBody>
      </p:sp>
      <p:sp>
        <p:nvSpPr>
          <p:cNvPr id="31" name="TextBox 30"/>
          <p:cNvSpPr txBox="1"/>
          <p:nvPr/>
        </p:nvSpPr>
        <p:spPr>
          <a:xfrm>
            <a:off x="859536" y="4125214"/>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Memory stays flat</a:t>
            </a:r>
          </a:p>
        </p:txBody>
      </p:sp>
      <p:sp>
        <p:nvSpPr>
          <p:cNvPr id="32" name="TextBox 31"/>
          <p:cNvSpPr txBox="1"/>
          <p:nvPr/>
        </p:nvSpPr>
        <p:spPr>
          <a:xfrm>
            <a:off x="859536" y="4294378"/>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Simulating 7× longer uses only 4.1% more memory.</a:t>
            </a:r>
          </a:p>
        </p:txBody>
      </p:sp>
      <p:sp>
        <p:nvSpPr>
          <p:cNvPr id="33" name="TextBox 32"/>
          <p:cNvSpPr txBox="1"/>
          <p:nvPr/>
        </p:nvSpPr>
        <p:spPr>
          <a:xfrm>
            <a:off x="859536" y="4541266"/>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Everything is reproducible</a:t>
            </a:r>
          </a:p>
        </p:txBody>
      </p:sp>
      <p:sp>
        <p:nvSpPr>
          <p:cNvPr id="34" name="TextBox 33"/>
          <p:cNvSpPr txBox="1"/>
          <p:nvPr/>
        </p:nvSpPr>
        <p:spPr>
          <a:xfrm>
            <a:off x="859536" y="4710430"/>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Every output hashed, inputs frozen, nothing silently overwritten.</a:t>
            </a:r>
          </a:p>
        </p:txBody>
      </p:sp>
      <p:sp>
        <p:nvSpPr>
          <p:cNvPr id="35" name="TextBox 34"/>
          <p:cNvSpPr txBox="1"/>
          <p:nvPr/>
        </p:nvSpPr>
        <p:spPr>
          <a:xfrm>
            <a:off x="859536" y="4957318"/>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Session-length estimation works</a:t>
            </a:r>
          </a:p>
        </p:txBody>
      </p:sp>
      <p:sp>
        <p:nvSpPr>
          <p:cNvPr id="36" name="TextBox 35"/>
          <p:cNvSpPr txBox="1"/>
          <p:nvPr/>
        </p:nvSpPr>
        <p:spPr>
          <a:xfrm>
            <a:off x="859536" y="5126482"/>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Learned from ordinary logs; survived five unknown distributions.</a:t>
            </a:r>
          </a:p>
        </p:txBody>
      </p:sp>
      <p:sp>
        <p:nvSpPr>
          <p:cNvPr id="37" name="TextBox 36"/>
          <p:cNvSpPr txBox="1"/>
          <p:nvPr/>
        </p:nvSpPr>
        <p:spPr>
          <a:xfrm>
            <a:off x="859536" y="5373370"/>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There is room to improve</a:t>
            </a:r>
          </a:p>
        </p:txBody>
      </p:sp>
      <p:sp>
        <p:nvSpPr>
          <p:cNvPr id="38" name="TextBox 37"/>
          <p:cNvSpPr txBox="1"/>
          <p:nvPr/>
        </p:nvSpPr>
        <p:spPr>
          <a:xfrm>
            <a:off x="859536" y="5542534"/>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A version that knows the future removes 100% of overload.</a:t>
            </a:r>
          </a:p>
        </p:txBody>
      </p:sp>
      <p:sp>
        <p:nvSpPr>
          <p:cNvPr id="39" name="TextBox 38"/>
          <p:cNvSpPr txBox="1"/>
          <p:nvPr/>
        </p:nvSpPr>
        <p:spPr>
          <a:xfrm>
            <a:off x="859536" y="578942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Nothing unsafe shipped</a:t>
            </a:r>
          </a:p>
        </p:txBody>
      </p:sp>
      <p:sp>
        <p:nvSpPr>
          <p:cNvPr id="40" name="TextBox 39"/>
          <p:cNvSpPr txBox="1"/>
          <p:nvPr/>
        </p:nvSpPr>
        <p:spPr>
          <a:xfrm>
            <a:off x="859536" y="595858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588 tests; no controller released without passing every check.</a:t>
            </a:r>
          </a:p>
        </p:txBody>
      </p:sp>
      <p:sp>
        <p:nvSpPr>
          <p:cNvPr id="41" name="Rectangle 40"/>
          <p:cNvSpPr/>
          <p:nvPr/>
        </p:nvSpPr>
        <p:spPr>
          <a:xfrm>
            <a:off x="6287871" y="3233674"/>
            <a:ext cx="5245455" cy="298094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3448558"/>
            <a:ext cx="77724" cy="77724"/>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53631" y="3398266"/>
            <a:ext cx="4696815" cy="182880"/>
          </a:xfrm>
          <a:prstGeom prst="rect">
            <a:avLst/>
          </a:prstGeom>
          <a:noFill/>
        </p:spPr>
        <p:txBody>
          <a:bodyPr wrap="square" anchor="t" lIns="0" rIns="0" tIns="0" bIns="0">
            <a:spAutoFit/>
          </a:bodyPr>
          <a:lstStyle/>
          <a:p>
            <a:pPr algn="l">
              <a:lnSpc>
                <a:spcPct val="100000"/>
              </a:lnSpc>
            </a:pPr>
            <a:r>
              <a:rPr sz="940" b="1" i="0">
                <a:solidFill>
                  <a:srgbClr val="9C3B35"/>
                </a:solidFill>
                <a:latin typeface="Consolas"/>
              </a:rPr>
              <a:t>WHAT DID NOT</a:t>
            </a:r>
          </a:p>
        </p:txBody>
      </p:sp>
      <p:sp>
        <p:nvSpPr>
          <p:cNvPr id="44" name="TextBox 43"/>
          <p:cNvSpPr txBox="1"/>
          <p:nvPr/>
        </p:nvSpPr>
        <p:spPr>
          <a:xfrm>
            <a:off x="6489039" y="370916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better forecast models</a:t>
            </a:r>
          </a:p>
        </p:txBody>
      </p:sp>
      <p:sp>
        <p:nvSpPr>
          <p:cNvPr id="45" name="TextBox 44"/>
          <p:cNvSpPr txBox="1"/>
          <p:nvPr/>
        </p:nvSpPr>
        <p:spPr>
          <a:xfrm>
            <a:off x="6489039" y="387832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LightGBM improved accuracy 11.6%. We needed 15%.</a:t>
            </a:r>
          </a:p>
        </p:txBody>
      </p:sp>
      <p:sp>
        <p:nvSpPr>
          <p:cNvPr id="46" name="TextBox 45"/>
          <p:cNvSpPr txBox="1"/>
          <p:nvPr/>
        </p:nvSpPr>
        <p:spPr>
          <a:xfrm>
            <a:off x="6489039" y="4125214"/>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linear-program controller</a:t>
            </a:r>
          </a:p>
        </p:txBody>
      </p:sp>
      <p:sp>
        <p:nvSpPr>
          <p:cNvPr id="47" name="TextBox 46"/>
          <p:cNvSpPr txBox="1"/>
          <p:nvPr/>
        </p:nvSpPr>
        <p:spPr>
          <a:xfrm>
            <a:off x="6489039" y="4294378"/>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Cut overload 2.4%. We needed 20%. Tuning made it worse.</a:t>
            </a:r>
          </a:p>
        </p:txBody>
      </p:sp>
      <p:sp>
        <p:nvSpPr>
          <p:cNvPr id="48" name="TextBox 47"/>
          <p:cNvSpPr txBox="1"/>
          <p:nvPr/>
        </p:nvSpPr>
        <p:spPr>
          <a:xfrm>
            <a:off x="6489039" y="4541266"/>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MPC controller</a:t>
            </a:r>
          </a:p>
        </p:txBody>
      </p:sp>
      <p:sp>
        <p:nvSpPr>
          <p:cNvPr id="49" name="TextBox 48"/>
          <p:cNvSpPr txBox="1"/>
          <p:nvPr/>
        </p:nvSpPr>
        <p:spPr>
          <a:xfrm>
            <a:off x="6489039" y="4710430"/>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Break-even in development; 13.3% WORSE on 128 realistic test days.</a:t>
            </a:r>
          </a:p>
        </p:txBody>
      </p:sp>
      <p:sp>
        <p:nvSpPr>
          <p:cNvPr id="50" name="TextBox 49"/>
          <p:cNvSpPr txBox="1"/>
          <p:nvPr/>
        </p:nvSpPr>
        <p:spPr>
          <a:xfrm>
            <a:off x="6489039" y="4957318"/>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Transfer between situations</a:t>
            </a:r>
          </a:p>
        </p:txBody>
      </p:sp>
      <p:sp>
        <p:nvSpPr>
          <p:cNvPr id="51" name="TextBox 50"/>
          <p:cNvSpPr txBox="1"/>
          <p:nvPr/>
        </p:nvSpPr>
        <p:spPr>
          <a:xfrm>
            <a:off x="6489039" y="5126482"/>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Pre-drain gained 79–83% on planned outages, lost 5.6–7.2% on surprises.</a:t>
            </a:r>
          </a:p>
        </p:txBody>
      </p:sp>
      <p:sp>
        <p:nvSpPr>
          <p:cNvPr id="52" name="TextBox 51"/>
          <p:cNvSpPr txBox="1"/>
          <p:nvPr/>
        </p:nvSpPr>
        <p:spPr>
          <a:xfrm>
            <a:off x="6489039" y="5373370"/>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Worst-case safety</a:t>
            </a:r>
          </a:p>
        </p:txBody>
      </p:sp>
      <p:sp>
        <p:nvSpPr>
          <p:cNvPr id="53" name="TextBox 52"/>
          <p:cNvSpPr txBox="1"/>
          <p:nvPr/>
        </p:nvSpPr>
        <p:spPr>
          <a:xfrm>
            <a:off x="6489039" y="5542534"/>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Best candidate failed the worst-day limit by 0.37 points.</a:t>
            </a:r>
          </a:p>
        </p:txBody>
      </p:sp>
      <p:sp>
        <p:nvSpPr>
          <p:cNvPr id="54" name="TextBox 53"/>
          <p:cNvSpPr txBox="1"/>
          <p:nvPr/>
        </p:nvSpPr>
        <p:spPr>
          <a:xfrm>
            <a:off x="6489039" y="578942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Decision speed</a:t>
            </a:r>
          </a:p>
        </p:txBody>
      </p:sp>
      <p:sp>
        <p:nvSpPr>
          <p:cNvPr id="55" name="TextBox 54"/>
          <p:cNvSpPr txBox="1"/>
          <p:nvPr/>
        </p:nvSpPr>
        <p:spPr>
          <a:xfrm>
            <a:off x="6489039" y="595858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225–970 ms per decision; only one candidate met the 500 ms budget.</a:t>
            </a:r>
          </a:p>
        </p:txBody>
      </p:sp>
      <p:sp>
        <p:nvSpPr>
          <p:cNvPr id="56" name="TextBox 5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we decided what counts as a win</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experiment was written down before it ran, with a fixed list of pass/fail checks. Test data sits in three separate pools, and a controller only reaches the next pool by passing every check on the current one.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pic>
        <p:nvPicPr>
          <p:cNvPr id="8" name="Picture 7" descr="c_firewall.png"/>
          <p:cNvPicPr>
            <a:picLocks noChangeAspect="1"/>
          </p:cNvPicPr>
          <p:nvPr/>
        </p:nvPicPr>
        <p:blipFill>
          <a:blip r:embed="rId2"/>
          <a:stretch>
            <a:fillRect/>
          </a:stretch>
        </p:blipFill>
        <p:spPr>
          <a:xfrm>
            <a:off x="658368" y="2568702"/>
            <a:ext cx="6524975" cy="1915099"/>
          </a:xfrm>
          <a:prstGeom prst="rect">
            <a:avLst/>
          </a:prstGeom>
        </p:spPr>
      </p:pic>
      <p:sp>
        <p:nvSpPr>
          <p:cNvPr id="9" name="Rectangle 8"/>
          <p:cNvSpPr/>
          <p:nvPr/>
        </p:nvSpPr>
        <p:spPr>
          <a:xfrm>
            <a:off x="7509592"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550414"/>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One main number, chosen up front</a:t>
            </a:r>
          </a:p>
        </p:txBody>
      </p:sp>
      <p:sp>
        <p:nvSpPr>
          <p:cNvPr id="11" name="TextBox 10"/>
          <p:cNvSpPr txBox="1"/>
          <p:nvPr/>
        </p:nvSpPr>
        <p:spPr>
          <a:xfrm>
            <a:off x="7692472" y="2798419"/>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Uplink overload area: how far above the safe limit a box goes, times how long it stays there.</a:t>
            </a:r>
          </a:p>
        </p:txBody>
      </p:sp>
      <p:sp>
        <p:nvSpPr>
          <p:cNvPr id="12" name="Rectangle 11"/>
          <p:cNvSpPr/>
          <p:nvPr/>
        </p:nvSpPr>
        <p:spPr>
          <a:xfrm>
            <a:off x="7509592" y="330657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4665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398011"/>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Every comparison is like-for-like</a:t>
            </a:r>
          </a:p>
        </p:txBody>
      </p:sp>
      <p:sp>
        <p:nvSpPr>
          <p:cNvPr id="15" name="TextBox 14"/>
          <p:cNvSpPr txBox="1"/>
          <p:nvPr/>
        </p:nvSpPr>
        <p:spPr>
          <a:xfrm>
            <a:off x="7692472" y="3646017"/>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Same day, same random numbers, same failures. Any difference is the controller alone.</a:t>
            </a:r>
          </a:p>
        </p:txBody>
      </p:sp>
      <p:sp>
        <p:nvSpPr>
          <p:cNvPr id="16" name="Rectangle 15"/>
          <p:cNvSpPr/>
          <p:nvPr/>
        </p:nvSpPr>
        <p:spPr>
          <a:xfrm>
            <a:off x="7509592" y="415416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431418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4245610"/>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Error bars are compulsory</a:t>
            </a:r>
          </a:p>
        </p:txBody>
      </p:sp>
      <p:sp>
        <p:nvSpPr>
          <p:cNvPr id="19" name="TextBox 18"/>
          <p:cNvSpPr txBox="1"/>
          <p:nvPr/>
        </p:nvSpPr>
        <p:spPr>
          <a:xfrm>
            <a:off x="7692472" y="4493615"/>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Average gain, a 95% confidence range, a severity-weighted total, and the single worst day.</a:t>
            </a:r>
          </a:p>
        </p:txBody>
      </p:sp>
      <p:sp>
        <p:nvSpPr>
          <p:cNvPr id="20" name="Rectangle 19"/>
          <p:cNvSpPr/>
          <p:nvPr/>
        </p:nvSpPr>
        <p:spPr>
          <a:xfrm>
            <a:off x="7509592" y="5001768"/>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516178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5093208"/>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When in doubt, stop</a:t>
            </a:r>
          </a:p>
        </p:txBody>
      </p:sp>
      <p:sp>
        <p:nvSpPr>
          <p:cNvPr id="23" name="TextBox 22"/>
          <p:cNvSpPr txBox="1"/>
          <p:nvPr/>
        </p:nvSpPr>
        <p:spPr>
          <a:xfrm>
            <a:off x="7692472" y="5341213"/>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Stale data, uncertain telemetry or an infeasible plan all hand control back to the simple rule.</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01</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SIMULATOR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Building a copy of a national 5G network</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We do not simulate individual data packets — far too slow at this size. We simulate sessions: one starts, uses bandwidth for a while, then ends. We track how much each box is carrying and whether it exceeds its safe limit. Fast enough to run 112 simulated days.</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ENGINE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happens in one 30-second step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mechanism draws from its own stream of random numbers, so changing the failure schedule cannot accidentally change which users arrive. Twenty steps — 10 minutes — make one decision round.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01</a:t>
            </a:r>
          </a:p>
        </p:txBody>
      </p:sp>
      <p:sp>
        <p:nvSpPr>
          <p:cNvPr id="9" name="TextBox 8"/>
          <p:cNvSpPr txBox="1"/>
          <p:nvPr/>
        </p:nvSpPr>
        <p:spPr>
          <a:xfrm>
            <a:off x="104241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Time of day. </a:t>
            </a:r>
            <a:r>
              <a:rPr sz="1160" b="0" i="0">
                <a:solidFill>
                  <a:srgbClr val="3C4653"/>
                </a:solidFill>
                <a:latin typeface="Segoe UI"/>
              </a:rPr>
              <a:t>Daily and weekly cycles. Home areas peak in the evening, business areas mid-day, 7–11 hours apart. People move between zones; the total headcount is conserved exactly.</a:t>
            </a:r>
          </a:p>
        </p:txBody>
      </p:sp>
      <p:sp>
        <p:nvSpPr>
          <p:cNvPr id="10" name="Rectangle 9"/>
          <p:cNvSpPr/>
          <p:nvPr/>
        </p:nvSpPr>
        <p:spPr>
          <a:xfrm>
            <a:off x="658368"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02</a:t>
            </a:r>
          </a:p>
        </p:txBody>
      </p:sp>
      <p:sp>
        <p:nvSpPr>
          <p:cNvPr id="12" name="TextBox 11"/>
          <p:cNvSpPr txBox="1"/>
          <p:nvPr/>
        </p:nvSpPr>
        <p:spPr>
          <a:xfrm>
            <a:off x="104241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Scheduled events. </a:t>
            </a:r>
            <a:r>
              <a:rPr sz="1160" b="0" i="0">
                <a:solidFill>
                  <a:srgbClr val="3C4653"/>
                </a:solidFill>
                <a:latin typeface="Segoe UI"/>
              </a:rPr>
              <a:t>A stadium match or planned maintenance is applied only after the moment the controller was actually told about it.</a:t>
            </a:r>
          </a:p>
        </p:txBody>
      </p:sp>
      <p:sp>
        <p:nvSpPr>
          <p:cNvPr id="13" name="Rectangle 12"/>
          <p:cNvSpPr/>
          <p:nvPr/>
        </p:nvSpPr>
        <p:spPr>
          <a:xfrm>
            <a:off x="658368"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03</a:t>
            </a:r>
          </a:p>
        </p:txBody>
      </p:sp>
      <p:sp>
        <p:nvSpPr>
          <p:cNvPr id="15" name="TextBox 14"/>
          <p:cNvSpPr txBox="1"/>
          <p:nvPr/>
        </p:nvSpPr>
        <p:spPr>
          <a:xfrm>
            <a:off x="104241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Random variation. </a:t>
            </a:r>
            <a:r>
              <a:rPr sz="1160" b="0" i="0">
                <a:solidFill>
                  <a:srgbClr val="3C4653"/>
                </a:solidFill>
                <a:latin typeface="Segoe UI"/>
              </a:rPr>
              <a:t>A slow drift where each step partly carries over from the last, plus occasional bursts of random length.</a:t>
            </a:r>
          </a:p>
        </p:txBody>
      </p:sp>
      <p:sp>
        <p:nvSpPr>
          <p:cNvPr id="16" name="Rectangle 15"/>
          <p:cNvSpPr/>
          <p:nvPr/>
        </p:nvSpPr>
        <p:spPr>
          <a:xfrm>
            <a:off x="658368"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04</a:t>
            </a:r>
          </a:p>
        </p:txBody>
      </p:sp>
      <p:sp>
        <p:nvSpPr>
          <p:cNvPr id="18" name="TextBox 17"/>
          <p:cNvSpPr txBox="1"/>
          <p:nvPr/>
        </p:nvSpPr>
        <p:spPr>
          <a:xfrm>
            <a:off x="104241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New sessions arrive. </a:t>
            </a:r>
            <a:r>
              <a:rPr sz="1160" b="0" i="0">
                <a:solidFill>
                  <a:srgbClr val="3C4653"/>
                </a:solidFill>
                <a:latin typeface="Segoe UI"/>
              </a:rPr>
              <a:t>Drawn from a Poisson process whose rate changes over the day.</a:t>
            </a:r>
          </a:p>
        </p:txBody>
      </p:sp>
      <p:sp>
        <p:nvSpPr>
          <p:cNvPr id="19" name="TextBox 18"/>
          <p:cNvSpPr txBox="1"/>
          <p:nvPr/>
        </p:nvSpPr>
        <p:spPr>
          <a:xfrm>
            <a:off x="6324447"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05</a:t>
            </a:r>
          </a:p>
        </p:txBody>
      </p:sp>
      <p:sp>
        <p:nvSpPr>
          <p:cNvPr id="20" name="TextBox 19"/>
          <p:cNvSpPr txBox="1"/>
          <p:nvPr/>
        </p:nvSpPr>
        <p:spPr>
          <a:xfrm>
            <a:off x="670849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Session size and length. </a:t>
            </a:r>
            <a:r>
              <a:rPr sz="1160" b="0" i="0">
                <a:solidFill>
                  <a:srgbClr val="3C4653"/>
                </a:solidFill>
                <a:latin typeface="Segoe UI"/>
              </a:rPr>
              <a:t>Duration from a heavy-tailed distribution — most short, a few very long. Uplink and downlink bandwidth drawn together, so they are correlated.</a:t>
            </a:r>
          </a:p>
        </p:txBody>
      </p:sp>
      <p:sp>
        <p:nvSpPr>
          <p:cNvPr id="21" name="Rectangle 20"/>
          <p:cNvSpPr/>
          <p:nvPr/>
        </p:nvSpPr>
        <p:spPr>
          <a:xfrm>
            <a:off x="6324447"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06</a:t>
            </a:r>
          </a:p>
        </p:txBody>
      </p:sp>
      <p:sp>
        <p:nvSpPr>
          <p:cNvPr id="23" name="TextBox 22"/>
          <p:cNvSpPr txBox="1"/>
          <p:nvPr/>
        </p:nvSpPr>
        <p:spPr>
          <a:xfrm>
            <a:off x="670849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Placement. </a:t>
            </a:r>
            <a:r>
              <a:rPr sz="1160" b="0" i="0">
                <a:solidFill>
                  <a:srgbClr val="3C4653"/>
                </a:solidFill>
                <a:latin typeface="Segoe UI"/>
              </a:rPr>
              <a:t>Each new session goes to a box chosen by whichever rule is active. This is the only lever in the whole system.</a:t>
            </a:r>
          </a:p>
        </p:txBody>
      </p:sp>
      <p:sp>
        <p:nvSpPr>
          <p:cNvPr id="24" name="Rectangle 23"/>
          <p:cNvSpPr/>
          <p:nvPr/>
        </p:nvSpPr>
        <p:spPr>
          <a:xfrm>
            <a:off x="6324447"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4447"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07</a:t>
            </a:r>
          </a:p>
        </p:txBody>
      </p:sp>
      <p:sp>
        <p:nvSpPr>
          <p:cNvPr id="26" name="TextBox 25"/>
          <p:cNvSpPr txBox="1"/>
          <p:nvPr/>
        </p:nvSpPr>
        <p:spPr>
          <a:xfrm>
            <a:off x="670849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Capacity check. </a:t>
            </a:r>
            <a:r>
              <a:rPr sz="1160" b="0" i="0">
                <a:solidFill>
                  <a:srgbClr val="3C4653"/>
                </a:solidFill>
                <a:latin typeface="Segoe UI"/>
              </a:rPr>
              <a:t>Apply failures, then count traffic offered, carried, queued, dropped and rejected — separately for uplink and downlink.</a:t>
            </a:r>
          </a:p>
        </p:txBody>
      </p:sp>
      <p:sp>
        <p:nvSpPr>
          <p:cNvPr id="27" name="Rectangle 26"/>
          <p:cNvSpPr/>
          <p:nvPr/>
        </p:nvSpPr>
        <p:spPr>
          <a:xfrm>
            <a:off x="6324447"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4447"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08</a:t>
            </a:r>
          </a:p>
        </p:txBody>
      </p:sp>
      <p:sp>
        <p:nvSpPr>
          <p:cNvPr id="29" name="TextBox 28"/>
          <p:cNvSpPr txBox="1"/>
          <p:nvPr/>
        </p:nvSpPr>
        <p:spPr>
          <a:xfrm>
            <a:off x="670849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Emit telemetry. </a:t>
            </a:r>
            <a:r>
              <a:rPr sz="1160" b="0" i="0">
                <a:solidFill>
                  <a:srgbClr val="3C4653"/>
                </a:solidFill>
                <a:latin typeface="Segoe UI"/>
              </a:rPr>
              <a:t>Write counters out, including flags for resets, restarts, and missing or stale readings.</a:t>
            </a:r>
          </a:p>
        </p:txBody>
      </p:sp>
      <p:sp>
        <p:nvSpPr>
          <p:cNvPr id="30" name="TextBox 2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STRUCTURE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grouped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Demand is split into 96 traffic groups: 8 area types × 12 service classes. Each has its own arrival rate, session length, bandwidth profile and list of boxes it may use. The forecaster predicts per group; the optimizer decides per group.</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6870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46426"/>
            <a:ext cx="179290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0" name="TextBox 9"/>
          <p:cNvSpPr txBox="1"/>
          <p:nvPr/>
        </p:nvSpPr>
        <p:spPr>
          <a:xfrm>
            <a:off x="2698156" y="264642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329400" y="2646426"/>
            <a:ext cx="712163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DETAIL</a:t>
            </a:r>
          </a:p>
        </p:txBody>
      </p:sp>
      <p:sp>
        <p:nvSpPr>
          <p:cNvPr id="12" name="Rectangle 11"/>
          <p:cNvSpPr/>
          <p:nvPr/>
        </p:nvSpPr>
        <p:spPr>
          <a:xfrm>
            <a:off x="658368" y="284302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93314"/>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Area types</a:t>
            </a:r>
          </a:p>
        </p:txBody>
      </p:sp>
      <p:sp>
        <p:nvSpPr>
          <p:cNvPr id="14" name="TextBox 13"/>
          <p:cNvSpPr txBox="1"/>
          <p:nvPr/>
        </p:nvSpPr>
        <p:spPr>
          <a:xfrm>
            <a:off x="2698156" y="2893314"/>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a:t>
            </a:r>
          </a:p>
        </p:txBody>
      </p:sp>
      <p:sp>
        <p:nvSpPr>
          <p:cNvPr id="15" name="TextBox 14"/>
          <p:cNvSpPr txBox="1"/>
          <p:nvPr/>
        </p:nvSpPr>
        <p:spPr>
          <a:xfrm>
            <a:off x="4329400" y="2893314"/>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four urban, plus industrial, airport, stadium and rural — detailed next slide</a:t>
            </a:r>
          </a:p>
        </p:txBody>
      </p:sp>
      <p:sp>
        <p:nvSpPr>
          <p:cNvPr id="16" name="Rectangle 15"/>
          <p:cNvSpPr/>
          <p:nvPr/>
        </p:nvSpPr>
        <p:spPr>
          <a:xfrm>
            <a:off x="658368" y="31173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11734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676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Service types</a:t>
            </a:r>
          </a:p>
        </p:txBody>
      </p:sp>
      <p:sp>
        <p:nvSpPr>
          <p:cNvPr id="19" name="TextBox 18"/>
          <p:cNvSpPr txBox="1"/>
          <p:nvPr/>
        </p:nvSpPr>
        <p:spPr>
          <a:xfrm>
            <a:off x="2698156" y="31676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a:t>
            </a:r>
          </a:p>
        </p:txBody>
      </p:sp>
      <p:sp>
        <p:nvSpPr>
          <p:cNvPr id="20" name="TextBox 19"/>
          <p:cNvSpPr txBox="1"/>
          <p:nvPr/>
        </p:nvSpPr>
        <p:spPr>
          <a:xfrm>
            <a:off x="4329400" y="31676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internet, video, voice; enterprise VPN; industry telemetry &amp; control; vehicles; public safety; stadium media; IoT; roaming</a:t>
            </a:r>
          </a:p>
        </p:txBody>
      </p:sp>
      <p:sp>
        <p:nvSpPr>
          <p:cNvPr id="21" name="Rectangle 20"/>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4419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groups</a:t>
            </a:r>
          </a:p>
        </p:txBody>
      </p:sp>
      <p:sp>
        <p:nvSpPr>
          <p:cNvPr id="23" name="TextBox 22"/>
          <p:cNvSpPr txBox="1"/>
          <p:nvPr/>
        </p:nvSpPr>
        <p:spPr>
          <a:xfrm>
            <a:off x="2698156" y="34419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a:t>
            </a:r>
          </a:p>
        </p:txBody>
      </p:sp>
      <p:sp>
        <p:nvSpPr>
          <p:cNvPr id="24" name="TextBox 23"/>
          <p:cNvSpPr txBox="1"/>
          <p:nvPr/>
        </p:nvSpPr>
        <p:spPr>
          <a:xfrm>
            <a:off x="4329400" y="34419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8 area types × 12 service classes</a:t>
            </a:r>
          </a:p>
        </p:txBody>
      </p:sp>
      <p:sp>
        <p:nvSpPr>
          <p:cNvPr id="25" name="Rectangle 24"/>
          <p:cNvSpPr/>
          <p:nvPr/>
        </p:nvSpPr>
        <p:spPr>
          <a:xfrm>
            <a:off x="658368" y="36659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66598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1627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28" name="TextBox 27"/>
          <p:cNvSpPr txBox="1"/>
          <p:nvPr/>
        </p:nvSpPr>
        <p:spPr>
          <a:xfrm>
            <a:off x="2698156" y="371627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a:t>
            </a:r>
          </a:p>
        </p:txBody>
      </p:sp>
      <p:sp>
        <p:nvSpPr>
          <p:cNvPr id="29" name="TextBox 28"/>
          <p:cNvSpPr txBox="1"/>
          <p:nvPr/>
        </p:nvSpPr>
        <p:spPr>
          <a:xfrm>
            <a:off x="4329400" y="371627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16 edge, 4 regional, 4 central; each group may use 6 of them</a:t>
            </a:r>
          </a:p>
        </p:txBody>
      </p:sp>
      <p:sp>
        <p:nvSpPr>
          <p:cNvPr id="30" name="Rectangle 29"/>
          <p:cNvSpPr/>
          <p:nvPr/>
        </p:nvSpPr>
        <p:spPr>
          <a:xfrm>
            <a:off x="658368" y="39403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9059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Edge box capacity</a:t>
            </a:r>
          </a:p>
        </p:txBody>
      </p:sp>
      <p:sp>
        <p:nvSpPr>
          <p:cNvPr id="32" name="TextBox 31"/>
          <p:cNvSpPr txBox="1"/>
          <p:nvPr/>
        </p:nvSpPr>
        <p:spPr>
          <a:xfrm>
            <a:off x="2698156" y="399059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2.6 / 5.2 Tbps</a:t>
            </a:r>
          </a:p>
        </p:txBody>
      </p:sp>
      <p:sp>
        <p:nvSpPr>
          <p:cNvPr id="33" name="TextBox 32"/>
          <p:cNvSpPr txBox="1"/>
          <p:nvPr/>
        </p:nvSpPr>
        <p:spPr>
          <a:xfrm>
            <a:off x="4329400" y="399059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uplink / downlink, with 78% / 80% treated as the safe operating limit</a:t>
            </a:r>
          </a:p>
        </p:txBody>
      </p:sp>
      <p:sp>
        <p:nvSpPr>
          <p:cNvPr id="34" name="Rectangle 33"/>
          <p:cNvSpPr/>
          <p:nvPr/>
        </p:nvSpPr>
        <p:spPr>
          <a:xfrm>
            <a:off x="658368" y="421462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21462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26491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Session limit</a:t>
            </a:r>
          </a:p>
        </p:txBody>
      </p:sp>
      <p:sp>
        <p:nvSpPr>
          <p:cNvPr id="37" name="TextBox 36"/>
          <p:cNvSpPr txBox="1"/>
          <p:nvPr/>
        </p:nvSpPr>
        <p:spPr>
          <a:xfrm>
            <a:off x="2698156" y="426491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170 000</a:t>
            </a:r>
          </a:p>
        </p:txBody>
      </p:sp>
      <p:sp>
        <p:nvSpPr>
          <p:cNvPr id="38" name="TextBox 37"/>
          <p:cNvSpPr txBox="1"/>
          <p:nvPr/>
        </p:nvSpPr>
        <p:spPr>
          <a:xfrm>
            <a:off x="4329400" y="426491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per box, with 82% as the safe limit</a:t>
            </a:r>
          </a:p>
        </p:txBody>
      </p:sp>
      <p:sp>
        <p:nvSpPr>
          <p:cNvPr id="39" name="Rectangle 38"/>
          <p:cNvSpPr/>
          <p:nvPr/>
        </p:nvSpPr>
        <p:spPr>
          <a:xfrm>
            <a:off x="658368" y="44889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5392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a:t>
            </a:r>
          </a:p>
        </p:txBody>
      </p:sp>
      <p:sp>
        <p:nvSpPr>
          <p:cNvPr id="41" name="TextBox 40"/>
          <p:cNvSpPr txBox="1"/>
          <p:nvPr/>
        </p:nvSpPr>
        <p:spPr>
          <a:xfrm>
            <a:off x="2698156" y="45392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 22 ms</a:t>
            </a:r>
          </a:p>
        </p:txBody>
      </p:sp>
      <p:sp>
        <p:nvSpPr>
          <p:cNvPr id="42" name="TextBox 41"/>
          <p:cNvSpPr txBox="1"/>
          <p:nvPr/>
        </p:nvSpPr>
        <p:spPr>
          <a:xfrm>
            <a:off x="4329400" y="45392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staying in your own zone vs crossing into another</a:t>
            </a:r>
          </a:p>
        </p:txBody>
      </p:sp>
      <p:sp>
        <p:nvSpPr>
          <p:cNvPr id="43" name="Rectangle 42"/>
          <p:cNvSpPr/>
          <p:nvPr/>
        </p:nvSpPr>
        <p:spPr>
          <a:xfrm>
            <a:off x="658368" y="47632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76326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8135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Simulated users</a:t>
            </a:r>
          </a:p>
        </p:txBody>
      </p:sp>
      <p:sp>
        <p:nvSpPr>
          <p:cNvPr id="46" name="TextBox 45"/>
          <p:cNvSpPr txBox="1"/>
          <p:nvPr/>
        </p:nvSpPr>
        <p:spPr>
          <a:xfrm>
            <a:off x="2698156" y="48135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16 000 000</a:t>
            </a:r>
          </a:p>
        </p:txBody>
      </p:sp>
      <p:sp>
        <p:nvSpPr>
          <p:cNvPr id="47" name="TextBox 46"/>
          <p:cNvSpPr txBox="1"/>
          <p:nvPr/>
        </p:nvSpPr>
        <p:spPr>
          <a:xfrm>
            <a:off x="4329400" y="48135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modelled as population counts, not individual subscriber identities</a:t>
            </a:r>
          </a:p>
        </p:txBody>
      </p:sp>
      <p:sp>
        <p:nvSpPr>
          <p:cNvPr id="48" name="Rectangle 47"/>
          <p:cNvSpPr/>
          <p:nvPr/>
        </p:nvSpPr>
        <p:spPr>
          <a:xfrm>
            <a:off x="658368" y="50375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2568702"/>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092445"/>
            <a:ext cx="10874959" cy="274320"/>
          </a:xfrm>
          <a:prstGeom prst="rect">
            <a:avLst/>
          </a:prstGeom>
          <a:noFill/>
        </p:spPr>
        <p:txBody>
          <a:bodyPr wrap="square" anchor="t" lIns="0" rIns="0" tIns="0" bIns="0">
            <a:spAutoFit/>
          </a:bodyPr>
          <a:lstStyle/>
          <a:p>
            <a:pPr algn="l">
              <a:lnSpc>
                <a:spcPct val="130000"/>
              </a:lnSpc>
            </a:pPr>
            <a:r>
              <a:rPr sz="980" b="0" i="0">
                <a:solidFill>
                  <a:srgbClr val="6C7683"/>
                </a:solidFill>
                <a:latin typeface="Segoe UI"/>
              </a:rPr>
              <a:t>The capacity numbers are assumptions we chose. C-DOT has not published real per-box capacity, so these are placeholders until we get the real figures.</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eight area types we model</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simulator does not model geography as a map. It models eight area archetypes, each with its own population scale and its own mix of services. A traffic group is one service class inside one area.</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4666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AREA</a:t>
            </a:r>
          </a:p>
        </p:txBody>
      </p:sp>
      <p:sp>
        <p:nvSpPr>
          <p:cNvPr id="10" name="TextBox 9"/>
          <p:cNvSpPr txBox="1"/>
          <p:nvPr/>
        </p:nvSpPr>
        <p:spPr>
          <a:xfrm>
            <a:off x="2371907" y="2591562"/>
            <a:ext cx="22278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REPRESENTS</a:t>
            </a:r>
          </a:p>
        </p:txBody>
      </p:sp>
      <p:sp>
        <p:nvSpPr>
          <p:cNvPr id="11" name="TextBox 10"/>
          <p:cNvSpPr txBox="1"/>
          <p:nvPr/>
        </p:nvSpPr>
        <p:spPr>
          <a:xfrm>
            <a:off x="4764398" y="2591562"/>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SCALE Z(K)</a:t>
            </a:r>
          </a:p>
        </p:txBody>
      </p:sp>
      <p:sp>
        <p:nvSpPr>
          <p:cNvPr id="12" name="TextBox 11"/>
          <p:cNvSpPr txBox="1"/>
          <p:nvPr/>
        </p:nvSpPr>
        <p:spPr>
          <a:xfrm>
            <a:off x="5960644"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SERVICES THAT DOMINATE</a:t>
            </a:r>
          </a:p>
        </p:txBody>
      </p:sp>
      <p:sp>
        <p:nvSpPr>
          <p:cNvPr id="13" name="TextBox 12"/>
          <p:cNvSpPr txBox="1"/>
          <p:nvPr/>
        </p:nvSpPr>
        <p:spPr>
          <a:xfrm>
            <a:off x="9114382" y="2591562"/>
            <a:ext cx="233664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SHAPE</a:t>
            </a:r>
          </a:p>
        </p:txBody>
      </p:sp>
      <p:sp>
        <p:nvSpPr>
          <p:cNvPr id="14" name="Rectangle 13"/>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838450"/>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north-urban</a:t>
            </a:r>
          </a:p>
        </p:txBody>
      </p:sp>
      <p:sp>
        <p:nvSpPr>
          <p:cNvPr id="16" name="TextBox 15"/>
          <p:cNvSpPr txBox="1"/>
          <p:nvPr/>
        </p:nvSpPr>
        <p:spPr>
          <a:xfrm>
            <a:off x="2371907" y="2838450"/>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17" name="TextBox 16"/>
          <p:cNvSpPr txBox="1"/>
          <p:nvPr/>
        </p:nvSpPr>
        <p:spPr>
          <a:xfrm>
            <a:off x="4764398" y="2838450"/>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0.70</a:t>
            </a:r>
          </a:p>
        </p:txBody>
      </p:sp>
      <p:sp>
        <p:nvSpPr>
          <p:cNvPr id="18" name="TextBox 17"/>
          <p:cNvSpPr txBox="1"/>
          <p:nvPr/>
        </p:nvSpPr>
        <p:spPr>
          <a:xfrm>
            <a:off x="5960644" y="2838450"/>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19" name="TextBox 18"/>
          <p:cNvSpPr txBox="1"/>
          <p:nvPr/>
        </p:nvSpPr>
        <p:spPr>
          <a:xfrm>
            <a:off x="9114382" y="2838450"/>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0" name="Rectangle 19"/>
          <p:cNvSpPr/>
          <p:nvPr/>
        </p:nvSpPr>
        <p:spPr>
          <a:xfrm>
            <a:off x="658368" y="3062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06247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1127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south-urban</a:t>
            </a:r>
          </a:p>
        </p:txBody>
      </p:sp>
      <p:sp>
        <p:nvSpPr>
          <p:cNvPr id="23" name="TextBox 22"/>
          <p:cNvSpPr txBox="1"/>
          <p:nvPr/>
        </p:nvSpPr>
        <p:spPr>
          <a:xfrm>
            <a:off x="2371907" y="31127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24" name="TextBox 23"/>
          <p:cNvSpPr txBox="1"/>
          <p:nvPr/>
        </p:nvSpPr>
        <p:spPr>
          <a:xfrm>
            <a:off x="4764398" y="31127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0.80</a:t>
            </a:r>
          </a:p>
        </p:txBody>
      </p:sp>
      <p:sp>
        <p:nvSpPr>
          <p:cNvPr id="25" name="TextBox 24"/>
          <p:cNvSpPr txBox="1"/>
          <p:nvPr/>
        </p:nvSpPr>
        <p:spPr>
          <a:xfrm>
            <a:off x="5960644" y="31127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26" name="TextBox 25"/>
          <p:cNvSpPr txBox="1"/>
          <p:nvPr/>
        </p:nvSpPr>
        <p:spPr>
          <a:xfrm>
            <a:off x="9114382" y="31127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7" name="Rectangle 26"/>
          <p:cNvSpPr/>
          <p:nvPr/>
        </p:nvSpPr>
        <p:spPr>
          <a:xfrm>
            <a:off x="658368" y="33367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3870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east-urban</a:t>
            </a:r>
          </a:p>
        </p:txBody>
      </p:sp>
      <p:sp>
        <p:nvSpPr>
          <p:cNvPr id="29" name="TextBox 28"/>
          <p:cNvSpPr txBox="1"/>
          <p:nvPr/>
        </p:nvSpPr>
        <p:spPr>
          <a:xfrm>
            <a:off x="2371907" y="33870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0" name="TextBox 29"/>
          <p:cNvSpPr txBox="1"/>
          <p:nvPr/>
        </p:nvSpPr>
        <p:spPr>
          <a:xfrm>
            <a:off x="4764398" y="33870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0.90</a:t>
            </a:r>
          </a:p>
        </p:txBody>
      </p:sp>
      <p:sp>
        <p:nvSpPr>
          <p:cNvPr id="31" name="TextBox 30"/>
          <p:cNvSpPr txBox="1"/>
          <p:nvPr/>
        </p:nvSpPr>
        <p:spPr>
          <a:xfrm>
            <a:off x="5960644" y="33870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2" name="TextBox 31"/>
          <p:cNvSpPr txBox="1"/>
          <p:nvPr/>
        </p:nvSpPr>
        <p:spPr>
          <a:xfrm>
            <a:off x="9114382" y="33870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33" name="Rectangle 32"/>
          <p:cNvSpPr/>
          <p:nvPr/>
        </p:nvSpPr>
        <p:spPr>
          <a:xfrm>
            <a:off x="658368" y="36111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61111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66140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west-urban</a:t>
            </a:r>
          </a:p>
        </p:txBody>
      </p:sp>
      <p:sp>
        <p:nvSpPr>
          <p:cNvPr id="36" name="TextBox 35"/>
          <p:cNvSpPr txBox="1"/>
          <p:nvPr/>
        </p:nvSpPr>
        <p:spPr>
          <a:xfrm>
            <a:off x="2371907" y="366140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7" name="TextBox 36"/>
          <p:cNvSpPr txBox="1"/>
          <p:nvPr/>
        </p:nvSpPr>
        <p:spPr>
          <a:xfrm>
            <a:off x="4764398" y="366140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1.00</a:t>
            </a:r>
          </a:p>
        </p:txBody>
      </p:sp>
      <p:sp>
        <p:nvSpPr>
          <p:cNvPr id="38" name="TextBox 37"/>
          <p:cNvSpPr txBox="1"/>
          <p:nvPr/>
        </p:nvSpPr>
        <p:spPr>
          <a:xfrm>
            <a:off x="5960644" y="366140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9" name="TextBox 38"/>
          <p:cNvSpPr txBox="1"/>
          <p:nvPr/>
        </p:nvSpPr>
        <p:spPr>
          <a:xfrm>
            <a:off x="9114382" y="366140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40" name="Rectangle 39"/>
          <p:cNvSpPr/>
          <p:nvPr/>
        </p:nvSpPr>
        <p:spPr>
          <a:xfrm>
            <a:off x="658368" y="38854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93572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42" name="TextBox 41"/>
          <p:cNvSpPr txBox="1"/>
          <p:nvPr/>
        </p:nvSpPr>
        <p:spPr>
          <a:xfrm>
            <a:off x="2371907" y="393572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 logistics estate</a:t>
            </a:r>
          </a:p>
        </p:txBody>
      </p:sp>
      <p:sp>
        <p:nvSpPr>
          <p:cNvPr id="43" name="TextBox 42"/>
          <p:cNvSpPr txBox="1"/>
          <p:nvPr/>
        </p:nvSpPr>
        <p:spPr>
          <a:xfrm>
            <a:off x="4764398" y="393572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1.10</a:t>
            </a:r>
          </a:p>
        </p:txBody>
      </p:sp>
      <p:sp>
        <p:nvSpPr>
          <p:cNvPr id="44" name="TextBox 43"/>
          <p:cNvSpPr txBox="1"/>
          <p:nvPr/>
        </p:nvSpPr>
        <p:spPr>
          <a:xfrm>
            <a:off x="5960644" y="393572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 massive IoT, edge AI</a:t>
            </a:r>
          </a:p>
        </p:txBody>
      </p:sp>
      <p:sp>
        <p:nvSpPr>
          <p:cNvPr id="45" name="TextBox 44"/>
          <p:cNvSpPr txBox="1"/>
          <p:nvPr/>
        </p:nvSpPr>
        <p:spPr>
          <a:xfrm>
            <a:off x="9114382" y="393572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Flat-ish, day-shift bias</a:t>
            </a:r>
          </a:p>
        </p:txBody>
      </p:sp>
      <p:sp>
        <p:nvSpPr>
          <p:cNvPr id="46" name="Rectangle 45"/>
          <p:cNvSpPr/>
          <p:nvPr/>
        </p:nvSpPr>
        <p:spPr>
          <a:xfrm>
            <a:off x="658368" y="41597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415975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21004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airport</a:t>
            </a:r>
          </a:p>
        </p:txBody>
      </p:sp>
      <p:sp>
        <p:nvSpPr>
          <p:cNvPr id="49" name="TextBox 48"/>
          <p:cNvSpPr txBox="1"/>
          <p:nvPr/>
        </p:nvSpPr>
        <p:spPr>
          <a:xfrm>
            <a:off x="2371907" y="421004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Transport hub</a:t>
            </a:r>
          </a:p>
        </p:txBody>
      </p:sp>
      <p:sp>
        <p:nvSpPr>
          <p:cNvPr id="50" name="TextBox 49"/>
          <p:cNvSpPr txBox="1"/>
          <p:nvPr/>
        </p:nvSpPr>
        <p:spPr>
          <a:xfrm>
            <a:off x="4764398" y="421004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1.20</a:t>
            </a:r>
          </a:p>
        </p:txBody>
      </p:sp>
      <p:sp>
        <p:nvSpPr>
          <p:cNvPr id="51" name="TextBox 50"/>
          <p:cNvSpPr txBox="1"/>
          <p:nvPr/>
        </p:nvSpPr>
        <p:spPr>
          <a:xfrm>
            <a:off x="5960644" y="421004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Roaming, voice, video conference, V2X</a:t>
            </a:r>
          </a:p>
        </p:txBody>
      </p:sp>
      <p:sp>
        <p:nvSpPr>
          <p:cNvPr id="52" name="TextBox 51"/>
          <p:cNvSpPr txBox="1"/>
          <p:nvPr/>
        </p:nvSpPr>
        <p:spPr>
          <a:xfrm>
            <a:off x="9114382" y="421004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Twin commute peaks</a:t>
            </a:r>
          </a:p>
        </p:txBody>
      </p:sp>
      <p:sp>
        <p:nvSpPr>
          <p:cNvPr id="53" name="Rectangle 52"/>
          <p:cNvSpPr/>
          <p:nvPr/>
        </p:nvSpPr>
        <p:spPr>
          <a:xfrm>
            <a:off x="658368" y="44340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0664" y="44843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stadium</a:t>
            </a:r>
          </a:p>
        </p:txBody>
      </p:sp>
      <p:sp>
        <p:nvSpPr>
          <p:cNvPr id="55" name="TextBox 54"/>
          <p:cNvSpPr txBox="1"/>
          <p:nvPr/>
        </p:nvSpPr>
        <p:spPr>
          <a:xfrm>
            <a:off x="2371907" y="44843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Large-event venue</a:t>
            </a:r>
          </a:p>
        </p:txBody>
      </p:sp>
      <p:sp>
        <p:nvSpPr>
          <p:cNvPr id="56" name="TextBox 55"/>
          <p:cNvSpPr txBox="1"/>
          <p:nvPr/>
        </p:nvSpPr>
        <p:spPr>
          <a:xfrm>
            <a:off x="4764398" y="44843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1.30</a:t>
            </a:r>
          </a:p>
        </p:txBody>
      </p:sp>
      <p:sp>
        <p:nvSpPr>
          <p:cNvPr id="57" name="TextBox 56"/>
          <p:cNvSpPr txBox="1"/>
          <p:nvPr/>
        </p:nvSpPr>
        <p:spPr>
          <a:xfrm>
            <a:off x="5960644" y="44843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Social / live upload, video, voice</a:t>
            </a:r>
          </a:p>
        </p:txBody>
      </p:sp>
      <p:sp>
        <p:nvSpPr>
          <p:cNvPr id="58" name="TextBox 57"/>
          <p:cNvSpPr txBox="1"/>
          <p:nvPr/>
        </p:nvSpPr>
        <p:spPr>
          <a:xfrm>
            <a:off x="9114382" y="44843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Idle, then extreme event spikes</a:t>
            </a:r>
          </a:p>
        </p:txBody>
      </p:sp>
      <p:sp>
        <p:nvSpPr>
          <p:cNvPr id="59" name="Rectangle 58"/>
          <p:cNvSpPr/>
          <p:nvPr/>
        </p:nvSpPr>
        <p:spPr>
          <a:xfrm>
            <a:off x="658368" y="47083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470839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0664" y="47586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rural</a:t>
            </a:r>
          </a:p>
        </p:txBody>
      </p:sp>
      <p:sp>
        <p:nvSpPr>
          <p:cNvPr id="62" name="TextBox 61"/>
          <p:cNvSpPr txBox="1"/>
          <p:nvPr/>
        </p:nvSpPr>
        <p:spPr>
          <a:xfrm>
            <a:off x="2371907" y="47586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Sparse coverage</a:t>
            </a:r>
          </a:p>
        </p:txBody>
      </p:sp>
      <p:sp>
        <p:nvSpPr>
          <p:cNvPr id="63" name="TextBox 62"/>
          <p:cNvSpPr txBox="1"/>
          <p:nvPr/>
        </p:nvSpPr>
        <p:spPr>
          <a:xfrm>
            <a:off x="4764398" y="47586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1.40</a:t>
            </a:r>
          </a:p>
        </p:txBody>
      </p:sp>
      <p:sp>
        <p:nvSpPr>
          <p:cNvPr id="64" name="TextBox 63"/>
          <p:cNvSpPr txBox="1"/>
          <p:nvPr/>
        </p:nvSpPr>
        <p:spPr>
          <a:xfrm>
            <a:off x="5960644" y="47586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Voice, massive IoT, consumer video</a:t>
            </a:r>
          </a:p>
        </p:txBody>
      </p:sp>
      <p:sp>
        <p:nvSpPr>
          <p:cNvPr id="65" name="TextBox 64"/>
          <p:cNvSpPr txBox="1"/>
          <p:nvPr/>
        </p:nvSpPr>
        <p:spPr>
          <a:xfrm>
            <a:off x="9114382" y="47586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Low amplitude, flat</a:t>
            </a:r>
          </a:p>
        </p:txBody>
      </p:sp>
      <p:sp>
        <p:nvSpPr>
          <p:cNvPr id="66" name="Rectangle 65"/>
          <p:cNvSpPr/>
          <p:nvPr/>
        </p:nvSpPr>
        <p:spPr>
          <a:xfrm>
            <a:off x="658368" y="49827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58368" y="2513838"/>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58368" y="5257037"/>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58368" y="5257037"/>
            <a:ext cx="34747" cy="135006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6112" y="5403341"/>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AN HONEST LIMITATION OF THE CURRENT BUILD</a:t>
            </a:r>
          </a:p>
        </p:txBody>
      </p:sp>
      <p:sp>
        <p:nvSpPr>
          <p:cNvPr id="71" name="TextBox 70"/>
          <p:cNvSpPr txBox="1"/>
          <p:nvPr/>
        </p:nvSpPr>
        <p:spPr>
          <a:xfrm>
            <a:off x="896112" y="5659373"/>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The area scale is a straight arithmetic ramp — z(k) = 0.70 + 0.10k over the zone index — not a figure calibrated per area type. That is why “rural” carries the largest multiplier: it is last in the list, not busier than a city. The area label drives which services and which daily curve apply; it does not yet drive a realistic population. Replacing this ramp with real per-area subscriber counts is one of the first things operator data would fix.</a:t>
            </a:r>
          </a:p>
        </p:txBody>
      </p:sp>
      <p:sp>
        <p:nvSpPr>
          <p:cNvPr id="72" name="TextBox 7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shape of a day differs by area</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service class carries its own daily curve, built as a sum of wrapped Gaussian peaks. The area decides which classes are present and how many; the class decides when they are busy.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57540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0" name="TextBox 9"/>
          <p:cNvSpPr txBox="1"/>
          <p:nvPr/>
        </p:nvSpPr>
        <p:spPr>
          <a:xfrm>
            <a:off x="2480657" y="259156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CURVE</a:t>
            </a:r>
          </a:p>
        </p:txBody>
      </p:sp>
      <p:sp>
        <p:nvSpPr>
          <p:cNvPr id="11" name="TextBox 10"/>
          <p:cNvSpPr txBox="1"/>
          <p:nvPr/>
        </p:nvSpPr>
        <p:spPr>
          <a:xfrm>
            <a:off x="6178143"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CLASSES THAT USE IT</a:t>
            </a:r>
          </a:p>
        </p:txBody>
      </p:sp>
      <p:sp>
        <p:nvSpPr>
          <p:cNvPr id="12" name="TextBox 11"/>
          <p:cNvSpPr txBox="1"/>
          <p:nvPr/>
        </p:nvSpPr>
        <p:spPr>
          <a:xfrm>
            <a:off x="9331881" y="2591562"/>
            <a:ext cx="211914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TYPICAL AREA</a:t>
            </a:r>
          </a:p>
        </p:txBody>
      </p:sp>
      <p:sp>
        <p:nvSpPr>
          <p:cNvPr id="13" name="Rectangle 12"/>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838450"/>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Evening</a:t>
            </a:r>
          </a:p>
        </p:txBody>
      </p:sp>
      <p:sp>
        <p:nvSpPr>
          <p:cNvPr id="15" name="TextBox 14"/>
          <p:cNvSpPr txBox="1"/>
          <p:nvPr/>
        </p:nvSpPr>
        <p:spPr>
          <a:xfrm>
            <a:off x="2480657" y="2838450"/>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0.42 + 1.18 · peak(20:00, 3.2 h)</a:t>
            </a:r>
          </a:p>
        </p:txBody>
      </p:sp>
      <p:sp>
        <p:nvSpPr>
          <p:cNvPr id="16" name="TextBox 15"/>
          <p:cNvSpPr txBox="1"/>
          <p:nvPr/>
        </p:nvSpPr>
        <p:spPr>
          <a:xfrm>
            <a:off x="6178143" y="2838450"/>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 live</a:t>
            </a:r>
          </a:p>
        </p:txBody>
      </p:sp>
      <p:sp>
        <p:nvSpPr>
          <p:cNvPr id="17" name="TextBox 16"/>
          <p:cNvSpPr txBox="1"/>
          <p:nvPr/>
        </p:nvSpPr>
        <p:spPr>
          <a:xfrm>
            <a:off x="9331881" y="2838450"/>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18" name="Rectangle 17"/>
          <p:cNvSpPr/>
          <p:nvPr/>
        </p:nvSpPr>
        <p:spPr>
          <a:xfrm>
            <a:off x="658368" y="305790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057905"/>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108198"/>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Late evening</a:t>
            </a:r>
          </a:p>
        </p:txBody>
      </p:sp>
      <p:sp>
        <p:nvSpPr>
          <p:cNvPr id="21" name="TextBox 20"/>
          <p:cNvSpPr txBox="1"/>
          <p:nvPr/>
        </p:nvSpPr>
        <p:spPr>
          <a:xfrm>
            <a:off x="2480657" y="3108198"/>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0.45 + 1.25 · peak(22:00, 3.8 h)</a:t>
            </a:r>
          </a:p>
        </p:txBody>
      </p:sp>
      <p:sp>
        <p:nvSpPr>
          <p:cNvPr id="22" name="TextBox 21"/>
          <p:cNvSpPr txBox="1"/>
          <p:nvPr/>
        </p:nvSpPr>
        <p:spPr>
          <a:xfrm>
            <a:off x="6178143" y="3108198"/>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Gaming</a:t>
            </a:r>
          </a:p>
        </p:txBody>
      </p:sp>
      <p:sp>
        <p:nvSpPr>
          <p:cNvPr id="23" name="TextBox 22"/>
          <p:cNvSpPr txBox="1"/>
          <p:nvPr/>
        </p:nvSpPr>
        <p:spPr>
          <a:xfrm>
            <a:off x="9331881" y="3108198"/>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24" name="Rectangle 23"/>
          <p:cNvSpPr/>
          <p:nvPr/>
        </p:nvSpPr>
        <p:spPr>
          <a:xfrm>
            <a:off x="658368" y="33276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3377945"/>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Business</a:t>
            </a:r>
          </a:p>
        </p:txBody>
      </p:sp>
      <p:sp>
        <p:nvSpPr>
          <p:cNvPr id="26" name="TextBox 25"/>
          <p:cNvSpPr txBox="1"/>
          <p:nvPr/>
        </p:nvSpPr>
        <p:spPr>
          <a:xfrm>
            <a:off x="2480657" y="3377945"/>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0.28 + 1.32 · peak(13:00, 4.0 h)</a:t>
            </a:r>
          </a:p>
        </p:txBody>
      </p:sp>
      <p:sp>
        <p:nvSpPr>
          <p:cNvPr id="27" name="TextBox 26"/>
          <p:cNvSpPr txBox="1"/>
          <p:nvPr/>
        </p:nvSpPr>
        <p:spPr>
          <a:xfrm>
            <a:off x="6178143" y="3377945"/>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Enterprise, video conference, edge AI</a:t>
            </a:r>
          </a:p>
        </p:txBody>
      </p:sp>
      <p:sp>
        <p:nvSpPr>
          <p:cNvPr id="28" name="TextBox 27"/>
          <p:cNvSpPr txBox="1"/>
          <p:nvPr/>
        </p:nvSpPr>
        <p:spPr>
          <a:xfrm>
            <a:off x="9331881" y="3377945"/>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Commercial areas</a:t>
            </a:r>
          </a:p>
        </p:txBody>
      </p:sp>
      <p:sp>
        <p:nvSpPr>
          <p:cNvPr id="29" name="Rectangle 28"/>
          <p:cNvSpPr/>
          <p:nvPr/>
        </p:nvSpPr>
        <p:spPr>
          <a:xfrm>
            <a:off x="658368" y="35974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597401"/>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647693"/>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32" name="TextBox 31"/>
          <p:cNvSpPr txBox="1"/>
          <p:nvPr/>
        </p:nvSpPr>
        <p:spPr>
          <a:xfrm>
            <a:off x="2480657" y="3647693"/>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0.55 + 0.90 · peak(11:00, 5.2 h)</a:t>
            </a:r>
          </a:p>
        </p:txBody>
      </p:sp>
      <p:sp>
        <p:nvSpPr>
          <p:cNvPr id="33" name="TextBox 32"/>
          <p:cNvSpPr txBox="1"/>
          <p:nvPr/>
        </p:nvSpPr>
        <p:spPr>
          <a:xfrm>
            <a:off x="6178143" y="3647693"/>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a:t>
            </a:r>
          </a:p>
        </p:txBody>
      </p:sp>
      <p:sp>
        <p:nvSpPr>
          <p:cNvPr id="34" name="TextBox 33"/>
          <p:cNvSpPr txBox="1"/>
          <p:nvPr/>
        </p:nvSpPr>
        <p:spPr>
          <a:xfrm>
            <a:off x="9331881" y="3647693"/>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estates</a:t>
            </a:r>
          </a:p>
        </p:txBody>
      </p:sp>
      <p:sp>
        <p:nvSpPr>
          <p:cNvPr id="35" name="Rectangle 34"/>
          <p:cNvSpPr/>
          <p:nvPr/>
        </p:nvSpPr>
        <p:spPr>
          <a:xfrm>
            <a:off x="658368" y="386714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917441"/>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Commute</a:t>
            </a:r>
          </a:p>
        </p:txBody>
      </p:sp>
      <p:sp>
        <p:nvSpPr>
          <p:cNvPr id="37" name="TextBox 36"/>
          <p:cNvSpPr txBox="1"/>
          <p:nvPr/>
        </p:nvSpPr>
        <p:spPr>
          <a:xfrm>
            <a:off x="2480657" y="3917441"/>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0.38 + 0.88 · peak(08:00) + 1.00 · peak(18:00)</a:t>
            </a:r>
          </a:p>
        </p:txBody>
      </p:sp>
      <p:sp>
        <p:nvSpPr>
          <p:cNvPr id="38" name="TextBox 37"/>
          <p:cNvSpPr txBox="1"/>
          <p:nvPr/>
        </p:nvSpPr>
        <p:spPr>
          <a:xfrm>
            <a:off x="6178143" y="3917441"/>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IMS voice, connected vehicle</a:t>
            </a:r>
          </a:p>
        </p:txBody>
      </p:sp>
      <p:sp>
        <p:nvSpPr>
          <p:cNvPr id="39" name="TextBox 38"/>
          <p:cNvSpPr txBox="1"/>
          <p:nvPr/>
        </p:nvSpPr>
        <p:spPr>
          <a:xfrm>
            <a:off x="9331881" y="3917441"/>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Airport, transit</a:t>
            </a:r>
          </a:p>
        </p:txBody>
      </p:sp>
      <p:sp>
        <p:nvSpPr>
          <p:cNvPr id="40" name="Rectangle 39"/>
          <p:cNvSpPr/>
          <p:nvPr/>
        </p:nvSpPr>
        <p:spPr>
          <a:xfrm>
            <a:off x="658368" y="41368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136897"/>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187189"/>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Overnight</a:t>
            </a:r>
          </a:p>
        </p:txBody>
      </p:sp>
      <p:sp>
        <p:nvSpPr>
          <p:cNvPr id="43" name="TextBox 42"/>
          <p:cNvSpPr txBox="1"/>
          <p:nvPr/>
        </p:nvSpPr>
        <p:spPr>
          <a:xfrm>
            <a:off x="2480657" y="4187189"/>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0.30 + 1.35 · peak(02:00, 2.8 h)</a:t>
            </a:r>
          </a:p>
        </p:txBody>
      </p:sp>
      <p:sp>
        <p:nvSpPr>
          <p:cNvPr id="44" name="TextBox 43"/>
          <p:cNvSpPr txBox="1"/>
          <p:nvPr/>
        </p:nvSpPr>
        <p:spPr>
          <a:xfrm>
            <a:off x="6178143" y="4187189"/>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Cloud backup</a:t>
            </a:r>
          </a:p>
        </p:txBody>
      </p:sp>
      <p:sp>
        <p:nvSpPr>
          <p:cNvPr id="45" name="TextBox 44"/>
          <p:cNvSpPr txBox="1"/>
          <p:nvPr/>
        </p:nvSpPr>
        <p:spPr>
          <a:xfrm>
            <a:off x="9331881" y="4187189"/>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46" name="Rectangle 45"/>
          <p:cNvSpPr/>
          <p:nvPr/>
        </p:nvSpPr>
        <p:spPr>
          <a:xfrm>
            <a:off x="658368" y="440664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4456937"/>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Flat</a:t>
            </a:r>
          </a:p>
        </p:txBody>
      </p:sp>
      <p:sp>
        <p:nvSpPr>
          <p:cNvPr id="48" name="TextBox 47"/>
          <p:cNvSpPr txBox="1"/>
          <p:nvPr/>
        </p:nvSpPr>
        <p:spPr>
          <a:xfrm>
            <a:off x="2480657" y="4456937"/>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0.92 + 0.08 · sin(2π(h − 6)/24)</a:t>
            </a:r>
          </a:p>
        </p:txBody>
      </p:sp>
      <p:sp>
        <p:nvSpPr>
          <p:cNvPr id="49" name="TextBox 48"/>
          <p:cNvSpPr txBox="1"/>
          <p:nvPr/>
        </p:nvSpPr>
        <p:spPr>
          <a:xfrm>
            <a:off x="6178143" y="4456937"/>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Massive IoT, public safety</a:t>
            </a:r>
          </a:p>
        </p:txBody>
      </p:sp>
      <p:sp>
        <p:nvSpPr>
          <p:cNvPr id="50" name="TextBox 49"/>
          <p:cNvSpPr txBox="1"/>
          <p:nvPr/>
        </p:nvSpPr>
        <p:spPr>
          <a:xfrm>
            <a:off x="9331881" y="4456937"/>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51" name="Rectangle 50"/>
          <p:cNvSpPr/>
          <p:nvPr/>
        </p:nvSpPr>
        <p:spPr>
          <a:xfrm>
            <a:off x="658368" y="46763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2513838"/>
            <a:ext cx="10874959" cy="2162555"/>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8368" y="4932425"/>
            <a:ext cx="5245455" cy="225780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 y="509701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THE PEAKS MATTER</a:t>
            </a:r>
          </a:p>
        </p:txBody>
      </p:sp>
      <p:sp>
        <p:nvSpPr>
          <p:cNvPr id="55" name="TextBox 54"/>
          <p:cNvSpPr txBox="1"/>
          <p:nvPr/>
        </p:nvSpPr>
        <p:spPr>
          <a:xfrm>
            <a:off x="859536" y="5407914"/>
            <a:ext cx="4843119" cy="1636014"/>
          </a:xfrm>
          <a:prstGeom prst="rect">
            <a:avLst/>
          </a:prstGeom>
          <a:noFill/>
        </p:spPr>
        <p:txBody>
          <a:bodyPr wrap="square" anchor="t" lIns="0" rIns="0" tIns="0" bIns="0">
            <a:spAutoFit/>
          </a:bodyPr>
          <a:lstStyle/>
          <a:p>
            <a:pPr algn="l">
              <a:lnSpc>
                <a:spcPct val="140000"/>
              </a:lnSpc>
            </a:pPr>
            <a:r>
              <a:rPr sz="1130" b="0" i="0">
                <a:solidFill>
                  <a:srgbClr val="3C4653"/>
                </a:solidFill>
                <a:latin typeface="Segoe UI"/>
              </a:rPr>
              <a:t>The business curve bottoms out at 0.28 and peaks at 1.60 — a 5.7× swing across the day. The flat IoT curve moves between 0.84 and 1.00, barely 1.2×.</a:t>
            </a:r>
          </a:p>
          <a:p>
            <a:pPr algn="l">
              <a:lnSpc>
                <a:spcPct val="140000"/>
              </a:lnSpc>
              <a:spcBef>
                <a:spcPts val="800"/>
              </a:spcBef>
            </a:pPr>
            <a:r>
              <a:rPr sz="1130" b="0" i="0">
                <a:solidFill>
                  <a:srgbClr val="3C4653"/>
                </a:solidFill>
                <a:latin typeface="Segoe UI"/>
              </a:rPr>
              <a:t>Because residential and business peaks sit 7 hours apart, the national total never sees one sharp spike. That is exactly why a static capacity split survives so well: the load moves around, but the aggregate stays smooth.</a:t>
            </a:r>
          </a:p>
        </p:txBody>
      </p:sp>
      <p:sp>
        <p:nvSpPr>
          <p:cNvPr id="56" name="Rectangle 55"/>
          <p:cNvSpPr/>
          <p:nvPr/>
        </p:nvSpPr>
        <p:spPr>
          <a:xfrm>
            <a:off x="6287871" y="4932425"/>
            <a:ext cx="5245455" cy="205689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89039" y="509701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MULTIPLIES IT</a:t>
            </a:r>
          </a:p>
        </p:txBody>
      </p:sp>
      <p:sp>
        <p:nvSpPr>
          <p:cNvPr id="58" name="TextBox 57"/>
          <p:cNvSpPr txBox="1"/>
          <p:nvPr/>
        </p:nvSpPr>
        <p:spPr>
          <a:xfrm>
            <a:off x="6489039" y="5407914"/>
            <a:ext cx="4843119" cy="1435099"/>
          </a:xfrm>
          <a:prstGeom prst="rect">
            <a:avLst/>
          </a:prstGeom>
          <a:noFill/>
        </p:spPr>
        <p:txBody>
          <a:bodyPr wrap="square" anchor="t" lIns="0" rIns="0" tIns="0" bIns="0">
            <a:spAutoFit/>
          </a:bodyPr>
          <a:lstStyle/>
          <a:p>
            <a:pPr algn="l">
              <a:lnSpc>
                <a:spcPct val="140000"/>
              </a:lnSpc>
            </a:pPr>
            <a:r>
              <a:rPr sz="1130" b="0" i="0">
                <a:solidFill>
                  <a:srgbClr val="3C4653"/>
                </a:solidFill>
                <a:latin typeface="Segoe UI"/>
              </a:rPr>
              <a:t>On top of the daily curve sit three multipliers: a per-service weekend factor (0.45 for enterprise up to 1.35 for social), independent weekly noise drawn from U[0.86, 1.16], and any active surge.</a:t>
            </a:r>
          </a:p>
          <a:p>
            <a:pPr algn="l">
              <a:lnSpc>
                <a:spcPct val="140000"/>
              </a:lnSpc>
              <a:spcBef>
                <a:spcPts val="800"/>
              </a:spcBef>
            </a:pPr>
            <a:r>
              <a:rPr sz="1130" b="0" i="0">
                <a:solidFill>
                  <a:srgbClr val="3C4653"/>
                </a:solidFill>
                <a:latin typeface="Segoe UI"/>
              </a:rPr>
              <a:t>Surges arrive 12 times a week, multiply an area's traffic by 2.5× to 8.0×, and last 2 to 10 hours.</a:t>
            </a:r>
          </a:p>
        </p:txBody>
      </p:sp>
      <p:sp>
        <p:nvSpPr>
          <p:cNvPr id="59" name="TextBox 5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TRAFFIC CLASSES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twelve categories of 5G traffic</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class carries a 3GPP 5QI value, its own data network name and slice identifier, its own session length, and its own uplink/downlink balance. Together they span the three families 5G is designed for: broadband, ultra-reliable low-latency, and massive machine-type.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72999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a:t>
            </a:r>
          </a:p>
        </p:txBody>
      </p:sp>
      <p:sp>
        <p:nvSpPr>
          <p:cNvPr id="10" name="TextBox 9"/>
          <p:cNvSpPr txBox="1"/>
          <p:nvPr/>
        </p:nvSpPr>
        <p:spPr>
          <a:xfrm>
            <a:off x="2426282" y="2807716"/>
            <a:ext cx="379155"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5QI</a:t>
            </a:r>
          </a:p>
        </p:txBody>
      </p:sp>
      <p:sp>
        <p:nvSpPr>
          <p:cNvPr id="11" name="TextBox 10"/>
          <p:cNvSpPr txBox="1"/>
          <p:nvPr/>
        </p:nvSpPr>
        <p:spPr>
          <a:xfrm>
            <a:off x="2970030"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DATA NETWORK</a:t>
            </a:r>
          </a:p>
        </p:txBody>
      </p:sp>
      <p:sp>
        <p:nvSpPr>
          <p:cNvPr id="12" name="TextBox 11"/>
          <p:cNvSpPr txBox="1"/>
          <p:nvPr/>
        </p:nvSpPr>
        <p:spPr>
          <a:xfrm>
            <a:off x="4655649" y="2807716"/>
            <a:ext cx="10860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SESSION LENGTH</a:t>
            </a:r>
          </a:p>
        </p:txBody>
      </p:sp>
      <p:sp>
        <p:nvSpPr>
          <p:cNvPr id="13" name="TextBox 12"/>
          <p:cNvSpPr txBox="1"/>
          <p:nvPr/>
        </p:nvSpPr>
        <p:spPr>
          <a:xfrm>
            <a:off x="5906269" y="280771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UL / DL MBPS</a:t>
            </a:r>
          </a:p>
        </p:txBody>
      </p:sp>
      <p:sp>
        <p:nvSpPr>
          <p:cNvPr id="14" name="TextBox 13"/>
          <p:cNvSpPr txBox="1"/>
          <p:nvPr/>
        </p:nvSpPr>
        <p:spPr>
          <a:xfrm>
            <a:off x="7102515" y="2807716"/>
            <a:ext cx="922903"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5" name="TextBox 14"/>
          <p:cNvSpPr txBox="1"/>
          <p:nvPr/>
        </p:nvSpPr>
        <p:spPr>
          <a:xfrm>
            <a:off x="8190011" y="2807716"/>
            <a:ext cx="65102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WEEKEND</a:t>
            </a:r>
          </a:p>
        </p:txBody>
      </p:sp>
      <p:sp>
        <p:nvSpPr>
          <p:cNvPr id="16" name="TextBox 15"/>
          <p:cNvSpPr txBox="1"/>
          <p:nvPr/>
        </p:nvSpPr>
        <p:spPr>
          <a:xfrm>
            <a:off x="9005632" y="2807716"/>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EXAMPLE</a:t>
            </a:r>
          </a:p>
        </p:txBody>
      </p:sp>
      <p:sp>
        <p:nvSpPr>
          <p:cNvPr id="17" name="Rectangle 16"/>
          <p:cNvSpPr/>
          <p:nvPr/>
        </p:nvSpPr>
        <p:spPr>
          <a:xfrm>
            <a:off x="658368" y="300431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05460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Consumer video</a:t>
            </a:r>
          </a:p>
        </p:txBody>
      </p:sp>
      <p:sp>
        <p:nvSpPr>
          <p:cNvPr id="19" name="TextBox 18"/>
          <p:cNvSpPr txBox="1"/>
          <p:nvPr/>
        </p:nvSpPr>
        <p:spPr>
          <a:xfrm>
            <a:off x="2426282" y="305460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20" name="TextBox 19"/>
          <p:cNvSpPr txBox="1"/>
          <p:nvPr/>
        </p:nvSpPr>
        <p:spPr>
          <a:xfrm>
            <a:off x="2970030" y="305460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internet-video</a:t>
            </a:r>
          </a:p>
        </p:txBody>
      </p:sp>
      <p:sp>
        <p:nvSpPr>
          <p:cNvPr id="21" name="TextBox 20"/>
          <p:cNvSpPr txBox="1"/>
          <p:nvPr/>
        </p:nvSpPr>
        <p:spPr>
          <a:xfrm>
            <a:off x="4655649" y="305460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22" name="TextBox 21"/>
          <p:cNvSpPr txBox="1"/>
          <p:nvPr/>
        </p:nvSpPr>
        <p:spPr>
          <a:xfrm>
            <a:off x="5906269" y="305460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0.15 / 4.00</a:t>
            </a:r>
          </a:p>
        </p:txBody>
      </p:sp>
      <p:sp>
        <p:nvSpPr>
          <p:cNvPr id="23" name="TextBox 22"/>
          <p:cNvSpPr txBox="1"/>
          <p:nvPr/>
        </p:nvSpPr>
        <p:spPr>
          <a:xfrm>
            <a:off x="7102515" y="305460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24" name="TextBox 23"/>
          <p:cNvSpPr txBox="1"/>
          <p:nvPr/>
        </p:nvSpPr>
        <p:spPr>
          <a:xfrm>
            <a:off x="8190011" y="305460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1.25</a:t>
            </a:r>
          </a:p>
        </p:txBody>
      </p:sp>
      <p:sp>
        <p:nvSpPr>
          <p:cNvPr id="25" name="TextBox 24"/>
          <p:cNvSpPr txBox="1"/>
          <p:nvPr/>
        </p:nvSpPr>
        <p:spPr>
          <a:xfrm>
            <a:off x="9005632" y="305460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Streaming to a phone</a:t>
            </a:r>
          </a:p>
        </p:txBody>
      </p:sp>
      <p:sp>
        <p:nvSpPr>
          <p:cNvPr id="26" name="Rectangle 25"/>
          <p:cNvSpPr/>
          <p:nvPr/>
        </p:nvSpPr>
        <p:spPr>
          <a:xfrm>
            <a:off x="658368" y="32219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3221939"/>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7223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Social / live</a:t>
            </a:r>
          </a:p>
        </p:txBody>
      </p:sp>
      <p:sp>
        <p:nvSpPr>
          <p:cNvPr id="29" name="TextBox 28"/>
          <p:cNvSpPr txBox="1"/>
          <p:nvPr/>
        </p:nvSpPr>
        <p:spPr>
          <a:xfrm>
            <a:off x="2426282" y="327223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a:t>
            </a:r>
          </a:p>
        </p:txBody>
      </p:sp>
      <p:sp>
        <p:nvSpPr>
          <p:cNvPr id="30" name="TextBox 29"/>
          <p:cNvSpPr txBox="1"/>
          <p:nvPr/>
        </p:nvSpPr>
        <p:spPr>
          <a:xfrm>
            <a:off x="2970030" y="327223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social-live</a:t>
            </a:r>
          </a:p>
        </p:txBody>
      </p:sp>
      <p:sp>
        <p:nvSpPr>
          <p:cNvPr id="31" name="TextBox 30"/>
          <p:cNvSpPr txBox="1"/>
          <p:nvPr/>
        </p:nvSpPr>
        <p:spPr>
          <a:xfrm>
            <a:off x="4655649" y="327223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32" name="TextBox 31"/>
          <p:cNvSpPr txBox="1"/>
          <p:nvPr/>
        </p:nvSpPr>
        <p:spPr>
          <a:xfrm>
            <a:off x="5906269" y="327223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1.00</a:t>
            </a:r>
          </a:p>
        </p:txBody>
      </p:sp>
      <p:sp>
        <p:nvSpPr>
          <p:cNvPr id="33" name="TextBox 32"/>
          <p:cNvSpPr txBox="1"/>
          <p:nvPr/>
        </p:nvSpPr>
        <p:spPr>
          <a:xfrm>
            <a:off x="7102515" y="327223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34" name="TextBox 33"/>
          <p:cNvSpPr txBox="1"/>
          <p:nvPr/>
        </p:nvSpPr>
        <p:spPr>
          <a:xfrm>
            <a:off x="8190011" y="327223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1.35</a:t>
            </a:r>
          </a:p>
        </p:txBody>
      </p:sp>
      <p:sp>
        <p:nvSpPr>
          <p:cNvPr id="35" name="TextBox 34"/>
          <p:cNvSpPr txBox="1"/>
          <p:nvPr/>
        </p:nvSpPr>
        <p:spPr>
          <a:xfrm>
            <a:off x="9005632" y="327223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Uploading from a crowd</a:t>
            </a:r>
          </a:p>
        </p:txBody>
      </p:sp>
      <p:sp>
        <p:nvSpPr>
          <p:cNvPr id="36" name="Rectangle 35"/>
          <p:cNvSpPr/>
          <p:nvPr/>
        </p:nvSpPr>
        <p:spPr>
          <a:xfrm>
            <a:off x="658368" y="34395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48985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Gaming</a:t>
            </a:r>
          </a:p>
        </p:txBody>
      </p:sp>
      <p:sp>
        <p:nvSpPr>
          <p:cNvPr id="38" name="TextBox 37"/>
          <p:cNvSpPr txBox="1"/>
          <p:nvPr/>
        </p:nvSpPr>
        <p:spPr>
          <a:xfrm>
            <a:off x="2426282" y="348985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a:t>
            </a:r>
          </a:p>
        </p:txBody>
      </p:sp>
      <p:sp>
        <p:nvSpPr>
          <p:cNvPr id="39" name="TextBox 38"/>
          <p:cNvSpPr txBox="1"/>
          <p:nvPr/>
        </p:nvSpPr>
        <p:spPr>
          <a:xfrm>
            <a:off x="2970030" y="348985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gaming</a:t>
            </a:r>
          </a:p>
        </p:txBody>
      </p:sp>
      <p:sp>
        <p:nvSpPr>
          <p:cNvPr id="40" name="TextBox 39"/>
          <p:cNvSpPr txBox="1"/>
          <p:nvPr/>
        </p:nvSpPr>
        <p:spPr>
          <a:xfrm>
            <a:off x="4655649" y="348985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40 m–6 h</a:t>
            </a:r>
          </a:p>
        </p:txBody>
      </p:sp>
      <p:sp>
        <p:nvSpPr>
          <p:cNvPr id="41" name="TextBox 40"/>
          <p:cNvSpPr txBox="1"/>
          <p:nvPr/>
        </p:nvSpPr>
        <p:spPr>
          <a:xfrm>
            <a:off x="5906269" y="348985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0.20 / 0.40</a:t>
            </a:r>
          </a:p>
        </p:txBody>
      </p:sp>
      <p:sp>
        <p:nvSpPr>
          <p:cNvPr id="42" name="TextBox 41"/>
          <p:cNvSpPr txBox="1"/>
          <p:nvPr/>
        </p:nvSpPr>
        <p:spPr>
          <a:xfrm>
            <a:off x="7102515" y="348985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a:t>
            </a:r>
          </a:p>
        </p:txBody>
      </p:sp>
      <p:sp>
        <p:nvSpPr>
          <p:cNvPr id="43" name="TextBox 42"/>
          <p:cNvSpPr txBox="1"/>
          <p:nvPr/>
        </p:nvSpPr>
        <p:spPr>
          <a:xfrm>
            <a:off x="8190011" y="348985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1.30</a:t>
            </a:r>
          </a:p>
        </p:txBody>
      </p:sp>
      <p:sp>
        <p:nvSpPr>
          <p:cNvPr id="44" name="TextBox 43"/>
          <p:cNvSpPr txBox="1"/>
          <p:nvPr/>
        </p:nvSpPr>
        <p:spPr>
          <a:xfrm>
            <a:off x="9005632" y="348985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Latency-sensitive play</a:t>
            </a:r>
          </a:p>
        </p:txBody>
      </p:sp>
      <p:sp>
        <p:nvSpPr>
          <p:cNvPr id="45" name="Rectangle 44"/>
          <p:cNvSpPr/>
          <p:nvPr/>
        </p:nvSpPr>
        <p:spPr>
          <a:xfrm>
            <a:off x="658368" y="36571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657193"/>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370748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IMS voice</a:t>
            </a:r>
          </a:p>
        </p:txBody>
      </p:sp>
      <p:sp>
        <p:nvSpPr>
          <p:cNvPr id="48" name="TextBox 47"/>
          <p:cNvSpPr txBox="1"/>
          <p:nvPr/>
        </p:nvSpPr>
        <p:spPr>
          <a:xfrm>
            <a:off x="2426282" y="370748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a:t>
            </a:r>
          </a:p>
        </p:txBody>
      </p:sp>
      <p:sp>
        <p:nvSpPr>
          <p:cNvPr id="49" name="TextBox 48"/>
          <p:cNvSpPr txBox="1"/>
          <p:nvPr/>
        </p:nvSpPr>
        <p:spPr>
          <a:xfrm>
            <a:off x="2970030" y="370748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ims-voice</a:t>
            </a:r>
          </a:p>
        </p:txBody>
      </p:sp>
      <p:sp>
        <p:nvSpPr>
          <p:cNvPr id="50" name="TextBox 49"/>
          <p:cNvSpPr txBox="1"/>
          <p:nvPr/>
        </p:nvSpPr>
        <p:spPr>
          <a:xfrm>
            <a:off x="4655649" y="370748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m–4 h</a:t>
            </a:r>
          </a:p>
        </p:txBody>
      </p:sp>
      <p:sp>
        <p:nvSpPr>
          <p:cNvPr id="51" name="TextBox 50"/>
          <p:cNvSpPr txBox="1"/>
          <p:nvPr/>
        </p:nvSpPr>
        <p:spPr>
          <a:xfrm>
            <a:off x="5906269" y="370748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0.08 / 0.08</a:t>
            </a:r>
          </a:p>
        </p:txBody>
      </p:sp>
      <p:sp>
        <p:nvSpPr>
          <p:cNvPr id="52" name="TextBox 51"/>
          <p:cNvSpPr txBox="1"/>
          <p:nvPr/>
        </p:nvSpPr>
        <p:spPr>
          <a:xfrm>
            <a:off x="7102515" y="370748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53" name="TextBox 52"/>
          <p:cNvSpPr txBox="1"/>
          <p:nvPr/>
        </p:nvSpPr>
        <p:spPr>
          <a:xfrm>
            <a:off x="8190011" y="370748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0.90</a:t>
            </a:r>
          </a:p>
        </p:txBody>
      </p:sp>
      <p:sp>
        <p:nvSpPr>
          <p:cNvPr id="54" name="TextBox 53"/>
          <p:cNvSpPr txBox="1"/>
          <p:nvPr/>
        </p:nvSpPr>
        <p:spPr>
          <a:xfrm>
            <a:off x="9005632" y="370748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Carrier voice calls</a:t>
            </a:r>
          </a:p>
        </p:txBody>
      </p:sp>
      <p:sp>
        <p:nvSpPr>
          <p:cNvPr id="55" name="Rectangle 54"/>
          <p:cNvSpPr/>
          <p:nvPr/>
        </p:nvSpPr>
        <p:spPr>
          <a:xfrm>
            <a:off x="658368" y="38748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0664" y="3925112"/>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Enterprise</a:t>
            </a:r>
          </a:p>
        </p:txBody>
      </p:sp>
      <p:sp>
        <p:nvSpPr>
          <p:cNvPr id="57" name="TextBox 56"/>
          <p:cNvSpPr txBox="1"/>
          <p:nvPr/>
        </p:nvSpPr>
        <p:spPr>
          <a:xfrm>
            <a:off x="2426282" y="3925112"/>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58" name="TextBox 57"/>
          <p:cNvSpPr txBox="1"/>
          <p:nvPr/>
        </p:nvSpPr>
        <p:spPr>
          <a:xfrm>
            <a:off x="2970030" y="3925112"/>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a:t>
            </a:r>
          </a:p>
        </p:txBody>
      </p:sp>
      <p:sp>
        <p:nvSpPr>
          <p:cNvPr id="59" name="TextBox 58"/>
          <p:cNvSpPr txBox="1"/>
          <p:nvPr/>
        </p:nvSpPr>
        <p:spPr>
          <a:xfrm>
            <a:off x="4655649" y="3925112"/>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m–8 h</a:t>
            </a:r>
          </a:p>
        </p:txBody>
      </p:sp>
      <p:sp>
        <p:nvSpPr>
          <p:cNvPr id="60" name="TextBox 59"/>
          <p:cNvSpPr txBox="1"/>
          <p:nvPr/>
        </p:nvSpPr>
        <p:spPr>
          <a:xfrm>
            <a:off x="5906269" y="3925112"/>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 / 2.00</a:t>
            </a:r>
          </a:p>
        </p:txBody>
      </p:sp>
      <p:sp>
        <p:nvSpPr>
          <p:cNvPr id="61" name="TextBox 60"/>
          <p:cNvSpPr txBox="1"/>
          <p:nvPr/>
        </p:nvSpPr>
        <p:spPr>
          <a:xfrm>
            <a:off x="7102515" y="3925112"/>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62" name="TextBox 61"/>
          <p:cNvSpPr txBox="1"/>
          <p:nvPr/>
        </p:nvSpPr>
        <p:spPr>
          <a:xfrm>
            <a:off x="8190011" y="3925112"/>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0.45</a:t>
            </a:r>
          </a:p>
        </p:txBody>
      </p:sp>
      <p:sp>
        <p:nvSpPr>
          <p:cNvPr id="63" name="TextBox 62"/>
          <p:cNvSpPr txBox="1"/>
          <p:nvPr/>
        </p:nvSpPr>
        <p:spPr>
          <a:xfrm>
            <a:off x="9005632" y="3925112"/>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Office VPN and web</a:t>
            </a:r>
          </a:p>
        </p:txBody>
      </p:sp>
      <p:sp>
        <p:nvSpPr>
          <p:cNvPr id="64" name="Rectangle 63"/>
          <p:cNvSpPr/>
          <p:nvPr/>
        </p:nvSpPr>
        <p:spPr>
          <a:xfrm>
            <a:off x="658368" y="409244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4092447"/>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4142739"/>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Video conference</a:t>
            </a:r>
          </a:p>
        </p:txBody>
      </p:sp>
      <p:sp>
        <p:nvSpPr>
          <p:cNvPr id="67" name="TextBox 66"/>
          <p:cNvSpPr txBox="1"/>
          <p:nvPr/>
        </p:nvSpPr>
        <p:spPr>
          <a:xfrm>
            <a:off x="2426282" y="4142739"/>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a:t>
            </a:r>
          </a:p>
        </p:txBody>
      </p:sp>
      <p:sp>
        <p:nvSpPr>
          <p:cNvPr id="68" name="TextBox 67"/>
          <p:cNvSpPr txBox="1"/>
          <p:nvPr/>
        </p:nvSpPr>
        <p:spPr>
          <a:xfrm>
            <a:off x="2970030" y="4142739"/>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enterprise-rtc</a:t>
            </a:r>
          </a:p>
        </p:txBody>
      </p:sp>
      <p:sp>
        <p:nvSpPr>
          <p:cNvPr id="69" name="TextBox 68"/>
          <p:cNvSpPr txBox="1"/>
          <p:nvPr/>
        </p:nvSpPr>
        <p:spPr>
          <a:xfrm>
            <a:off x="4655649" y="4142739"/>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m–6 h</a:t>
            </a:r>
          </a:p>
        </p:txBody>
      </p:sp>
      <p:sp>
        <p:nvSpPr>
          <p:cNvPr id="70" name="TextBox 69"/>
          <p:cNvSpPr txBox="1"/>
          <p:nvPr/>
        </p:nvSpPr>
        <p:spPr>
          <a:xfrm>
            <a:off x="5906269" y="4142739"/>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1.50 / 1.50</a:t>
            </a:r>
          </a:p>
        </p:txBody>
      </p:sp>
      <p:sp>
        <p:nvSpPr>
          <p:cNvPr id="71" name="TextBox 70"/>
          <p:cNvSpPr txBox="1"/>
          <p:nvPr/>
        </p:nvSpPr>
        <p:spPr>
          <a:xfrm>
            <a:off x="7102515" y="4142739"/>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72" name="TextBox 71"/>
          <p:cNvSpPr txBox="1"/>
          <p:nvPr/>
        </p:nvSpPr>
        <p:spPr>
          <a:xfrm>
            <a:off x="8190011" y="4142739"/>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a:t>
            </a:r>
          </a:p>
        </p:txBody>
      </p:sp>
      <p:sp>
        <p:nvSpPr>
          <p:cNvPr id="73" name="TextBox 72"/>
          <p:cNvSpPr txBox="1"/>
          <p:nvPr/>
        </p:nvSpPr>
        <p:spPr>
          <a:xfrm>
            <a:off x="9005632" y="4142739"/>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Symmetric real-time</a:t>
            </a:r>
          </a:p>
        </p:txBody>
      </p:sp>
      <p:sp>
        <p:nvSpPr>
          <p:cNvPr id="74" name="Rectangle 73"/>
          <p:cNvSpPr/>
          <p:nvPr/>
        </p:nvSpPr>
        <p:spPr>
          <a:xfrm>
            <a:off x="658368" y="431007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40664" y="4360367"/>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Industrial URLLC</a:t>
            </a:r>
          </a:p>
        </p:txBody>
      </p:sp>
      <p:sp>
        <p:nvSpPr>
          <p:cNvPr id="76" name="TextBox 75"/>
          <p:cNvSpPr txBox="1"/>
          <p:nvPr/>
        </p:nvSpPr>
        <p:spPr>
          <a:xfrm>
            <a:off x="2426282" y="4360367"/>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82</a:t>
            </a:r>
          </a:p>
        </p:txBody>
      </p:sp>
      <p:sp>
        <p:nvSpPr>
          <p:cNvPr id="77" name="TextBox 76"/>
          <p:cNvSpPr txBox="1"/>
          <p:nvPr/>
        </p:nvSpPr>
        <p:spPr>
          <a:xfrm>
            <a:off x="2970030" y="4360367"/>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factory-control</a:t>
            </a:r>
          </a:p>
        </p:txBody>
      </p:sp>
      <p:sp>
        <p:nvSpPr>
          <p:cNvPr id="78" name="TextBox 77"/>
          <p:cNvSpPr txBox="1"/>
          <p:nvPr/>
        </p:nvSpPr>
        <p:spPr>
          <a:xfrm>
            <a:off x="4655649" y="4360367"/>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4–24 h</a:t>
            </a:r>
          </a:p>
        </p:txBody>
      </p:sp>
      <p:sp>
        <p:nvSpPr>
          <p:cNvPr id="79" name="TextBox 78"/>
          <p:cNvSpPr txBox="1"/>
          <p:nvPr/>
        </p:nvSpPr>
        <p:spPr>
          <a:xfrm>
            <a:off x="5906269" y="4360367"/>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0.10 / 0.08</a:t>
            </a:r>
          </a:p>
        </p:txBody>
      </p:sp>
      <p:sp>
        <p:nvSpPr>
          <p:cNvPr id="80" name="TextBox 79"/>
          <p:cNvSpPr txBox="1"/>
          <p:nvPr/>
        </p:nvSpPr>
        <p:spPr>
          <a:xfrm>
            <a:off x="7102515" y="4360367"/>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Industrial</a:t>
            </a:r>
          </a:p>
        </p:txBody>
      </p:sp>
      <p:sp>
        <p:nvSpPr>
          <p:cNvPr id="81" name="TextBox 80"/>
          <p:cNvSpPr txBox="1"/>
          <p:nvPr/>
        </p:nvSpPr>
        <p:spPr>
          <a:xfrm>
            <a:off x="8190011" y="4360367"/>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0.75</a:t>
            </a:r>
          </a:p>
        </p:txBody>
      </p:sp>
      <p:sp>
        <p:nvSpPr>
          <p:cNvPr id="82" name="TextBox 81"/>
          <p:cNvSpPr txBox="1"/>
          <p:nvPr/>
        </p:nvSpPr>
        <p:spPr>
          <a:xfrm>
            <a:off x="9005632" y="4360367"/>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Machine control loops</a:t>
            </a:r>
          </a:p>
        </p:txBody>
      </p:sp>
      <p:sp>
        <p:nvSpPr>
          <p:cNvPr id="83" name="Rectangle 82"/>
          <p:cNvSpPr/>
          <p:nvPr/>
        </p:nvSpPr>
        <p:spPr>
          <a:xfrm>
            <a:off x="658368" y="45277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8368" y="4527702"/>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0664" y="457799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Massive IoT</a:t>
            </a:r>
          </a:p>
        </p:txBody>
      </p:sp>
      <p:sp>
        <p:nvSpPr>
          <p:cNvPr id="86" name="TextBox 85"/>
          <p:cNvSpPr txBox="1"/>
          <p:nvPr/>
        </p:nvSpPr>
        <p:spPr>
          <a:xfrm>
            <a:off x="2426282" y="457799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87" name="TextBox 86"/>
          <p:cNvSpPr txBox="1"/>
          <p:nvPr/>
        </p:nvSpPr>
        <p:spPr>
          <a:xfrm>
            <a:off x="2970030" y="457799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mmtc</a:t>
            </a:r>
          </a:p>
        </p:txBody>
      </p:sp>
      <p:sp>
        <p:nvSpPr>
          <p:cNvPr id="88" name="TextBox 87"/>
          <p:cNvSpPr txBox="1"/>
          <p:nvPr/>
        </p:nvSpPr>
        <p:spPr>
          <a:xfrm>
            <a:off x="4655649" y="457799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6–48 h</a:t>
            </a:r>
          </a:p>
        </p:txBody>
      </p:sp>
      <p:sp>
        <p:nvSpPr>
          <p:cNvPr id="89" name="TextBox 88"/>
          <p:cNvSpPr txBox="1"/>
          <p:nvPr/>
        </p:nvSpPr>
        <p:spPr>
          <a:xfrm>
            <a:off x="5906269" y="457799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0.020 / 0.004</a:t>
            </a:r>
          </a:p>
        </p:txBody>
      </p:sp>
      <p:sp>
        <p:nvSpPr>
          <p:cNvPr id="90" name="TextBox 89"/>
          <p:cNvSpPr txBox="1"/>
          <p:nvPr/>
        </p:nvSpPr>
        <p:spPr>
          <a:xfrm>
            <a:off x="7102515" y="457799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91" name="TextBox 90"/>
          <p:cNvSpPr txBox="1"/>
          <p:nvPr/>
        </p:nvSpPr>
        <p:spPr>
          <a:xfrm>
            <a:off x="8190011" y="457799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92" name="TextBox 91"/>
          <p:cNvSpPr txBox="1"/>
          <p:nvPr/>
        </p:nvSpPr>
        <p:spPr>
          <a:xfrm>
            <a:off x="9005632" y="457799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Meters and sensors</a:t>
            </a:r>
          </a:p>
        </p:txBody>
      </p:sp>
      <p:sp>
        <p:nvSpPr>
          <p:cNvPr id="93" name="Rectangle 92"/>
          <p:cNvSpPr/>
          <p:nvPr/>
        </p:nvSpPr>
        <p:spPr>
          <a:xfrm>
            <a:off x="658368" y="474532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0664" y="479562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Connected vehicle</a:t>
            </a:r>
          </a:p>
        </p:txBody>
      </p:sp>
      <p:sp>
        <p:nvSpPr>
          <p:cNvPr id="95" name="TextBox 94"/>
          <p:cNvSpPr txBox="1"/>
          <p:nvPr/>
        </p:nvSpPr>
        <p:spPr>
          <a:xfrm>
            <a:off x="2426282" y="479562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84</a:t>
            </a:r>
          </a:p>
        </p:txBody>
      </p:sp>
      <p:sp>
        <p:nvSpPr>
          <p:cNvPr id="96" name="TextBox 95"/>
          <p:cNvSpPr txBox="1"/>
          <p:nvPr/>
        </p:nvSpPr>
        <p:spPr>
          <a:xfrm>
            <a:off x="2970030" y="479562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a:t>
            </a:r>
          </a:p>
        </p:txBody>
      </p:sp>
      <p:sp>
        <p:nvSpPr>
          <p:cNvPr id="97" name="TextBox 96"/>
          <p:cNvSpPr txBox="1"/>
          <p:nvPr/>
        </p:nvSpPr>
        <p:spPr>
          <a:xfrm>
            <a:off x="4655649" y="479562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5 m–1 h</a:t>
            </a:r>
          </a:p>
        </p:txBody>
      </p:sp>
      <p:sp>
        <p:nvSpPr>
          <p:cNvPr id="98" name="TextBox 97"/>
          <p:cNvSpPr txBox="1"/>
          <p:nvPr/>
        </p:nvSpPr>
        <p:spPr>
          <a:xfrm>
            <a:off x="5906269" y="479562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 / 1.00</a:t>
            </a:r>
          </a:p>
        </p:txBody>
      </p:sp>
      <p:sp>
        <p:nvSpPr>
          <p:cNvPr id="99" name="TextBox 98"/>
          <p:cNvSpPr txBox="1"/>
          <p:nvPr/>
        </p:nvSpPr>
        <p:spPr>
          <a:xfrm>
            <a:off x="7102515" y="479562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100" name="TextBox 99"/>
          <p:cNvSpPr txBox="1"/>
          <p:nvPr/>
        </p:nvSpPr>
        <p:spPr>
          <a:xfrm>
            <a:off x="8190011" y="479562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0.80</a:t>
            </a:r>
          </a:p>
        </p:txBody>
      </p:sp>
      <p:sp>
        <p:nvSpPr>
          <p:cNvPr id="101" name="TextBox 100"/>
          <p:cNvSpPr txBox="1"/>
          <p:nvPr/>
        </p:nvSpPr>
        <p:spPr>
          <a:xfrm>
            <a:off x="9005632" y="479562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 telemetry</a:t>
            </a:r>
          </a:p>
        </p:txBody>
      </p:sp>
      <p:sp>
        <p:nvSpPr>
          <p:cNvPr id="102" name="Rectangle 101"/>
          <p:cNvSpPr/>
          <p:nvPr/>
        </p:nvSpPr>
        <p:spPr>
          <a:xfrm>
            <a:off x="658368" y="496295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4962956"/>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40664" y="501324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Edge AI</a:t>
            </a:r>
          </a:p>
        </p:txBody>
      </p:sp>
      <p:sp>
        <p:nvSpPr>
          <p:cNvPr id="105" name="TextBox 104"/>
          <p:cNvSpPr txBox="1"/>
          <p:nvPr/>
        </p:nvSpPr>
        <p:spPr>
          <a:xfrm>
            <a:off x="2426282" y="501324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106" name="TextBox 105"/>
          <p:cNvSpPr txBox="1"/>
          <p:nvPr/>
        </p:nvSpPr>
        <p:spPr>
          <a:xfrm>
            <a:off x="2970030" y="501324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edge-inference</a:t>
            </a:r>
          </a:p>
        </p:txBody>
      </p:sp>
      <p:sp>
        <p:nvSpPr>
          <p:cNvPr id="107" name="TextBox 106"/>
          <p:cNvSpPr txBox="1"/>
          <p:nvPr/>
        </p:nvSpPr>
        <p:spPr>
          <a:xfrm>
            <a:off x="4655649" y="501324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108" name="TextBox 107"/>
          <p:cNvSpPr txBox="1"/>
          <p:nvPr/>
        </p:nvSpPr>
        <p:spPr>
          <a:xfrm>
            <a:off x="5906269" y="501324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3.00 / 6.00</a:t>
            </a:r>
          </a:p>
        </p:txBody>
      </p:sp>
      <p:sp>
        <p:nvSpPr>
          <p:cNvPr id="109" name="TextBox 108"/>
          <p:cNvSpPr txBox="1"/>
          <p:nvPr/>
        </p:nvSpPr>
        <p:spPr>
          <a:xfrm>
            <a:off x="7102515" y="501324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110" name="TextBox 109"/>
          <p:cNvSpPr txBox="1"/>
          <p:nvPr/>
        </p:nvSpPr>
        <p:spPr>
          <a:xfrm>
            <a:off x="8190011" y="501324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0.70</a:t>
            </a:r>
          </a:p>
        </p:txBody>
      </p:sp>
      <p:sp>
        <p:nvSpPr>
          <p:cNvPr id="111" name="TextBox 110"/>
          <p:cNvSpPr txBox="1"/>
          <p:nvPr/>
        </p:nvSpPr>
        <p:spPr>
          <a:xfrm>
            <a:off x="9005632" y="501324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Inference at the edge</a:t>
            </a:r>
          </a:p>
        </p:txBody>
      </p:sp>
      <p:sp>
        <p:nvSpPr>
          <p:cNvPr id="112" name="Rectangle 111"/>
          <p:cNvSpPr/>
          <p:nvPr/>
        </p:nvSpPr>
        <p:spPr>
          <a:xfrm>
            <a:off x="658368" y="518058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40664" y="523087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Cloud backup</a:t>
            </a:r>
          </a:p>
        </p:txBody>
      </p:sp>
      <p:sp>
        <p:nvSpPr>
          <p:cNvPr id="114" name="TextBox 113"/>
          <p:cNvSpPr txBox="1"/>
          <p:nvPr/>
        </p:nvSpPr>
        <p:spPr>
          <a:xfrm>
            <a:off x="2426282" y="523087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115" name="TextBox 114"/>
          <p:cNvSpPr txBox="1"/>
          <p:nvPr/>
        </p:nvSpPr>
        <p:spPr>
          <a:xfrm>
            <a:off x="2970030" y="523087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enterprise-backup</a:t>
            </a:r>
          </a:p>
        </p:txBody>
      </p:sp>
      <p:sp>
        <p:nvSpPr>
          <p:cNvPr id="116" name="TextBox 115"/>
          <p:cNvSpPr txBox="1"/>
          <p:nvPr/>
        </p:nvSpPr>
        <p:spPr>
          <a:xfrm>
            <a:off x="4655649" y="523087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117" name="TextBox 116"/>
          <p:cNvSpPr txBox="1"/>
          <p:nvPr/>
        </p:nvSpPr>
        <p:spPr>
          <a:xfrm>
            <a:off x="5906269" y="523087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8.00 / 2.00</a:t>
            </a:r>
          </a:p>
        </p:txBody>
      </p:sp>
      <p:sp>
        <p:nvSpPr>
          <p:cNvPr id="118" name="TextBox 117"/>
          <p:cNvSpPr txBox="1"/>
          <p:nvPr/>
        </p:nvSpPr>
        <p:spPr>
          <a:xfrm>
            <a:off x="7102515" y="523087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Overnight</a:t>
            </a:r>
          </a:p>
        </p:txBody>
      </p:sp>
      <p:sp>
        <p:nvSpPr>
          <p:cNvPr id="119" name="TextBox 118"/>
          <p:cNvSpPr txBox="1"/>
          <p:nvPr/>
        </p:nvSpPr>
        <p:spPr>
          <a:xfrm>
            <a:off x="8190011" y="523087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1.15</a:t>
            </a:r>
          </a:p>
        </p:txBody>
      </p:sp>
      <p:sp>
        <p:nvSpPr>
          <p:cNvPr id="120" name="TextBox 119"/>
          <p:cNvSpPr txBox="1"/>
          <p:nvPr/>
        </p:nvSpPr>
        <p:spPr>
          <a:xfrm>
            <a:off x="9005632" y="523087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Bulk upload</a:t>
            </a:r>
          </a:p>
        </p:txBody>
      </p:sp>
      <p:sp>
        <p:nvSpPr>
          <p:cNvPr id="121" name="Rectangle 120"/>
          <p:cNvSpPr/>
          <p:nvPr/>
        </p:nvSpPr>
        <p:spPr>
          <a:xfrm>
            <a:off x="658368" y="53982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8368" y="5398211"/>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740664" y="5448503"/>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Public safety</a:t>
            </a:r>
          </a:p>
        </p:txBody>
      </p:sp>
      <p:sp>
        <p:nvSpPr>
          <p:cNvPr id="124" name="TextBox 123"/>
          <p:cNvSpPr txBox="1"/>
          <p:nvPr/>
        </p:nvSpPr>
        <p:spPr>
          <a:xfrm>
            <a:off x="2426282" y="5448503"/>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65</a:t>
            </a:r>
          </a:p>
        </p:txBody>
      </p:sp>
      <p:sp>
        <p:nvSpPr>
          <p:cNvPr id="125" name="TextBox 124"/>
          <p:cNvSpPr txBox="1"/>
          <p:nvPr/>
        </p:nvSpPr>
        <p:spPr>
          <a:xfrm>
            <a:off x="2970030" y="5448503"/>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a:t>
            </a:r>
          </a:p>
        </p:txBody>
      </p:sp>
      <p:sp>
        <p:nvSpPr>
          <p:cNvPr id="126" name="TextBox 125"/>
          <p:cNvSpPr txBox="1"/>
          <p:nvPr/>
        </p:nvSpPr>
        <p:spPr>
          <a:xfrm>
            <a:off x="4655649" y="5448503"/>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 m–3 h</a:t>
            </a:r>
          </a:p>
        </p:txBody>
      </p:sp>
      <p:sp>
        <p:nvSpPr>
          <p:cNvPr id="127" name="TextBox 126"/>
          <p:cNvSpPr txBox="1"/>
          <p:nvPr/>
        </p:nvSpPr>
        <p:spPr>
          <a:xfrm>
            <a:off x="5906269" y="5448503"/>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2.00</a:t>
            </a:r>
          </a:p>
        </p:txBody>
      </p:sp>
      <p:sp>
        <p:nvSpPr>
          <p:cNvPr id="128" name="TextBox 127"/>
          <p:cNvSpPr txBox="1"/>
          <p:nvPr/>
        </p:nvSpPr>
        <p:spPr>
          <a:xfrm>
            <a:off x="7102515" y="5448503"/>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129" name="TextBox 128"/>
          <p:cNvSpPr txBox="1"/>
          <p:nvPr/>
        </p:nvSpPr>
        <p:spPr>
          <a:xfrm>
            <a:off x="8190011" y="5448503"/>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130" name="TextBox 129"/>
          <p:cNvSpPr txBox="1"/>
          <p:nvPr/>
        </p:nvSpPr>
        <p:spPr>
          <a:xfrm>
            <a:off x="9005632" y="5448503"/>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 push</a:t>
            </a:r>
          </a:p>
        </p:txBody>
      </p:sp>
      <p:sp>
        <p:nvSpPr>
          <p:cNvPr id="131" name="Rectangle 130"/>
          <p:cNvSpPr/>
          <p:nvPr/>
        </p:nvSpPr>
        <p:spPr>
          <a:xfrm>
            <a:off x="658368" y="561583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58368" y="2729992"/>
            <a:ext cx="10874959" cy="288584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58368" y="5729224"/>
            <a:ext cx="10874959" cy="548640"/>
          </a:xfrm>
          <a:prstGeom prst="rect">
            <a:avLst/>
          </a:prstGeom>
          <a:noFill/>
        </p:spPr>
        <p:txBody>
          <a:bodyPr wrap="square" anchor="t" lIns="0" rIns="0" tIns="0" bIns="0">
            <a:spAutoFit/>
          </a:bodyPr>
          <a:lstStyle/>
          <a:p>
            <a:pPr algn="l">
              <a:lnSpc>
                <a:spcPct val="140000"/>
              </a:lnSpc>
            </a:pPr>
            <a:r>
              <a:rPr sz="1019" b="0" i="0">
                <a:solidFill>
                  <a:srgbClr val="6C7683"/>
                </a:solidFill>
                <a:latin typeface="Segoe UI"/>
              </a:rPr>
              <a:t>Eight areas × twelve classes = 96 traffic groups. The steering key is (area, data network, slice); 5QI is carried as descriptive metadata because it is not assumed to be a UPF-selection key. Base arrival rates run from 22.4 sessions per 30 s (cloud backup) to 448 (massive IoT) per group.</a:t>
            </a:r>
          </a:p>
        </p:txBody>
      </p:sp>
      <p:sp>
        <p:nvSpPr>
          <p:cNvPr id="134" name="TextBox 13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generated, mathematically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quantity below is drawn from a named distribution with a seeded, independent random stream. Same manifest, same seed, same result — bit for bit.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a.png"/>
          <p:cNvPicPr>
            <a:picLocks noChangeAspect="1"/>
          </p:cNvPicPr>
          <p:nvPr/>
        </p:nvPicPr>
        <p:blipFill>
          <a:blip r:embed="rId2"/>
          <a:stretch>
            <a:fillRect/>
          </a:stretch>
        </p:blipFill>
        <p:spPr>
          <a:xfrm>
            <a:off x="658368" y="2389124"/>
            <a:ext cx="10874959" cy="3011903"/>
          </a:xfrm>
          <a:prstGeom prst="rect">
            <a:avLst/>
          </a:prstGeom>
        </p:spPr>
      </p:pic>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realism layer added on top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16-week corpus above uses fixed per-class rates and uniform session lengths. traffic-model/2.0 replaces those with correlated, heavy-tailed processes — and every one is re-fitted from the simulator's own output to check it came out right.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b.png"/>
          <p:cNvPicPr>
            <a:picLocks noChangeAspect="1"/>
          </p:cNvPicPr>
          <p:nvPr/>
        </p:nvPicPr>
        <p:blipFill>
          <a:blip r:embed="rId2"/>
          <a:stretch>
            <a:fillRect/>
          </a:stretch>
        </p:blipFill>
        <p:spPr>
          <a:xfrm>
            <a:off x="658368" y="2568702"/>
            <a:ext cx="10874959" cy="2070513"/>
          </a:xfrm>
          <a:prstGeom prst="rect">
            <a:avLst/>
          </a:prstGeom>
        </p:spPr>
      </p:pic>
      <p:sp>
        <p:nvSpPr>
          <p:cNvPr id="9" name="Rectangle 8"/>
          <p:cNvSpPr/>
          <p:nvPr/>
        </p:nvSpPr>
        <p:spPr>
          <a:xfrm>
            <a:off x="658368" y="4950111"/>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950111"/>
            <a:ext cx="34747" cy="1170432"/>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096415"/>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BOTH MODELS EXIST</a:t>
            </a:r>
          </a:p>
        </p:txBody>
      </p:sp>
      <p:sp>
        <p:nvSpPr>
          <p:cNvPr id="12" name="TextBox 11"/>
          <p:cNvSpPr txBox="1"/>
          <p:nvPr/>
        </p:nvSpPr>
        <p:spPr>
          <a:xfrm>
            <a:off x="896112" y="5352447"/>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16-week training corpus was generated before the realism layer was built, so every throughput number in this deck comes from the simpler generator. The realism layer is validated and ready, but regenerating 112 days of history with it is a fresh multi-hour cluster run — one of the first items in the simulator backlog.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STRESS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Daily cycles, surges and failures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model three kinds of stress and keep them independent. If surges and failures always happened together, a controller could score well just by spotting one and assuming the other.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DAILY CYCLE</a:t>
            </a:r>
          </a:p>
        </p:txBody>
      </p:sp>
      <p:sp>
        <p:nvSpPr>
          <p:cNvPr id="10" name="TextBox 9"/>
          <p:cNvSpPr txBox="1"/>
          <p:nvPr/>
        </p:nvSpPr>
        <p:spPr>
          <a:xfrm>
            <a:off x="859536"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Traffic rises and falls over the day and the week. Residential and business zones peak 7 to 11 hours apart, so the network never sees one single national peak. Weekends change both the height and the shape of the curve.</a:t>
            </a:r>
          </a:p>
        </p:txBody>
      </p:sp>
      <p:sp>
        <p:nvSpPr>
          <p:cNvPr id="11" name="Rectangle 10"/>
          <p:cNvSpPr/>
          <p:nvPr/>
        </p:nvSpPr>
        <p:spPr>
          <a:xfrm>
            <a:off x="4386986"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8154"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EVENT SURGE — A STADIUM MATCH</a:t>
            </a:r>
          </a:p>
        </p:txBody>
      </p:sp>
      <p:sp>
        <p:nvSpPr>
          <p:cNvPr id="13" name="TextBox 12"/>
          <p:cNvSpPr txBox="1"/>
          <p:nvPr/>
        </p:nvSpPr>
        <p:spPr>
          <a:xfrm>
            <a:off x="4588154"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Six phases, each multiplying the normal arrival rate: crowd arrives ×1.5, kick-off ×2.1, match ×1.7, half-time uploads ×3.2, final whistle ×2.6, then a long exit tail. Upload-heavy services react hardest. Some events are announced two hours ahead; others are deliberately kept a surprise.</a:t>
            </a:r>
          </a:p>
        </p:txBody>
      </p:sp>
      <p:sp>
        <p:nvSpPr>
          <p:cNvPr id="14" name="Rectangle 13"/>
          <p:cNvSpPr/>
          <p:nvPr/>
        </p:nvSpPr>
        <p:spPr>
          <a:xfrm>
            <a:off x="8115604"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6772"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EQUIPMENT FAILURES</a:t>
            </a:r>
          </a:p>
        </p:txBody>
      </p:sp>
      <p:sp>
        <p:nvSpPr>
          <p:cNvPr id="16" name="TextBox 15"/>
          <p:cNvSpPr txBox="1"/>
          <p:nvPr/>
        </p:nvSpPr>
        <p:spPr>
          <a:xfrm>
            <a:off x="8316772"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box can lose part of its capacity — down to 45% — go almost fully offline (we leave 1% so the maths stays finite), suffer extra network delay, or restart. Recovery windows are modelled too.</a:t>
            </a:r>
          </a:p>
        </p:txBody>
      </p:sp>
      <p:sp>
        <p:nvSpPr>
          <p:cNvPr id="17" name="Rectangle 16"/>
          <p:cNvSpPr/>
          <p:nvPr/>
        </p:nvSpPr>
        <p:spPr>
          <a:xfrm>
            <a:off x="6583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×3.2</a:t>
            </a:r>
          </a:p>
        </p:txBody>
      </p:sp>
      <p:sp>
        <p:nvSpPr>
          <p:cNvPr id="19" name="TextBox 18"/>
          <p:cNvSpPr txBox="1"/>
          <p:nvPr/>
        </p:nvSpPr>
        <p:spPr>
          <a:xfrm>
            <a:off x="8046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HALF-TIME</a:t>
            </a:r>
          </a:p>
          <a:p>
            <a:pPr algn="l">
              <a:lnSpc>
                <a:spcPct val="130000"/>
              </a:lnSpc>
              <a:spcBef>
                <a:spcPts val="0"/>
              </a:spcBef>
            </a:pPr>
            <a:r>
              <a:rPr sz="819" b="0" i="0">
                <a:solidFill>
                  <a:srgbClr val="6C7683"/>
                </a:solidFill>
                <a:latin typeface="Consolas"/>
              </a:rPr>
              <a:t>UPLOAD SURGE</a:t>
            </a:r>
          </a:p>
        </p:txBody>
      </p:sp>
      <p:sp>
        <p:nvSpPr>
          <p:cNvPr id="20" name="Rectangle 19"/>
          <p:cNvSpPr/>
          <p:nvPr/>
        </p:nvSpPr>
        <p:spPr>
          <a:xfrm>
            <a:off x="28434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89722" y="5001006"/>
            <a:ext cx="1878726"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×0.45</a:t>
            </a:r>
          </a:p>
        </p:txBody>
      </p:sp>
      <p:sp>
        <p:nvSpPr>
          <p:cNvPr id="22" name="TextBox 21"/>
          <p:cNvSpPr txBox="1"/>
          <p:nvPr/>
        </p:nvSpPr>
        <p:spPr>
          <a:xfrm>
            <a:off x="29897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BROWNOUT</a:t>
            </a:r>
          </a:p>
          <a:p>
            <a:pPr algn="l">
              <a:lnSpc>
                <a:spcPct val="130000"/>
              </a:lnSpc>
              <a:spcBef>
                <a:spcPts val="0"/>
              </a:spcBef>
            </a:pPr>
            <a:r>
              <a:rPr sz="819" b="0" i="0">
                <a:solidFill>
                  <a:srgbClr val="6C7683"/>
                </a:solidFill>
                <a:latin typeface="Consolas"/>
              </a:rPr>
              <a:t>CAPACITY LEFT</a:t>
            </a:r>
          </a:p>
        </p:txBody>
      </p:sp>
      <p:sp>
        <p:nvSpPr>
          <p:cNvPr id="23" name="Rectangle 22"/>
          <p:cNvSpPr/>
          <p:nvPr/>
        </p:nvSpPr>
        <p:spPr>
          <a:xfrm>
            <a:off x="50284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747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1</a:t>
            </a:r>
            <a:r>
              <a:rPr sz="1000" b="0" i="0">
                <a:solidFill>
                  <a:srgbClr val="6C7683"/>
                </a:solidFill>
                <a:latin typeface="Consolas"/>
              </a:rPr>
              <a:t>%</a:t>
            </a:r>
          </a:p>
        </p:txBody>
      </p:sp>
      <p:sp>
        <p:nvSpPr>
          <p:cNvPr id="25" name="TextBox 24"/>
          <p:cNvSpPr txBox="1"/>
          <p:nvPr/>
        </p:nvSpPr>
        <p:spPr>
          <a:xfrm>
            <a:off x="51747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NEAR-TOTAL OUTAGE</a:t>
            </a:r>
          </a:p>
          <a:p>
            <a:pPr algn="l">
              <a:lnSpc>
                <a:spcPct val="130000"/>
              </a:lnSpc>
              <a:spcBef>
                <a:spcPts val="0"/>
              </a:spcBef>
            </a:pPr>
            <a:r>
              <a:rPr sz="819" b="0" i="0">
                <a:solidFill>
                  <a:srgbClr val="6C7683"/>
                </a:solidFill>
                <a:latin typeface="Consolas"/>
              </a:rPr>
              <a:t>CAPACITY LEFT</a:t>
            </a:r>
          </a:p>
        </p:txBody>
      </p:sp>
      <p:sp>
        <p:nvSpPr>
          <p:cNvPr id="26" name="Rectangle 25"/>
          <p:cNvSpPr/>
          <p:nvPr/>
        </p:nvSpPr>
        <p:spPr>
          <a:xfrm>
            <a:off x="72135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982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 h</a:t>
            </a:r>
          </a:p>
        </p:txBody>
      </p:sp>
      <p:sp>
        <p:nvSpPr>
          <p:cNvPr id="28" name="TextBox 27"/>
          <p:cNvSpPr txBox="1"/>
          <p:nvPr/>
        </p:nvSpPr>
        <p:spPr>
          <a:xfrm>
            <a:off x="73598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PLANNED FAILURE</a:t>
            </a:r>
          </a:p>
        </p:txBody>
      </p:sp>
      <p:sp>
        <p:nvSpPr>
          <p:cNvPr id="29" name="Rectangle 28"/>
          <p:cNvSpPr/>
          <p:nvPr/>
        </p:nvSpPr>
        <p:spPr>
          <a:xfrm>
            <a:off x="93985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48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0</a:t>
            </a:r>
          </a:p>
        </p:txBody>
      </p:sp>
      <p:sp>
        <p:nvSpPr>
          <p:cNvPr id="31" name="TextBox 30"/>
          <p:cNvSpPr txBox="1"/>
          <p:nvPr/>
        </p:nvSpPr>
        <p:spPr>
          <a:xfrm>
            <a:off x="95448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SURPRISE SURGE</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ONE SIMULATED DAY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Demand, capacity, and a planned brownout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upfday.png"/>
          <p:cNvPicPr>
            <a:picLocks noChangeAspect="1"/>
          </p:cNvPicPr>
          <p:nvPr/>
        </p:nvPicPr>
        <p:blipFill>
          <a:blip r:embed="rId2"/>
          <a:stretch>
            <a:fillRect/>
          </a:stretch>
        </p:blipFill>
        <p:spPr>
          <a:xfrm>
            <a:off x="658368" y="1298448"/>
            <a:ext cx="7612471" cy="3337600"/>
          </a:xfrm>
          <a:prstGeom prst="rect">
            <a:avLst/>
          </a:prstGeom>
        </p:spPr>
      </p:pic>
      <p:sp>
        <p:nvSpPr>
          <p:cNvPr id="8" name="Rectangle 7"/>
          <p:cNvSpPr/>
          <p:nvPr/>
        </p:nvSpPr>
        <p:spPr>
          <a:xfrm>
            <a:off x="8488338" y="14218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1218" y="1353312"/>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top panel shows</a:t>
            </a:r>
          </a:p>
        </p:txBody>
      </p:sp>
      <p:sp>
        <p:nvSpPr>
          <p:cNvPr id="10" name="TextBox 9"/>
          <p:cNvSpPr txBox="1"/>
          <p:nvPr/>
        </p:nvSpPr>
        <p:spPr>
          <a:xfrm>
            <a:off x="8671218" y="1596440"/>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Uplink demand on a Delhi-NCR edge box, rising through the evening as the stadium fills.</a:t>
            </a:r>
          </a:p>
        </p:txBody>
      </p:sp>
      <p:sp>
        <p:nvSpPr>
          <p:cNvPr id="11" name="Rectangle 10"/>
          <p:cNvSpPr/>
          <p:nvPr/>
        </p:nvSpPr>
        <p:spPr>
          <a:xfrm>
            <a:off x="8488338" y="2265629"/>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88338" y="241650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1218" y="2347925"/>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bottom panel shows</a:t>
            </a:r>
          </a:p>
        </p:txBody>
      </p:sp>
      <p:sp>
        <p:nvSpPr>
          <p:cNvPr id="14" name="TextBox 13"/>
          <p:cNvSpPr txBox="1"/>
          <p:nvPr/>
        </p:nvSpPr>
        <p:spPr>
          <a:xfrm>
            <a:off x="8671218" y="2591054"/>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How close that box is to its safe limit — the number the controller actually reacts to.</a:t>
            </a:r>
          </a:p>
        </p:txBody>
      </p:sp>
      <p:sp>
        <p:nvSpPr>
          <p:cNvPr id="15" name="Rectangle 14"/>
          <p:cNvSpPr/>
          <p:nvPr/>
        </p:nvSpPr>
        <p:spPr>
          <a:xfrm>
            <a:off x="8488338" y="3260242"/>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88338" y="34111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1218" y="3342538"/>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brownout at 12:30</a:t>
            </a:r>
          </a:p>
        </p:txBody>
      </p:sp>
      <p:sp>
        <p:nvSpPr>
          <p:cNvPr id="18" name="TextBox 17"/>
          <p:cNvSpPr txBox="1"/>
          <p:nvPr/>
        </p:nvSpPr>
        <p:spPr>
          <a:xfrm>
            <a:off x="8671218" y="3585667"/>
            <a:ext cx="2862108" cy="452221"/>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Safe uplink capacity drops from 2 028 to 912.6 Mbps for 90 minutes.</a:t>
            </a:r>
          </a:p>
        </p:txBody>
      </p:sp>
      <p:sp>
        <p:nvSpPr>
          <p:cNvPr id="19" name="Rectangle 18"/>
          <p:cNvSpPr/>
          <p:nvPr/>
        </p:nvSpPr>
        <p:spPr>
          <a:xfrm>
            <a:off x="8488338" y="4074464"/>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88338" y="42253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71218" y="4156760"/>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Why it matters</a:t>
            </a:r>
          </a:p>
        </p:txBody>
      </p:sp>
      <p:sp>
        <p:nvSpPr>
          <p:cNvPr id="22" name="TextBox 21"/>
          <p:cNvSpPr txBox="1"/>
          <p:nvPr/>
        </p:nvSpPr>
        <p:spPr>
          <a:xfrm>
            <a:off x="8671218" y="4399889"/>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Demand barely changes. But headroom halves, so utilisation jumps from 16% to 38%.</a:t>
            </a:r>
          </a:p>
        </p:txBody>
      </p:sp>
      <p:sp>
        <p:nvSpPr>
          <p:cNvPr id="23" name="Rectangle 22"/>
          <p:cNvSpPr/>
          <p:nvPr/>
        </p:nvSpPr>
        <p:spPr>
          <a:xfrm>
            <a:off x="8488338" y="5069078"/>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88338" y="521995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1218" y="5151374"/>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controller knew at 10:30</a:t>
            </a:r>
          </a:p>
        </p:txBody>
      </p:sp>
      <p:sp>
        <p:nvSpPr>
          <p:cNvPr id="26" name="TextBox 25"/>
          <p:cNvSpPr txBox="1"/>
          <p:nvPr/>
        </p:nvSpPr>
        <p:spPr>
          <a:xfrm>
            <a:off x="8671218" y="5394502"/>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Exactly two hours of warning — enough time to stop sending new sessions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VERIFICATION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test the simulator against itself</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Claiming a simulator is realistic is easy. We check it instead: take its own output, re-fit every distribution from that output, and compare against what we asked for.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a:t>
            </a:r>
            <a:r>
              <a:rPr sz="950" b="0" i="0">
                <a:solidFill>
                  <a:srgbClr val="6C7683"/>
                </a:solidFill>
                <a:latin typeface="Consolas"/>
              </a:rPr>
              <a:t> bytes</a:t>
            </a:r>
          </a:p>
        </p:txBody>
      </p:sp>
      <p:sp>
        <p:nvSpPr>
          <p:cNvPr id="10" name="TextBox 9"/>
          <p:cNvSpPr txBox="1"/>
          <p:nvPr/>
        </p:nvSpPr>
        <p:spPr>
          <a:xfrm>
            <a:off x="8046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TRAFFIC THAT</a:t>
            </a:r>
          </a:p>
          <a:p>
            <a:pPr algn="l">
              <a:lnSpc>
                <a:spcPct val="130000"/>
              </a:lnSpc>
              <a:spcBef>
                <a:spcPts val="0"/>
              </a:spcBef>
            </a:pPr>
            <a:r>
              <a:rPr sz="819" b="0" i="0">
                <a:solidFill>
                  <a:srgbClr val="6C7683"/>
                </a:solidFill>
                <a:latin typeface="Consolas"/>
              </a:rPr>
              <a:t>DOESN'T ADD UP</a:t>
            </a:r>
          </a:p>
        </p:txBody>
      </p:sp>
      <p:sp>
        <p:nvSpPr>
          <p:cNvPr id="11" name="Rectangle 10"/>
          <p:cNvSpPr/>
          <p:nvPr/>
        </p:nvSpPr>
        <p:spPr>
          <a:xfrm>
            <a:off x="247924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0.8198</a:t>
            </a:r>
          </a:p>
        </p:txBody>
      </p:sp>
      <p:sp>
        <p:nvSpPr>
          <p:cNvPr id="13" name="TextBox 12"/>
          <p:cNvSpPr txBox="1"/>
          <p:nvPr/>
        </p:nvSpPr>
        <p:spPr>
          <a:xfrm>
            <a:off x="262554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MEASURED DRIFT</a:t>
            </a:r>
          </a:p>
          <a:p>
            <a:pPr algn="l">
              <a:lnSpc>
                <a:spcPct val="130000"/>
              </a:lnSpc>
              <a:spcBef>
                <a:spcPts val="0"/>
              </a:spcBef>
            </a:pPr>
            <a:r>
              <a:rPr sz="819" b="0" i="0">
                <a:solidFill>
                  <a:srgbClr val="6C7683"/>
                </a:solidFill>
                <a:latin typeface="Consolas"/>
              </a:rPr>
              <a:t>WE ASKED FOR 0.8200</a:t>
            </a:r>
          </a:p>
        </p:txBody>
      </p:sp>
      <p:sp>
        <p:nvSpPr>
          <p:cNvPr id="14" name="Rectangle 13"/>
          <p:cNvSpPr/>
          <p:nvPr/>
        </p:nvSpPr>
        <p:spPr>
          <a:xfrm>
            <a:off x="430011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0.00</a:t>
            </a:r>
            <a:r>
              <a:rPr sz="950" b="0" i="0">
                <a:solidFill>
                  <a:srgbClr val="6C7683"/>
                </a:solidFill>
                <a:latin typeface="Consolas"/>
              </a:rPr>
              <a:t>%</a:t>
            </a:r>
          </a:p>
        </p:txBody>
      </p:sp>
      <p:sp>
        <p:nvSpPr>
          <p:cNvPr id="16" name="TextBox 15"/>
          <p:cNvSpPr txBox="1"/>
          <p:nvPr/>
        </p:nvSpPr>
        <p:spPr>
          <a:xfrm>
            <a:off x="444642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SESSION-LENGTH</a:t>
            </a:r>
          </a:p>
          <a:p>
            <a:pPr algn="l">
              <a:lnSpc>
                <a:spcPct val="130000"/>
              </a:lnSpc>
              <a:spcBef>
                <a:spcPts val="0"/>
              </a:spcBef>
            </a:pPr>
            <a:r>
              <a:rPr sz="819" b="0" i="0">
                <a:solidFill>
                  <a:srgbClr val="6C7683"/>
                </a:solidFill>
                <a:latin typeface="Consolas"/>
              </a:rPr>
              <a:t>ERROR</a:t>
            </a:r>
          </a:p>
        </p:txBody>
      </p:sp>
      <p:sp>
        <p:nvSpPr>
          <p:cNvPr id="17" name="Rectangle 16"/>
          <p:cNvSpPr/>
          <p:nvPr/>
        </p:nvSpPr>
        <p:spPr>
          <a:xfrm>
            <a:off x="612099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0.31</a:t>
            </a:r>
            <a:r>
              <a:rPr sz="950" b="0" i="0">
                <a:solidFill>
                  <a:srgbClr val="6C7683"/>
                </a:solidFill>
                <a:latin typeface="Consolas"/>
              </a:rPr>
              <a:t>%</a:t>
            </a:r>
          </a:p>
        </p:txBody>
      </p:sp>
      <p:sp>
        <p:nvSpPr>
          <p:cNvPr id="19" name="TextBox 18"/>
          <p:cNvSpPr txBox="1"/>
          <p:nvPr/>
        </p:nvSpPr>
        <p:spPr>
          <a:xfrm>
            <a:off x="626729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BANDWIDTH</a:t>
            </a:r>
          </a:p>
          <a:p>
            <a:pPr algn="l">
              <a:lnSpc>
                <a:spcPct val="130000"/>
              </a:lnSpc>
              <a:spcBef>
                <a:spcPts val="0"/>
              </a:spcBef>
            </a:pPr>
            <a:r>
              <a:rPr sz="819" b="0" i="0">
                <a:solidFill>
                  <a:srgbClr val="6C7683"/>
                </a:solidFill>
                <a:latin typeface="Consolas"/>
              </a:rPr>
              <a:t>ERROR</a:t>
            </a:r>
          </a:p>
        </p:txBody>
      </p:sp>
      <p:sp>
        <p:nvSpPr>
          <p:cNvPr id="20" name="Rectangle 19"/>
          <p:cNvSpPr/>
          <p:nvPr/>
        </p:nvSpPr>
        <p:spPr>
          <a:xfrm>
            <a:off x="79418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EXACT</a:t>
            </a:r>
          </a:p>
        </p:txBody>
      </p:sp>
      <p:sp>
        <p:nvSpPr>
          <p:cNvPr id="22" name="TextBox 21"/>
          <p:cNvSpPr txBox="1"/>
          <p:nvPr/>
        </p:nvSpPr>
        <p:spPr>
          <a:xfrm>
            <a:off x="80881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PEOPLE COUNTED</a:t>
            </a:r>
          </a:p>
          <a:p>
            <a:pPr algn="l">
              <a:lnSpc>
                <a:spcPct val="130000"/>
              </a:lnSpc>
              <a:spcBef>
                <a:spcPts val="0"/>
              </a:spcBef>
            </a:pPr>
            <a:r>
              <a:rPr sz="819" b="0" i="0">
                <a:solidFill>
                  <a:srgbClr val="6C7683"/>
                </a:solidFill>
                <a:latin typeface="Consolas"/>
              </a:rPr>
              <a:t>IN AND OUT</a:t>
            </a:r>
          </a:p>
        </p:txBody>
      </p:sp>
      <p:sp>
        <p:nvSpPr>
          <p:cNvPr id="23" name="Rectangle 22"/>
          <p:cNvSpPr/>
          <p:nvPr/>
        </p:nvSpPr>
        <p:spPr>
          <a:xfrm>
            <a:off x="9762744"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5" name="TextBox 24"/>
          <p:cNvSpPr txBox="1"/>
          <p:nvPr/>
        </p:nvSpPr>
        <p:spPr>
          <a:xfrm>
            <a:off x="9909048"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SESSIONS SENT TO A</a:t>
            </a:r>
          </a:p>
          <a:p>
            <a:pPr algn="l">
              <a:lnSpc>
                <a:spcPct val="130000"/>
              </a:lnSpc>
              <a:spcBef>
                <a:spcPts val="0"/>
              </a:spcBef>
            </a:pPr>
            <a:r>
              <a:rPr sz="819" b="0" i="0">
                <a:solidFill>
                  <a:srgbClr val="6C7683"/>
                </a:solidFill>
                <a:latin typeface="Consolas"/>
              </a:rPr>
              <a:t>BANNED OR DEAD BOX</a:t>
            </a:r>
          </a:p>
        </p:txBody>
      </p:sp>
      <p:sp>
        <p:nvSpPr>
          <p:cNvPr id="26" name="Rectangle 25"/>
          <p:cNvSpPr/>
          <p:nvPr/>
        </p:nvSpPr>
        <p:spPr>
          <a:xfrm>
            <a:off x="658368" y="3468116"/>
            <a:ext cx="5245455" cy="23774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SIMULATED DAY, IN BYTES</a:t>
            </a:r>
          </a:p>
        </p:txBody>
      </p:sp>
      <p:sp>
        <p:nvSpPr>
          <p:cNvPr id="28" name="TextBox 27"/>
          <p:cNvSpPr txBox="1"/>
          <p:nvPr/>
        </p:nvSpPr>
        <p:spPr>
          <a:xfrm>
            <a:off x="859536" y="3943604"/>
            <a:ext cx="4843119" cy="1755647"/>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A single day carries 377.2 TB down and 113.8 TB up.</a:t>
            </a:r>
          </a:p>
          <a:p>
            <a:pPr algn="l">
              <a:lnSpc>
                <a:spcPct val="140000"/>
              </a:lnSpc>
              <a:spcBef>
                <a:spcPts val="800"/>
              </a:spcBef>
            </a:pPr>
            <a:r>
              <a:rPr sz="1200" b="0" i="0">
                <a:solidFill>
                  <a:srgbClr val="3C4653"/>
                </a:solidFill>
                <a:latin typeface="Segoe UI"/>
              </a:rPr>
              <a:t>Of that, 239.6 GB down and 81.2 GB up are dropped. Nothing is rejected, and nothing is left stuck in a queue at the end of the day.</a:t>
            </a:r>
          </a:p>
          <a:p>
            <a:pPr algn="l">
              <a:lnSpc>
                <a:spcPct val="140000"/>
              </a:lnSpc>
              <a:spcBef>
                <a:spcPts val="800"/>
              </a:spcBef>
            </a:pPr>
            <a:r>
              <a:rPr sz="1200" b="0" i="0">
                <a:solidFill>
                  <a:srgbClr val="3C4653"/>
                </a:solidFill>
                <a:latin typeface="Segoe UI"/>
              </a:rPr>
              <a:t>Every byte is accounted for. The maximum discrepancy across the whole run is exactly zero.</a:t>
            </a:r>
          </a:p>
        </p:txBody>
      </p:sp>
      <p:sp>
        <p:nvSpPr>
          <p:cNvPr id="29" name="Rectangle 28"/>
          <p:cNvSpPr/>
          <p:nvPr/>
        </p:nvSpPr>
        <p:spPr>
          <a:xfrm>
            <a:off x="6287871" y="3468116"/>
            <a:ext cx="5245455" cy="2873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9039"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ARE NOT CLAIMING</a:t>
            </a:r>
          </a:p>
        </p:txBody>
      </p:sp>
      <p:sp>
        <p:nvSpPr>
          <p:cNvPr id="31" name="TextBox 30"/>
          <p:cNvSpPr txBox="1"/>
          <p:nvPr/>
        </p:nvSpPr>
        <p:spPr>
          <a:xfrm>
            <a:off x="6489039" y="3943604"/>
            <a:ext cx="4843119" cy="225145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The shapes come from published 3GPP standards and public measurement studies — how many service classes exist, how a stadium crowd behaves, how session lengths are distributed.</a:t>
            </a:r>
          </a:p>
          <a:p>
            <a:pPr algn="l">
              <a:lnSpc>
                <a:spcPct val="140000"/>
              </a:lnSpc>
              <a:spcBef>
                <a:spcPts val="800"/>
              </a:spcBef>
            </a:pPr>
            <a:r>
              <a:rPr sz="1200" b="0" i="0">
                <a:solidFill>
                  <a:srgbClr val="3C4653"/>
                </a:solidFill>
                <a:latin typeface="Segoe UI"/>
              </a:rPr>
              <a:t>The absolute numbers — Mbps per session, box capacity, queue size — are our own assumptions.</a:t>
            </a:r>
          </a:p>
          <a:p>
            <a:pPr algn="l">
              <a:lnSpc>
                <a:spcPct val="140000"/>
              </a:lnSpc>
              <a:spcBef>
                <a:spcPts val="800"/>
              </a:spcBef>
            </a:pPr>
            <a:r>
              <a:rPr sz="1200" b="0" i="0">
                <a:solidFill>
                  <a:srgbClr val="3C4653"/>
                </a:solidFill>
                <a:latin typeface="Segoe UI"/>
              </a:rPr>
              <a:t>Honest claim: standards-based, statistically verified synthetic traffic at national scale, not yet matched to real C-DOT measurements.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DATA QUALITY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deliberately break the telemetry</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model trained on perfect counters will fail the moment it meets a real network. So the measurement channel is generated separately from the truth, and we inject faults on purpose.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0.8</a:t>
            </a:r>
            <a:r>
              <a:rPr sz="1000" b="0" i="0">
                <a:solidFill>
                  <a:srgbClr val="6C7683"/>
                </a:solidFill>
                <a:latin typeface="Consolas"/>
              </a:rPr>
              <a:t>%</a:t>
            </a:r>
          </a:p>
        </p:txBody>
      </p:sp>
      <p:sp>
        <p:nvSpPr>
          <p:cNvPr id="10" name="TextBox 9"/>
          <p:cNvSpPr txBox="1"/>
          <p:nvPr/>
        </p:nvSpPr>
        <p:spPr>
          <a:xfrm>
            <a:off x="804672"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GO MISSING</a:t>
            </a:r>
          </a:p>
        </p:txBody>
      </p:sp>
      <p:sp>
        <p:nvSpPr>
          <p:cNvPr id="11" name="Rectangle 10"/>
          <p:cNvSpPr/>
          <p:nvPr/>
        </p:nvSpPr>
        <p:spPr>
          <a:xfrm>
            <a:off x="2356559"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2863"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a:t>
            </a:r>
            <a:r>
              <a:rPr sz="1000" b="0" i="0">
                <a:solidFill>
                  <a:srgbClr val="6C7683"/>
                </a:solidFill>
                <a:latin typeface="Consolas"/>
              </a:rPr>
              <a:t>%</a:t>
            </a:r>
          </a:p>
        </p:txBody>
      </p:sp>
      <p:sp>
        <p:nvSpPr>
          <p:cNvPr id="13" name="TextBox 12"/>
          <p:cNvSpPr txBox="1"/>
          <p:nvPr/>
        </p:nvSpPr>
        <p:spPr>
          <a:xfrm>
            <a:off x="2502863"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ARE STALE</a:t>
            </a:r>
          </a:p>
        </p:txBody>
      </p:sp>
      <p:sp>
        <p:nvSpPr>
          <p:cNvPr id="14" name="Rectangle 13"/>
          <p:cNvSpPr/>
          <p:nvPr/>
        </p:nvSpPr>
        <p:spPr>
          <a:xfrm>
            <a:off x="4054751"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1055"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0.08</a:t>
            </a:r>
            <a:r>
              <a:rPr sz="1000" b="0" i="0">
                <a:solidFill>
                  <a:srgbClr val="6C7683"/>
                </a:solidFill>
                <a:latin typeface="Consolas"/>
              </a:rPr>
              <a:t>%</a:t>
            </a:r>
          </a:p>
        </p:txBody>
      </p:sp>
      <p:sp>
        <p:nvSpPr>
          <p:cNvPr id="16" name="TextBox 15"/>
          <p:cNvSpPr txBox="1"/>
          <p:nvPr/>
        </p:nvSpPr>
        <p:spPr>
          <a:xfrm>
            <a:off x="4201055"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COUNTER</a:t>
            </a:r>
          </a:p>
          <a:p>
            <a:pPr algn="l">
              <a:lnSpc>
                <a:spcPct val="130000"/>
              </a:lnSpc>
              <a:spcBef>
                <a:spcPts val="0"/>
              </a:spcBef>
            </a:pPr>
            <a:r>
              <a:rPr sz="819" b="0" i="0">
                <a:solidFill>
                  <a:srgbClr val="6C7683"/>
                </a:solidFill>
                <a:latin typeface="Consolas"/>
              </a:rPr>
              <a:t>RESETS</a:t>
            </a:r>
          </a:p>
        </p:txBody>
      </p:sp>
      <p:sp>
        <p:nvSpPr>
          <p:cNvPr id="17" name="Rectangle 16"/>
          <p:cNvSpPr/>
          <p:nvPr/>
        </p:nvSpPr>
        <p:spPr>
          <a:xfrm>
            <a:off x="5752943"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9247"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0.04</a:t>
            </a:r>
            <a:r>
              <a:rPr sz="1000" b="0" i="0">
                <a:solidFill>
                  <a:srgbClr val="6C7683"/>
                </a:solidFill>
                <a:latin typeface="Consolas"/>
              </a:rPr>
              <a:t>%</a:t>
            </a:r>
          </a:p>
        </p:txBody>
      </p:sp>
      <p:sp>
        <p:nvSpPr>
          <p:cNvPr id="19" name="TextBox 18"/>
          <p:cNvSpPr txBox="1"/>
          <p:nvPr/>
        </p:nvSpPr>
        <p:spPr>
          <a:xfrm>
            <a:off x="5899247"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PROCESS</a:t>
            </a:r>
          </a:p>
          <a:p>
            <a:pPr algn="l">
              <a:lnSpc>
                <a:spcPct val="130000"/>
              </a:lnSpc>
              <a:spcBef>
                <a:spcPts val="0"/>
              </a:spcBef>
            </a:pPr>
            <a:r>
              <a:rPr sz="819" b="0" i="0">
                <a:solidFill>
                  <a:srgbClr val="6C7683"/>
                </a:solidFill>
                <a:latin typeface="Consolas"/>
              </a:rPr>
              <a:t>RESTARTS</a:t>
            </a:r>
          </a:p>
        </p:txBody>
      </p:sp>
      <p:sp>
        <p:nvSpPr>
          <p:cNvPr id="20" name="TextBox 19"/>
          <p:cNvSpPr txBox="1"/>
          <p:nvPr/>
        </p:nvSpPr>
        <p:spPr>
          <a:xfrm>
            <a:off x="658368" y="3665981"/>
            <a:ext cx="6742474" cy="914400"/>
          </a:xfrm>
          <a:prstGeom prst="rect">
            <a:avLst/>
          </a:prstGeom>
          <a:noFill/>
        </p:spPr>
        <p:txBody>
          <a:bodyPr wrap="square" anchor="t" lIns="0" rIns="0" tIns="0" bIns="0">
            <a:spAutoFit/>
          </a:bodyPr>
          <a:lstStyle/>
          <a:p>
            <a:pPr algn="l">
              <a:lnSpc>
                <a:spcPct val="140000"/>
              </a:lnSpc>
            </a:pPr>
            <a:r>
              <a:rPr sz="1220" b="0" i="0">
                <a:solidFill>
                  <a:srgbClr val="3C4653"/>
                </a:solidFill>
                <a:latin typeface="Segoe UI"/>
              </a:rPr>
              <a:t>The clean-up layer then has to earn its numbers back. It never bridges across a counter reset, and it discards impossible values rather than smoothing them into something that merely looks plausible.</a:t>
            </a:r>
          </a:p>
        </p:txBody>
      </p:sp>
      <p:sp>
        <p:nvSpPr>
          <p:cNvPr id="21" name="Rectangle 20"/>
          <p:cNvSpPr/>
          <p:nvPr/>
        </p:nvSpPr>
        <p:spPr>
          <a:xfrm>
            <a:off x="658368" y="476326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763262"/>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909566"/>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OUR BIGGEST PROCESS MISTAKE — CAUGHT BY THE CHECKS, NOT BY LUCK</a:t>
            </a:r>
          </a:p>
        </p:txBody>
      </p:sp>
      <p:sp>
        <p:nvSpPr>
          <p:cNvPr id="24" name="TextBox 23"/>
          <p:cNvSpPr txBox="1"/>
          <p:nvPr/>
        </p:nvSpPr>
        <p:spPr>
          <a:xfrm>
            <a:off x="896112" y="516559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Two complete rounds of forecast training data were thrown away because telemetry quality was averaged over a whole time bucket instead of using the latest reading from the relevant boxes — which is what the live system actually does. Eleven cluster jobs were cancelled. No protected test data was touched. We restarted from version 3.</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numbers at full size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16 weeks of history at 30-second resolution: 112 days, 322 560 steps, 16 128 decision rounds.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CONFIGURATION</a:t>
            </a:r>
          </a:p>
        </p:txBody>
      </p:sp>
      <p:sp>
        <p:nvSpPr>
          <p:cNvPr id="9" name="Rectangle 8"/>
          <p:cNvSpPr/>
          <p:nvPr/>
        </p:nvSpPr>
        <p:spPr>
          <a:xfrm>
            <a:off x="658368"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1" name="TextBox 10"/>
          <p:cNvSpPr txBox="1"/>
          <p:nvPr/>
        </p:nvSpPr>
        <p:spPr>
          <a:xfrm>
            <a:off x="3783028"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2" name="Rectangle 11"/>
          <p:cNvSpPr/>
          <p:nvPr/>
        </p:nvSpPr>
        <p:spPr>
          <a:xfrm>
            <a:off x="658368"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Time simulated</a:t>
            </a:r>
          </a:p>
        </p:txBody>
      </p:sp>
      <p:sp>
        <p:nvSpPr>
          <p:cNvPr id="14" name="TextBox 13"/>
          <p:cNvSpPr txBox="1"/>
          <p:nvPr/>
        </p:nvSpPr>
        <p:spPr>
          <a:xfrm>
            <a:off x="3783028"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weeks / 112 days</a:t>
            </a:r>
          </a:p>
        </p:txBody>
      </p:sp>
      <p:sp>
        <p:nvSpPr>
          <p:cNvPr id="15" name="Rectangle 14"/>
          <p:cNvSpPr/>
          <p:nvPr/>
        </p:nvSpPr>
        <p:spPr>
          <a:xfrm>
            <a:off x="658368"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Step size</a:t>
            </a:r>
          </a:p>
        </p:txBody>
      </p:sp>
      <p:sp>
        <p:nvSpPr>
          <p:cNvPr id="18" name="TextBox 17"/>
          <p:cNvSpPr txBox="1"/>
          <p:nvPr/>
        </p:nvSpPr>
        <p:spPr>
          <a:xfrm>
            <a:off x="3783028"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s</a:t>
            </a:r>
          </a:p>
        </p:txBody>
      </p:sp>
      <p:sp>
        <p:nvSpPr>
          <p:cNvPr id="19" name="Rectangle 18"/>
          <p:cNvSpPr/>
          <p:nvPr/>
        </p:nvSpPr>
        <p:spPr>
          <a:xfrm>
            <a:off x="658368"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steps</a:t>
            </a:r>
          </a:p>
        </p:txBody>
      </p:sp>
      <p:sp>
        <p:nvSpPr>
          <p:cNvPr id="21" name="TextBox 20"/>
          <p:cNvSpPr txBox="1"/>
          <p:nvPr/>
        </p:nvSpPr>
        <p:spPr>
          <a:xfrm>
            <a:off x="3783028"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322 560</a:t>
            </a:r>
          </a:p>
        </p:txBody>
      </p:sp>
      <p:sp>
        <p:nvSpPr>
          <p:cNvPr id="22" name="Rectangle 21"/>
          <p:cNvSpPr/>
          <p:nvPr/>
        </p:nvSpPr>
        <p:spPr>
          <a:xfrm>
            <a:off x="658368"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a:t>
            </a:r>
          </a:p>
        </p:txBody>
      </p:sp>
      <p:sp>
        <p:nvSpPr>
          <p:cNvPr id="25" name="TextBox 24"/>
          <p:cNvSpPr txBox="1"/>
          <p:nvPr/>
        </p:nvSpPr>
        <p:spPr>
          <a:xfrm>
            <a:off x="3783028"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10 min / 20 steps</a:t>
            </a:r>
          </a:p>
        </p:txBody>
      </p:sp>
      <p:sp>
        <p:nvSpPr>
          <p:cNvPr id="26" name="Rectangle 25"/>
          <p:cNvSpPr/>
          <p:nvPr/>
        </p:nvSpPr>
        <p:spPr>
          <a:xfrm>
            <a:off x="658368"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rounds</a:t>
            </a:r>
          </a:p>
        </p:txBody>
      </p:sp>
      <p:sp>
        <p:nvSpPr>
          <p:cNvPr id="28" name="TextBox 27"/>
          <p:cNvSpPr txBox="1"/>
          <p:nvPr/>
        </p:nvSpPr>
        <p:spPr>
          <a:xfrm>
            <a:off x="3783028"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16 128</a:t>
            </a:r>
          </a:p>
        </p:txBody>
      </p:sp>
      <p:sp>
        <p:nvSpPr>
          <p:cNvPr id="29" name="Rectangle 28"/>
          <p:cNvSpPr/>
          <p:nvPr/>
        </p:nvSpPr>
        <p:spPr>
          <a:xfrm>
            <a:off x="658368"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806443"/>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Training rows</a:t>
            </a:r>
          </a:p>
        </p:txBody>
      </p:sp>
      <p:sp>
        <p:nvSpPr>
          <p:cNvPr id="32" name="TextBox 31"/>
          <p:cNvSpPr txBox="1"/>
          <p:nvPr/>
        </p:nvSpPr>
        <p:spPr>
          <a:xfrm>
            <a:off x="3783028"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1 548 288</a:t>
            </a:r>
          </a:p>
        </p:txBody>
      </p:sp>
      <p:sp>
        <p:nvSpPr>
          <p:cNvPr id="33" name="Rectangle 32"/>
          <p:cNvSpPr/>
          <p:nvPr/>
        </p:nvSpPr>
        <p:spPr>
          <a:xfrm>
            <a:off x="658368"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Per-box records</a:t>
            </a:r>
          </a:p>
        </p:txBody>
      </p:sp>
      <p:sp>
        <p:nvSpPr>
          <p:cNvPr id="35" name="TextBox 34"/>
          <p:cNvSpPr txBox="1"/>
          <p:nvPr/>
        </p:nvSpPr>
        <p:spPr>
          <a:xfrm>
            <a:off x="3783028"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7 741 440</a:t>
            </a:r>
          </a:p>
        </p:txBody>
      </p:sp>
      <p:sp>
        <p:nvSpPr>
          <p:cNvPr id="36" name="Rectangle 35"/>
          <p:cNvSpPr/>
          <p:nvPr/>
        </p:nvSpPr>
        <p:spPr>
          <a:xfrm>
            <a:off x="658368"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Arrival counts stored</a:t>
            </a:r>
          </a:p>
        </p:txBody>
      </p:sp>
      <p:sp>
        <p:nvSpPr>
          <p:cNvPr id="39" name="TextBox 38"/>
          <p:cNvSpPr txBox="1"/>
          <p:nvPr/>
        </p:nvSpPr>
        <p:spPr>
          <a:xfrm>
            <a:off x="3783028"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30 965 760</a:t>
            </a:r>
          </a:p>
        </p:txBody>
      </p:sp>
      <p:sp>
        <p:nvSpPr>
          <p:cNvPr id="40" name="Rectangle 39"/>
          <p:cNvSpPr/>
          <p:nvPr/>
        </p:nvSpPr>
        <p:spPr>
          <a:xfrm>
            <a:off x="658368"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Box × group records</a:t>
            </a:r>
          </a:p>
        </p:txBody>
      </p:sp>
      <p:sp>
        <p:nvSpPr>
          <p:cNvPr id="42" name="TextBox 41"/>
          <p:cNvSpPr txBox="1"/>
          <p:nvPr/>
        </p:nvSpPr>
        <p:spPr>
          <a:xfrm>
            <a:off x="3783028"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9 289 728</a:t>
            </a:r>
          </a:p>
        </p:txBody>
      </p:sp>
      <p:sp>
        <p:nvSpPr>
          <p:cNvPr id="43" name="Rectangle 42"/>
          <p:cNvSpPr/>
          <p:nvPr/>
        </p:nvSpPr>
        <p:spPr>
          <a:xfrm>
            <a:off x="658368"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Scheduled events</a:t>
            </a:r>
          </a:p>
        </p:txBody>
      </p:sp>
      <p:sp>
        <p:nvSpPr>
          <p:cNvPr id="46" name="TextBox 45"/>
          <p:cNvSpPr txBox="1"/>
          <p:nvPr/>
        </p:nvSpPr>
        <p:spPr>
          <a:xfrm>
            <a:off x="3783028"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258 656</a:t>
            </a:r>
          </a:p>
        </p:txBody>
      </p:sp>
      <p:sp>
        <p:nvSpPr>
          <p:cNvPr id="47" name="Rectangle 46"/>
          <p:cNvSpPr/>
          <p:nvPr/>
        </p:nvSpPr>
        <p:spPr>
          <a:xfrm>
            <a:off x="658368"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routed</a:t>
            </a:r>
          </a:p>
        </p:txBody>
      </p:sp>
      <p:sp>
        <p:nvSpPr>
          <p:cNvPr id="49" name="TextBox 48"/>
          <p:cNvSpPr txBox="1"/>
          <p:nvPr/>
        </p:nvSpPr>
        <p:spPr>
          <a:xfrm>
            <a:off x="3783028"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4.39 billion</a:t>
            </a:r>
          </a:p>
        </p:txBody>
      </p:sp>
      <p:sp>
        <p:nvSpPr>
          <p:cNvPr id="50" name="Rectangle 49"/>
          <p:cNvSpPr/>
          <p:nvPr/>
        </p:nvSpPr>
        <p:spPr>
          <a:xfrm>
            <a:off x="658368"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58368"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664"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Output data size</a:t>
            </a:r>
          </a:p>
        </p:txBody>
      </p:sp>
      <p:sp>
        <p:nvSpPr>
          <p:cNvPr id="53" name="TextBox 52"/>
          <p:cNvSpPr txBox="1"/>
          <p:nvPr/>
        </p:nvSpPr>
        <p:spPr>
          <a:xfrm>
            <a:off x="3783028"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9.6 GiB</a:t>
            </a:r>
          </a:p>
        </p:txBody>
      </p:sp>
      <p:sp>
        <p:nvSpPr>
          <p:cNvPr id="54" name="Rectangle 53"/>
          <p:cNvSpPr/>
          <p:nvPr/>
        </p:nvSpPr>
        <p:spPr>
          <a:xfrm>
            <a:off x="658368"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Estimated run time</a:t>
            </a:r>
          </a:p>
        </p:txBody>
      </p:sp>
      <p:sp>
        <p:nvSpPr>
          <p:cNvPr id="56" name="TextBox 55"/>
          <p:cNvSpPr txBox="1"/>
          <p:nvPr/>
        </p:nvSpPr>
        <p:spPr>
          <a:xfrm>
            <a:off x="3783028"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h 31 m</a:t>
            </a:r>
          </a:p>
        </p:txBody>
      </p:sp>
      <p:sp>
        <p:nvSpPr>
          <p:cNvPr id="57" name="Rectangle 56"/>
          <p:cNvSpPr/>
          <p:nvPr/>
        </p:nvSpPr>
        <p:spPr>
          <a:xfrm>
            <a:off x="658368"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58368"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87871"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MEASURED DAY</a:t>
            </a:r>
          </a:p>
        </p:txBody>
      </p:sp>
      <p:sp>
        <p:nvSpPr>
          <p:cNvPr id="60" name="Rectangle 59"/>
          <p:cNvSpPr/>
          <p:nvPr/>
        </p:nvSpPr>
        <p:spPr>
          <a:xfrm>
            <a:off x="6287871"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62" name="TextBox 61"/>
          <p:cNvSpPr txBox="1"/>
          <p:nvPr/>
        </p:nvSpPr>
        <p:spPr>
          <a:xfrm>
            <a:off x="9412531"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63" name="Rectangle 62"/>
          <p:cNvSpPr/>
          <p:nvPr/>
        </p:nvSpPr>
        <p:spPr>
          <a:xfrm>
            <a:off x="6287871"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87871" y="279146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0167"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New sessions started</a:t>
            </a:r>
          </a:p>
        </p:txBody>
      </p:sp>
      <p:sp>
        <p:nvSpPr>
          <p:cNvPr id="66" name="TextBox 65"/>
          <p:cNvSpPr txBox="1"/>
          <p:nvPr/>
        </p:nvSpPr>
        <p:spPr>
          <a:xfrm>
            <a:off x="9412531"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39 156 949 / day</a:t>
            </a:r>
          </a:p>
        </p:txBody>
      </p:sp>
      <p:sp>
        <p:nvSpPr>
          <p:cNvPr id="67" name="Rectangle 66"/>
          <p:cNvSpPr/>
          <p:nvPr/>
        </p:nvSpPr>
        <p:spPr>
          <a:xfrm>
            <a:off x="6287871"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287871"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70167"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arrival rate</a:t>
            </a:r>
          </a:p>
        </p:txBody>
      </p:sp>
      <p:sp>
        <p:nvSpPr>
          <p:cNvPr id="70" name="TextBox 69"/>
          <p:cNvSpPr txBox="1"/>
          <p:nvPr/>
        </p:nvSpPr>
        <p:spPr>
          <a:xfrm>
            <a:off x="9412531"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453 sessions/s</a:t>
            </a:r>
          </a:p>
        </p:txBody>
      </p:sp>
      <p:sp>
        <p:nvSpPr>
          <p:cNvPr id="71" name="Rectangle 70"/>
          <p:cNvSpPr/>
          <p:nvPr/>
        </p:nvSpPr>
        <p:spPr>
          <a:xfrm>
            <a:off x="6287871"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70167"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active at day end</a:t>
            </a:r>
          </a:p>
        </p:txBody>
      </p:sp>
      <p:sp>
        <p:nvSpPr>
          <p:cNvPr id="73" name="TextBox 72"/>
          <p:cNvSpPr txBox="1"/>
          <p:nvPr/>
        </p:nvSpPr>
        <p:spPr>
          <a:xfrm>
            <a:off x="9412531"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12 758 353</a:t>
            </a:r>
          </a:p>
        </p:txBody>
      </p:sp>
      <p:sp>
        <p:nvSpPr>
          <p:cNvPr id="74" name="Rectangle 73"/>
          <p:cNvSpPr/>
          <p:nvPr/>
        </p:nvSpPr>
        <p:spPr>
          <a:xfrm>
            <a:off x="6287871"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7871"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70167"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Steady-state active sessions</a:t>
            </a:r>
          </a:p>
        </p:txBody>
      </p:sp>
      <p:sp>
        <p:nvSpPr>
          <p:cNvPr id="77" name="TextBox 76"/>
          <p:cNvSpPr txBox="1"/>
          <p:nvPr/>
        </p:nvSpPr>
        <p:spPr>
          <a:xfrm>
            <a:off x="9412531"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13 422 319</a:t>
            </a:r>
          </a:p>
        </p:txBody>
      </p:sp>
      <p:sp>
        <p:nvSpPr>
          <p:cNvPr id="78" name="Rectangle 77"/>
          <p:cNvSpPr/>
          <p:nvPr/>
        </p:nvSpPr>
        <p:spPr>
          <a:xfrm>
            <a:off x="6287871"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session length</a:t>
            </a:r>
          </a:p>
        </p:txBody>
      </p:sp>
      <p:sp>
        <p:nvSpPr>
          <p:cNvPr id="80" name="TextBox 79"/>
          <p:cNvSpPr txBox="1"/>
          <p:nvPr/>
        </p:nvSpPr>
        <p:spPr>
          <a:xfrm>
            <a:off x="9412531"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8.23 h</a:t>
            </a:r>
          </a:p>
        </p:txBody>
      </p:sp>
      <p:sp>
        <p:nvSpPr>
          <p:cNvPr id="81" name="Rectangle 80"/>
          <p:cNvSpPr/>
          <p:nvPr/>
        </p:nvSpPr>
        <p:spPr>
          <a:xfrm>
            <a:off x="6287871"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87871" y="3806443"/>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70167"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Uplink, average / peak</a:t>
            </a:r>
          </a:p>
        </p:txBody>
      </p:sp>
      <p:sp>
        <p:nvSpPr>
          <p:cNvPr id="84" name="TextBox 83"/>
          <p:cNvSpPr txBox="1"/>
          <p:nvPr/>
        </p:nvSpPr>
        <p:spPr>
          <a:xfrm>
            <a:off x="9412531"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 4.09 Tbps</a:t>
            </a:r>
          </a:p>
        </p:txBody>
      </p:sp>
      <p:sp>
        <p:nvSpPr>
          <p:cNvPr id="85" name="Rectangle 84"/>
          <p:cNvSpPr/>
          <p:nvPr/>
        </p:nvSpPr>
        <p:spPr>
          <a:xfrm>
            <a:off x="6287871"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287871" y="400944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70167"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Downlink, average / peak</a:t>
            </a:r>
          </a:p>
        </p:txBody>
      </p:sp>
      <p:sp>
        <p:nvSpPr>
          <p:cNvPr id="88" name="TextBox 87"/>
          <p:cNvSpPr txBox="1"/>
          <p:nvPr/>
        </p:nvSpPr>
        <p:spPr>
          <a:xfrm>
            <a:off x="9412531"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8.15 / 15.34 Tbps</a:t>
            </a:r>
          </a:p>
        </p:txBody>
      </p:sp>
      <p:sp>
        <p:nvSpPr>
          <p:cNvPr id="89" name="Rectangle 88"/>
          <p:cNvSpPr/>
          <p:nvPr/>
        </p:nvSpPr>
        <p:spPr>
          <a:xfrm>
            <a:off x="6287871"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87871"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70167"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Actually carried, up / down</a:t>
            </a:r>
          </a:p>
        </p:txBody>
      </p:sp>
      <p:sp>
        <p:nvSpPr>
          <p:cNvPr id="92" name="TextBox 91"/>
          <p:cNvSpPr txBox="1"/>
          <p:nvPr/>
        </p:nvSpPr>
        <p:spPr>
          <a:xfrm>
            <a:off x="9412531"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3.18 / 8.03 Tbps</a:t>
            </a:r>
          </a:p>
        </p:txBody>
      </p:sp>
      <p:sp>
        <p:nvSpPr>
          <p:cNvPr id="93" name="Rectangle 92"/>
          <p:cNvSpPr/>
          <p:nvPr/>
        </p:nvSpPr>
        <p:spPr>
          <a:xfrm>
            <a:off x="6287871"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87871" y="4415434"/>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70167"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offered</a:t>
            </a:r>
          </a:p>
        </p:txBody>
      </p:sp>
      <p:sp>
        <p:nvSpPr>
          <p:cNvPr id="96" name="TextBox 95"/>
          <p:cNvSpPr txBox="1"/>
          <p:nvPr/>
        </p:nvSpPr>
        <p:spPr>
          <a:xfrm>
            <a:off x="9412531"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122.84 PB / day</a:t>
            </a:r>
          </a:p>
        </p:txBody>
      </p:sp>
      <p:sp>
        <p:nvSpPr>
          <p:cNvPr id="97" name="Rectangle 96"/>
          <p:cNvSpPr/>
          <p:nvPr/>
        </p:nvSpPr>
        <p:spPr>
          <a:xfrm>
            <a:off x="6287871"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87871"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370167"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carried</a:t>
            </a:r>
          </a:p>
        </p:txBody>
      </p:sp>
      <p:sp>
        <p:nvSpPr>
          <p:cNvPr id="100" name="TextBox 99"/>
          <p:cNvSpPr txBox="1"/>
          <p:nvPr/>
        </p:nvSpPr>
        <p:spPr>
          <a:xfrm>
            <a:off x="9412531"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121.08 PB / day</a:t>
            </a:r>
          </a:p>
        </p:txBody>
      </p:sp>
      <p:sp>
        <p:nvSpPr>
          <p:cNvPr id="101" name="Rectangle 100"/>
          <p:cNvSpPr/>
          <p:nvPr/>
        </p:nvSpPr>
        <p:spPr>
          <a:xfrm>
            <a:off x="6287871"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370167"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Largest queue, up / down</a:t>
            </a:r>
          </a:p>
        </p:txBody>
      </p:sp>
      <p:sp>
        <p:nvSpPr>
          <p:cNvPr id="103" name="TextBox 102"/>
          <p:cNvSpPr txBox="1"/>
          <p:nvPr/>
        </p:nvSpPr>
        <p:spPr>
          <a:xfrm>
            <a:off x="9412531"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8.94 / 17.88 GiB</a:t>
            </a:r>
          </a:p>
        </p:txBody>
      </p:sp>
      <p:sp>
        <p:nvSpPr>
          <p:cNvPr id="104" name="Rectangle 103"/>
          <p:cNvSpPr/>
          <p:nvPr/>
        </p:nvSpPr>
        <p:spPr>
          <a:xfrm>
            <a:off x="6287871"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287871"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370167"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Run time for one day</a:t>
            </a:r>
          </a:p>
        </p:txBody>
      </p:sp>
      <p:sp>
        <p:nvSpPr>
          <p:cNvPr id="107" name="TextBox 106"/>
          <p:cNvSpPr txBox="1"/>
          <p:nvPr/>
        </p:nvSpPr>
        <p:spPr>
          <a:xfrm>
            <a:off x="9412531"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 m 06 s</a:t>
            </a:r>
          </a:p>
        </p:txBody>
      </p:sp>
      <p:sp>
        <p:nvSpPr>
          <p:cNvPr id="108" name="Rectangle 107"/>
          <p:cNvSpPr/>
          <p:nvPr/>
        </p:nvSpPr>
        <p:spPr>
          <a:xfrm>
            <a:off x="6287871"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370167"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Peak memory used</a:t>
            </a:r>
          </a:p>
        </p:txBody>
      </p:sp>
      <p:sp>
        <p:nvSpPr>
          <p:cNvPr id="110" name="TextBox 109"/>
          <p:cNvSpPr txBox="1"/>
          <p:nvPr/>
        </p:nvSpPr>
        <p:spPr>
          <a:xfrm>
            <a:off x="9412531"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602 MiB</a:t>
            </a:r>
          </a:p>
        </p:txBody>
      </p:sp>
      <p:sp>
        <p:nvSpPr>
          <p:cNvPr id="111" name="Rectangle 110"/>
          <p:cNvSpPr/>
          <p:nvPr/>
        </p:nvSpPr>
        <p:spPr>
          <a:xfrm>
            <a:off x="6287871"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287871"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traffic actually moves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All figures are measured from the completed seed-20260805 calibration day at the 16-million-user scale. “Offered” is what the users asked for; “carried” is what the network actually delivered.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11.21</a:t>
            </a:r>
            <a:r>
              <a:rPr sz="950" b="0" i="0">
                <a:solidFill>
                  <a:srgbClr val="6C7683"/>
                </a:solidFill>
                <a:latin typeface="Consolas"/>
              </a:rPr>
              <a:t> Tbps</a:t>
            </a:r>
          </a:p>
        </p:txBody>
      </p:sp>
      <p:sp>
        <p:nvSpPr>
          <p:cNvPr id="10" name="TextBox 9"/>
          <p:cNvSpPr txBox="1"/>
          <p:nvPr/>
        </p:nvSpPr>
        <p:spPr>
          <a:xfrm>
            <a:off x="8046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 INSTANTANEOUS</a:t>
            </a:r>
          </a:p>
          <a:p>
            <a:pPr algn="l">
              <a:lnSpc>
                <a:spcPct val="130000"/>
              </a:lnSpc>
              <a:spcBef>
                <a:spcPts val="0"/>
              </a:spcBef>
            </a:pPr>
            <a:r>
              <a:rPr sz="819" b="0" i="0">
                <a:solidFill>
                  <a:srgbClr val="6C7683"/>
                </a:solidFill>
                <a:latin typeface="Consolas"/>
              </a:rPr>
              <a:t>AVERAGE, BOTH DIRECTIONS</a:t>
            </a:r>
          </a:p>
        </p:txBody>
      </p:sp>
      <p:sp>
        <p:nvSpPr>
          <p:cNvPr id="11" name="Rectangle 10"/>
          <p:cNvSpPr/>
          <p:nvPr/>
        </p:nvSpPr>
        <p:spPr>
          <a:xfrm>
            <a:off x="247924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3.18</a:t>
            </a:r>
            <a:r>
              <a:rPr sz="950" b="0" i="0">
                <a:solidFill>
                  <a:srgbClr val="6C7683"/>
                </a:solidFill>
                <a:latin typeface="Consolas"/>
              </a:rPr>
              <a:t> Tbps</a:t>
            </a:r>
          </a:p>
        </p:txBody>
      </p:sp>
      <p:sp>
        <p:nvSpPr>
          <p:cNvPr id="13" name="TextBox 12"/>
          <p:cNvSpPr txBox="1"/>
          <p:nvPr/>
        </p:nvSpPr>
        <p:spPr>
          <a:xfrm>
            <a:off x="262554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UPLINK</a:t>
            </a:r>
          </a:p>
        </p:txBody>
      </p:sp>
      <p:sp>
        <p:nvSpPr>
          <p:cNvPr id="14" name="Rectangle 13"/>
          <p:cNvSpPr/>
          <p:nvPr/>
        </p:nvSpPr>
        <p:spPr>
          <a:xfrm>
            <a:off x="430011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8.03</a:t>
            </a:r>
            <a:r>
              <a:rPr sz="950" b="0" i="0">
                <a:solidFill>
                  <a:srgbClr val="6C7683"/>
                </a:solidFill>
                <a:latin typeface="Consolas"/>
              </a:rPr>
              <a:t> Tbps</a:t>
            </a:r>
          </a:p>
        </p:txBody>
      </p:sp>
      <p:sp>
        <p:nvSpPr>
          <p:cNvPr id="16" name="TextBox 15"/>
          <p:cNvSpPr txBox="1"/>
          <p:nvPr/>
        </p:nvSpPr>
        <p:spPr>
          <a:xfrm>
            <a:off x="444642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DOWNLINK</a:t>
            </a:r>
          </a:p>
        </p:txBody>
      </p:sp>
      <p:sp>
        <p:nvSpPr>
          <p:cNvPr id="17" name="Rectangle 16"/>
          <p:cNvSpPr/>
          <p:nvPr/>
        </p:nvSpPr>
        <p:spPr>
          <a:xfrm>
            <a:off x="612099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660142"/>
            <a:ext cx="1514551" cy="384048"/>
          </a:xfrm>
          <a:prstGeom prst="rect">
            <a:avLst/>
          </a:prstGeom>
          <a:noFill/>
        </p:spPr>
        <p:txBody>
          <a:bodyPr wrap="square" anchor="t" lIns="0" rIns="0" tIns="0" bIns="0">
            <a:spAutoFit/>
          </a:bodyPr>
          <a:lstStyle/>
          <a:p>
            <a:pPr algn="l">
              <a:lnSpc>
                <a:spcPct val="100000"/>
              </a:lnSpc>
            </a:pPr>
            <a:r>
              <a:rPr sz="1900" b="0" i="0">
                <a:solidFill>
                  <a:srgbClr val="B5761F"/>
                </a:solidFill>
                <a:latin typeface="Georgia"/>
              </a:rPr>
              <a:t>19.43</a:t>
            </a:r>
            <a:r>
              <a:rPr sz="950" b="0" i="0">
                <a:solidFill>
                  <a:srgbClr val="6C7683"/>
                </a:solidFill>
                <a:latin typeface="Consolas"/>
              </a:rPr>
              <a:t> Tbps</a:t>
            </a:r>
          </a:p>
        </p:txBody>
      </p:sp>
      <p:sp>
        <p:nvSpPr>
          <p:cNvPr id="19" name="TextBox 18"/>
          <p:cNvSpPr txBox="1"/>
          <p:nvPr/>
        </p:nvSpPr>
        <p:spPr>
          <a:xfrm>
            <a:off x="626729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OFFERED</a:t>
            </a:r>
          </a:p>
          <a:p>
            <a:pPr algn="l">
              <a:lnSpc>
                <a:spcPct val="130000"/>
              </a:lnSpc>
              <a:spcBef>
                <a:spcPts val="0"/>
              </a:spcBef>
            </a:pPr>
            <a:r>
              <a:rPr sz="819" b="0" i="0">
                <a:solidFill>
                  <a:srgbClr val="6C7683"/>
                </a:solidFill>
                <a:latin typeface="Consolas"/>
              </a:rPr>
              <a:t>BOTH DIRECTIONS</a:t>
            </a:r>
          </a:p>
        </p:txBody>
      </p:sp>
      <p:sp>
        <p:nvSpPr>
          <p:cNvPr id="20" name="Rectangle 19"/>
          <p:cNvSpPr/>
          <p:nvPr/>
        </p:nvSpPr>
        <p:spPr>
          <a:xfrm>
            <a:off x="79418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121.08</a:t>
            </a:r>
            <a:r>
              <a:rPr sz="950" b="0" i="0">
                <a:solidFill>
                  <a:srgbClr val="6C7683"/>
                </a:solidFill>
                <a:latin typeface="Consolas"/>
              </a:rPr>
              <a:t> PB</a:t>
            </a:r>
          </a:p>
        </p:txBody>
      </p:sp>
      <p:sp>
        <p:nvSpPr>
          <p:cNvPr id="22" name="TextBox 21"/>
          <p:cNvSpPr txBox="1"/>
          <p:nvPr/>
        </p:nvSpPr>
        <p:spPr>
          <a:xfrm>
            <a:off x="80881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PER DAY</a:t>
            </a:r>
          </a:p>
        </p:txBody>
      </p:sp>
      <p:sp>
        <p:nvSpPr>
          <p:cNvPr id="23" name="Rectangle 22"/>
          <p:cNvSpPr/>
          <p:nvPr/>
        </p:nvSpPr>
        <p:spPr>
          <a:xfrm>
            <a:off x="9762744"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660142"/>
            <a:ext cx="1514551" cy="384048"/>
          </a:xfrm>
          <a:prstGeom prst="rect">
            <a:avLst/>
          </a:prstGeom>
          <a:noFill/>
        </p:spPr>
        <p:txBody>
          <a:bodyPr wrap="square" anchor="t" lIns="0" rIns="0" tIns="0" bIns="0">
            <a:spAutoFit/>
          </a:bodyPr>
          <a:lstStyle/>
          <a:p>
            <a:pPr algn="l">
              <a:lnSpc>
                <a:spcPct val="100000"/>
              </a:lnSpc>
            </a:pPr>
            <a:r>
              <a:rPr sz="1900" b="0" i="0">
                <a:solidFill>
                  <a:srgbClr val="9C3B35"/>
                </a:solidFill>
                <a:latin typeface="Georgia"/>
              </a:rPr>
              <a:t>1.43</a:t>
            </a:r>
            <a:r>
              <a:rPr sz="950" b="0" i="0">
                <a:solidFill>
                  <a:srgbClr val="6C7683"/>
                </a:solidFill>
                <a:latin typeface="Consolas"/>
              </a:rPr>
              <a:t>%</a:t>
            </a:r>
          </a:p>
        </p:txBody>
      </p:sp>
      <p:sp>
        <p:nvSpPr>
          <p:cNvPr id="25" name="TextBox 24"/>
          <p:cNvSpPr txBox="1"/>
          <p:nvPr/>
        </p:nvSpPr>
        <p:spPr>
          <a:xfrm>
            <a:off x="9909048"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OFFERED TRAFFIC</a:t>
            </a:r>
          </a:p>
          <a:p>
            <a:pPr algn="l">
              <a:lnSpc>
                <a:spcPct val="130000"/>
              </a:lnSpc>
              <a:spcBef>
                <a:spcPts val="0"/>
              </a:spcBef>
            </a:pPr>
            <a:r>
              <a:rPr sz="819" b="0" i="0">
                <a:solidFill>
                  <a:srgbClr val="6C7683"/>
                </a:solidFill>
                <a:latin typeface="Consolas"/>
              </a:rPr>
              <a:t>NOT DELIVERED</a:t>
            </a:r>
          </a:p>
        </p:txBody>
      </p:sp>
      <p:sp>
        <p:nvSpPr>
          <p:cNvPr id="26" name="Rectangle 25"/>
          <p:cNvSpPr/>
          <p:nvPr/>
        </p:nvSpPr>
        <p:spPr>
          <a:xfrm>
            <a:off x="658368" y="3702557"/>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80281"/>
            <a:ext cx="2662897"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a:t>
            </a:r>
          </a:p>
        </p:txBody>
      </p:sp>
      <p:sp>
        <p:nvSpPr>
          <p:cNvPr id="28" name="TextBox 27"/>
          <p:cNvSpPr txBox="1"/>
          <p:nvPr/>
        </p:nvSpPr>
        <p:spPr>
          <a:xfrm>
            <a:off x="3568153"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UPLINK</a:t>
            </a:r>
          </a:p>
        </p:txBody>
      </p:sp>
      <p:sp>
        <p:nvSpPr>
          <p:cNvPr id="29" name="TextBox 28"/>
          <p:cNvSpPr txBox="1"/>
          <p:nvPr/>
        </p:nvSpPr>
        <p:spPr>
          <a:xfrm>
            <a:off x="5090647"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DOWNLINK</a:t>
            </a:r>
          </a:p>
        </p:txBody>
      </p:sp>
      <p:sp>
        <p:nvSpPr>
          <p:cNvPr id="30" name="TextBox 29"/>
          <p:cNvSpPr txBox="1"/>
          <p:nvPr/>
        </p:nvSpPr>
        <p:spPr>
          <a:xfrm>
            <a:off x="6613141" y="3780281"/>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BOTH DIRECTIONS</a:t>
            </a:r>
          </a:p>
        </p:txBody>
      </p:sp>
      <p:sp>
        <p:nvSpPr>
          <p:cNvPr id="31" name="TextBox 30"/>
          <p:cNvSpPr txBox="1"/>
          <p:nvPr/>
        </p:nvSpPr>
        <p:spPr>
          <a:xfrm>
            <a:off x="8570634" y="3780281"/>
            <a:ext cx="288039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NOTE</a:t>
            </a:r>
          </a:p>
        </p:txBody>
      </p:sp>
      <p:sp>
        <p:nvSpPr>
          <p:cNvPr id="32" name="Rectangle 31"/>
          <p:cNvSpPr/>
          <p:nvPr/>
        </p:nvSpPr>
        <p:spPr>
          <a:xfrm>
            <a:off x="658368" y="397687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 y="4027169"/>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average</a:t>
            </a:r>
          </a:p>
        </p:txBody>
      </p:sp>
      <p:sp>
        <p:nvSpPr>
          <p:cNvPr id="34" name="TextBox 33"/>
          <p:cNvSpPr txBox="1"/>
          <p:nvPr/>
        </p:nvSpPr>
        <p:spPr>
          <a:xfrm>
            <a:off x="3568153"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3.22 Tbps</a:t>
            </a:r>
          </a:p>
        </p:txBody>
      </p:sp>
      <p:sp>
        <p:nvSpPr>
          <p:cNvPr id="35" name="TextBox 34"/>
          <p:cNvSpPr txBox="1"/>
          <p:nvPr/>
        </p:nvSpPr>
        <p:spPr>
          <a:xfrm>
            <a:off x="5090647"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8.15 Tbps</a:t>
            </a:r>
          </a:p>
        </p:txBody>
      </p:sp>
      <p:sp>
        <p:nvSpPr>
          <p:cNvPr id="36" name="TextBox 35"/>
          <p:cNvSpPr txBox="1"/>
          <p:nvPr/>
        </p:nvSpPr>
        <p:spPr>
          <a:xfrm>
            <a:off x="6613141" y="4027169"/>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11.37 Tbps</a:t>
            </a:r>
          </a:p>
        </p:txBody>
      </p:sp>
      <p:sp>
        <p:nvSpPr>
          <p:cNvPr id="37" name="TextBox 36"/>
          <p:cNvSpPr txBox="1"/>
          <p:nvPr/>
        </p:nvSpPr>
        <p:spPr>
          <a:xfrm>
            <a:off x="8570634" y="4027169"/>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users asked for</a:t>
            </a:r>
          </a:p>
        </p:txBody>
      </p:sp>
      <p:sp>
        <p:nvSpPr>
          <p:cNvPr id="38" name="Rectangle 37"/>
          <p:cNvSpPr/>
          <p:nvPr/>
        </p:nvSpPr>
        <p:spPr>
          <a:xfrm>
            <a:off x="658368" y="42374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23748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287773"/>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Carried, instantaneous average</a:t>
            </a:r>
          </a:p>
        </p:txBody>
      </p:sp>
      <p:sp>
        <p:nvSpPr>
          <p:cNvPr id="41" name="TextBox 40"/>
          <p:cNvSpPr txBox="1"/>
          <p:nvPr/>
        </p:nvSpPr>
        <p:spPr>
          <a:xfrm>
            <a:off x="3568153"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3.18 Tbps</a:t>
            </a:r>
          </a:p>
        </p:txBody>
      </p:sp>
      <p:sp>
        <p:nvSpPr>
          <p:cNvPr id="42" name="TextBox 41"/>
          <p:cNvSpPr txBox="1"/>
          <p:nvPr/>
        </p:nvSpPr>
        <p:spPr>
          <a:xfrm>
            <a:off x="5090647"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8.03 Tbps</a:t>
            </a:r>
          </a:p>
        </p:txBody>
      </p:sp>
      <p:sp>
        <p:nvSpPr>
          <p:cNvPr id="43" name="TextBox 42"/>
          <p:cNvSpPr txBox="1"/>
          <p:nvPr/>
        </p:nvSpPr>
        <p:spPr>
          <a:xfrm>
            <a:off x="6613141" y="4287773"/>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11.21 Tbps</a:t>
            </a:r>
          </a:p>
        </p:txBody>
      </p:sp>
      <p:sp>
        <p:nvSpPr>
          <p:cNvPr id="44" name="TextBox 43"/>
          <p:cNvSpPr txBox="1"/>
          <p:nvPr/>
        </p:nvSpPr>
        <p:spPr>
          <a:xfrm>
            <a:off x="8570634" y="4287773"/>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the network delivered</a:t>
            </a:r>
          </a:p>
        </p:txBody>
      </p:sp>
      <p:sp>
        <p:nvSpPr>
          <p:cNvPr id="45" name="Rectangle 44"/>
          <p:cNvSpPr/>
          <p:nvPr/>
        </p:nvSpPr>
        <p:spPr>
          <a:xfrm>
            <a:off x="658368" y="44980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548378"/>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peak</a:t>
            </a:r>
          </a:p>
        </p:txBody>
      </p:sp>
      <p:sp>
        <p:nvSpPr>
          <p:cNvPr id="47" name="TextBox 46"/>
          <p:cNvSpPr txBox="1"/>
          <p:nvPr/>
        </p:nvSpPr>
        <p:spPr>
          <a:xfrm>
            <a:off x="3568153" y="4548378"/>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4.09 Tbps</a:t>
            </a:r>
          </a:p>
        </p:txBody>
      </p:sp>
      <p:sp>
        <p:nvSpPr>
          <p:cNvPr id="48" name="TextBox 47"/>
          <p:cNvSpPr txBox="1"/>
          <p:nvPr/>
        </p:nvSpPr>
        <p:spPr>
          <a:xfrm>
            <a:off x="5090647" y="4548378"/>
            <a:ext cx="1357902" cy="205739"/>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15.34 Tbps</a:t>
            </a:r>
          </a:p>
        </p:txBody>
      </p:sp>
      <p:sp>
        <p:nvSpPr>
          <p:cNvPr id="49" name="TextBox 48"/>
          <p:cNvSpPr txBox="1"/>
          <p:nvPr/>
        </p:nvSpPr>
        <p:spPr>
          <a:xfrm>
            <a:off x="6613141" y="4548378"/>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19.43 Tbps</a:t>
            </a:r>
          </a:p>
        </p:txBody>
      </p:sp>
      <p:sp>
        <p:nvSpPr>
          <p:cNvPr id="50" name="TextBox 49"/>
          <p:cNvSpPr txBox="1"/>
          <p:nvPr/>
        </p:nvSpPr>
        <p:spPr>
          <a:xfrm>
            <a:off x="8570634" y="4548378"/>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highest 30-second step of the day</a:t>
            </a:r>
          </a:p>
        </p:txBody>
      </p:sp>
      <p:sp>
        <p:nvSpPr>
          <p:cNvPr id="51" name="Rectangle 50"/>
          <p:cNvSpPr/>
          <p:nvPr/>
        </p:nvSpPr>
        <p:spPr>
          <a:xfrm>
            <a:off x="658368" y="47586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47586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0664" y="4808982"/>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Peak-to-average ratio</a:t>
            </a:r>
          </a:p>
        </p:txBody>
      </p:sp>
      <p:sp>
        <p:nvSpPr>
          <p:cNvPr id="54" name="TextBox 53"/>
          <p:cNvSpPr txBox="1"/>
          <p:nvPr/>
        </p:nvSpPr>
        <p:spPr>
          <a:xfrm>
            <a:off x="3568153"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a:t>
            </a:r>
          </a:p>
        </p:txBody>
      </p:sp>
      <p:sp>
        <p:nvSpPr>
          <p:cNvPr id="55" name="TextBox 54"/>
          <p:cNvSpPr txBox="1"/>
          <p:nvPr/>
        </p:nvSpPr>
        <p:spPr>
          <a:xfrm>
            <a:off x="5090647"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1.88×</a:t>
            </a:r>
          </a:p>
        </p:txBody>
      </p:sp>
      <p:sp>
        <p:nvSpPr>
          <p:cNvPr id="56" name="TextBox 55"/>
          <p:cNvSpPr txBox="1"/>
          <p:nvPr/>
        </p:nvSpPr>
        <p:spPr>
          <a:xfrm>
            <a:off x="6613141" y="4808982"/>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1.71×</a:t>
            </a:r>
          </a:p>
        </p:txBody>
      </p:sp>
      <p:sp>
        <p:nvSpPr>
          <p:cNvPr id="57" name="TextBox 56"/>
          <p:cNvSpPr txBox="1"/>
          <p:nvPr/>
        </p:nvSpPr>
        <p:spPr>
          <a:xfrm>
            <a:off x="8570634" y="4808982"/>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downlink is far burstier</a:t>
            </a:r>
          </a:p>
        </p:txBody>
      </p:sp>
      <p:sp>
        <p:nvSpPr>
          <p:cNvPr id="58" name="Rectangle 57"/>
          <p:cNvSpPr/>
          <p:nvPr/>
        </p:nvSpPr>
        <p:spPr>
          <a:xfrm>
            <a:off x="658368" y="50192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40664" y="5069586"/>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Delivered fraction</a:t>
            </a:r>
          </a:p>
        </p:txBody>
      </p:sp>
      <p:sp>
        <p:nvSpPr>
          <p:cNvPr id="60" name="TextBox 59"/>
          <p:cNvSpPr txBox="1"/>
          <p:nvPr/>
        </p:nvSpPr>
        <p:spPr>
          <a:xfrm>
            <a:off x="3568153"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98.76%</a:t>
            </a:r>
          </a:p>
        </p:txBody>
      </p:sp>
      <p:sp>
        <p:nvSpPr>
          <p:cNvPr id="61" name="TextBox 60"/>
          <p:cNvSpPr txBox="1"/>
          <p:nvPr/>
        </p:nvSpPr>
        <p:spPr>
          <a:xfrm>
            <a:off x="5090647"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98.53%</a:t>
            </a:r>
          </a:p>
        </p:txBody>
      </p:sp>
      <p:sp>
        <p:nvSpPr>
          <p:cNvPr id="62" name="TextBox 61"/>
          <p:cNvSpPr txBox="1"/>
          <p:nvPr/>
        </p:nvSpPr>
        <p:spPr>
          <a:xfrm>
            <a:off x="6613141" y="5069586"/>
            <a:ext cx="1792900"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98.57%</a:t>
            </a:r>
          </a:p>
        </p:txBody>
      </p:sp>
      <p:sp>
        <p:nvSpPr>
          <p:cNvPr id="63" name="TextBox 62"/>
          <p:cNvSpPr txBox="1"/>
          <p:nvPr/>
        </p:nvSpPr>
        <p:spPr>
          <a:xfrm>
            <a:off x="8570634" y="5069586"/>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the rest is dropped at an overloaded box</a:t>
            </a:r>
          </a:p>
        </p:txBody>
      </p:sp>
      <p:sp>
        <p:nvSpPr>
          <p:cNvPr id="64" name="Rectangle 63"/>
          <p:cNvSpPr/>
          <p:nvPr/>
        </p:nvSpPr>
        <p:spPr>
          <a:xfrm>
            <a:off x="658368" y="52798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5279898"/>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5330190"/>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offered</a:t>
            </a:r>
          </a:p>
        </p:txBody>
      </p:sp>
      <p:sp>
        <p:nvSpPr>
          <p:cNvPr id="67" name="TextBox 66"/>
          <p:cNvSpPr txBox="1"/>
          <p:nvPr/>
        </p:nvSpPr>
        <p:spPr>
          <a:xfrm>
            <a:off x="3568153"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8" name="TextBox 67"/>
          <p:cNvSpPr txBox="1"/>
          <p:nvPr/>
        </p:nvSpPr>
        <p:spPr>
          <a:xfrm>
            <a:off x="5090647"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9" name="TextBox 68"/>
          <p:cNvSpPr txBox="1"/>
          <p:nvPr/>
        </p:nvSpPr>
        <p:spPr>
          <a:xfrm>
            <a:off x="6613141" y="5330190"/>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122.84 PB / day</a:t>
            </a:r>
          </a:p>
        </p:txBody>
      </p:sp>
      <p:sp>
        <p:nvSpPr>
          <p:cNvPr id="70" name="TextBox 69"/>
          <p:cNvSpPr txBox="1"/>
          <p:nvPr/>
        </p:nvSpPr>
        <p:spPr>
          <a:xfrm>
            <a:off x="8570634" y="5330190"/>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
            </a:r>
          </a:p>
        </p:txBody>
      </p:sp>
      <p:sp>
        <p:nvSpPr>
          <p:cNvPr id="71" name="Rectangle 70"/>
          <p:cNvSpPr/>
          <p:nvPr/>
        </p:nvSpPr>
        <p:spPr>
          <a:xfrm>
            <a:off x="658368" y="55405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58368" y="554050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0664" y="5590794"/>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carried</a:t>
            </a:r>
          </a:p>
        </p:txBody>
      </p:sp>
      <p:sp>
        <p:nvSpPr>
          <p:cNvPr id="74" name="TextBox 73"/>
          <p:cNvSpPr txBox="1"/>
          <p:nvPr/>
        </p:nvSpPr>
        <p:spPr>
          <a:xfrm>
            <a:off x="3568153"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5" name="TextBox 74"/>
          <p:cNvSpPr txBox="1"/>
          <p:nvPr/>
        </p:nvSpPr>
        <p:spPr>
          <a:xfrm>
            <a:off x="5090647"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6" name="TextBox 75"/>
          <p:cNvSpPr txBox="1"/>
          <p:nvPr/>
        </p:nvSpPr>
        <p:spPr>
          <a:xfrm>
            <a:off x="6613141" y="5590794"/>
            <a:ext cx="1792900" cy="205739"/>
          </a:xfrm>
          <a:prstGeom prst="rect">
            <a:avLst/>
          </a:prstGeom>
          <a:noFill/>
        </p:spPr>
        <p:txBody>
          <a:bodyPr wrap="square" anchor="t" lIns="0" rIns="0" tIns="0" bIns="0">
            <a:spAutoFit/>
          </a:bodyPr>
          <a:lstStyle/>
          <a:p>
            <a:pPr algn="r">
              <a:lnSpc>
                <a:spcPct val="112000"/>
              </a:lnSpc>
            </a:pPr>
            <a:r>
              <a:rPr sz="960" b="0" i="0">
                <a:solidFill>
                  <a:srgbClr val="0F4C5C"/>
                </a:solidFill>
                <a:latin typeface="Consolas"/>
              </a:rPr>
              <a:t>121.08 PB / day</a:t>
            </a:r>
          </a:p>
        </p:txBody>
      </p:sp>
      <p:sp>
        <p:nvSpPr>
          <p:cNvPr id="77" name="TextBox 76"/>
          <p:cNvSpPr txBox="1"/>
          <p:nvPr/>
        </p:nvSpPr>
        <p:spPr>
          <a:xfrm>
            <a:off x="8570634" y="5590794"/>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1.76 PB / day lost</a:t>
            </a:r>
          </a:p>
        </p:txBody>
      </p:sp>
      <p:sp>
        <p:nvSpPr>
          <p:cNvPr id="78" name="Rectangle 77"/>
          <p:cNvSpPr/>
          <p:nvPr/>
        </p:nvSpPr>
        <p:spPr>
          <a:xfrm>
            <a:off x="658368" y="580110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58368" y="3702557"/>
            <a:ext cx="10874959" cy="209854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58368" y="5787390"/>
            <a:ext cx="10874959" cy="548640"/>
          </a:xfrm>
          <a:prstGeom prst="rect">
            <a:avLst/>
          </a:prstGeom>
          <a:noFill/>
        </p:spPr>
        <p:txBody>
          <a:bodyPr wrap="square" anchor="t" lIns="0" rIns="0" tIns="0" bIns="0">
            <a:spAutoFit/>
          </a:bodyPr>
          <a:lstStyle/>
          <a:p>
            <a:pPr algn="l">
              <a:lnSpc>
                <a:spcPct val="140000"/>
              </a:lnSpc>
            </a:pPr>
            <a:r>
              <a:rPr sz="1040" b="0" i="0">
                <a:solidFill>
                  <a:srgbClr val="6C7683"/>
                </a:solidFill>
                <a:latin typeface="Segoe UI"/>
              </a:rPr>
              <a:t>Consistency check: 121.08 PB per day × 8 bits ÷ 86 400 s = 11.21 Tbps. The daily aggregate and the instantaneous average agree exactly, which is what you want before trusting either of them.</a:t>
            </a:r>
          </a:p>
        </p:txBody>
      </p:sp>
      <p:sp>
        <p:nvSpPr>
          <p:cNvPr id="81" name="TextBox 8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that means per session, per box, per step</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Everything below is derived from the measured figures on the previous slide. The arithmetic is shown so it can be checked.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SESSION</a:t>
            </a:r>
          </a:p>
        </p:txBody>
      </p:sp>
      <p:sp>
        <p:nvSpPr>
          <p:cNvPr id="10" name="TextBox 9"/>
          <p:cNvSpPr txBox="1"/>
          <p:nvPr/>
        </p:nvSpPr>
        <p:spPr>
          <a:xfrm>
            <a:off x="3048664" y="2357120"/>
            <a:ext cx="98940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202664" y="2357120"/>
            <a:ext cx="161886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12" name="Rectangle 11"/>
          <p:cNvSpPr/>
          <p:nvPr/>
        </p:nvSpPr>
        <p:spPr>
          <a:xfrm>
            <a:off x="658368"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started per day</a:t>
            </a:r>
          </a:p>
        </p:txBody>
      </p:sp>
      <p:sp>
        <p:nvSpPr>
          <p:cNvPr id="14" name="TextBox 13"/>
          <p:cNvSpPr txBox="1"/>
          <p:nvPr/>
        </p:nvSpPr>
        <p:spPr>
          <a:xfrm>
            <a:off x="3048664" y="2604008"/>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39 156 949</a:t>
            </a:r>
          </a:p>
        </p:txBody>
      </p:sp>
      <p:sp>
        <p:nvSpPr>
          <p:cNvPr id="15" name="TextBox 14"/>
          <p:cNvSpPr txBox="1"/>
          <p:nvPr/>
        </p:nvSpPr>
        <p:spPr>
          <a:xfrm>
            <a:off x="4202664" y="2604008"/>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measured</a:t>
            </a:r>
          </a:p>
        </p:txBody>
      </p:sp>
      <p:sp>
        <p:nvSpPr>
          <p:cNvPr id="16" name="Rectangle 15"/>
          <p:cNvSpPr/>
          <p:nvPr/>
        </p:nvSpPr>
        <p:spPr>
          <a:xfrm>
            <a:off x="658368"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arrival rate</a:t>
            </a:r>
          </a:p>
        </p:txBody>
      </p:sp>
      <p:sp>
        <p:nvSpPr>
          <p:cNvPr id="19" name="TextBox 18"/>
          <p:cNvSpPr txBox="1"/>
          <p:nvPr/>
        </p:nvSpPr>
        <p:spPr>
          <a:xfrm>
            <a:off x="3048664" y="2849067"/>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453.21 / s</a:t>
            </a:r>
          </a:p>
        </p:txBody>
      </p:sp>
      <p:sp>
        <p:nvSpPr>
          <p:cNvPr id="20" name="TextBox 19"/>
          <p:cNvSpPr txBox="1"/>
          <p:nvPr/>
        </p:nvSpPr>
        <p:spPr>
          <a:xfrm>
            <a:off x="4202664" y="2849067"/>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39 156 949 ÷ 86 400</a:t>
            </a:r>
          </a:p>
        </p:txBody>
      </p:sp>
      <p:sp>
        <p:nvSpPr>
          <p:cNvPr id="21" name="Rectangle 20"/>
          <p:cNvSpPr/>
          <p:nvPr/>
        </p:nvSpPr>
        <p:spPr>
          <a:xfrm>
            <a:off x="658368"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New sessions per 30-second step</a:t>
            </a:r>
          </a:p>
        </p:txBody>
      </p:sp>
      <p:sp>
        <p:nvSpPr>
          <p:cNvPr id="23" name="TextBox 22"/>
          <p:cNvSpPr txBox="1"/>
          <p:nvPr/>
        </p:nvSpPr>
        <p:spPr>
          <a:xfrm>
            <a:off x="3048664" y="3094126"/>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13 596</a:t>
            </a:r>
          </a:p>
        </p:txBody>
      </p:sp>
      <p:sp>
        <p:nvSpPr>
          <p:cNvPr id="24" name="TextBox 23"/>
          <p:cNvSpPr txBox="1"/>
          <p:nvPr/>
        </p:nvSpPr>
        <p:spPr>
          <a:xfrm>
            <a:off x="4202664" y="3094126"/>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30</a:t>
            </a:r>
          </a:p>
        </p:txBody>
      </p:sp>
      <p:sp>
        <p:nvSpPr>
          <p:cNvPr id="25" name="Rectangle 24"/>
          <p:cNvSpPr/>
          <p:nvPr/>
        </p:nvSpPr>
        <p:spPr>
          <a:xfrm>
            <a:off x="658368"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Average session length</a:t>
            </a:r>
          </a:p>
        </p:txBody>
      </p:sp>
      <p:sp>
        <p:nvSpPr>
          <p:cNvPr id="28" name="TextBox 27"/>
          <p:cNvSpPr txBox="1"/>
          <p:nvPr/>
        </p:nvSpPr>
        <p:spPr>
          <a:xfrm>
            <a:off x="3048664" y="3339185"/>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8.23 h</a:t>
            </a:r>
          </a:p>
        </p:txBody>
      </p:sp>
      <p:sp>
        <p:nvSpPr>
          <p:cNvPr id="29" name="TextBox 28"/>
          <p:cNvSpPr txBox="1"/>
          <p:nvPr/>
        </p:nvSpPr>
        <p:spPr>
          <a:xfrm>
            <a:off x="4202664" y="3339185"/>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class-weighted mean</a:t>
            </a:r>
          </a:p>
        </p:txBody>
      </p:sp>
      <p:sp>
        <p:nvSpPr>
          <p:cNvPr id="30" name="Rectangle 29"/>
          <p:cNvSpPr/>
          <p:nvPr/>
        </p:nvSpPr>
        <p:spPr>
          <a:xfrm>
            <a:off x="658368"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active at any moment</a:t>
            </a:r>
          </a:p>
        </p:txBody>
      </p:sp>
      <p:sp>
        <p:nvSpPr>
          <p:cNvPr id="32" name="TextBox 31"/>
          <p:cNvSpPr txBox="1"/>
          <p:nvPr/>
        </p:nvSpPr>
        <p:spPr>
          <a:xfrm>
            <a:off x="3048664" y="3584244"/>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13.42 M</a:t>
            </a:r>
          </a:p>
        </p:txBody>
      </p:sp>
      <p:sp>
        <p:nvSpPr>
          <p:cNvPr id="33" name="TextBox 32"/>
          <p:cNvSpPr txBox="1"/>
          <p:nvPr/>
        </p:nvSpPr>
        <p:spPr>
          <a:xfrm>
            <a:off x="4202664" y="3584244"/>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Little's Law: 453.21 × 29 628 s</a:t>
            </a:r>
          </a:p>
        </p:txBody>
      </p:sp>
      <p:sp>
        <p:nvSpPr>
          <p:cNvPr id="34" name="Rectangle 33"/>
          <p:cNvSpPr/>
          <p:nvPr/>
        </p:nvSpPr>
        <p:spPr>
          <a:xfrm>
            <a:off x="658368"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77901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session</a:t>
            </a:r>
          </a:p>
        </p:txBody>
      </p:sp>
      <p:sp>
        <p:nvSpPr>
          <p:cNvPr id="37" name="TextBox 36"/>
          <p:cNvSpPr txBox="1"/>
          <p:nvPr/>
        </p:nvSpPr>
        <p:spPr>
          <a:xfrm>
            <a:off x="3048664" y="382930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3.09 GB</a:t>
            </a:r>
          </a:p>
        </p:txBody>
      </p:sp>
      <p:sp>
        <p:nvSpPr>
          <p:cNvPr id="38" name="TextBox 37"/>
          <p:cNvSpPr txBox="1"/>
          <p:nvPr/>
        </p:nvSpPr>
        <p:spPr>
          <a:xfrm>
            <a:off x="4202664" y="382930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39.16 M</a:t>
            </a:r>
          </a:p>
        </p:txBody>
      </p:sp>
      <p:sp>
        <p:nvSpPr>
          <p:cNvPr id="39" name="Rectangle 38"/>
          <p:cNvSpPr/>
          <p:nvPr/>
        </p:nvSpPr>
        <p:spPr>
          <a:xfrm>
            <a:off x="658368"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02407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Throughput per active session</a:t>
            </a:r>
          </a:p>
        </p:txBody>
      </p:sp>
      <p:sp>
        <p:nvSpPr>
          <p:cNvPr id="42" name="TextBox 41"/>
          <p:cNvSpPr txBox="1"/>
          <p:nvPr/>
        </p:nvSpPr>
        <p:spPr>
          <a:xfrm>
            <a:off x="3048664" y="407436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0.835 Mbps</a:t>
            </a:r>
          </a:p>
        </p:txBody>
      </p:sp>
      <p:sp>
        <p:nvSpPr>
          <p:cNvPr id="43" name="TextBox 42"/>
          <p:cNvSpPr txBox="1"/>
          <p:nvPr/>
        </p:nvSpPr>
        <p:spPr>
          <a:xfrm>
            <a:off x="4202664" y="407436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13.42 M</a:t>
            </a:r>
          </a:p>
        </p:txBody>
      </p:sp>
      <p:sp>
        <p:nvSpPr>
          <p:cNvPr id="44" name="Rectangle 43"/>
          <p:cNvSpPr/>
          <p:nvPr/>
        </p:nvSpPr>
        <p:spPr>
          <a:xfrm>
            <a:off x="658368"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share</a:t>
            </a:r>
          </a:p>
        </p:txBody>
      </p:sp>
      <p:sp>
        <p:nvSpPr>
          <p:cNvPr id="47" name="TextBox 46"/>
          <p:cNvSpPr txBox="1"/>
          <p:nvPr/>
        </p:nvSpPr>
        <p:spPr>
          <a:xfrm>
            <a:off x="3048664" y="4319422"/>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0.237 Mbps</a:t>
            </a:r>
          </a:p>
        </p:txBody>
      </p:sp>
      <p:sp>
        <p:nvSpPr>
          <p:cNvPr id="48" name="TextBox 47"/>
          <p:cNvSpPr txBox="1"/>
          <p:nvPr/>
        </p:nvSpPr>
        <p:spPr>
          <a:xfrm>
            <a:off x="4202664" y="4319422"/>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13.42 M</a:t>
            </a:r>
          </a:p>
        </p:txBody>
      </p:sp>
      <p:sp>
        <p:nvSpPr>
          <p:cNvPr id="49" name="Rectangle 48"/>
          <p:cNvSpPr/>
          <p:nvPr/>
        </p:nvSpPr>
        <p:spPr>
          <a:xfrm>
            <a:off x="658368"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0664"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share</a:t>
            </a:r>
          </a:p>
        </p:txBody>
      </p:sp>
      <p:sp>
        <p:nvSpPr>
          <p:cNvPr id="51" name="TextBox 50"/>
          <p:cNvSpPr txBox="1"/>
          <p:nvPr/>
        </p:nvSpPr>
        <p:spPr>
          <a:xfrm>
            <a:off x="3048664" y="4564481"/>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0.598 Mbps</a:t>
            </a:r>
          </a:p>
        </p:txBody>
      </p:sp>
      <p:sp>
        <p:nvSpPr>
          <p:cNvPr id="52" name="TextBox 51"/>
          <p:cNvSpPr txBox="1"/>
          <p:nvPr/>
        </p:nvSpPr>
        <p:spPr>
          <a:xfrm>
            <a:off x="4202664" y="4564481"/>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13.42 M</a:t>
            </a:r>
          </a:p>
        </p:txBody>
      </p:sp>
      <p:sp>
        <p:nvSpPr>
          <p:cNvPr id="53" name="Rectangle 52"/>
          <p:cNvSpPr/>
          <p:nvPr/>
        </p:nvSpPr>
        <p:spPr>
          <a:xfrm>
            <a:off x="658368"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368"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7871"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70167"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BOX AND PER STEP</a:t>
            </a:r>
          </a:p>
        </p:txBody>
      </p:sp>
      <p:sp>
        <p:nvSpPr>
          <p:cNvPr id="57" name="TextBox 56"/>
          <p:cNvSpPr txBox="1"/>
          <p:nvPr/>
        </p:nvSpPr>
        <p:spPr>
          <a:xfrm>
            <a:off x="8678168" y="2357120"/>
            <a:ext cx="119922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58" name="TextBox 57"/>
          <p:cNvSpPr txBox="1"/>
          <p:nvPr/>
        </p:nvSpPr>
        <p:spPr>
          <a:xfrm>
            <a:off x="10041986" y="2357120"/>
            <a:ext cx="14090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59" name="Rectangle 58"/>
          <p:cNvSpPr/>
          <p:nvPr/>
        </p:nvSpPr>
        <p:spPr>
          <a:xfrm>
            <a:off x="6287871"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287871" y="2553716"/>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30-second step</a:t>
            </a:r>
          </a:p>
        </p:txBody>
      </p:sp>
      <p:sp>
        <p:nvSpPr>
          <p:cNvPr id="62" name="TextBox 61"/>
          <p:cNvSpPr txBox="1"/>
          <p:nvPr/>
        </p:nvSpPr>
        <p:spPr>
          <a:xfrm>
            <a:off x="8678168" y="2604008"/>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42.04 TB</a:t>
            </a:r>
          </a:p>
        </p:txBody>
      </p:sp>
      <p:sp>
        <p:nvSpPr>
          <p:cNvPr id="63" name="TextBox 62"/>
          <p:cNvSpPr txBox="1"/>
          <p:nvPr/>
        </p:nvSpPr>
        <p:spPr>
          <a:xfrm>
            <a:off x="10041986" y="2604008"/>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2 880 steps</a:t>
            </a:r>
          </a:p>
        </p:txBody>
      </p:sp>
      <p:sp>
        <p:nvSpPr>
          <p:cNvPr id="64" name="Rectangle 63"/>
          <p:cNvSpPr/>
          <p:nvPr/>
        </p:nvSpPr>
        <p:spPr>
          <a:xfrm>
            <a:off x="6287871"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87871"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0167"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Carried per UPF, average</a:t>
            </a:r>
          </a:p>
        </p:txBody>
      </p:sp>
      <p:sp>
        <p:nvSpPr>
          <p:cNvPr id="67" name="TextBox 66"/>
          <p:cNvSpPr txBox="1"/>
          <p:nvPr/>
        </p:nvSpPr>
        <p:spPr>
          <a:xfrm>
            <a:off x="8678168" y="2849067"/>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467 Gbps</a:t>
            </a:r>
          </a:p>
        </p:txBody>
      </p:sp>
      <p:sp>
        <p:nvSpPr>
          <p:cNvPr id="68" name="TextBox 67"/>
          <p:cNvSpPr txBox="1"/>
          <p:nvPr/>
        </p:nvSpPr>
        <p:spPr>
          <a:xfrm>
            <a:off x="10041986" y="2849067"/>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24 boxes</a:t>
            </a:r>
          </a:p>
        </p:txBody>
      </p:sp>
      <p:sp>
        <p:nvSpPr>
          <p:cNvPr id="69" name="Rectangle 68"/>
          <p:cNvSpPr/>
          <p:nvPr/>
        </p:nvSpPr>
        <p:spPr>
          <a:xfrm>
            <a:off x="6287871"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0167"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per UPF</a:t>
            </a:r>
          </a:p>
        </p:txBody>
      </p:sp>
      <p:sp>
        <p:nvSpPr>
          <p:cNvPr id="71" name="TextBox 70"/>
          <p:cNvSpPr txBox="1"/>
          <p:nvPr/>
        </p:nvSpPr>
        <p:spPr>
          <a:xfrm>
            <a:off x="8678168" y="3094126"/>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132.5 Gbps</a:t>
            </a:r>
          </a:p>
        </p:txBody>
      </p:sp>
      <p:sp>
        <p:nvSpPr>
          <p:cNvPr id="72" name="TextBox 71"/>
          <p:cNvSpPr txBox="1"/>
          <p:nvPr/>
        </p:nvSpPr>
        <p:spPr>
          <a:xfrm>
            <a:off x="10041986" y="3094126"/>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24</a:t>
            </a:r>
          </a:p>
        </p:txBody>
      </p:sp>
      <p:sp>
        <p:nvSpPr>
          <p:cNvPr id="73" name="Rectangle 72"/>
          <p:cNvSpPr/>
          <p:nvPr/>
        </p:nvSpPr>
        <p:spPr>
          <a:xfrm>
            <a:off x="6287871"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87871"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70167"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per UPF</a:t>
            </a:r>
          </a:p>
        </p:txBody>
      </p:sp>
      <p:sp>
        <p:nvSpPr>
          <p:cNvPr id="76" name="TextBox 75"/>
          <p:cNvSpPr txBox="1"/>
          <p:nvPr/>
        </p:nvSpPr>
        <p:spPr>
          <a:xfrm>
            <a:off x="8678168" y="3339185"/>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334.6 Gbps</a:t>
            </a:r>
          </a:p>
        </p:txBody>
      </p:sp>
      <p:sp>
        <p:nvSpPr>
          <p:cNvPr id="77" name="TextBox 76"/>
          <p:cNvSpPr txBox="1"/>
          <p:nvPr/>
        </p:nvSpPr>
        <p:spPr>
          <a:xfrm>
            <a:off x="10041986" y="3339185"/>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24</a:t>
            </a:r>
          </a:p>
        </p:txBody>
      </p:sp>
      <p:sp>
        <p:nvSpPr>
          <p:cNvPr id="78" name="Rectangle 77"/>
          <p:cNvSpPr/>
          <p:nvPr/>
        </p:nvSpPr>
        <p:spPr>
          <a:xfrm>
            <a:off x="6287871"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setups per UPF</a:t>
            </a:r>
          </a:p>
        </p:txBody>
      </p:sp>
      <p:sp>
        <p:nvSpPr>
          <p:cNvPr id="80" name="TextBox 79"/>
          <p:cNvSpPr txBox="1"/>
          <p:nvPr/>
        </p:nvSpPr>
        <p:spPr>
          <a:xfrm>
            <a:off x="8678168" y="3584244"/>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18.9 / s</a:t>
            </a:r>
          </a:p>
        </p:txBody>
      </p:sp>
      <p:sp>
        <p:nvSpPr>
          <p:cNvPr id="81" name="TextBox 80"/>
          <p:cNvSpPr txBox="1"/>
          <p:nvPr/>
        </p:nvSpPr>
        <p:spPr>
          <a:xfrm>
            <a:off x="10041986" y="3584244"/>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24</a:t>
            </a:r>
          </a:p>
        </p:txBody>
      </p:sp>
      <p:sp>
        <p:nvSpPr>
          <p:cNvPr id="82" name="Rectangle 81"/>
          <p:cNvSpPr/>
          <p:nvPr/>
        </p:nvSpPr>
        <p:spPr>
          <a:xfrm>
            <a:off x="6287871"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87871" y="3779011"/>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370167"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Active sessions per UPF</a:t>
            </a:r>
          </a:p>
        </p:txBody>
      </p:sp>
      <p:sp>
        <p:nvSpPr>
          <p:cNvPr id="85" name="TextBox 84"/>
          <p:cNvSpPr txBox="1"/>
          <p:nvPr/>
        </p:nvSpPr>
        <p:spPr>
          <a:xfrm>
            <a:off x="8678168" y="382930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559 000</a:t>
            </a:r>
          </a:p>
        </p:txBody>
      </p:sp>
      <p:sp>
        <p:nvSpPr>
          <p:cNvPr id="86" name="TextBox 85"/>
          <p:cNvSpPr txBox="1"/>
          <p:nvPr/>
        </p:nvSpPr>
        <p:spPr>
          <a:xfrm>
            <a:off x="10041986" y="382930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13.42 M ÷ 24</a:t>
            </a:r>
          </a:p>
        </p:txBody>
      </p:sp>
      <p:sp>
        <p:nvSpPr>
          <p:cNvPr id="87" name="Rectangle 86"/>
          <p:cNvSpPr/>
          <p:nvPr/>
        </p:nvSpPr>
        <p:spPr>
          <a:xfrm>
            <a:off x="6287871"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70167"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rated capacity</a:t>
            </a:r>
          </a:p>
        </p:txBody>
      </p:sp>
      <p:sp>
        <p:nvSpPr>
          <p:cNvPr id="89" name="TextBox 88"/>
          <p:cNvSpPr txBox="1"/>
          <p:nvPr/>
        </p:nvSpPr>
        <p:spPr>
          <a:xfrm>
            <a:off x="8678168" y="407436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20.48 / 46.72 Tbps</a:t>
            </a:r>
          </a:p>
        </p:txBody>
      </p:sp>
      <p:sp>
        <p:nvSpPr>
          <p:cNvPr id="90" name="TextBox 89"/>
          <p:cNvSpPr txBox="1"/>
          <p:nvPr/>
        </p:nvSpPr>
        <p:spPr>
          <a:xfrm>
            <a:off x="10041986" y="407436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UL / DL across 24 boxes</a:t>
            </a:r>
          </a:p>
        </p:txBody>
      </p:sp>
      <p:sp>
        <p:nvSpPr>
          <p:cNvPr id="91" name="Rectangle 90"/>
          <p:cNvSpPr/>
          <p:nvPr/>
        </p:nvSpPr>
        <p:spPr>
          <a:xfrm>
            <a:off x="6287871"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287871"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370167"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safe capacity</a:t>
            </a:r>
          </a:p>
        </p:txBody>
      </p:sp>
      <p:sp>
        <p:nvSpPr>
          <p:cNvPr id="94" name="TextBox 93"/>
          <p:cNvSpPr txBox="1"/>
          <p:nvPr/>
        </p:nvSpPr>
        <p:spPr>
          <a:xfrm>
            <a:off x="8678168" y="4319422"/>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15.83 / 36.17 Tbps</a:t>
            </a:r>
          </a:p>
        </p:txBody>
      </p:sp>
      <p:sp>
        <p:nvSpPr>
          <p:cNvPr id="95" name="TextBox 94"/>
          <p:cNvSpPr txBox="1"/>
          <p:nvPr/>
        </p:nvSpPr>
        <p:spPr>
          <a:xfrm>
            <a:off x="10041986" y="4319422"/>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after 75–80% safe thresholds</a:t>
            </a:r>
          </a:p>
        </p:txBody>
      </p:sp>
      <p:sp>
        <p:nvSpPr>
          <p:cNvPr id="96" name="Rectangle 95"/>
          <p:cNvSpPr/>
          <p:nvPr/>
        </p:nvSpPr>
        <p:spPr>
          <a:xfrm>
            <a:off x="6287871"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287871" y="4514189"/>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70167"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Utilisation of safe capacity</a:t>
            </a:r>
          </a:p>
        </p:txBody>
      </p:sp>
      <p:sp>
        <p:nvSpPr>
          <p:cNvPr id="99" name="TextBox 98"/>
          <p:cNvSpPr txBox="1"/>
          <p:nvPr/>
        </p:nvSpPr>
        <p:spPr>
          <a:xfrm>
            <a:off x="8678168" y="4564481"/>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20.1% / 22.2%</a:t>
            </a:r>
          </a:p>
        </p:txBody>
      </p:sp>
      <p:sp>
        <p:nvSpPr>
          <p:cNvPr id="100" name="TextBox 99"/>
          <p:cNvSpPr txBox="1"/>
          <p:nvPr/>
        </p:nvSpPr>
        <p:spPr>
          <a:xfrm>
            <a:off x="10041986" y="4564481"/>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uplink / downlink</a:t>
            </a:r>
          </a:p>
        </p:txBody>
      </p:sp>
      <p:sp>
        <p:nvSpPr>
          <p:cNvPr id="101" name="Rectangle 100"/>
          <p:cNvSpPr/>
          <p:nvPr/>
        </p:nvSpPr>
        <p:spPr>
          <a:xfrm>
            <a:off x="6287871"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287871"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5033568"/>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5033568"/>
            <a:ext cx="34747" cy="13500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96112" y="517987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NUMBER THAT EXPLAINS THE WHOLE OPTIMIZER RESULT</a:t>
            </a:r>
          </a:p>
        </p:txBody>
      </p:sp>
      <p:sp>
        <p:nvSpPr>
          <p:cNvPr id="106" name="TextBox 105"/>
          <p:cNvSpPr txBox="1"/>
          <p:nvPr/>
        </p:nvSpPr>
        <p:spPr>
          <a:xfrm>
            <a:off x="896112" y="5435904"/>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Across the fleet, the network runs at about 20% of its safe capacity. There is no aggregate shortage of capacity anywhere in this system. Every overload event is local and temporary — one box, during one surge or one failure. That is why a controller that redistributes load has so little to win, and why the failure-knowledge result in section 03 matters more than any demand forecast.</a:t>
            </a:r>
          </a:p>
        </p:txBody>
      </p:sp>
      <p:sp>
        <p:nvSpPr>
          <p:cNvPr id="107" name="TextBox 10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PERSPECTIVE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Is this really C-DOT scale? Partly.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190165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COMPARISON</a:t>
            </a:r>
          </a:p>
        </p:txBody>
      </p:sp>
      <p:sp>
        <p:nvSpPr>
          <p:cNvPr id="9" name="TextBox 8"/>
          <p:cNvSpPr txBox="1"/>
          <p:nvPr/>
        </p:nvSpPr>
        <p:spPr>
          <a:xfrm>
            <a:off x="2806906" y="1632204"/>
            <a:ext cx="26628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OUR SIMULATION</a:t>
            </a:r>
          </a:p>
        </p:txBody>
      </p:sp>
      <p:sp>
        <p:nvSpPr>
          <p:cNvPr id="10" name="TextBox 9"/>
          <p:cNvSpPr txBox="1"/>
          <p:nvPr/>
        </p:nvSpPr>
        <p:spPr>
          <a:xfrm>
            <a:off x="5634395" y="1632204"/>
            <a:ext cx="22278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PUBLIC C-DOT FIGURES</a:t>
            </a:r>
          </a:p>
        </p:txBody>
      </p:sp>
      <p:sp>
        <p:nvSpPr>
          <p:cNvPr id="11" name="TextBox 10"/>
          <p:cNvSpPr txBox="1"/>
          <p:nvPr/>
        </p:nvSpPr>
        <p:spPr>
          <a:xfrm>
            <a:off x="8026886" y="1632204"/>
            <a:ext cx="34241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MEANS</a:t>
            </a:r>
          </a:p>
        </p:txBody>
      </p:sp>
      <p:sp>
        <p:nvSpPr>
          <p:cNvPr id="12" name="Rectangle 11"/>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Users / subscribers</a:t>
            </a:r>
          </a:p>
        </p:txBody>
      </p:sp>
      <p:sp>
        <p:nvSpPr>
          <p:cNvPr id="14" name="TextBox 13"/>
          <p:cNvSpPr txBox="1"/>
          <p:nvPr/>
        </p:nvSpPr>
        <p:spPr>
          <a:xfrm>
            <a:off x="2806906" y="187909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M nominal, ≈13.4 M active sessions</a:t>
            </a:r>
          </a:p>
        </p:txBody>
      </p:sp>
      <p:sp>
        <p:nvSpPr>
          <p:cNvPr id="15" name="TextBox 14"/>
          <p:cNvSpPr txBox="1"/>
          <p:nvPr/>
        </p:nvSpPr>
        <p:spPr>
          <a:xfrm>
            <a:off x="5634395" y="187909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 million subscribers</a:t>
            </a:r>
          </a:p>
        </p:txBody>
      </p:sp>
      <p:sp>
        <p:nvSpPr>
          <p:cNvPr id="16" name="TextBox 15"/>
          <p:cNvSpPr txBox="1"/>
          <p:nvPr/>
        </p:nvSpPr>
        <p:spPr>
          <a:xfrm>
            <a:off x="8026886" y="187909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Same order of magnitude — but sessions are not subscribers</a:t>
            </a:r>
          </a:p>
        </p:txBody>
      </p:sp>
      <p:sp>
        <p:nvSpPr>
          <p:cNvPr id="17" name="Rectangle 16"/>
          <p:cNvSpPr/>
          <p:nvPr/>
        </p:nvSpPr>
        <p:spPr>
          <a:xfrm>
            <a:off x="658368" y="21031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103120"/>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15341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per day</a:t>
            </a:r>
          </a:p>
        </p:txBody>
      </p:sp>
      <p:sp>
        <p:nvSpPr>
          <p:cNvPr id="20" name="TextBox 19"/>
          <p:cNvSpPr txBox="1"/>
          <p:nvPr/>
        </p:nvSpPr>
        <p:spPr>
          <a:xfrm>
            <a:off x="2806906" y="215341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121.08 PB carried</a:t>
            </a:r>
          </a:p>
        </p:txBody>
      </p:sp>
      <p:sp>
        <p:nvSpPr>
          <p:cNvPr id="21" name="TextBox 20"/>
          <p:cNvSpPr txBox="1"/>
          <p:nvPr/>
        </p:nvSpPr>
        <p:spPr>
          <a:xfrm>
            <a:off x="5634395" y="215341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more than 3 PB</a:t>
            </a:r>
          </a:p>
        </p:txBody>
      </p:sp>
      <p:sp>
        <p:nvSpPr>
          <p:cNvPr id="22" name="TextBox 21"/>
          <p:cNvSpPr txBox="1"/>
          <p:nvPr/>
        </p:nvSpPr>
        <p:spPr>
          <a:xfrm>
            <a:off x="8026886" y="215341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We are about 40× higher</a:t>
            </a:r>
          </a:p>
        </p:txBody>
      </p:sp>
      <p:sp>
        <p:nvSpPr>
          <p:cNvPr id="23" name="Rectangle 22"/>
          <p:cNvSpPr/>
          <p:nvPr/>
        </p:nvSpPr>
        <p:spPr>
          <a:xfrm>
            <a:off x="658368" y="23774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242773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granularity</a:t>
            </a:r>
          </a:p>
        </p:txBody>
      </p:sp>
      <p:sp>
        <p:nvSpPr>
          <p:cNvPr id="25" name="TextBox 24"/>
          <p:cNvSpPr txBox="1"/>
          <p:nvPr/>
        </p:nvSpPr>
        <p:spPr>
          <a:xfrm>
            <a:off x="2806906" y="242773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 logical zones</a:t>
            </a:r>
          </a:p>
        </p:txBody>
      </p:sp>
      <p:sp>
        <p:nvSpPr>
          <p:cNvPr id="26" name="TextBox 25"/>
          <p:cNvSpPr txBox="1"/>
          <p:nvPr/>
        </p:nvSpPr>
        <p:spPr>
          <a:xfrm>
            <a:off x="5634395" y="242773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75 000+ radio sites</a:t>
            </a:r>
          </a:p>
        </p:txBody>
      </p:sp>
      <p:sp>
        <p:nvSpPr>
          <p:cNvPr id="27" name="TextBox 26"/>
          <p:cNvSpPr txBox="1"/>
          <p:nvPr/>
        </p:nvSpPr>
        <p:spPr>
          <a:xfrm>
            <a:off x="8026886" y="242773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Ours is far coarser</a:t>
            </a:r>
          </a:p>
        </p:txBody>
      </p:sp>
      <p:sp>
        <p:nvSpPr>
          <p:cNvPr id="28" name="Rectangle 27"/>
          <p:cNvSpPr/>
          <p:nvPr/>
        </p:nvSpPr>
        <p:spPr>
          <a:xfrm>
            <a:off x="658368" y="265175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265175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270205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31" name="TextBox 30"/>
          <p:cNvSpPr txBox="1"/>
          <p:nvPr/>
        </p:nvSpPr>
        <p:spPr>
          <a:xfrm>
            <a:off x="2806906" y="270205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 synthetic</a:t>
            </a:r>
          </a:p>
        </p:txBody>
      </p:sp>
      <p:sp>
        <p:nvSpPr>
          <p:cNvPr id="32" name="TextBox 31"/>
          <p:cNvSpPr txBox="1"/>
          <p:nvPr/>
        </p:nvSpPr>
        <p:spPr>
          <a:xfrm>
            <a:off x="5634395" y="270205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3" name="TextBox 32"/>
          <p:cNvSpPr txBox="1"/>
          <p:nvPr/>
        </p:nvSpPr>
        <p:spPr>
          <a:xfrm>
            <a:off x="8026886" y="270205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Cannot compare</a:t>
            </a:r>
          </a:p>
        </p:txBody>
      </p:sp>
      <p:sp>
        <p:nvSpPr>
          <p:cNvPr id="34" name="Rectangle 33"/>
          <p:cNvSpPr/>
          <p:nvPr/>
        </p:nvSpPr>
        <p:spPr>
          <a:xfrm>
            <a:off x="658368" y="2926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297637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Per-box capacity</a:t>
            </a:r>
          </a:p>
        </p:txBody>
      </p:sp>
      <p:sp>
        <p:nvSpPr>
          <p:cNvPr id="36" name="TextBox 35"/>
          <p:cNvSpPr txBox="1"/>
          <p:nvPr/>
        </p:nvSpPr>
        <p:spPr>
          <a:xfrm>
            <a:off x="2806906" y="297637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up to 1.92 / 3.84 Tbps</a:t>
            </a:r>
          </a:p>
        </p:txBody>
      </p:sp>
      <p:sp>
        <p:nvSpPr>
          <p:cNvPr id="37" name="TextBox 36"/>
          <p:cNvSpPr txBox="1"/>
          <p:nvPr/>
        </p:nvSpPr>
        <p:spPr>
          <a:xfrm>
            <a:off x="5634395" y="297637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8" name="TextBox 37"/>
          <p:cNvSpPr txBox="1"/>
          <p:nvPr/>
        </p:nvSpPr>
        <p:spPr>
          <a:xfrm>
            <a:off x="8026886" y="297637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 own stress assumption</a:t>
            </a:r>
          </a:p>
        </p:txBody>
      </p:sp>
      <p:sp>
        <p:nvSpPr>
          <p:cNvPr id="39" name="Rectangle 38"/>
          <p:cNvSpPr/>
          <p:nvPr/>
        </p:nvSpPr>
        <p:spPr>
          <a:xfrm>
            <a:off x="658368" y="320039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20039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25069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Telemetry format</a:t>
            </a:r>
          </a:p>
        </p:txBody>
      </p:sp>
      <p:sp>
        <p:nvSpPr>
          <p:cNvPr id="42" name="TextBox 41"/>
          <p:cNvSpPr txBox="1"/>
          <p:nvPr/>
        </p:nvSpPr>
        <p:spPr>
          <a:xfrm>
            <a:off x="2806906" y="325069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our own schema</a:t>
            </a:r>
          </a:p>
        </p:txBody>
      </p:sp>
      <p:sp>
        <p:nvSpPr>
          <p:cNvPr id="43" name="TextBox 42"/>
          <p:cNvSpPr txBox="1"/>
          <p:nvPr/>
        </p:nvSpPr>
        <p:spPr>
          <a:xfrm>
            <a:off x="5634395" y="325069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44" name="TextBox 43"/>
          <p:cNvSpPr txBox="1"/>
          <p:nvPr/>
        </p:nvSpPr>
        <p:spPr>
          <a:xfrm>
            <a:off x="8026886" y="325069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Must come from C-DOT</a:t>
            </a:r>
          </a:p>
        </p:txBody>
      </p:sp>
      <p:sp>
        <p:nvSpPr>
          <p:cNvPr id="45" name="Rectangle 44"/>
          <p:cNvSpPr/>
          <p:nvPr/>
        </p:nvSpPr>
        <p:spPr>
          <a:xfrm>
            <a:off x="658368" y="347471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1554480"/>
            <a:ext cx="10874959" cy="192023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62102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3621024"/>
            <a:ext cx="34747" cy="963167"/>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3767328"/>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 WHAT SHOULD WE SAY?</a:t>
            </a:r>
          </a:p>
        </p:txBody>
      </p:sp>
      <p:sp>
        <p:nvSpPr>
          <p:cNvPr id="50" name="TextBox 49"/>
          <p:cNvSpPr txBox="1"/>
          <p:nvPr/>
        </p:nvSpPr>
        <p:spPr>
          <a:xfrm>
            <a:off x="896112" y="402336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Our session count is in the same range as one public national deployment figure. Our traffic volume is much higher and our network detail is much coarser. The defensible phrase is “national scale”, not “C-DOT scale”.</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Prove memory stays flat</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112-day run produces far more data than fits in memory. If the simulator accumulated it, the run length would be capped by RAM. It does not — and this is the measurement that proves 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mem.png"/>
          <p:cNvPicPr>
            <a:picLocks noChangeAspect="1"/>
          </p:cNvPicPr>
          <p:nvPr/>
        </p:nvPicPr>
        <p:blipFill>
          <a:blip r:embed="rId2"/>
          <a:stretch>
            <a:fillRect/>
          </a:stretch>
        </p:blipFill>
        <p:spPr>
          <a:xfrm>
            <a:off x="658368" y="2568702"/>
            <a:ext cx="6742474" cy="1488738"/>
          </a:xfrm>
          <a:prstGeom prst="rect">
            <a:avLst/>
          </a:prstGeom>
        </p:spPr>
      </p:pic>
      <p:sp>
        <p:nvSpPr>
          <p:cNvPr id="9" name="Rectangle 8"/>
          <p:cNvSpPr/>
          <p:nvPr/>
        </p:nvSpPr>
        <p:spPr>
          <a:xfrm>
            <a:off x="7727091"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586990"/>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Seven times the length</a:t>
            </a:r>
          </a:p>
        </p:txBody>
      </p:sp>
      <p:sp>
        <p:nvSpPr>
          <p:cNvPr id="11" name="TextBox 10"/>
          <p:cNvSpPr txBox="1"/>
          <p:nvPr/>
        </p:nvSpPr>
        <p:spPr>
          <a:xfrm>
            <a:off x="7909971" y="2831744"/>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used only 4.1% more memory, against a 20% limit.</a:t>
            </a:r>
          </a:p>
        </p:txBody>
      </p:sp>
      <p:sp>
        <p:nvSpPr>
          <p:cNvPr id="12" name="Rectangle 11"/>
          <p:cNvSpPr/>
          <p:nvPr/>
        </p:nvSpPr>
        <p:spPr>
          <a:xfrm>
            <a:off x="7727091" y="3323945"/>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4748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062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richer traffic model</a:t>
            </a:r>
          </a:p>
        </p:txBody>
      </p:sp>
      <p:sp>
        <p:nvSpPr>
          <p:cNvPr id="15" name="TextBox 14"/>
          <p:cNvSpPr txBox="1"/>
          <p:nvPr/>
        </p:nvSpPr>
        <p:spPr>
          <a:xfrm>
            <a:off x="7909971" y="3650996"/>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added 23.7% run time and slightly less memory. Both pass.</a:t>
            </a:r>
          </a:p>
        </p:txBody>
      </p:sp>
      <p:sp>
        <p:nvSpPr>
          <p:cNvPr id="16" name="Rectangle 15"/>
          <p:cNvSpPr/>
          <p:nvPr/>
        </p:nvSpPr>
        <p:spPr>
          <a:xfrm>
            <a:off x="7727091" y="414319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9407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25493"/>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Why this matters</a:t>
            </a:r>
          </a:p>
        </p:txBody>
      </p:sp>
      <p:sp>
        <p:nvSpPr>
          <p:cNvPr id="19" name="TextBox 18"/>
          <p:cNvSpPr txBox="1"/>
          <p:nvPr/>
        </p:nvSpPr>
        <p:spPr>
          <a:xfrm>
            <a:off x="7909971" y="4470247"/>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It is what lets 12 nodes run 384 jobs without ever touching swap.</a:t>
            </a:r>
          </a:p>
        </p:txBody>
      </p:sp>
      <p:sp>
        <p:nvSpPr>
          <p:cNvPr id="20" name="Rectangle 19"/>
          <p:cNvSpPr/>
          <p:nvPr/>
        </p:nvSpPr>
        <p:spPr>
          <a:xfrm>
            <a:off x="658368" y="4123181"/>
            <a:ext cx="5245455" cy="26436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RSS MEANS</a:t>
            </a:r>
          </a:p>
        </p:txBody>
      </p:sp>
      <p:sp>
        <p:nvSpPr>
          <p:cNvPr id="22" name="TextBox 21"/>
          <p:cNvSpPr txBox="1"/>
          <p:nvPr/>
        </p:nvSpPr>
        <p:spPr>
          <a:xfrm>
            <a:off x="859536" y="4598670"/>
            <a:ext cx="4843119" cy="2021839"/>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RSS — Resident Set Size — is how much physical RAM a process is occupying right now. It excludes anything swapped out to disk, so it is the honest measure of what a worker costs the node.</a:t>
            </a:r>
          </a:p>
          <a:p>
            <a:pPr algn="l">
              <a:lnSpc>
                <a:spcPct val="140000"/>
              </a:lnSpc>
              <a:spcBef>
                <a:spcPts val="800"/>
              </a:spcBef>
            </a:pPr>
            <a:r>
              <a:rPr sz="1120" b="0" i="0">
                <a:solidFill>
                  <a:srgbClr val="3C4653"/>
                </a:solidFill>
                <a:latin typeface="Segoe UI"/>
              </a:rPr>
              <a:t>We read it from the Linux kernel directly: the VmRSS field of /proc/&lt;pid&gt;/status, sampled by the parent for every worker. Swap comes from VmSwap alongside it — which is how we can state that swap stayed at exactly zero. “Peak RSS” is the highest value seen across the run.</a:t>
            </a:r>
          </a:p>
        </p:txBody>
      </p:sp>
      <p:sp>
        <p:nvSpPr>
          <p:cNvPr id="23" name="Rectangle 22"/>
          <p:cNvSpPr/>
          <p:nvPr/>
        </p:nvSpPr>
        <p:spPr>
          <a:xfrm>
            <a:off x="6287871" y="4123181"/>
            <a:ext cx="5245455" cy="28427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WHERE THE DATA ACTUALLY GOES</a:t>
            </a:r>
          </a:p>
        </p:txBody>
      </p:sp>
      <p:sp>
        <p:nvSpPr>
          <p:cNvPr id="25" name="TextBox 24"/>
          <p:cNvSpPr txBox="1"/>
          <p:nvPr/>
        </p:nvSpPr>
        <p:spPr>
          <a:xfrm>
            <a:off x="6489039" y="4598670"/>
            <a:ext cx="4843119" cy="2220975"/>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The simulator keeps at most one buffer of step rows in memory — 4 096 rows at the largest setting. When it fills, the buffer is written out as a compressed Parquet segment and cleared. Memory therefore tracks the buffer size, not the length of the run.</a:t>
            </a:r>
          </a:p>
          <a:p>
            <a:pPr algn="l">
              <a:lnSpc>
                <a:spcPct val="140000"/>
              </a:lnSpc>
              <a:spcBef>
                <a:spcPts val="800"/>
              </a:spcBef>
            </a:pPr>
            <a:r>
              <a:rPr sz="1120" b="0" i="0">
                <a:solidFill>
                  <a:srgbClr val="3C4653"/>
                </a:solidFill>
                <a:latin typeface="Segoe UI"/>
              </a:rPr>
              <a:t>Those segments are written to scratch disk on the node the worker is already running on — not streamed over the network. Only when the shard finishes is the result copied once to the shared cluster filesystem, with a metadata file written last as the commit marker.</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many workers fit on one node?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has 125 CPUs and 125 GB of RAM. We tried four settings, three times each, and required at least 70% CPU efficiency.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packing.png"/>
          <p:cNvPicPr>
            <a:picLocks noChangeAspect="1"/>
          </p:cNvPicPr>
          <p:nvPr/>
        </p:nvPicPr>
        <p:blipFill>
          <a:blip r:embed="rId2"/>
          <a:stretch>
            <a:fillRect/>
          </a:stretch>
        </p:blipFill>
        <p:spPr>
          <a:xfrm>
            <a:off x="658368" y="2334260"/>
            <a:ext cx="6959973" cy="2252148"/>
          </a:xfrm>
          <a:prstGeom prst="rect">
            <a:avLst/>
          </a:prstGeom>
        </p:spPr>
      </p:pic>
      <p:sp>
        <p:nvSpPr>
          <p:cNvPr id="9" name="Rectangle 8"/>
          <p:cNvSpPr/>
          <p:nvPr/>
        </p:nvSpPr>
        <p:spPr>
          <a:xfrm>
            <a:off x="7944590" y="238455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315972"/>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8 workers passed</a:t>
            </a:r>
          </a:p>
        </p:txBody>
      </p:sp>
      <p:sp>
        <p:nvSpPr>
          <p:cNvPr id="11" name="TextBox 10"/>
          <p:cNvSpPr txBox="1"/>
          <p:nvPr/>
        </p:nvSpPr>
        <p:spPr>
          <a:xfrm>
            <a:off x="8127470" y="2560726"/>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71.2% CPU efficiency — the only setting that fully cleared the bar.</a:t>
            </a:r>
          </a:p>
        </p:txBody>
      </p:sp>
      <p:sp>
        <p:nvSpPr>
          <p:cNvPr id="12" name="Rectangle 11"/>
          <p:cNvSpPr/>
          <p:nvPr/>
        </p:nvSpPr>
        <p:spPr>
          <a:xfrm>
            <a:off x="7944590" y="3062071"/>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2220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153511"/>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 and 32 failed</a:t>
            </a:r>
          </a:p>
        </p:txBody>
      </p:sp>
      <p:sp>
        <p:nvSpPr>
          <p:cNvPr id="15" name="TextBox 14"/>
          <p:cNvSpPr txBox="1"/>
          <p:nvPr/>
        </p:nvSpPr>
        <p:spPr>
          <a:xfrm>
            <a:off x="8127470" y="3398266"/>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67.0% and 68.6%, both below 70%.</a:t>
            </a:r>
          </a:p>
        </p:txBody>
      </p:sp>
      <p:sp>
        <p:nvSpPr>
          <p:cNvPr id="16" name="Rectangle 15"/>
          <p:cNvSpPr/>
          <p:nvPr/>
        </p:nvSpPr>
        <p:spPr>
          <a:xfrm>
            <a:off x="7944590" y="371751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387753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3808958"/>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64 never finished</a:t>
            </a:r>
          </a:p>
        </p:txBody>
      </p:sp>
      <p:sp>
        <p:nvSpPr>
          <p:cNvPr id="19" name="TextBox 18"/>
          <p:cNvSpPr txBox="1"/>
          <p:nvPr/>
        </p:nvSpPr>
        <p:spPr>
          <a:xfrm>
            <a:off x="8127470" y="4053713"/>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all three required repetitions.</a:t>
            </a:r>
          </a:p>
        </p:txBody>
      </p:sp>
      <p:sp>
        <p:nvSpPr>
          <p:cNvPr id="20" name="Rectangle 19"/>
          <p:cNvSpPr/>
          <p:nvPr/>
        </p:nvSpPr>
        <p:spPr>
          <a:xfrm>
            <a:off x="7944590" y="4372965"/>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4532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4464405"/>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Memory was never the problem</a:t>
            </a:r>
          </a:p>
        </p:txBody>
      </p:sp>
      <p:sp>
        <p:nvSpPr>
          <p:cNvPr id="23" name="TextBox 22"/>
          <p:cNvSpPr txBox="1"/>
          <p:nvPr/>
        </p:nvSpPr>
        <p:spPr>
          <a:xfrm>
            <a:off x="8127470" y="4709159"/>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even 32 workers used under 16% of the node's RAM. Something else is serialising.</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From 2 nodes to 4 to 12</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works on its own slice of the job list. Moving to 4 nodes requires a clean 2-node report; going beyond 4 requires a clean 4-node report on the exact same inputs — so a small unrelated test can never unlock the big expensive run.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scale.png"/>
          <p:cNvPicPr>
            <a:picLocks noChangeAspect="1"/>
          </p:cNvPicPr>
          <p:nvPr/>
        </p:nvPicPr>
        <p:blipFill>
          <a:blip r:embed="rId2"/>
          <a:stretch>
            <a:fillRect/>
          </a:stretch>
        </p:blipFill>
        <p:spPr>
          <a:xfrm>
            <a:off x="658368" y="2532126"/>
            <a:ext cx="6524975" cy="2252232"/>
          </a:xfrm>
          <a:prstGeom prst="rect">
            <a:avLst/>
          </a:prstGeom>
        </p:spPr>
      </p:pic>
      <p:sp>
        <p:nvSpPr>
          <p:cNvPr id="9" name="Rectangle 8"/>
          <p:cNvSpPr/>
          <p:nvPr/>
        </p:nvSpPr>
        <p:spPr>
          <a:xfrm>
            <a:off x="7509592"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5896"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a:t>
            </a:r>
          </a:p>
        </p:txBody>
      </p:sp>
      <p:sp>
        <p:nvSpPr>
          <p:cNvPr id="11" name="TextBox 10"/>
          <p:cNvSpPr txBox="1"/>
          <p:nvPr/>
        </p:nvSpPr>
        <p:spPr>
          <a:xfrm>
            <a:off x="7655896"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NODES</a:t>
            </a:r>
          </a:p>
          <a:p>
            <a:pPr algn="l">
              <a:lnSpc>
                <a:spcPct val="130000"/>
              </a:lnSpc>
              <a:spcBef>
                <a:spcPts val="0"/>
              </a:spcBef>
            </a:pPr>
            <a:r>
              <a:rPr sz="819" b="0" i="0">
                <a:solidFill>
                  <a:srgbClr val="6C7683"/>
                </a:solidFill>
                <a:latin typeface="Consolas"/>
              </a:rPr>
              <a:t>USED</a:t>
            </a:r>
          </a:p>
        </p:txBody>
      </p:sp>
      <p:sp>
        <p:nvSpPr>
          <p:cNvPr id="12" name="Rectangle 11"/>
          <p:cNvSpPr/>
          <p:nvPr/>
        </p:nvSpPr>
        <p:spPr>
          <a:xfrm>
            <a:off x="8867601"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3905"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384</a:t>
            </a:r>
          </a:p>
        </p:txBody>
      </p:sp>
      <p:sp>
        <p:nvSpPr>
          <p:cNvPr id="14" name="TextBox 13"/>
          <p:cNvSpPr txBox="1"/>
          <p:nvPr/>
        </p:nvSpPr>
        <p:spPr>
          <a:xfrm>
            <a:off x="9013905"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JOBS</a:t>
            </a:r>
          </a:p>
          <a:p>
            <a:pPr algn="l">
              <a:lnSpc>
                <a:spcPct val="130000"/>
              </a:lnSpc>
              <a:spcBef>
                <a:spcPts val="0"/>
              </a:spcBef>
            </a:pPr>
            <a:r>
              <a:rPr sz="819" b="0" i="0">
                <a:solidFill>
                  <a:srgbClr val="6C7683"/>
                </a:solidFill>
                <a:latin typeface="Consolas"/>
              </a:rPr>
              <a:t>COMPLETED</a:t>
            </a:r>
          </a:p>
        </p:txBody>
      </p:sp>
      <p:sp>
        <p:nvSpPr>
          <p:cNvPr id="15" name="Rectangle 14"/>
          <p:cNvSpPr/>
          <p:nvPr/>
        </p:nvSpPr>
        <p:spPr>
          <a:xfrm>
            <a:off x="10225610"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71914"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85.4</a:t>
            </a:r>
            <a:r>
              <a:rPr sz="950" b="0" i="0">
                <a:solidFill>
                  <a:srgbClr val="6C7683"/>
                </a:solidFill>
                <a:latin typeface="Consolas"/>
              </a:rPr>
              <a:t> min</a:t>
            </a:r>
          </a:p>
        </p:txBody>
      </p:sp>
      <p:sp>
        <p:nvSpPr>
          <p:cNvPr id="17" name="TextBox 16"/>
          <p:cNvSpPr txBox="1"/>
          <p:nvPr/>
        </p:nvSpPr>
        <p:spPr>
          <a:xfrm>
            <a:off x="10371914"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TOTAL TIME</a:t>
            </a:r>
          </a:p>
          <a:p>
            <a:pPr algn="l">
              <a:lnSpc>
                <a:spcPct val="130000"/>
              </a:lnSpc>
              <a:spcBef>
                <a:spcPts val="0"/>
              </a:spcBef>
            </a:pPr>
            <a:r>
              <a:rPr sz="819" b="0" i="0">
                <a:solidFill>
                  <a:srgbClr val="6C7683"/>
                </a:solidFill>
                <a:latin typeface="Consolas"/>
              </a:rPr>
              <a:t>ON 12 NODES</a:t>
            </a:r>
          </a:p>
        </p:txBody>
      </p:sp>
      <p:sp>
        <p:nvSpPr>
          <p:cNvPr id="18" name="Rectangle 17"/>
          <p:cNvSpPr/>
          <p:nvPr/>
        </p:nvSpPr>
        <p:spPr>
          <a:xfrm>
            <a:off x="7509592"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5896"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90.9</a:t>
            </a:r>
            <a:r>
              <a:rPr sz="950" b="0" i="0">
                <a:solidFill>
                  <a:srgbClr val="6C7683"/>
                </a:solidFill>
                <a:latin typeface="Consolas"/>
              </a:rPr>
              <a:t>%</a:t>
            </a:r>
          </a:p>
        </p:txBody>
      </p:sp>
      <p:sp>
        <p:nvSpPr>
          <p:cNvPr id="20" name="TextBox 19"/>
          <p:cNvSpPr txBox="1"/>
          <p:nvPr/>
        </p:nvSpPr>
        <p:spPr>
          <a:xfrm>
            <a:off x="7655896"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CPU EFFICIENCY</a:t>
            </a:r>
          </a:p>
          <a:p>
            <a:pPr algn="l">
              <a:lnSpc>
                <a:spcPct val="130000"/>
              </a:lnSpc>
              <a:spcBef>
                <a:spcPts val="0"/>
              </a:spcBef>
            </a:pPr>
            <a:r>
              <a:rPr sz="819" b="0" i="0">
                <a:solidFill>
                  <a:srgbClr val="6C7683"/>
                </a:solidFill>
                <a:latin typeface="Consolas"/>
              </a:rPr>
              <a:t>WORST NODE 89.1%</a:t>
            </a:r>
          </a:p>
        </p:txBody>
      </p:sp>
      <p:sp>
        <p:nvSpPr>
          <p:cNvPr id="21" name="Rectangle 20"/>
          <p:cNvSpPr/>
          <p:nvPr/>
        </p:nvSpPr>
        <p:spPr>
          <a:xfrm>
            <a:off x="8867601"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3905"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5.4</a:t>
            </a:r>
            <a:r>
              <a:rPr sz="950" b="0" i="0">
                <a:solidFill>
                  <a:srgbClr val="6C7683"/>
                </a:solidFill>
                <a:latin typeface="Consolas"/>
              </a:rPr>
              <a:t> GiB</a:t>
            </a:r>
          </a:p>
        </p:txBody>
      </p:sp>
      <p:sp>
        <p:nvSpPr>
          <p:cNvPr id="23" name="TextBox 22"/>
          <p:cNvSpPr txBox="1"/>
          <p:nvPr/>
        </p:nvSpPr>
        <p:spPr>
          <a:xfrm>
            <a:off x="9013905"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MEMORY</a:t>
            </a:r>
          </a:p>
          <a:p>
            <a:pPr algn="l">
              <a:lnSpc>
                <a:spcPct val="130000"/>
              </a:lnSpc>
              <a:spcBef>
                <a:spcPts val="0"/>
              </a:spcBef>
            </a:pPr>
            <a:r>
              <a:rPr sz="819" b="0" i="0">
                <a:solidFill>
                  <a:srgbClr val="6C7683"/>
                </a:solidFill>
                <a:latin typeface="Consolas"/>
              </a:rPr>
              <a:t>OUT OF 120 GIB</a:t>
            </a:r>
          </a:p>
        </p:txBody>
      </p:sp>
      <p:sp>
        <p:nvSpPr>
          <p:cNvPr id="24" name="Rectangle 23"/>
          <p:cNvSpPr/>
          <p:nvPr/>
        </p:nvSpPr>
        <p:spPr>
          <a:xfrm>
            <a:off x="10225610"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71914"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6" name="TextBox 25"/>
          <p:cNvSpPr txBox="1"/>
          <p:nvPr/>
        </p:nvSpPr>
        <p:spPr>
          <a:xfrm>
            <a:off x="10371914"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CRASHES, SWAPS</a:t>
            </a:r>
          </a:p>
          <a:p>
            <a:pPr algn="l">
              <a:lnSpc>
                <a:spcPct val="130000"/>
              </a:lnSpc>
              <a:spcBef>
                <a:spcPts val="0"/>
              </a:spcBef>
            </a:pPr>
            <a:r>
              <a:rPr sz="819" b="0" i="0">
                <a:solidFill>
                  <a:srgbClr val="6C7683"/>
                </a:solidFill>
                <a:latin typeface="Consolas"/>
              </a:rPr>
              <a:t>OR LOST JOBS</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headroom was left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headroom.png"/>
          <p:cNvPicPr>
            <a:picLocks noChangeAspect="1"/>
          </p:cNvPicPr>
          <p:nvPr/>
        </p:nvPicPr>
        <p:blipFill>
          <a:blip r:embed="rId2"/>
          <a:stretch>
            <a:fillRect/>
          </a:stretch>
        </p:blipFill>
        <p:spPr>
          <a:xfrm>
            <a:off x="658368" y="1554480"/>
            <a:ext cx="7829970" cy="1479792"/>
          </a:xfrm>
          <a:prstGeom prst="rect">
            <a:avLst/>
          </a:prstGeom>
        </p:spPr>
      </p:pic>
      <p:sp>
        <p:nvSpPr>
          <p:cNvPr id="8" name="TextBox 7"/>
          <p:cNvSpPr txBox="1"/>
          <p:nvPr/>
        </p:nvSpPr>
        <p:spPr>
          <a:xfrm>
            <a:off x="658368" y="3236976"/>
            <a:ext cx="7829970" cy="548640"/>
          </a:xfrm>
          <a:prstGeom prst="rect">
            <a:avLst/>
          </a:prstGeom>
          <a:noFill/>
        </p:spPr>
        <p:txBody>
          <a:bodyPr wrap="square" anchor="t" lIns="0" rIns="0" tIns="0" bIns="0">
            <a:spAutoFit/>
          </a:bodyPr>
          <a:lstStyle/>
          <a:p>
            <a:pPr algn="l">
              <a:lnSpc>
                <a:spcPct val="138000"/>
              </a:lnSpc>
            </a:pPr>
            <a:r>
              <a:rPr sz="1200" b="0" i="0">
                <a:solidFill>
                  <a:srgbClr val="3C4653"/>
                </a:solidFill>
                <a:latin typeface="Segoe UI"/>
              </a:rPr>
              <a:t>Every node passed every check. Peak memory never went above 4.5% of what was allocated, and the machine never had to swap to disk. That is the direct payoff of the memory work in stage 1.</a:t>
            </a:r>
          </a:p>
        </p:txBody>
      </p:sp>
      <p:sp>
        <p:nvSpPr>
          <p:cNvPr id="9" name="Rectangle 8"/>
          <p:cNvSpPr/>
          <p:nvPr/>
        </p:nvSpPr>
        <p:spPr>
          <a:xfrm>
            <a:off x="8814587" y="165963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97467" y="1591056"/>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What this does not measure</a:t>
            </a:r>
          </a:p>
        </p:txBody>
      </p:sp>
      <p:sp>
        <p:nvSpPr>
          <p:cNvPr id="11" name="TextBox 10"/>
          <p:cNvSpPr txBox="1"/>
          <p:nvPr/>
        </p:nvSpPr>
        <p:spPr>
          <a:xfrm>
            <a:off x="8997467" y="1832559"/>
            <a:ext cx="2535859" cy="984885"/>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This is campaign throughput — how fast we can run experiments. It is not a measurement of how fast a live control loop would respond.</a:t>
            </a:r>
          </a:p>
        </p:txBody>
      </p:sp>
      <p:sp>
        <p:nvSpPr>
          <p:cNvPr id="12" name="Rectangle 11"/>
          <p:cNvSpPr/>
          <p:nvPr/>
        </p:nvSpPr>
        <p:spPr>
          <a:xfrm>
            <a:off x="8814587" y="2872308"/>
            <a:ext cx="271873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14587" y="30414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467" y="2972892"/>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Where the ceiling is</a:t>
            </a:r>
          </a:p>
        </p:txBody>
      </p:sp>
      <p:sp>
        <p:nvSpPr>
          <p:cNvPr id="15" name="TextBox 14"/>
          <p:cNvSpPr txBox="1"/>
          <p:nvPr/>
        </p:nvSpPr>
        <p:spPr>
          <a:xfrm>
            <a:off x="8997467" y="3214395"/>
            <a:ext cx="2535859"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Nothing in the design caps it at 12 nodes. We just need a clean 12-node report to unlock 24 or 48.</a:t>
            </a:r>
          </a:p>
        </p:txBody>
      </p:sp>
      <p:sp>
        <p:nvSpPr>
          <p:cNvPr id="16" name="TextBox 1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NEGATIVE 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did not work on the cluster</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About half the scale-up effort went into things that failed. Each one changed the design.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09981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77542"/>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TRIED</a:t>
            </a:r>
          </a:p>
        </p:txBody>
      </p:sp>
      <p:sp>
        <p:nvSpPr>
          <p:cNvPr id="10" name="TextBox 9"/>
          <p:cNvSpPr txBox="1"/>
          <p:nvPr/>
        </p:nvSpPr>
        <p:spPr>
          <a:xfrm>
            <a:off x="3350654" y="217754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HAPPENED</a:t>
            </a:r>
          </a:p>
        </p:txBody>
      </p:sp>
      <p:sp>
        <p:nvSpPr>
          <p:cNvPr id="11" name="TextBox 10"/>
          <p:cNvSpPr txBox="1"/>
          <p:nvPr/>
        </p:nvSpPr>
        <p:spPr>
          <a:xfrm>
            <a:off x="7048140" y="2177542"/>
            <a:ext cx="44028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DID INSTEAD</a:t>
            </a:r>
          </a:p>
        </p:txBody>
      </p:sp>
      <p:sp>
        <p:nvSpPr>
          <p:cNvPr id="12" name="Rectangle 11"/>
          <p:cNvSpPr/>
          <p:nvPr/>
        </p:nvSpPr>
        <p:spPr>
          <a:xfrm>
            <a:off x="658368" y="237413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42443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Asking for local scratch disk</a:t>
            </a:r>
          </a:p>
        </p:txBody>
      </p:sp>
      <p:sp>
        <p:nvSpPr>
          <p:cNvPr id="14" name="TextBox 13"/>
          <p:cNvSpPr txBox="1"/>
          <p:nvPr/>
        </p:nvSpPr>
        <p:spPr>
          <a:xfrm>
            <a:off x="3350654" y="242443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C-DOT's scheduler has no such resource</a:t>
            </a:r>
          </a:p>
        </p:txBody>
      </p:sp>
      <p:sp>
        <p:nvSpPr>
          <p:cNvPr id="15" name="TextBox 14"/>
          <p:cNvSpPr txBox="1"/>
          <p:nvPr/>
        </p:nvSpPr>
        <p:spPr>
          <a:xfrm>
            <a:off x="7048140" y="242443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Fall back to the node's own /tmp with an operator-supplied disk budget</a:t>
            </a:r>
          </a:p>
        </p:txBody>
      </p:sp>
      <p:sp>
        <p:nvSpPr>
          <p:cNvPr id="16" name="Rectangle 15"/>
          <p:cNvSpPr/>
          <p:nvPr/>
        </p:nvSpPr>
        <p:spPr>
          <a:xfrm>
            <a:off x="658368" y="276275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62758"/>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1305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Requesting memory separately</a:t>
            </a:r>
          </a:p>
        </p:txBody>
      </p:sp>
      <p:sp>
        <p:nvSpPr>
          <p:cNvPr id="19" name="TextBox 18"/>
          <p:cNvSpPr txBox="1"/>
          <p:nvPr/>
        </p:nvSpPr>
        <p:spPr>
          <a:xfrm>
            <a:off x="3350654" y="281305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refused when node placement is also specified</a:t>
            </a:r>
          </a:p>
        </p:txBody>
      </p:sp>
      <p:sp>
        <p:nvSpPr>
          <p:cNvPr id="20" name="TextBox 19"/>
          <p:cNvSpPr txBox="1"/>
          <p:nvPr/>
        </p:nvSpPr>
        <p:spPr>
          <a:xfrm>
            <a:off x="7048140" y="281305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Put memory inside the node request instead</a:t>
            </a:r>
          </a:p>
        </p:txBody>
      </p:sp>
      <p:sp>
        <p:nvSpPr>
          <p:cNvPr id="21" name="Rectangle 20"/>
          <p:cNvSpPr/>
          <p:nvPr/>
        </p:nvSpPr>
        <p:spPr>
          <a:xfrm>
            <a:off x="658368" y="31513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20167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16, 32 and 64 workers per node</a:t>
            </a:r>
          </a:p>
        </p:txBody>
      </p:sp>
      <p:sp>
        <p:nvSpPr>
          <p:cNvPr id="23" name="TextBox 22"/>
          <p:cNvSpPr txBox="1"/>
          <p:nvPr/>
        </p:nvSpPr>
        <p:spPr>
          <a:xfrm>
            <a:off x="3350654" y="320167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FAILED — 67.0% and 68.6% CPU; 64 never completed</a:t>
            </a:r>
          </a:p>
        </p:txBody>
      </p:sp>
      <p:sp>
        <p:nvSpPr>
          <p:cNvPr id="24" name="TextBox 23"/>
          <p:cNvSpPr txBox="1"/>
          <p:nvPr/>
        </p:nvSpPr>
        <p:spPr>
          <a:xfrm>
            <a:off x="7048140" y="320167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Locked in 8 workers per node as the only setting that fully passed</a:t>
            </a:r>
          </a:p>
        </p:txBody>
      </p:sp>
      <p:sp>
        <p:nvSpPr>
          <p:cNvPr id="25" name="Rectangle 24"/>
          <p:cNvSpPr/>
          <p:nvPr/>
        </p:nvSpPr>
        <p:spPr>
          <a:xfrm>
            <a:off x="658368" y="35399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53999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59028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 quick 30-minute test on 2 nodes</a:t>
            </a:r>
          </a:p>
        </p:txBody>
      </p:sp>
      <p:sp>
        <p:nvSpPr>
          <p:cNvPr id="28" name="TextBox 27"/>
          <p:cNvSpPr txBox="1"/>
          <p:nvPr/>
        </p:nvSpPr>
        <p:spPr>
          <a:xfrm>
            <a:off x="3350654" y="359028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NOT USABLE — 6.8% CPU efficiency, far too short</a:t>
            </a:r>
          </a:p>
        </p:txBody>
      </p:sp>
      <p:sp>
        <p:nvSpPr>
          <p:cNvPr id="29" name="TextBox 28"/>
          <p:cNvSpPr txBox="1"/>
          <p:nvPr/>
        </p:nvSpPr>
        <p:spPr>
          <a:xfrm>
            <a:off x="7048140" y="359028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Kept only for checking scheduling and file writing; never for choosing settings</a:t>
            </a:r>
          </a:p>
        </p:txBody>
      </p:sp>
      <p:sp>
        <p:nvSpPr>
          <p:cNvPr id="30" name="Rectangle 29"/>
          <p:cNvSpPr/>
          <p:nvPr/>
        </p:nvSpPr>
        <p:spPr>
          <a:xfrm>
            <a:off x="658368" y="39286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7890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Development controllers at full scale</a:t>
            </a:r>
          </a:p>
        </p:txBody>
      </p:sp>
      <p:sp>
        <p:nvSpPr>
          <p:cNvPr id="32" name="TextBox 31"/>
          <p:cNvSpPr txBox="1"/>
          <p:nvPr/>
        </p:nvSpPr>
        <p:spPr>
          <a:xfrm>
            <a:off x="3350654" y="397890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BLOCKED — those settings are development-only</a:t>
            </a:r>
          </a:p>
        </p:txBody>
      </p:sp>
      <p:sp>
        <p:nvSpPr>
          <p:cNvPr id="33" name="TextBox 32"/>
          <p:cNvSpPr txBox="1"/>
          <p:nvPr/>
        </p:nvSpPr>
        <p:spPr>
          <a:xfrm>
            <a:off x="7048140" y="397890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 controller must pass a fresh held-out evaluation before running on more than 4 nodes</a:t>
            </a:r>
          </a:p>
        </p:txBody>
      </p:sp>
      <p:sp>
        <p:nvSpPr>
          <p:cNvPr id="34" name="Rectangle 33"/>
          <p:cNvSpPr/>
          <p:nvPr/>
        </p:nvSpPr>
        <p:spPr>
          <a:xfrm>
            <a:off x="658368" y="43172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31723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36752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training data v1 and v2</a:t>
            </a:r>
          </a:p>
        </p:txBody>
      </p:sp>
      <p:sp>
        <p:nvSpPr>
          <p:cNvPr id="37" name="TextBox 36"/>
          <p:cNvSpPr txBox="1"/>
          <p:nvPr/>
        </p:nvSpPr>
        <p:spPr>
          <a:xfrm>
            <a:off x="3350654" y="436752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DISCARDED — telemetry quality averaged wrongly</a:t>
            </a:r>
          </a:p>
        </p:txBody>
      </p:sp>
      <p:sp>
        <p:nvSpPr>
          <p:cNvPr id="38" name="TextBox 37"/>
          <p:cNvSpPr txBox="1"/>
          <p:nvPr/>
        </p:nvSpPr>
        <p:spPr>
          <a:xfrm>
            <a:off x="7048140" y="436752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Cancelled 11 jobs, kept the data for audit only, regenerated as version 3</a:t>
            </a:r>
          </a:p>
        </p:txBody>
      </p:sp>
      <p:sp>
        <p:nvSpPr>
          <p:cNvPr id="39" name="Rectangle 38"/>
          <p:cNvSpPr/>
          <p:nvPr/>
        </p:nvSpPr>
        <p:spPr>
          <a:xfrm>
            <a:off x="658368" y="47058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75614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Re-running the baseline every time</a:t>
            </a:r>
          </a:p>
        </p:txBody>
      </p:sp>
      <p:sp>
        <p:nvSpPr>
          <p:cNvPr id="41" name="TextBox 40"/>
          <p:cNvSpPr txBox="1"/>
          <p:nvPr/>
        </p:nvSpPr>
        <p:spPr>
          <a:xfrm>
            <a:off x="3350654" y="475614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WASTEFUL — every candidate re-simulated the baseline</a:t>
            </a:r>
          </a:p>
        </p:txBody>
      </p:sp>
      <p:sp>
        <p:nvSpPr>
          <p:cNvPr id="42" name="TextBox 41"/>
          <p:cNvSpPr txBox="1"/>
          <p:nvPr/>
        </p:nvSpPr>
        <p:spPr>
          <a:xfrm>
            <a:off x="7048140" y="475614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Fix planned: compute each baseline once. Saves about half the compute</a:t>
            </a:r>
          </a:p>
        </p:txBody>
      </p:sp>
      <p:sp>
        <p:nvSpPr>
          <p:cNvPr id="43" name="Rectangle 42"/>
          <p:cNvSpPr/>
          <p:nvPr/>
        </p:nvSpPr>
        <p:spPr>
          <a:xfrm>
            <a:off x="658368" y="5094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2099818"/>
            <a:ext cx="10874959" cy="29946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Bigger, and closer to a real operator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481328"/>
            <a:ext cx="5245455" cy="409839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BIGGER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Stop re-running the baseline</a:t>
            </a:r>
          </a:p>
        </p:txBody>
      </p:sp>
      <p:sp>
        <p:nvSpPr>
          <p:cNvPr id="11" name="TextBox 10"/>
          <p:cNvSpPr txBox="1"/>
          <p:nvPr/>
        </p:nvSpPr>
        <p:spPr>
          <a:xfrm>
            <a:off x="1042415"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Roughly half of every campaign is duplicated work. Computing each baseline once frees about 50% of the compute immediately.</a:t>
            </a:r>
          </a:p>
        </p:txBody>
      </p:sp>
      <p:sp>
        <p:nvSpPr>
          <p:cNvPr id="12" name="Rectangle 11"/>
          <p:cNvSpPr/>
          <p:nvPr/>
        </p:nvSpPr>
        <p:spPr>
          <a:xfrm>
            <a:off x="859536" y="284843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9901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92158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Re-open the worker-count question</a:t>
            </a:r>
          </a:p>
        </p:txBody>
      </p:sp>
      <p:sp>
        <p:nvSpPr>
          <p:cNvPr id="15" name="TextBox 14"/>
          <p:cNvSpPr txBox="1"/>
          <p:nvPr/>
        </p:nvSpPr>
        <p:spPr>
          <a:xfrm>
            <a:off x="1042415" y="3166338"/>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16 and 32 workers failed on CPU, not memory. Profiling the file-writing path and thread settings is the highest-value next step.</a:t>
            </a:r>
          </a:p>
        </p:txBody>
      </p:sp>
      <p:sp>
        <p:nvSpPr>
          <p:cNvPr id="16" name="Rectangle 15"/>
          <p:cNvSpPr/>
          <p:nvPr/>
        </p:nvSpPr>
        <p:spPr>
          <a:xfrm>
            <a:off x="859536" y="383148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97322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04640"/>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Beyond 12 nodes</a:t>
            </a:r>
          </a:p>
        </p:txBody>
      </p:sp>
      <p:sp>
        <p:nvSpPr>
          <p:cNvPr id="19" name="TextBox 18"/>
          <p:cNvSpPr txBox="1"/>
          <p:nvPr/>
        </p:nvSpPr>
        <p:spPr>
          <a:xfrm>
            <a:off x="1042415" y="4149394"/>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Nothing in the design caps it. We need a clean 12-node report to unlock 24 or 48.</a:t>
            </a:r>
          </a:p>
        </p:txBody>
      </p:sp>
      <p:sp>
        <p:nvSpPr>
          <p:cNvPr id="20" name="Rectangle 19"/>
          <p:cNvSpPr/>
          <p:nvPr/>
        </p:nvSpPr>
        <p:spPr>
          <a:xfrm>
            <a:off x="859536" y="463245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 y="47741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470560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 separate analysis layer</a:t>
            </a:r>
          </a:p>
        </p:txBody>
      </p:sp>
      <p:sp>
        <p:nvSpPr>
          <p:cNvPr id="23" name="TextBox 22"/>
          <p:cNvSpPr txBox="1"/>
          <p:nvPr/>
        </p:nvSpPr>
        <p:spPr>
          <a:xfrm>
            <a:off x="1042415" y="495035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Output files are immutable and hashed, so another system can read them without becoming a dependency.</a:t>
            </a:r>
          </a:p>
        </p:txBody>
      </p:sp>
      <p:sp>
        <p:nvSpPr>
          <p:cNvPr id="24" name="Rectangle 23"/>
          <p:cNvSpPr/>
          <p:nvPr/>
        </p:nvSpPr>
        <p:spPr>
          <a:xfrm>
            <a:off x="6287871" y="1481328"/>
            <a:ext cx="5245455" cy="442544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MORE REALISTIC</a:t>
            </a:r>
          </a:p>
        </p:txBody>
      </p:sp>
      <p:sp>
        <p:nvSpPr>
          <p:cNvPr id="26" name="Rectangle 25"/>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Finer geography</a:t>
            </a:r>
          </a:p>
        </p:txBody>
      </p:sp>
      <p:sp>
        <p:nvSpPr>
          <p:cNvPr id="28" name="TextBox 27"/>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8 zones cannot represent 75 000 radio sites. A cell-cluster layer with a realistic map of which box serves which area is the biggest gap.</a:t>
            </a:r>
          </a:p>
        </p:txBody>
      </p:sp>
      <p:sp>
        <p:nvSpPr>
          <p:cNvPr id="29" name="Rectangle 28"/>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Packet and radio behaviour</a:t>
            </a:r>
          </a:p>
        </p:txBody>
      </p:sp>
      <p:sp>
        <p:nvSpPr>
          <p:cNvPr id="32" name="TextBox 31"/>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We model sessions, not packets, and ignore radio scheduling. Specified but not yet built.</a:t>
            </a:r>
          </a:p>
        </p:txBody>
      </p:sp>
      <p:sp>
        <p:nvSpPr>
          <p:cNvPr id="33" name="Rectangle 32"/>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Independent uplink and downlink</a:t>
            </a:r>
          </a:p>
        </p:txBody>
      </p:sp>
      <p:sp>
        <p:nvSpPr>
          <p:cNvPr id="36" name="TextBox 35"/>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 the older data both were derived from session count, which is why all three forecast targets score identically.</a:t>
            </a:r>
          </a:p>
        </p:txBody>
      </p:sp>
      <p:sp>
        <p:nvSpPr>
          <p:cNvPr id="37" name="Rectangle 36"/>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Real telemetry from C-DOT</a:t>
            </a:r>
          </a:p>
        </p:txBody>
      </p:sp>
      <p:sp>
        <p:nvSpPr>
          <p:cNvPr id="40" name="TextBox 39"/>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Metric names, scrape interval, counter behaviour, box capacities. All calibration is blocked on this.</a:t>
            </a:r>
          </a:p>
        </p:txBody>
      </p:sp>
      <p:sp>
        <p:nvSpPr>
          <p:cNvPr id="41" name="Rectangle 40"/>
          <p:cNvSpPr/>
          <p:nvPr/>
        </p:nvSpPr>
        <p:spPr>
          <a:xfrm>
            <a:off x="6489039" y="5155310"/>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1919" y="5214746"/>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Can sessions be moved?</a:t>
            </a:r>
          </a:p>
        </p:txBody>
      </p:sp>
      <p:sp>
        <p:nvSpPr>
          <p:cNvPr id="44" name="TextBox 43"/>
          <p:cNvSpPr txBox="1"/>
          <p:nvPr/>
        </p:nvSpPr>
        <p:spPr>
          <a:xfrm>
            <a:off x="6671919" y="5459501"/>
            <a:ext cx="4660239"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single most important open question — see section 03.</a:t>
            </a: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02</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FORECASTER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Predicting how much traffic is coming</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Not one prediction — 96 traffic groups, three quantities each, eight time horizons each. And the optimizer does not just want a best guess. It wants a safe upper bound it can plan against. So we measure accuracy and reliability separately.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forecaster works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TextBox 6"/>
          <p:cNvSpPr txBox="1"/>
          <p:nvPr/>
        </p:nvSpPr>
        <p:spPr>
          <a:xfrm>
            <a:off x="658368" y="1508760"/>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01</a:t>
            </a:r>
          </a:p>
        </p:txBody>
      </p:sp>
      <p:sp>
        <p:nvSpPr>
          <p:cNvPr id="8" name="TextBox 7"/>
          <p:cNvSpPr txBox="1"/>
          <p:nvPr/>
        </p:nvSpPr>
        <p:spPr>
          <a:xfrm>
            <a:off x="1097280" y="1499616"/>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What we predict. </a:t>
            </a:r>
            <a:r>
              <a:rPr sz="1220" b="0" i="0">
                <a:solidFill>
                  <a:srgbClr val="3C4653"/>
                </a:solidFill>
                <a:latin typeface="Segoe UI"/>
              </a:rPr>
              <a:t>For each traffic group, in each 10-minute window: how many new sessions start, and how much new uplink and downlink bandwidth they bring. Only new demand — because only new sessions can be steered.</a:t>
            </a:r>
          </a:p>
        </p:txBody>
      </p:sp>
      <p:sp>
        <p:nvSpPr>
          <p:cNvPr id="9" name="Rectangle 8"/>
          <p:cNvSpPr/>
          <p:nvPr/>
        </p:nvSpPr>
        <p:spPr>
          <a:xfrm>
            <a:off x="658368" y="2223058"/>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332786"/>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02</a:t>
            </a:r>
          </a:p>
        </p:txBody>
      </p:sp>
      <p:sp>
        <p:nvSpPr>
          <p:cNvPr id="11" name="TextBox 10"/>
          <p:cNvSpPr txBox="1"/>
          <p:nvPr/>
        </p:nvSpPr>
        <p:spPr>
          <a:xfrm>
            <a:off x="1097280" y="2323642"/>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One model per horizon. </a:t>
            </a:r>
            <a:r>
              <a:rPr sz="1220" b="0" i="0">
                <a:solidFill>
                  <a:srgbClr val="3C4653"/>
                </a:solidFill>
                <a:latin typeface="Segoe UI"/>
              </a:rPr>
              <a:t>Separate models for 10, 20, 30, 40, 50, 60, 70 and 80 minutes ahead — 2 304 small models in total. We predict each horizon directly instead of stepping forward repeatedly, so errors do not pile up.</a:t>
            </a:r>
          </a:p>
        </p:txBody>
      </p:sp>
      <p:sp>
        <p:nvSpPr>
          <p:cNvPr id="12" name="Rectangle 11"/>
          <p:cNvSpPr/>
          <p:nvPr/>
        </p:nvSpPr>
        <p:spPr>
          <a:xfrm>
            <a:off x="658368" y="3047085"/>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56813"/>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03</a:t>
            </a:r>
          </a:p>
        </p:txBody>
      </p:sp>
      <p:sp>
        <p:nvSpPr>
          <p:cNvPr id="14" name="TextBox 13"/>
          <p:cNvSpPr txBox="1"/>
          <p:nvPr/>
        </p:nvSpPr>
        <p:spPr>
          <a:xfrm>
            <a:off x="1097280" y="3147669"/>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Only past information. </a:t>
            </a:r>
            <a:r>
              <a:rPr sz="1220" b="0" i="0">
                <a:solidFill>
                  <a:srgbClr val="3C4653"/>
                </a:solidFill>
                <a:latin typeface="Segoe UI"/>
              </a:rPr>
              <a:t>Nine inputs: last value, a 6-window average, recent trend, yesterday's value at the same time, and sine/cosine terms for time of day and day of week. Anything not yet available at forecast time is rejected.</a:t>
            </a:r>
          </a:p>
        </p:txBody>
      </p:sp>
      <p:sp>
        <p:nvSpPr>
          <p:cNvPr id="15" name="Rectangle 14"/>
          <p:cNvSpPr/>
          <p:nvPr/>
        </p:nvSpPr>
        <p:spPr>
          <a:xfrm>
            <a:off x="658368" y="3871112"/>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980840"/>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04</a:t>
            </a:r>
          </a:p>
        </p:txBody>
      </p:sp>
      <p:sp>
        <p:nvSpPr>
          <p:cNvPr id="17" name="TextBox 16"/>
          <p:cNvSpPr txBox="1"/>
          <p:nvPr/>
        </p:nvSpPr>
        <p:spPr>
          <a:xfrm>
            <a:off x="1097280" y="3971696"/>
            <a:ext cx="8478554" cy="506679"/>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Bias correction. </a:t>
            </a:r>
            <a:r>
              <a:rPr sz="1220" b="0" i="0">
                <a:solidFill>
                  <a:srgbClr val="3C4653"/>
                </a:solidFill>
                <a:latin typeface="Segoe UI"/>
              </a:rPr>
              <a:t>We measure the model's typical over- or under-shoot on separate data and subtract it.</a:t>
            </a:r>
          </a:p>
        </p:txBody>
      </p:sp>
      <p:sp>
        <p:nvSpPr>
          <p:cNvPr id="18" name="Rectangle 17"/>
          <p:cNvSpPr/>
          <p:nvPr/>
        </p:nvSpPr>
        <p:spPr>
          <a:xfrm>
            <a:off x="658368" y="4487519"/>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597247"/>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05</a:t>
            </a:r>
          </a:p>
        </p:txBody>
      </p:sp>
      <p:sp>
        <p:nvSpPr>
          <p:cNvPr id="20" name="TextBox 19"/>
          <p:cNvSpPr txBox="1"/>
          <p:nvPr/>
        </p:nvSpPr>
        <p:spPr>
          <a:xfrm>
            <a:off x="1097280" y="4588103"/>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The safe upper bound. </a:t>
            </a:r>
            <a:r>
              <a:rPr sz="1220" b="0" i="0">
                <a:solidFill>
                  <a:srgbClr val="3C4653"/>
                </a:solidFill>
                <a:latin typeface="Segoe UI"/>
              </a:rPr>
              <a:t>Conformal prediction: look at how wrong the model was on held-out data, then add enough margin that ~90% (or 95%) of real values fall below the bound. The optimizer plans against the 95% bound.</a:t>
            </a:r>
          </a:p>
        </p:txBody>
      </p:sp>
      <p:sp>
        <p:nvSpPr>
          <p:cNvPr id="21" name="Rectangle 20"/>
          <p:cNvSpPr/>
          <p:nvPr/>
        </p:nvSpPr>
        <p:spPr>
          <a:xfrm>
            <a:off x="658368" y="5311546"/>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5421274"/>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06</a:t>
            </a:r>
          </a:p>
        </p:txBody>
      </p:sp>
      <p:sp>
        <p:nvSpPr>
          <p:cNvPr id="23" name="TextBox 22"/>
          <p:cNvSpPr txBox="1"/>
          <p:nvPr/>
        </p:nvSpPr>
        <p:spPr>
          <a:xfrm>
            <a:off x="1097280" y="5412130"/>
            <a:ext cx="8478554" cy="506679"/>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Splitting data by time. </a:t>
            </a:r>
            <a:r>
              <a:rPr sz="1220" b="0" i="0">
                <a:solidFill>
                  <a:srgbClr val="3C4653"/>
                </a:solidFill>
                <a:latin typeface="Segoe UI"/>
              </a:rPr>
              <a:t>70% train, 15% calibration, 15% test — always chronological, never shuffled. Each event is kept whole so no part of it leaks across the split.</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Accuracy on 16 weeks of history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main measure is WAPE — weighted absolute percentage error. Lower is better. 7.63% means the average prediction is off by about 7.6% of the true traffic volume.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7.63</a:t>
            </a:r>
            <a:r>
              <a:rPr sz="950" b="0" i="0">
                <a:solidFill>
                  <a:srgbClr val="6C7683"/>
                </a:solidFill>
                <a:latin typeface="Consolas"/>
              </a:rPr>
              <a:t>%</a:t>
            </a:r>
          </a:p>
        </p:txBody>
      </p:sp>
      <p:sp>
        <p:nvSpPr>
          <p:cNvPr id="10" name="TextBox 9"/>
          <p:cNvSpPr txBox="1"/>
          <p:nvPr/>
        </p:nvSpPr>
        <p:spPr>
          <a:xfrm>
            <a:off x="8046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AVERAGE ERROR</a:t>
            </a:r>
          </a:p>
          <a:p>
            <a:pPr algn="l">
              <a:lnSpc>
                <a:spcPct val="130000"/>
              </a:lnSpc>
              <a:spcBef>
                <a:spcPts val="0"/>
              </a:spcBef>
            </a:pPr>
            <a:r>
              <a:rPr sz="819" b="0" i="0">
                <a:solidFill>
                  <a:srgbClr val="6C7683"/>
                </a:solidFill>
                <a:latin typeface="Consolas"/>
              </a:rPr>
              <a:t>ON UNSEEN DATA</a:t>
            </a:r>
          </a:p>
        </p:txBody>
      </p:sp>
      <p:sp>
        <p:nvSpPr>
          <p:cNvPr id="11" name="Rectangle 10"/>
          <p:cNvSpPr/>
          <p:nvPr/>
        </p:nvSpPr>
        <p:spPr>
          <a:xfrm>
            <a:off x="247924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94.21</a:t>
            </a:r>
            <a:r>
              <a:rPr sz="950" b="0" i="0">
                <a:solidFill>
                  <a:srgbClr val="6C7683"/>
                </a:solidFill>
                <a:latin typeface="Consolas"/>
              </a:rPr>
              <a:t>%</a:t>
            </a:r>
          </a:p>
        </p:txBody>
      </p:sp>
      <p:sp>
        <p:nvSpPr>
          <p:cNvPr id="13" name="TextBox 12"/>
          <p:cNvSpPr txBox="1"/>
          <p:nvPr/>
        </p:nvSpPr>
        <p:spPr>
          <a:xfrm>
            <a:off x="262554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REALITY STAYED UNDER</a:t>
            </a:r>
          </a:p>
          <a:p>
            <a:pPr algn="l">
              <a:lnSpc>
                <a:spcPct val="130000"/>
              </a:lnSpc>
              <a:spcBef>
                <a:spcPts val="0"/>
              </a:spcBef>
            </a:pPr>
            <a:r>
              <a:rPr sz="819" b="0" i="0">
                <a:solidFill>
                  <a:srgbClr val="6C7683"/>
                </a:solidFill>
                <a:latin typeface="Consolas"/>
              </a:rPr>
              <a:t>THE 90% BOUND</a:t>
            </a:r>
          </a:p>
        </p:txBody>
      </p:sp>
      <p:sp>
        <p:nvSpPr>
          <p:cNvPr id="14" name="Rectangle 13"/>
          <p:cNvSpPr/>
          <p:nvPr/>
        </p:nvSpPr>
        <p:spPr>
          <a:xfrm>
            <a:off x="430011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96.69</a:t>
            </a:r>
            <a:r>
              <a:rPr sz="950" b="0" i="0">
                <a:solidFill>
                  <a:srgbClr val="6C7683"/>
                </a:solidFill>
                <a:latin typeface="Consolas"/>
              </a:rPr>
              <a:t>%</a:t>
            </a:r>
          </a:p>
        </p:txBody>
      </p:sp>
      <p:sp>
        <p:nvSpPr>
          <p:cNvPr id="16" name="TextBox 15"/>
          <p:cNvSpPr txBox="1"/>
          <p:nvPr/>
        </p:nvSpPr>
        <p:spPr>
          <a:xfrm>
            <a:off x="444642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SAME, FOR THE</a:t>
            </a:r>
          </a:p>
          <a:p>
            <a:pPr algn="l">
              <a:lnSpc>
                <a:spcPct val="130000"/>
              </a:lnSpc>
              <a:spcBef>
                <a:spcPts val="0"/>
              </a:spcBef>
            </a:pPr>
            <a:r>
              <a:rPr sz="819" b="0" i="0">
                <a:solidFill>
                  <a:srgbClr val="6C7683"/>
                </a:solidFill>
                <a:latin typeface="Consolas"/>
              </a:rPr>
              <a:t>95% BOUND</a:t>
            </a:r>
          </a:p>
        </p:txBody>
      </p:sp>
      <p:sp>
        <p:nvSpPr>
          <p:cNvPr id="17" name="Rectangle 16"/>
          <p:cNvSpPr/>
          <p:nvPr/>
        </p:nvSpPr>
        <p:spPr>
          <a:xfrm>
            <a:off x="612099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2 304</a:t>
            </a:r>
          </a:p>
        </p:txBody>
      </p:sp>
      <p:sp>
        <p:nvSpPr>
          <p:cNvPr id="19" name="TextBox 18"/>
          <p:cNvSpPr txBox="1"/>
          <p:nvPr/>
        </p:nvSpPr>
        <p:spPr>
          <a:xfrm>
            <a:off x="626729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MODELS</a:t>
            </a:r>
          </a:p>
          <a:p>
            <a:pPr algn="l">
              <a:lnSpc>
                <a:spcPct val="130000"/>
              </a:lnSpc>
              <a:spcBef>
                <a:spcPts val="0"/>
              </a:spcBef>
            </a:pPr>
            <a:r>
              <a:rPr sz="819" b="0" i="0">
                <a:solidFill>
                  <a:srgbClr val="6C7683"/>
                </a:solidFill>
                <a:latin typeface="Consolas"/>
              </a:rPr>
              <a:t>TRAINED</a:t>
            </a:r>
          </a:p>
        </p:txBody>
      </p:sp>
      <p:sp>
        <p:nvSpPr>
          <p:cNvPr id="20" name="Rectangle 19"/>
          <p:cNvSpPr/>
          <p:nvPr/>
        </p:nvSpPr>
        <p:spPr>
          <a:xfrm>
            <a:off x="79418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1.55 M</a:t>
            </a:r>
          </a:p>
        </p:txBody>
      </p:sp>
      <p:sp>
        <p:nvSpPr>
          <p:cNvPr id="22" name="TextBox 21"/>
          <p:cNvSpPr txBox="1"/>
          <p:nvPr/>
        </p:nvSpPr>
        <p:spPr>
          <a:xfrm>
            <a:off x="80881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TRAINING</a:t>
            </a:r>
          </a:p>
          <a:p>
            <a:pPr algn="l">
              <a:lnSpc>
                <a:spcPct val="130000"/>
              </a:lnSpc>
              <a:spcBef>
                <a:spcPts val="0"/>
              </a:spcBef>
            </a:pPr>
            <a:r>
              <a:rPr sz="819" b="0" i="0">
                <a:solidFill>
                  <a:srgbClr val="6C7683"/>
                </a:solidFill>
                <a:latin typeface="Consolas"/>
              </a:rPr>
              <a:t>ROWS</a:t>
            </a:r>
          </a:p>
        </p:txBody>
      </p:sp>
      <p:sp>
        <p:nvSpPr>
          <p:cNvPr id="23" name="Rectangle 22"/>
          <p:cNvSpPr/>
          <p:nvPr/>
        </p:nvSpPr>
        <p:spPr>
          <a:xfrm>
            <a:off x="9762744"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44.4</a:t>
            </a:r>
            <a:r>
              <a:rPr sz="950" b="0" i="0">
                <a:solidFill>
                  <a:srgbClr val="6C7683"/>
                </a:solidFill>
                <a:latin typeface="Consolas"/>
              </a:rPr>
              <a:t>%</a:t>
            </a:r>
          </a:p>
        </p:txBody>
      </p:sp>
      <p:sp>
        <p:nvSpPr>
          <p:cNvPr id="25" name="TextBox 24"/>
          <p:cNvSpPr txBox="1"/>
          <p:nvPr/>
        </p:nvSpPr>
        <p:spPr>
          <a:xfrm>
            <a:off x="9909048"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BETTER THAN</a:t>
            </a:r>
          </a:p>
          <a:p>
            <a:pPr algn="l">
              <a:lnSpc>
                <a:spcPct val="130000"/>
              </a:lnSpc>
              <a:spcBef>
                <a:spcPts val="0"/>
              </a:spcBef>
            </a:pPr>
            <a:r>
              <a:rPr sz="819" b="0" i="0">
                <a:solidFill>
                  <a:srgbClr val="6C7683"/>
                </a:solidFill>
                <a:latin typeface="Consolas"/>
              </a:rPr>
              <a:t>“SAME AS YESTERDAY”</a:t>
            </a:r>
          </a:p>
        </p:txBody>
      </p:sp>
      <p:pic>
        <p:nvPicPr>
          <p:cNvPr id="26" name="Picture 25" descr="c_horizon.png"/>
          <p:cNvPicPr>
            <a:picLocks noChangeAspect="1"/>
          </p:cNvPicPr>
          <p:nvPr/>
        </p:nvPicPr>
        <p:blipFill>
          <a:blip r:embed="rId2"/>
          <a:stretch>
            <a:fillRect/>
          </a:stretch>
        </p:blipFill>
        <p:spPr>
          <a:xfrm>
            <a:off x="658368" y="3468116"/>
            <a:ext cx="6524975" cy="2273550"/>
          </a:xfrm>
          <a:prstGeom prst="rect">
            <a:avLst/>
          </a:prstGeom>
        </p:spPr>
      </p:pic>
      <p:sp>
        <p:nvSpPr>
          <p:cNvPr id="27" name="Rectangle 26"/>
          <p:cNvSpPr/>
          <p:nvPr/>
        </p:nvSpPr>
        <p:spPr>
          <a:xfrm>
            <a:off x="7509592" y="35732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2472" y="3504692"/>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Further ahead is harder</a:t>
            </a:r>
          </a:p>
        </p:txBody>
      </p:sp>
      <p:sp>
        <p:nvSpPr>
          <p:cNvPr id="29" name="TextBox 28"/>
          <p:cNvSpPr txBox="1"/>
          <p:nvPr/>
        </p:nvSpPr>
        <p:spPr>
          <a:xfrm>
            <a:off x="7692472" y="3751072"/>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Error rises from 4.48% at 10 minutes to 10.73% at 80 minutes.</a:t>
            </a:r>
          </a:p>
        </p:txBody>
      </p:sp>
      <p:sp>
        <p:nvSpPr>
          <p:cNvPr id="30" name="Rectangle 29"/>
          <p:cNvSpPr/>
          <p:nvPr/>
        </p:nvSpPr>
        <p:spPr>
          <a:xfrm>
            <a:off x="7509592" y="426496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09592" y="443412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2472" y="4365548"/>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But the safety bound holds</a:t>
            </a:r>
          </a:p>
        </p:txBody>
      </p:sp>
      <p:sp>
        <p:nvSpPr>
          <p:cNvPr id="33" name="TextBox 32"/>
          <p:cNvSpPr txBox="1"/>
          <p:nvPr/>
        </p:nvSpPr>
        <p:spPr>
          <a:xfrm>
            <a:off x="7692472" y="4611928"/>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stays inside its 85–95% target range at every horizon.</a:t>
            </a:r>
          </a:p>
        </p:txBody>
      </p:sp>
      <p:sp>
        <p:nvSpPr>
          <p:cNvPr id="34" name="Rectangle 33"/>
          <p:cNvSpPr/>
          <p:nvPr/>
        </p:nvSpPr>
        <p:spPr>
          <a:xfrm>
            <a:off x="7509592" y="512582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9592" y="5294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2472" y="5226405"/>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That second property is the one that matters</a:t>
            </a:r>
          </a:p>
        </p:txBody>
      </p:sp>
      <p:sp>
        <p:nvSpPr>
          <p:cNvPr id="37" name="TextBox 36"/>
          <p:cNvSpPr txBox="1"/>
          <p:nvPr/>
        </p:nvSpPr>
        <p:spPr>
          <a:xfrm>
            <a:off x="7692472" y="5472785"/>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The optimizer needs a bound it can still trust even where the point estimate gets shaky.</a:t>
            </a:r>
          </a:p>
        </p:txBody>
      </p:sp>
      <p:sp>
        <p:nvSpPr>
          <p:cNvPr id="38" name="TextBox 3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Against two simple baselines</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Same test rows, and each baseline is also restricted to information available at its own forecast time — so this is a fair fight.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309789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METHOD</a:t>
            </a:r>
          </a:p>
        </p:txBody>
      </p:sp>
      <p:sp>
        <p:nvSpPr>
          <p:cNvPr id="10" name="TextBox 9"/>
          <p:cNvSpPr txBox="1"/>
          <p:nvPr/>
        </p:nvSpPr>
        <p:spPr>
          <a:xfrm>
            <a:off x="4003151" y="2411984"/>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ERROR</a:t>
            </a:r>
          </a:p>
        </p:txBody>
      </p:sp>
      <p:sp>
        <p:nvSpPr>
          <p:cNvPr id="11" name="TextBox 10"/>
          <p:cNvSpPr txBox="1"/>
          <p:nvPr/>
        </p:nvSpPr>
        <p:spPr>
          <a:xfrm>
            <a:off x="5634395" y="2411984"/>
            <a:ext cx="16841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RIDGE IS BETTER BY</a:t>
            </a:r>
          </a:p>
        </p:txBody>
      </p:sp>
      <p:sp>
        <p:nvSpPr>
          <p:cNvPr id="12" name="TextBox 11"/>
          <p:cNvSpPr txBox="1"/>
          <p:nvPr/>
        </p:nvSpPr>
        <p:spPr>
          <a:xfrm>
            <a:off x="7483138"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@10 MIN</a:t>
            </a:r>
          </a:p>
        </p:txBody>
      </p:sp>
      <p:sp>
        <p:nvSpPr>
          <p:cNvPr id="13" name="TextBox 12"/>
          <p:cNvSpPr txBox="1"/>
          <p:nvPr/>
        </p:nvSpPr>
        <p:spPr>
          <a:xfrm>
            <a:off x="8788133"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@20 MIN</a:t>
            </a:r>
          </a:p>
        </p:txBody>
      </p:sp>
      <p:sp>
        <p:nvSpPr>
          <p:cNvPr id="14" name="TextBox 13"/>
          <p:cNvSpPr txBox="1"/>
          <p:nvPr/>
        </p:nvSpPr>
        <p:spPr>
          <a:xfrm>
            <a:off x="10093128" y="2411984"/>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@80 MIN</a:t>
            </a:r>
          </a:p>
        </p:txBody>
      </p:sp>
      <p:sp>
        <p:nvSpPr>
          <p:cNvPr id="15" name="Rectangle 14"/>
          <p:cNvSpPr/>
          <p:nvPr/>
        </p:nvSpPr>
        <p:spPr>
          <a:xfrm>
            <a:off x="658368" y="260858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608580"/>
            <a:ext cx="10874959"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2658872"/>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Our model (calendar ridge)</a:t>
            </a:r>
          </a:p>
        </p:txBody>
      </p:sp>
      <p:sp>
        <p:nvSpPr>
          <p:cNvPr id="18" name="TextBox 17"/>
          <p:cNvSpPr txBox="1"/>
          <p:nvPr/>
        </p:nvSpPr>
        <p:spPr>
          <a:xfrm>
            <a:off x="4003151" y="2658872"/>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a:t>
            </a:r>
          </a:p>
        </p:txBody>
      </p:sp>
      <p:sp>
        <p:nvSpPr>
          <p:cNvPr id="19" name="TextBox 18"/>
          <p:cNvSpPr txBox="1"/>
          <p:nvPr/>
        </p:nvSpPr>
        <p:spPr>
          <a:xfrm>
            <a:off x="5634395" y="2658872"/>
            <a:ext cx="16841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20" name="TextBox 19"/>
          <p:cNvSpPr txBox="1"/>
          <p:nvPr/>
        </p:nvSpPr>
        <p:spPr>
          <a:xfrm>
            <a:off x="7483138"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4.48%</a:t>
            </a:r>
          </a:p>
        </p:txBody>
      </p:sp>
      <p:sp>
        <p:nvSpPr>
          <p:cNvPr id="21" name="TextBox 20"/>
          <p:cNvSpPr txBox="1"/>
          <p:nvPr/>
        </p:nvSpPr>
        <p:spPr>
          <a:xfrm>
            <a:off x="8788133"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6.09%</a:t>
            </a:r>
          </a:p>
        </p:txBody>
      </p:sp>
      <p:sp>
        <p:nvSpPr>
          <p:cNvPr id="22" name="TextBox 21"/>
          <p:cNvSpPr txBox="1"/>
          <p:nvPr/>
        </p:nvSpPr>
        <p:spPr>
          <a:xfrm>
            <a:off x="10093128" y="2658872"/>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10.73%</a:t>
            </a:r>
          </a:p>
        </p:txBody>
      </p:sp>
      <p:sp>
        <p:nvSpPr>
          <p:cNvPr id="23" name="Rectangle 22"/>
          <p:cNvSpPr/>
          <p:nvPr/>
        </p:nvSpPr>
        <p:spPr>
          <a:xfrm>
            <a:off x="658368" y="290118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2901188"/>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2951480"/>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Average of last 6 windows</a:t>
            </a:r>
          </a:p>
        </p:txBody>
      </p:sp>
      <p:sp>
        <p:nvSpPr>
          <p:cNvPr id="26" name="TextBox 25"/>
          <p:cNvSpPr txBox="1"/>
          <p:nvPr/>
        </p:nvSpPr>
        <p:spPr>
          <a:xfrm>
            <a:off x="4003151" y="2951480"/>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14.30%</a:t>
            </a:r>
          </a:p>
        </p:txBody>
      </p:sp>
      <p:sp>
        <p:nvSpPr>
          <p:cNvPr id="27" name="TextBox 26"/>
          <p:cNvSpPr txBox="1"/>
          <p:nvPr/>
        </p:nvSpPr>
        <p:spPr>
          <a:xfrm>
            <a:off x="5634395" y="2951480"/>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46.68%</a:t>
            </a:r>
          </a:p>
        </p:txBody>
      </p:sp>
      <p:sp>
        <p:nvSpPr>
          <p:cNvPr id="28" name="TextBox 27"/>
          <p:cNvSpPr txBox="1"/>
          <p:nvPr/>
        </p:nvSpPr>
        <p:spPr>
          <a:xfrm>
            <a:off x="7483138"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7.58%</a:t>
            </a:r>
          </a:p>
        </p:txBody>
      </p:sp>
      <p:sp>
        <p:nvSpPr>
          <p:cNvPr id="29" name="TextBox 28"/>
          <p:cNvSpPr txBox="1"/>
          <p:nvPr/>
        </p:nvSpPr>
        <p:spPr>
          <a:xfrm>
            <a:off x="8788133"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9.46%</a:t>
            </a:r>
          </a:p>
        </p:txBody>
      </p:sp>
      <p:sp>
        <p:nvSpPr>
          <p:cNvPr id="30" name="TextBox 29"/>
          <p:cNvSpPr txBox="1"/>
          <p:nvPr/>
        </p:nvSpPr>
        <p:spPr>
          <a:xfrm>
            <a:off x="10093128" y="2951480"/>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20.84%</a:t>
            </a:r>
          </a:p>
        </p:txBody>
      </p:sp>
      <p:sp>
        <p:nvSpPr>
          <p:cNvPr id="31" name="Rectangle 30"/>
          <p:cNvSpPr/>
          <p:nvPr/>
        </p:nvSpPr>
        <p:spPr>
          <a:xfrm>
            <a:off x="658368" y="319379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 y="3244088"/>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Same time yesterday</a:t>
            </a:r>
          </a:p>
        </p:txBody>
      </p:sp>
      <p:sp>
        <p:nvSpPr>
          <p:cNvPr id="33" name="TextBox 32"/>
          <p:cNvSpPr txBox="1"/>
          <p:nvPr/>
        </p:nvSpPr>
        <p:spPr>
          <a:xfrm>
            <a:off x="4003151" y="3244088"/>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13.71%</a:t>
            </a:r>
          </a:p>
        </p:txBody>
      </p:sp>
      <p:sp>
        <p:nvSpPr>
          <p:cNvPr id="34" name="TextBox 33"/>
          <p:cNvSpPr txBox="1"/>
          <p:nvPr/>
        </p:nvSpPr>
        <p:spPr>
          <a:xfrm>
            <a:off x="5634395" y="3244088"/>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44.36%</a:t>
            </a:r>
          </a:p>
        </p:txBody>
      </p:sp>
      <p:sp>
        <p:nvSpPr>
          <p:cNvPr id="35" name="TextBox 34"/>
          <p:cNvSpPr txBox="1"/>
          <p:nvPr/>
        </p:nvSpPr>
        <p:spPr>
          <a:xfrm>
            <a:off x="7483138"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6" name="TextBox 35"/>
          <p:cNvSpPr txBox="1"/>
          <p:nvPr/>
        </p:nvSpPr>
        <p:spPr>
          <a:xfrm>
            <a:off x="8788133"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7" name="TextBox 36"/>
          <p:cNvSpPr txBox="1"/>
          <p:nvPr/>
        </p:nvSpPr>
        <p:spPr>
          <a:xfrm>
            <a:off x="10093128" y="3244088"/>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21.88%</a:t>
            </a:r>
          </a:p>
        </p:txBody>
      </p:sp>
      <p:sp>
        <p:nvSpPr>
          <p:cNvPr id="38" name="Rectangle 37"/>
          <p:cNvSpPr/>
          <p:nvPr/>
        </p:nvSpPr>
        <p:spPr>
          <a:xfrm>
            <a:off x="658368" y="34864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2334260"/>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54126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3541268"/>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3687572"/>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ONE CAVEAT WE SHOULD BE UPFRONT ABOUT</a:t>
            </a:r>
          </a:p>
        </p:txBody>
      </p:sp>
      <p:sp>
        <p:nvSpPr>
          <p:cNvPr id="43" name="TextBox 42"/>
          <p:cNvSpPr txBox="1"/>
          <p:nvPr/>
        </p:nvSpPr>
        <p:spPr>
          <a:xfrm>
            <a:off x="896112" y="394360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Sessions, uplink and downlink all report the same 7.63% error. Not because the model learned three things well — because the older simulator calculated uplink and downlink by multiplying session count by a fixed number. They are the same series in different units. The newer traffic model gives every session its own bandwidth draw, and it needs to become the default before we claim anything about predicting throughput.</a:t>
            </a:r>
          </a:p>
        </p:txBody>
      </p:sp>
      <p:sp>
        <p:nvSpPr>
          <p:cNvPr id="44" name="TextBox 4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Five model families, head to head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set the bar before running anything: beat the best simple baseline by 15%, keep the safety bound inside 88–95%, improve peak underprediction by 20%, and let no slice of the data get more than 5% worse.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pic>
        <p:nvPicPr>
          <p:cNvPr id="8" name="Picture 7" descr="c_famwape.png"/>
          <p:cNvPicPr>
            <a:picLocks noChangeAspect="1"/>
          </p:cNvPicPr>
          <p:nvPr/>
        </p:nvPicPr>
        <p:blipFill>
          <a:blip r:embed="rId2"/>
          <a:stretch>
            <a:fillRect/>
          </a:stretch>
        </p:blipFill>
        <p:spPr>
          <a:xfrm>
            <a:off x="658368" y="2550414"/>
            <a:ext cx="6307476" cy="2152314"/>
          </a:xfrm>
          <a:prstGeom prst="rect">
            <a:avLst/>
          </a:prstGeom>
        </p:spPr>
      </p:pic>
      <p:sp>
        <p:nvSpPr>
          <p:cNvPr id="9" name="Rectangle 8"/>
          <p:cNvSpPr/>
          <p:nvPr/>
        </p:nvSpPr>
        <p:spPr>
          <a:xfrm>
            <a:off x="7292093"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4973" y="2586990"/>
            <a:ext cx="40583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The two boosting models won</a:t>
            </a:r>
          </a:p>
        </p:txBody>
      </p:sp>
      <p:sp>
        <p:nvSpPr>
          <p:cNvPr id="11" name="TextBox 10"/>
          <p:cNvSpPr txBox="1"/>
          <p:nvPr/>
        </p:nvSpPr>
        <p:spPr>
          <a:xfrm>
            <a:off x="7474973" y="2833370"/>
            <a:ext cx="40583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and still missed the 15% bar by about 3.4 percentage points.</a:t>
            </a:r>
          </a:p>
        </p:txBody>
      </p:sp>
      <p:sp>
        <p:nvSpPr>
          <p:cNvPr id="12" name="Rectangle 11"/>
          <p:cNvSpPr/>
          <p:nvPr/>
        </p:nvSpPr>
        <p:spPr>
          <a:xfrm>
            <a:off x="7292093" y="334726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92093" y="35164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4973" y="3447846"/>
            <a:ext cx="4058354" cy="465328"/>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The regime-switching model is the interesting failure</a:t>
            </a:r>
          </a:p>
        </p:txBody>
      </p:sp>
      <p:sp>
        <p:nvSpPr>
          <p:cNvPr id="15" name="TextBox 14"/>
          <p:cNvSpPr txBox="1"/>
          <p:nvPr/>
        </p:nvSpPr>
        <p:spPr>
          <a:xfrm>
            <a:off x="7474973" y="3881170"/>
            <a:ext cx="4058354" cy="826617"/>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detects a surge and switches models. Best surge performance by far — 64% better at catching peaks — but 601% worse on its worst data slice and 20% worse overall.</a:t>
            </a:r>
          </a:p>
        </p:txBody>
      </p:sp>
      <p:sp>
        <p:nvSpPr>
          <p:cNvPr id="16" name="Rectangle 15"/>
          <p:cNvSpPr/>
          <p:nvPr/>
        </p:nvSpPr>
        <p:spPr>
          <a:xfrm>
            <a:off x="7292093" y="476265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92093" y="493181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4973" y="4863236"/>
            <a:ext cx="40583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Tuning hard for the rare event</a:t>
            </a:r>
          </a:p>
        </p:txBody>
      </p:sp>
      <p:sp>
        <p:nvSpPr>
          <p:cNvPr id="19" name="TextBox 18"/>
          <p:cNvSpPr txBox="1"/>
          <p:nvPr/>
        </p:nvSpPr>
        <p:spPr>
          <a:xfrm>
            <a:off x="7474973" y="5109616"/>
            <a:ext cx="4058354" cy="275234"/>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wrecked the ordinary case.</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family, every check</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517904"/>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595628"/>
            <a:ext cx="28206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MODEL FAMILY</a:t>
            </a:r>
          </a:p>
        </p:txBody>
      </p:sp>
      <p:sp>
        <p:nvSpPr>
          <p:cNvPr id="9" name="TextBox 8"/>
          <p:cNvSpPr txBox="1"/>
          <p:nvPr/>
        </p:nvSpPr>
        <p:spPr>
          <a:xfrm>
            <a:off x="3725946" y="1595628"/>
            <a:ext cx="10081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0" name="TextBox 9"/>
          <p:cNvSpPr txBox="1"/>
          <p:nvPr/>
        </p:nvSpPr>
        <p:spPr>
          <a:xfrm>
            <a:off x="4898736" y="1595628"/>
            <a:ext cx="122143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VS BASELINE</a:t>
            </a:r>
          </a:p>
        </p:txBody>
      </p:sp>
      <p:sp>
        <p:nvSpPr>
          <p:cNvPr id="11" name="TextBox 10"/>
          <p:cNvSpPr txBox="1"/>
          <p:nvPr/>
        </p:nvSpPr>
        <p:spPr>
          <a:xfrm>
            <a:off x="6284760" y="1595628"/>
            <a:ext cx="122143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BOUND HOLDS</a:t>
            </a:r>
          </a:p>
        </p:txBody>
      </p:sp>
      <p:sp>
        <p:nvSpPr>
          <p:cNvPr id="12" name="TextBox 11"/>
          <p:cNvSpPr txBox="1"/>
          <p:nvPr/>
        </p:nvSpPr>
        <p:spPr>
          <a:xfrm>
            <a:off x="7670785" y="1595628"/>
            <a:ext cx="143466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PEAK UNDERPRED.</a:t>
            </a:r>
          </a:p>
        </p:txBody>
      </p:sp>
      <p:sp>
        <p:nvSpPr>
          <p:cNvPr id="13" name="TextBox 12"/>
          <p:cNvSpPr txBox="1"/>
          <p:nvPr/>
        </p:nvSpPr>
        <p:spPr>
          <a:xfrm>
            <a:off x="9270043" y="1595628"/>
            <a:ext cx="111481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SLICE</a:t>
            </a:r>
          </a:p>
        </p:txBody>
      </p:sp>
      <p:sp>
        <p:nvSpPr>
          <p:cNvPr id="14" name="TextBox 13"/>
          <p:cNvSpPr txBox="1"/>
          <p:nvPr/>
        </p:nvSpPr>
        <p:spPr>
          <a:xfrm>
            <a:off x="10549450" y="1595628"/>
            <a:ext cx="90158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RELEASED?</a:t>
            </a:r>
          </a:p>
        </p:txBody>
      </p:sp>
      <p:sp>
        <p:nvSpPr>
          <p:cNvPr id="15" name="Rectangle 14"/>
          <p:cNvSpPr/>
          <p:nvPr/>
        </p:nvSpPr>
        <p:spPr>
          <a:xfrm>
            <a:off x="658368" y="1792224"/>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1792224"/>
            <a:ext cx="10874959"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184251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LightGBM</a:t>
            </a:r>
          </a:p>
        </p:txBody>
      </p:sp>
      <p:sp>
        <p:nvSpPr>
          <p:cNvPr id="18" name="TextBox 17"/>
          <p:cNvSpPr txBox="1"/>
          <p:nvPr/>
        </p:nvSpPr>
        <p:spPr>
          <a:xfrm>
            <a:off x="3725946" y="184251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12.512%</a:t>
            </a:r>
          </a:p>
        </p:txBody>
      </p:sp>
      <p:sp>
        <p:nvSpPr>
          <p:cNvPr id="19" name="TextBox 18"/>
          <p:cNvSpPr txBox="1"/>
          <p:nvPr/>
        </p:nvSpPr>
        <p:spPr>
          <a:xfrm>
            <a:off x="4898736" y="184251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+11.64%</a:t>
            </a:r>
          </a:p>
        </p:txBody>
      </p:sp>
      <p:sp>
        <p:nvSpPr>
          <p:cNvPr id="20" name="TextBox 19"/>
          <p:cNvSpPr txBox="1"/>
          <p:nvPr/>
        </p:nvSpPr>
        <p:spPr>
          <a:xfrm>
            <a:off x="6284760" y="184251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21" name="TextBox 20"/>
          <p:cNvSpPr txBox="1"/>
          <p:nvPr/>
        </p:nvSpPr>
        <p:spPr>
          <a:xfrm>
            <a:off x="7670785" y="184251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+27.5%</a:t>
            </a:r>
          </a:p>
        </p:txBody>
      </p:sp>
      <p:sp>
        <p:nvSpPr>
          <p:cNvPr id="22" name="TextBox 21"/>
          <p:cNvSpPr txBox="1"/>
          <p:nvPr/>
        </p:nvSpPr>
        <p:spPr>
          <a:xfrm>
            <a:off x="9270043" y="184251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+14.70%</a:t>
            </a:r>
          </a:p>
        </p:txBody>
      </p:sp>
      <p:sp>
        <p:nvSpPr>
          <p:cNvPr id="23" name="TextBox 22"/>
          <p:cNvSpPr txBox="1"/>
          <p:nvPr/>
        </p:nvSpPr>
        <p:spPr>
          <a:xfrm>
            <a:off x="10549450" y="184251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24" name="Rectangle 23"/>
          <p:cNvSpPr/>
          <p:nvPr/>
        </p:nvSpPr>
        <p:spPr>
          <a:xfrm>
            <a:off x="658368" y="20665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06654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211683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Histogram gradient boosting</a:t>
            </a:r>
          </a:p>
        </p:txBody>
      </p:sp>
      <p:sp>
        <p:nvSpPr>
          <p:cNvPr id="27" name="TextBox 26"/>
          <p:cNvSpPr txBox="1"/>
          <p:nvPr/>
        </p:nvSpPr>
        <p:spPr>
          <a:xfrm>
            <a:off x="3725946" y="211683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12.513%</a:t>
            </a:r>
          </a:p>
        </p:txBody>
      </p:sp>
      <p:sp>
        <p:nvSpPr>
          <p:cNvPr id="28" name="TextBox 27"/>
          <p:cNvSpPr txBox="1"/>
          <p:nvPr/>
        </p:nvSpPr>
        <p:spPr>
          <a:xfrm>
            <a:off x="4898736" y="211683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+11.63%</a:t>
            </a:r>
          </a:p>
        </p:txBody>
      </p:sp>
      <p:sp>
        <p:nvSpPr>
          <p:cNvPr id="29" name="TextBox 28"/>
          <p:cNvSpPr txBox="1"/>
          <p:nvPr/>
        </p:nvSpPr>
        <p:spPr>
          <a:xfrm>
            <a:off x="6284760" y="211683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30" name="TextBox 29"/>
          <p:cNvSpPr txBox="1"/>
          <p:nvPr/>
        </p:nvSpPr>
        <p:spPr>
          <a:xfrm>
            <a:off x="7670785" y="211683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+27.4%</a:t>
            </a:r>
          </a:p>
        </p:txBody>
      </p:sp>
      <p:sp>
        <p:nvSpPr>
          <p:cNvPr id="31" name="TextBox 30"/>
          <p:cNvSpPr txBox="1"/>
          <p:nvPr/>
        </p:nvSpPr>
        <p:spPr>
          <a:xfrm>
            <a:off x="9270043" y="211683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+14.34%</a:t>
            </a:r>
          </a:p>
        </p:txBody>
      </p:sp>
      <p:sp>
        <p:nvSpPr>
          <p:cNvPr id="32" name="TextBox 31"/>
          <p:cNvSpPr txBox="1"/>
          <p:nvPr/>
        </p:nvSpPr>
        <p:spPr>
          <a:xfrm>
            <a:off x="10549450" y="211683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33" name="Rectangle 32"/>
          <p:cNvSpPr/>
          <p:nvPr/>
        </p:nvSpPr>
        <p:spPr>
          <a:xfrm>
            <a:off x="658368" y="234086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239115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Calendar ridge (current)</a:t>
            </a:r>
          </a:p>
        </p:txBody>
      </p:sp>
      <p:sp>
        <p:nvSpPr>
          <p:cNvPr id="35" name="TextBox 34"/>
          <p:cNvSpPr txBox="1"/>
          <p:nvPr/>
        </p:nvSpPr>
        <p:spPr>
          <a:xfrm>
            <a:off x="3725946" y="239115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12.729%</a:t>
            </a:r>
          </a:p>
        </p:txBody>
      </p:sp>
      <p:sp>
        <p:nvSpPr>
          <p:cNvPr id="36" name="TextBox 35"/>
          <p:cNvSpPr txBox="1"/>
          <p:nvPr/>
        </p:nvSpPr>
        <p:spPr>
          <a:xfrm>
            <a:off x="4898736" y="239115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+10.11%</a:t>
            </a:r>
          </a:p>
        </p:txBody>
      </p:sp>
      <p:sp>
        <p:nvSpPr>
          <p:cNvPr id="37" name="TextBox 36"/>
          <p:cNvSpPr txBox="1"/>
          <p:nvPr/>
        </p:nvSpPr>
        <p:spPr>
          <a:xfrm>
            <a:off x="6284760" y="239115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93.60%</a:t>
            </a:r>
          </a:p>
        </p:txBody>
      </p:sp>
      <p:sp>
        <p:nvSpPr>
          <p:cNvPr id="38" name="TextBox 37"/>
          <p:cNvSpPr txBox="1"/>
          <p:nvPr/>
        </p:nvSpPr>
        <p:spPr>
          <a:xfrm>
            <a:off x="7670785" y="2391156"/>
            <a:ext cx="1434666"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a:t>
            </a:r>
          </a:p>
        </p:txBody>
      </p:sp>
      <p:sp>
        <p:nvSpPr>
          <p:cNvPr id="39" name="TextBox 38"/>
          <p:cNvSpPr txBox="1"/>
          <p:nvPr/>
        </p:nvSpPr>
        <p:spPr>
          <a:xfrm>
            <a:off x="9270043" y="239115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+11.39%</a:t>
            </a:r>
          </a:p>
        </p:txBody>
      </p:sp>
      <p:sp>
        <p:nvSpPr>
          <p:cNvPr id="40" name="TextBox 39"/>
          <p:cNvSpPr txBox="1"/>
          <p:nvPr/>
        </p:nvSpPr>
        <p:spPr>
          <a:xfrm>
            <a:off x="10549450" y="239115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41" name="Rectangle 40"/>
          <p:cNvSpPr/>
          <p:nvPr/>
        </p:nvSpPr>
        <p:spPr>
          <a:xfrm>
            <a:off x="658368" y="261518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 y="261518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266547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Ridge v2</a:t>
            </a:r>
          </a:p>
        </p:txBody>
      </p:sp>
      <p:sp>
        <p:nvSpPr>
          <p:cNvPr id="44" name="TextBox 43"/>
          <p:cNvSpPr txBox="1"/>
          <p:nvPr/>
        </p:nvSpPr>
        <p:spPr>
          <a:xfrm>
            <a:off x="3725946" y="266547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12.846%</a:t>
            </a:r>
          </a:p>
        </p:txBody>
      </p:sp>
      <p:sp>
        <p:nvSpPr>
          <p:cNvPr id="45" name="TextBox 44"/>
          <p:cNvSpPr txBox="1"/>
          <p:nvPr/>
        </p:nvSpPr>
        <p:spPr>
          <a:xfrm>
            <a:off x="4898736" y="266547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+9.28%</a:t>
            </a:r>
          </a:p>
        </p:txBody>
      </p:sp>
      <p:sp>
        <p:nvSpPr>
          <p:cNvPr id="46" name="TextBox 45"/>
          <p:cNvSpPr txBox="1"/>
          <p:nvPr/>
        </p:nvSpPr>
        <p:spPr>
          <a:xfrm>
            <a:off x="6284760" y="266547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94.39%</a:t>
            </a:r>
          </a:p>
        </p:txBody>
      </p:sp>
      <p:sp>
        <p:nvSpPr>
          <p:cNvPr id="47" name="TextBox 46"/>
          <p:cNvSpPr txBox="1"/>
          <p:nvPr/>
        </p:nvSpPr>
        <p:spPr>
          <a:xfrm>
            <a:off x="7670785" y="266547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+25.8%</a:t>
            </a:r>
          </a:p>
        </p:txBody>
      </p:sp>
      <p:sp>
        <p:nvSpPr>
          <p:cNvPr id="48" name="TextBox 47"/>
          <p:cNvSpPr txBox="1"/>
          <p:nvPr/>
        </p:nvSpPr>
        <p:spPr>
          <a:xfrm>
            <a:off x="9270043" y="266547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+12.42%</a:t>
            </a:r>
          </a:p>
        </p:txBody>
      </p:sp>
      <p:sp>
        <p:nvSpPr>
          <p:cNvPr id="49" name="TextBox 48"/>
          <p:cNvSpPr txBox="1"/>
          <p:nvPr/>
        </p:nvSpPr>
        <p:spPr>
          <a:xfrm>
            <a:off x="10549450" y="266547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0" name="Rectangle 49"/>
          <p:cNvSpPr/>
          <p:nvPr/>
        </p:nvSpPr>
        <p:spPr>
          <a:xfrm>
            <a:off x="658368" y="28895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 y="293979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Regime-switching ensemble</a:t>
            </a:r>
          </a:p>
        </p:txBody>
      </p:sp>
      <p:sp>
        <p:nvSpPr>
          <p:cNvPr id="52" name="TextBox 51"/>
          <p:cNvSpPr txBox="1"/>
          <p:nvPr/>
        </p:nvSpPr>
        <p:spPr>
          <a:xfrm>
            <a:off x="3725946" y="293979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17.017%</a:t>
            </a:r>
          </a:p>
        </p:txBody>
      </p:sp>
      <p:sp>
        <p:nvSpPr>
          <p:cNvPr id="53" name="TextBox 52"/>
          <p:cNvSpPr txBox="1"/>
          <p:nvPr/>
        </p:nvSpPr>
        <p:spPr>
          <a:xfrm>
            <a:off x="4898736" y="2939796"/>
            <a:ext cx="1221432"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−20.18%</a:t>
            </a:r>
          </a:p>
        </p:txBody>
      </p:sp>
      <p:sp>
        <p:nvSpPr>
          <p:cNvPr id="54" name="TextBox 53"/>
          <p:cNvSpPr txBox="1"/>
          <p:nvPr/>
        </p:nvSpPr>
        <p:spPr>
          <a:xfrm>
            <a:off x="6284760" y="293979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94.81%</a:t>
            </a:r>
          </a:p>
        </p:txBody>
      </p:sp>
      <p:sp>
        <p:nvSpPr>
          <p:cNvPr id="55" name="TextBox 54"/>
          <p:cNvSpPr txBox="1"/>
          <p:nvPr/>
        </p:nvSpPr>
        <p:spPr>
          <a:xfrm>
            <a:off x="7670785" y="293979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+64.2%</a:t>
            </a:r>
          </a:p>
        </p:txBody>
      </p:sp>
      <p:sp>
        <p:nvSpPr>
          <p:cNvPr id="56" name="TextBox 55"/>
          <p:cNvSpPr txBox="1"/>
          <p:nvPr/>
        </p:nvSpPr>
        <p:spPr>
          <a:xfrm>
            <a:off x="9270043" y="293979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+601.7%</a:t>
            </a:r>
          </a:p>
        </p:txBody>
      </p:sp>
      <p:sp>
        <p:nvSpPr>
          <p:cNvPr id="57" name="TextBox 56"/>
          <p:cNvSpPr txBox="1"/>
          <p:nvPr/>
        </p:nvSpPr>
        <p:spPr>
          <a:xfrm>
            <a:off x="10549450" y="293979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8" name="Rectangle 57"/>
          <p:cNvSpPr/>
          <p:nvPr/>
        </p:nvSpPr>
        <p:spPr>
          <a:xfrm>
            <a:off x="658368" y="316382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58368" y="1517904"/>
            <a:ext cx="10874959" cy="164591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c_gatesf.png"/>
          <p:cNvPicPr>
            <a:picLocks noChangeAspect="1"/>
          </p:cNvPicPr>
          <p:nvPr/>
        </p:nvPicPr>
        <p:blipFill>
          <a:blip r:embed="rId2"/>
          <a:stretch>
            <a:fillRect/>
          </a:stretch>
        </p:blipFill>
        <p:spPr>
          <a:xfrm>
            <a:off x="658368" y="3346704"/>
            <a:ext cx="6307476" cy="1639231"/>
          </a:xfrm>
          <a:prstGeom prst="rect">
            <a:avLst/>
          </a:prstGeom>
        </p:spPr>
      </p:pic>
      <p:sp>
        <p:nvSpPr>
          <p:cNvPr id="61" name="Rectangle 60"/>
          <p:cNvSpPr/>
          <p:nvPr/>
        </p:nvSpPr>
        <p:spPr>
          <a:xfrm>
            <a:off x="7400842" y="3566160"/>
            <a:ext cx="4132484"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00842" y="3566160"/>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38586" y="3712463"/>
            <a:ext cx="367528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PASSED</a:t>
            </a:r>
          </a:p>
        </p:txBody>
      </p:sp>
      <p:sp>
        <p:nvSpPr>
          <p:cNvPr id="64" name="TextBox 63"/>
          <p:cNvSpPr txBox="1"/>
          <p:nvPr/>
        </p:nvSpPr>
        <p:spPr>
          <a:xfrm>
            <a:off x="7638586" y="3968496"/>
            <a:ext cx="3629564"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No model has a full column, so none was released and the locked test data was never opened. That is the rule working as intended — not an experiment left unfinished.</a:t>
            </a:r>
          </a:p>
        </p:txBody>
      </p:sp>
      <p:sp>
        <p:nvSpPr>
          <p:cNvPr id="65" name="TextBox 64"/>
          <p:cNvSpPr txBox="1"/>
          <p:nvPr/>
        </p:nvSpPr>
        <p:spPr>
          <a:xfrm>
            <a:off x="658368" y="3035808"/>
            <a:ext cx="10874959" cy="201168"/>
          </a:xfrm>
          <a:prstGeom prst="rect">
            <a:avLst/>
          </a:prstGeom>
          <a:noFill/>
        </p:spPr>
        <p:txBody>
          <a:bodyPr wrap="square" anchor="t" lIns="0" rIns="0" tIns="0" bIns="0">
            <a:spAutoFit/>
          </a:bodyPr>
          <a:lstStyle/>
          <a:p>
            <a:pPr algn="l">
              <a:lnSpc>
                <a:spcPct val="130000"/>
              </a:lnSpc>
            </a:pPr>
            <a:r>
              <a:rPr sz="960" b="0" i="0">
                <a:solidFill>
                  <a:srgbClr val="6C7683"/>
                </a:solidFill>
                <a:latin typeface="Segoe UI"/>
              </a:rPr>
              <a:t>384 models trained, 384 calibrated, 480 result files, plus 96 independent audit jobs that reloaded every model through the real production loading code.</a:t>
            </a:r>
          </a:p>
        </p:txBody>
      </p:sp>
      <p:sp>
        <p:nvSpPr>
          <p:cNvPr id="66" name="TextBox 6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FAILURE MODE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Where the forecaster actually falls over</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overall average hides the failure that matters. Same model, same day, split by what was happening at the time.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7829970"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24975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SITUATION</a:t>
            </a:r>
          </a:p>
        </p:txBody>
      </p:sp>
      <p:sp>
        <p:nvSpPr>
          <p:cNvPr id="10" name="TextBox 9"/>
          <p:cNvSpPr txBox="1"/>
          <p:nvPr/>
        </p:nvSpPr>
        <p:spPr>
          <a:xfrm>
            <a:off x="3402854" y="2411984"/>
            <a:ext cx="10882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1" name="TextBox 10"/>
          <p:cNvSpPr txBox="1"/>
          <p:nvPr/>
        </p:nvSpPr>
        <p:spPr>
          <a:xfrm>
            <a:off x="4655649" y="2411984"/>
            <a:ext cx="14014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PER-GROUP ERROR</a:t>
            </a:r>
          </a:p>
        </p:txBody>
      </p:sp>
      <p:sp>
        <p:nvSpPr>
          <p:cNvPr id="12" name="TextBox 11"/>
          <p:cNvSpPr txBox="1"/>
          <p:nvPr/>
        </p:nvSpPr>
        <p:spPr>
          <a:xfrm>
            <a:off x="6221643"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90% BOUND HOLDS</a:t>
            </a:r>
          </a:p>
        </p:txBody>
      </p:sp>
      <p:sp>
        <p:nvSpPr>
          <p:cNvPr id="13" name="TextBox 12"/>
          <p:cNvSpPr txBox="1"/>
          <p:nvPr/>
        </p:nvSpPr>
        <p:spPr>
          <a:xfrm>
            <a:off x="7396139"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BOUND HOLDS</a:t>
            </a:r>
          </a:p>
        </p:txBody>
      </p:sp>
      <p:sp>
        <p:nvSpPr>
          <p:cNvPr id="14" name="Rectangle 13"/>
          <p:cNvSpPr/>
          <p:nvPr/>
        </p:nvSpPr>
        <p:spPr>
          <a:xfrm>
            <a:off x="658368" y="2608580"/>
            <a:ext cx="7829970"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658872"/>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Normal</a:t>
            </a:r>
          </a:p>
        </p:txBody>
      </p:sp>
      <p:sp>
        <p:nvSpPr>
          <p:cNvPr id="16" name="TextBox 15"/>
          <p:cNvSpPr txBox="1"/>
          <p:nvPr/>
        </p:nvSpPr>
        <p:spPr>
          <a:xfrm>
            <a:off x="3402854" y="2658872"/>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6.51%</a:t>
            </a:r>
          </a:p>
        </p:txBody>
      </p:sp>
      <p:sp>
        <p:nvSpPr>
          <p:cNvPr id="17" name="TextBox 16"/>
          <p:cNvSpPr txBox="1"/>
          <p:nvPr/>
        </p:nvSpPr>
        <p:spPr>
          <a:xfrm>
            <a:off x="4655649" y="2658872"/>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6.26%</a:t>
            </a:r>
          </a:p>
        </p:txBody>
      </p:sp>
      <p:sp>
        <p:nvSpPr>
          <p:cNvPr id="18" name="TextBox 17"/>
          <p:cNvSpPr txBox="1"/>
          <p:nvPr/>
        </p:nvSpPr>
        <p:spPr>
          <a:xfrm>
            <a:off x="6221643"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94.19%</a:t>
            </a:r>
          </a:p>
        </p:txBody>
      </p:sp>
      <p:sp>
        <p:nvSpPr>
          <p:cNvPr id="19" name="TextBox 18"/>
          <p:cNvSpPr txBox="1"/>
          <p:nvPr/>
        </p:nvSpPr>
        <p:spPr>
          <a:xfrm>
            <a:off x="7396139"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96.71%</a:t>
            </a:r>
          </a:p>
        </p:txBody>
      </p:sp>
      <p:sp>
        <p:nvSpPr>
          <p:cNvPr id="20" name="Rectangle 19"/>
          <p:cNvSpPr/>
          <p:nvPr/>
        </p:nvSpPr>
        <p:spPr>
          <a:xfrm>
            <a:off x="658368" y="2901188"/>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2901188"/>
            <a:ext cx="7829970"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951480"/>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surge</a:t>
            </a:r>
          </a:p>
        </p:txBody>
      </p:sp>
      <p:sp>
        <p:nvSpPr>
          <p:cNvPr id="23" name="TextBox 22"/>
          <p:cNvSpPr txBox="1"/>
          <p:nvPr/>
        </p:nvSpPr>
        <p:spPr>
          <a:xfrm>
            <a:off x="3402854" y="2951480"/>
            <a:ext cx="10882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11.08%</a:t>
            </a:r>
          </a:p>
        </p:txBody>
      </p:sp>
      <p:sp>
        <p:nvSpPr>
          <p:cNvPr id="24" name="TextBox 23"/>
          <p:cNvSpPr txBox="1"/>
          <p:nvPr/>
        </p:nvSpPr>
        <p:spPr>
          <a:xfrm>
            <a:off x="4655649" y="2951480"/>
            <a:ext cx="1401402"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11.02%</a:t>
            </a:r>
          </a:p>
        </p:txBody>
      </p:sp>
      <p:sp>
        <p:nvSpPr>
          <p:cNvPr id="25" name="TextBox 24"/>
          <p:cNvSpPr txBox="1"/>
          <p:nvPr/>
        </p:nvSpPr>
        <p:spPr>
          <a:xfrm>
            <a:off x="6221643"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30.73%</a:t>
            </a:r>
          </a:p>
        </p:txBody>
      </p:sp>
      <p:sp>
        <p:nvSpPr>
          <p:cNvPr id="26" name="TextBox 25"/>
          <p:cNvSpPr txBox="1"/>
          <p:nvPr/>
        </p:nvSpPr>
        <p:spPr>
          <a:xfrm>
            <a:off x="7396139"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37.85%</a:t>
            </a:r>
          </a:p>
        </p:txBody>
      </p:sp>
      <p:sp>
        <p:nvSpPr>
          <p:cNvPr id="27" name="Rectangle 26"/>
          <p:cNvSpPr/>
          <p:nvPr/>
        </p:nvSpPr>
        <p:spPr>
          <a:xfrm>
            <a:off x="658368" y="3193796"/>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44088"/>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at reduced capacity</a:t>
            </a:r>
          </a:p>
        </p:txBody>
      </p:sp>
      <p:sp>
        <p:nvSpPr>
          <p:cNvPr id="29" name="TextBox 28"/>
          <p:cNvSpPr txBox="1"/>
          <p:nvPr/>
        </p:nvSpPr>
        <p:spPr>
          <a:xfrm>
            <a:off x="3402854" y="3244088"/>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5.09%</a:t>
            </a:r>
          </a:p>
        </p:txBody>
      </p:sp>
      <p:sp>
        <p:nvSpPr>
          <p:cNvPr id="30" name="TextBox 29"/>
          <p:cNvSpPr txBox="1"/>
          <p:nvPr/>
        </p:nvSpPr>
        <p:spPr>
          <a:xfrm>
            <a:off x="4655649" y="3244088"/>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5.73%</a:t>
            </a:r>
          </a:p>
        </p:txBody>
      </p:sp>
      <p:sp>
        <p:nvSpPr>
          <p:cNvPr id="31" name="TextBox 30"/>
          <p:cNvSpPr txBox="1"/>
          <p:nvPr/>
        </p:nvSpPr>
        <p:spPr>
          <a:xfrm>
            <a:off x="6221643"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87.88%</a:t>
            </a:r>
          </a:p>
        </p:txBody>
      </p:sp>
      <p:sp>
        <p:nvSpPr>
          <p:cNvPr id="32" name="TextBox 31"/>
          <p:cNvSpPr txBox="1"/>
          <p:nvPr/>
        </p:nvSpPr>
        <p:spPr>
          <a:xfrm>
            <a:off x="7396139"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91.96%</a:t>
            </a:r>
          </a:p>
        </p:txBody>
      </p:sp>
      <p:sp>
        <p:nvSpPr>
          <p:cNvPr id="33" name="Rectangle 32"/>
          <p:cNvSpPr/>
          <p:nvPr/>
        </p:nvSpPr>
        <p:spPr>
          <a:xfrm>
            <a:off x="658368" y="3486403"/>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486403"/>
            <a:ext cx="782997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536696"/>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nearly offline</a:t>
            </a:r>
          </a:p>
        </p:txBody>
      </p:sp>
      <p:sp>
        <p:nvSpPr>
          <p:cNvPr id="36" name="TextBox 35"/>
          <p:cNvSpPr txBox="1"/>
          <p:nvPr/>
        </p:nvSpPr>
        <p:spPr>
          <a:xfrm>
            <a:off x="3402854" y="3536696"/>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5.29%</a:t>
            </a:r>
          </a:p>
        </p:txBody>
      </p:sp>
      <p:sp>
        <p:nvSpPr>
          <p:cNvPr id="37" name="TextBox 36"/>
          <p:cNvSpPr txBox="1"/>
          <p:nvPr/>
        </p:nvSpPr>
        <p:spPr>
          <a:xfrm>
            <a:off x="4655649" y="3536696"/>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6.57%</a:t>
            </a:r>
          </a:p>
        </p:txBody>
      </p:sp>
      <p:sp>
        <p:nvSpPr>
          <p:cNvPr id="38" name="TextBox 37"/>
          <p:cNvSpPr txBox="1"/>
          <p:nvPr/>
        </p:nvSpPr>
        <p:spPr>
          <a:xfrm>
            <a:off x="6221643"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73.96%</a:t>
            </a:r>
          </a:p>
        </p:txBody>
      </p:sp>
      <p:sp>
        <p:nvSpPr>
          <p:cNvPr id="39" name="TextBox 38"/>
          <p:cNvSpPr txBox="1"/>
          <p:nvPr/>
        </p:nvSpPr>
        <p:spPr>
          <a:xfrm>
            <a:off x="7396139"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78.13%</a:t>
            </a:r>
          </a:p>
        </p:txBody>
      </p:sp>
      <p:sp>
        <p:nvSpPr>
          <p:cNvPr id="40" name="Rectangle 39"/>
          <p:cNvSpPr/>
          <p:nvPr/>
        </p:nvSpPr>
        <p:spPr>
          <a:xfrm>
            <a:off x="658368" y="3779011"/>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829303"/>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 spike</a:t>
            </a:r>
          </a:p>
        </p:txBody>
      </p:sp>
      <p:sp>
        <p:nvSpPr>
          <p:cNvPr id="42" name="TextBox 41"/>
          <p:cNvSpPr txBox="1"/>
          <p:nvPr/>
        </p:nvSpPr>
        <p:spPr>
          <a:xfrm>
            <a:off x="3402854" y="3829303"/>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5.04%</a:t>
            </a:r>
          </a:p>
        </p:txBody>
      </p:sp>
      <p:sp>
        <p:nvSpPr>
          <p:cNvPr id="43" name="TextBox 42"/>
          <p:cNvSpPr txBox="1"/>
          <p:nvPr/>
        </p:nvSpPr>
        <p:spPr>
          <a:xfrm>
            <a:off x="4655649" y="3829303"/>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5.06%</a:t>
            </a:r>
          </a:p>
        </p:txBody>
      </p:sp>
      <p:sp>
        <p:nvSpPr>
          <p:cNvPr id="44" name="TextBox 43"/>
          <p:cNvSpPr txBox="1"/>
          <p:nvPr/>
        </p:nvSpPr>
        <p:spPr>
          <a:xfrm>
            <a:off x="6221643"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92.36%</a:t>
            </a:r>
          </a:p>
        </p:txBody>
      </p:sp>
      <p:sp>
        <p:nvSpPr>
          <p:cNvPr id="45" name="TextBox 44"/>
          <p:cNvSpPr txBox="1"/>
          <p:nvPr/>
        </p:nvSpPr>
        <p:spPr>
          <a:xfrm>
            <a:off x="7396139"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96.18%</a:t>
            </a:r>
          </a:p>
        </p:txBody>
      </p:sp>
      <p:sp>
        <p:nvSpPr>
          <p:cNvPr id="46" name="Rectangle 45"/>
          <p:cNvSpPr/>
          <p:nvPr/>
        </p:nvSpPr>
        <p:spPr>
          <a:xfrm>
            <a:off x="658368" y="4071619"/>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2334260"/>
            <a:ext cx="7829970" cy="17373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08990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4089908"/>
            <a:ext cx="34747" cy="1377696"/>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23621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DURING A SURPRISE SURGE, THE SAFETY BOUND IS RIGHT ONLY 30% OF THE TIME</a:t>
            </a:r>
          </a:p>
        </p:txBody>
      </p:sp>
      <p:sp>
        <p:nvSpPr>
          <p:cNvPr id="51" name="TextBox 50"/>
          <p:cNvSpPr txBox="1"/>
          <p:nvPr/>
        </p:nvSpPr>
        <p:spPr>
          <a:xfrm>
            <a:off x="896112" y="449224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Equipment failures change the network, not how much traffic people generate — so prediction accuracy barely moves. Surges are different. When demand suddenly jumps and nobody warned us, there is nothing in the past data that predicts it. The safety bound — the exact thing the optimizer plans against — is wrong precisely when the optimizer needs it most. This one row explains most of section 03.</a:t>
            </a:r>
          </a:p>
        </p:txBody>
      </p:sp>
      <p:sp>
        <p:nvSpPr>
          <p:cNvPr id="52" name="TextBox 5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long it takes to train and to run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200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TRAINING</a:t>
            </a:r>
          </a:p>
        </p:txBody>
      </p:sp>
      <p:sp>
        <p:nvSpPr>
          <p:cNvPr id="9" name="TextBox 8"/>
          <p:cNvSpPr txBox="1"/>
          <p:nvPr/>
        </p:nvSpPr>
        <p:spPr>
          <a:xfrm>
            <a:off x="859536" y="1956816"/>
            <a:ext cx="4843119" cy="2578608"/>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3 minutes 3 seconds for the whole 16-week model set. Of that, only 13 seconds is actual maths — fitting 2 304 tiny nine-input models. Everything else is reading data off disk. Peak memory 1.8 GB, one node, no GPU.</a:t>
            </a:r>
          </a:p>
          <a:p>
            <a:pPr algn="l">
              <a:lnSpc>
                <a:spcPct val="140000"/>
              </a:lnSpc>
              <a:spcBef>
                <a:spcPts val="800"/>
              </a:spcBef>
            </a:pPr>
            <a:r>
              <a:rPr sz="1200" b="0" i="0">
                <a:solidFill>
                  <a:srgbClr val="3C4653"/>
                </a:solidFill>
                <a:latin typeface="Segoe UI"/>
              </a:rPr>
              <a:t>A GPU would be useless here. The bottleneck is disk, not computation. That only changes if we move to large boosted-tree or neural models later.</a:t>
            </a:r>
          </a:p>
          <a:p>
            <a:pPr algn="l">
              <a:lnSpc>
                <a:spcPct val="140000"/>
              </a:lnSpc>
              <a:spcBef>
                <a:spcPts val="800"/>
              </a:spcBef>
            </a:pPr>
            <a:r>
              <a:rPr sz="1200" b="0" i="0">
                <a:solidFill>
                  <a:srgbClr val="3C4653"/>
                </a:solidFill>
                <a:latin typeface="Segoe UI"/>
              </a:rPr>
              <a:t>The five-family comparison was a real cluster job: 384 trained models, 384 calibrated models, 480 result files and 96 audit jobs.</a:t>
            </a:r>
          </a:p>
        </p:txBody>
      </p:sp>
      <p:sp>
        <p:nvSpPr>
          <p:cNvPr id="10" name="Rectangle 9"/>
          <p:cNvSpPr/>
          <p:nvPr/>
        </p:nvSpPr>
        <p:spPr>
          <a:xfrm>
            <a:off x="6287871" y="1481328"/>
            <a:ext cx="5245455" cy="35133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RUNNING IT LIVE</a:t>
            </a:r>
          </a:p>
        </p:txBody>
      </p:sp>
      <p:sp>
        <p:nvSpPr>
          <p:cNvPr id="12" name="TextBox 11"/>
          <p:cNvSpPr txBox="1"/>
          <p:nvPr/>
        </p:nvSpPr>
        <p:spPr>
          <a:xfrm>
            <a:off x="6489039" y="1956816"/>
            <a:ext cx="4843119" cy="289153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96 forecasts per decision round — one per traffic group — handed straight to the optimizer. In the one-day test the controller used a safe fallback for the very first round, then produced forecasts normally for the remaining 143.</a:t>
            </a:r>
          </a:p>
          <a:p>
            <a:pPr algn="l">
              <a:lnSpc>
                <a:spcPct val="140000"/>
              </a:lnSpc>
              <a:spcBef>
                <a:spcPts val="800"/>
              </a:spcBef>
            </a:pPr>
            <a:r>
              <a:rPr sz="1200" b="0" i="0">
                <a:solidFill>
                  <a:srgbClr val="3C4653"/>
                </a:solidFill>
                <a:latin typeface="Segoe UI"/>
              </a:rPr>
              <a:t>Forecasting is never the bottleneck at any scale we tested. Every speed problem in this project is in the optimizer, not the model.</a:t>
            </a:r>
          </a:p>
          <a:p>
            <a:pPr algn="l">
              <a:lnSpc>
                <a:spcPct val="140000"/>
              </a:lnSpc>
              <a:spcBef>
                <a:spcPts val="800"/>
              </a:spcBef>
            </a:pPr>
            <a:r>
              <a:rPr sz="1200" b="0" i="0">
                <a:solidFill>
                  <a:srgbClr val="3C4653"/>
                </a:solidFill>
                <a:latin typeface="Segoe UI"/>
              </a:rPr>
              <a:t>Model files are checksum-verified on load. If a model was trained on different traffic groups than the scenario expects, the system refuses to start rather than quietly using the wrong thing.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Which model we use,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run the calendar ridge model with conformal bounds. Not because it is the most accurate — LightGBM beats it by about 1.5 percentage points.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Nothing beat the release bar</a:t>
            </a:r>
          </a:p>
        </p:txBody>
      </p:sp>
      <p:sp>
        <p:nvSpPr>
          <p:cNvPr id="10" name="TextBox 9"/>
          <p:cNvSpPr txBox="1"/>
          <p:nvPr/>
        </p:nvSpPr>
        <p:spPr>
          <a:xfrm>
            <a:off x="841247" y="2533904"/>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rule says the current model stays unless a challenger passes all five checks. None did. Keeping ridge is the required answer, not a preference.</a:t>
            </a:r>
          </a:p>
        </p:txBody>
      </p:sp>
      <p:sp>
        <p:nvSpPr>
          <p:cNvPr id="11" name="Rectangle 10"/>
          <p:cNvSpPr/>
          <p:nvPr/>
        </p:nvSpPr>
        <p:spPr>
          <a:xfrm>
            <a:off x="658368" y="3257118"/>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426282"/>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357702"/>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Nine inputs, closed form, 13 seconds</a:t>
            </a:r>
          </a:p>
        </p:txBody>
      </p:sp>
      <p:sp>
        <p:nvSpPr>
          <p:cNvPr id="14" name="TextBox 13"/>
          <p:cNvSpPr txBox="1"/>
          <p:nvPr/>
        </p:nvSpPr>
        <p:spPr>
          <a:xfrm>
            <a:off x="841247" y="3612210"/>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Retrainable anywhere, easy to audit, and you can look at each coefficient and understand it.</a:t>
            </a:r>
          </a:p>
        </p:txBody>
      </p:sp>
      <p:sp>
        <p:nvSpPr>
          <p:cNvPr id="15" name="Rectangle 14"/>
          <p:cNvSpPr/>
          <p:nvPr/>
        </p:nvSpPr>
        <p:spPr>
          <a:xfrm>
            <a:off x="658368" y="4143121"/>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12285"/>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243705"/>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Reliable where it counts</a:t>
            </a:r>
          </a:p>
        </p:txBody>
      </p:sp>
      <p:sp>
        <p:nvSpPr>
          <p:cNvPr id="18" name="TextBox 17"/>
          <p:cNvSpPr txBox="1"/>
          <p:nvPr/>
        </p:nvSpPr>
        <p:spPr>
          <a:xfrm>
            <a:off x="841247" y="4498212"/>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94.2% and 96.7% coverage on unseen data — the property the optimizer actually consumes.</a:t>
            </a:r>
          </a:p>
        </p:txBody>
      </p:sp>
      <p:sp>
        <p:nvSpPr>
          <p:cNvPr id="19" name="Rectangle 18"/>
          <p:cNvSpPr/>
          <p:nvPr/>
        </p:nvSpPr>
        <p:spPr>
          <a:xfrm>
            <a:off x="658368" y="5029123"/>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19828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129707"/>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real gains did not carry through</a:t>
            </a:r>
          </a:p>
        </p:txBody>
      </p:sp>
      <p:sp>
        <p:nvSpPr>
          <p:cNvPr id="22" name="TextBox 21"/>
          <p:cNvSpPr txBox="1"/>
          <p:nvPr/>
        </p:nvSpPr>
        <p:spPr>
          <a:xfrm>
            <a:off x="841247" y="5384215"/>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LightGBM's 27.5% better peak-catching is genuinely useful, but it came with a 14.7% worse slice — and a better forecast did not produce better control.</a:t>
            </a:r>
          </a:p>
        </p:txBody>
      </p:sp>
      <p:pic>
        <p:nvPicPr>
          <p:cNvPr id="23" name="Picture 22" descr="c_fvsc.png"/>
          <p:cNvPicPr>
            <a:picLocks noChangeAspect="1"/>
          </p:cNvPicPr>
          <p:nvPr/>
        </p:nvPicPr>
        <p:blipFill>
          <a:blip r:embed="rId2"/>
          <a:stretch>
            <a:fillRect/>
          </a:stretch>
        </p:blipFill>
        <p:spPr>
          <a:xfrm>
            <a:off x="5878348" y="2370836"/>
            <a:ext cx="5654978" cy="1688096"/>
          </a:xfrm>
          <a:prstGeom prst="rect">
            <a:avLst/>
          </a:prstGeom>
        </p:spPr>
      </p:pic>
      <p:sp>
        <p:nvSpPr>
          <p:cNvPr id="24" name="TextBox 23"/>
          <p:cNvSpPr txBox="1"/>
          <p:nvPr/>
        </p:nvSpPr>
        <p:spPr>
          <a:xfrm>
            <a:off x="5878348" y="3943604"/>
            <a:ext cx="5654978" cy="822960"/>
          </a:xfrm>
          <a:prstGeom prst="rect">
            <a:avLst/>
          </a:prstGeom>
          <a:noFill/>
        </p:spPr>
        <p:txBody>
          <a:bodyPr wrap="square" anchor="t" lIns="0" rIns="0" tIns="0" bIns="0">
            <a:spAutoFit/>
          </a:bodyPr>
          <a:lstStyle/>
          <a:p>
            <a:pPr algn="l">
              <a:lnSpc>
                <a:spcPct val="136000"/>
              </a:lnSpc>
            </a:pPr>
            <a:r>
              <a:rPr sz="1060" b="0" i="0">
                <a:solidFill>
                  <a:srgbClr val="6C7683"/>
                </a:solidFill>
                <a:latin typeface="Segoe UI"/>
              </a:rPr>
              <a:t>Doubling the training history from 7 to 14 days almost halved the error, 16.02% → 8.70%. We then ran a full controller campaign with that better model: +6.72% average, but a confidence range from −3.32% to +18.21% that includes zero, −3.60% weighted by severity, and −22.98% on the worst day. Decision: stop before spending the compute.</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Forecasting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5661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FIX THE EVALUATION FIRST</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Use the intended data split</a:t>
            </a:r>
          </a:p>
        </p:txBody>
      </p:sp>
      <p:sp>
        <p:nvSpPr>
          <p:cNvPr id="11" name="TextBox 10"/>
          <p:cNvSpPr txBox="1"/>
          <p:nvPr/>
        </p:nvSpPr>
        <p:spPr>
          <a:xfrm>
            <a:off x="1042415" y="2186533"/>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used 70/15/15 instead of the specified weeks 1–11 / 12–13 / 14–16. A correctness fix, not a modelling change.</a:t>
            </a:r>
          </a:p>
        </p:txBody>
      </p:sp>
      <p:sp>
        <p:nvSpPr>
          <p:cNvPr id="12" name="Rectangle 11"/>
          <p:cNvSpPr/>
          <p:nvPr/>
        </p:nvSpPr>
        <p:spPr>
          <a:xfrm>
            <a:off x="859536" y="269468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85470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786126"/>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Report by situation as standard</a:t>
            </a:r>
          </a:p>
        </p:txBody>
      </p:sp>
      <p:sp>
        <p:nvSpPr>
          <p:cNvPr id="15" name="TextBox 14"/>
          <p:cNvSpPr txBox="1"/>
          <p:nvPr/>
        </p:nvSpPr>
        <p:spPr>
          <a:xfrm>
            <a:off x="1042415" y="3034131"/>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Normal, surge, reduced capacity, offline and delay windows each reported separately before anything is released.</a:t>
            </a:r>
          </a:p>
        </p:txBody>
      </p:sp>
      <p:sp>
        <p:nvSpPr>
          <p:cNvPr id="16" name="Rectangle 15"/>
          <p:cNvSpPr/>
          <p:nvPr/>
        </p:nvSpPr>
        <p:spPr>
          <a:xfrm>
            <a:off x="859536" y="3542284"/>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70230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633724"/>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Break the uplink/downlink link</a:t>
            </a:r>
          </a:p>
        </p:txBody>
      </p:sp>
      <p:sp>
        <p:nvSpPr>
          <p:cNvPr id="19" name="TextBox 18"/>
          <p:cNvSpPr txBox="1"/>
          <p:nvPr/>
        </p:nvSpPr>
        <p:spPr>
          <a:xfrm>
            <a:off x="1042415" y="3881729"/>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Give each session its own bandwidth so throughput prediction stops being a rescaled copy of session count.</a:t>
            </a:r>
          </a:p>
        </p:txBody>
      </p:sp>
      <p:sp>
        <p:nvSpPr>
          <p:cNvPr id="20" name="Rectangle 19"/>
          <p:cNvSpPr/>
          <p:nvPr/>
        </p:nvSpPr>
        <p:spPr>
          <a:xfrm>
            <a:off x="6287871" y="1481328"/>
            <a:ext cx="5245455" cy="47896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THEN IMPROVE THE MODELS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Add weekly memory</a:t>
            </a:r>
          </a:p>
        </p:txBody>
      </p:sp>
      <p:sp>
        <p:nvSpPr>
          <p:cNvPr id="24" name="TextBox 23"/>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 true one-week lag, multi-scale seasonal terms, rolling volatility, and features for events we already know are coming.</a:t>
            </a:r>
          </a:p>
        </p:txBody>
      </p:sp>
      <p:sp>
        <p:nvSpPr>
          <p:cNvPr id="25" name="Rectangle 24"/>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Pick the best model per group</a:t>
            </a:r>
          </a:p>
        </p:txBody>
      </p:sp>
      <p:sp>
        <p:nvSpPr>
          <p:cNvPr id="28" name="TextBox 27"/>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Choose ridge, seasonal or LightGBM for each group and horizon — decided on validation data, never on test.</a:t>
            </a:r>
          </a:p>
        </p:txBody>
      </p:sp>
      <p:sp>
        <p:nvSpPr>
          <p:cNvPr id="29" name="Rectangle 28"/>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Share information across groups</a:t>
            </a:r>
          </a:p>
        </p:txBody>
      </p:sp>
      <p:sp>
        <p:nvSpPr>
          <p:cNvPr id="32" name="TextBox 31"/>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Small groups have too little data alone. Pool them while keeping zone and service type distinguishable.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Go after the surge case directly</a:t>
            </a:r>
          </a:p>
        </p:txBody>
      </p:sp>
      <p:sp>
        <p:nvSpPr>
          <p:cNvPr id="36" name="TextBox 35"/>
          <p:cNvSpPr txBox="1"/>
          <p:nvPr/>
        </p:nvSpPr>
        <p:spPr>
          <a:xfrm>
            <a:off x="6671919" y="4685969"/>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30% coverage during surges is the binding problem. Event calendars and a faster-adapting bound beat any base-model upgrade.</a:t>
            </a:r>
          </a:p>
        </p:txBody>
      </p:sp>
      <p:sp>
        <p:nvSpPr>
          <p:cNvPr id="37" name="Rectangle 36"/>
          <p:cNvSpPr/>
          <p:nvPr/>
        </p:nvSpPr>
        <p:spPr>
          <a:xfrm>
            <a:off x="6489039" y="533740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46541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39683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Neural models last</a:t>
            </a:r>
          </a:p>
        </p:txBody>
      </p:sp>
      <p:sp>
        <p:nvSpPr>
          <p:cNvPr id="40" name="TextBox 39"/>
          <p:cNvSpPr txBox="1"/>
          <p:nvPr/>
        </p:nvSpPr>
        <p:spPr>
          <a:xfrm>
            <a:off x="6671919" y="564159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They add GPU cost and tuning effort, and will not fix a data-splitting or event-labelling problem.</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03</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OPTIMIZER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Deciding where traffic goes — and why it barely helps</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Seven controller designs, 28 configurations, 588 head-to-head tests. The optimizer works: it solves, it validates, it acts. It just does not reliably beat a simple fixed rule. The reason turns out to be about the lever we have, not the algorithm.</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CONSTRAINT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Start with the lever</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only thing a controller can change is the share of NEW sessions each box receives. Sessions already running stay where they are. That is not a simplification we chose — it reflects a genuinely open question about whether C-DOT's system can move a live session.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ctrl.png"/>
          <p:cNvPicPr>
            <a:picLocks noChangeAspect="1"/>
          </p:cNvPicPr>
          <p:nvPr/>
        </p:nvPicPr>
        <p:blipFill>
          <a:blip r:embed="rId2"/>
          <a:stretch>
            <a:fillRect/>
          </a:stretch>
        </p:blipFill>
        <p:spPr>
          <a:xfrm>
            <a:off x="658368" y="2513838"/>
            <a:ext cx="7177473" cy="2365597"/>
          </a:xfrm>
          <a:prstGeom prst="rect">
            <a:avLst/>
          </a:prstGeom>
        </p:spPr>
      </p:pic>
      <p:sp>
        <p:nvSpPr>
          <p:cNvPr id="9" name="Rectangle 8"/>
          <p:cNvSpPr/>
          <p:nvPr/>
        </p:nvSpPr>
        <p:spPr>
          <a:xfrm>
            <a:off x="8597088"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9968" y="2513838"/>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Read it like this</a:t>
            </a:r>
          </a:p>
        </p:txBody>
      </p:sp>
      <p:sp>
        <p:nvSpPr>
          <p:cNvPr id="11" name="TextBox 10"/>
          <p:cNvSpPr txBox="1"/>
          <p:nvPr/>
        </p:nvSpPr>
        <p:spPr>
          <a:xfrm>
            <a:off x="8779968" y="2755341"/>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Columns are how much warning we get. Rows are how long an average session lasts.</a:t>
            </a:r>
          </a:p>
        </p:txBody>
      </p:sp>
      <p:sp>
        <p:nvSpPr>
          <p:cNvPr id="12" name="Rectangle 11"/>
          <p:cNvSpPr/>
          <p:nvPr/>
        </p:nvSpPr>
        <p:spPr>
          <a:xfrm>
            <a:off x="8597088" y="3419424"/>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7088"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9968" y="3501720"/>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realistic corner</a:t>
            </a:r>
          </a:p>
        </p:txBody>
      </p:sp>
      <p:sp>
        <p:nvSpPr>
          <p:cNvPr id="15" name="TextBox 14"/>
          <p:cNvSpPr txBox="1"/>
          <p:nvPr/>
        </p:nvSpPr>
        <p:spPr>
          <a:xfrm>
            <a:off x="8779968" y="3743223"/>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10 minutes of warning, 4-hour sessions → only 1.6% of load is still movable.</a:t>
            </a:r>
          </a:p>
        </p:txBody>
      </p:sp>
      <p:sp>
        <p:nvSpPr>
          <p:cNvPr id="16" name="Rectangle 15"/>
          <p:cNvSpPr/>
          <p:nvPr/>
        </p:nvSpPr>
        <p:spPr>
          <a:xfrm>
            <a:off x="8597088" y="4407306"/>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7088" y="45581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9968" y="4489602"/>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Measured on a real test day</a:t>
            </a:r>
          </a:p>
        </p:txBody>
      </p:sp>
      <p:sp>
        <p:nvSpPr>
          <p:cNvPr id="19" name="TextBox 18"/>
          <p:cNvSpPr txBox="1"/>
          <p:nvPr/>
        </p:nvSpPr>
        <p:spPr>
          <a:xfrm>
            <a:off x="8779968" y="4731105"/>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3.4% of uplink and 2.7% of downlink traffic was steerable at decision time.</a:t>
            </a:r>
          </a:p>
        </p:txBody>
      </p:sp>
      <p:sp>
        <p:nvSpPr>
          <p:cNvPr id="20" name="Rectangle 19"/>
          <p:cNvSpPr/>
          <p:nvPr/>
        </p:nvSpPr>
        <p:spPr>
          <a:xfrm>
            <a:off x="8597088" y="5395188"/>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7088"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9968" y="5477484"/>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consequence</a:t>
            </a:r>
          </a:p>
        </p:txBody>
      </p:sp>
      <p:sp>
        <p:nvSpPr>
          <p:cNvPr id="23" name="TextBox 22"/>
          <p:cNvSpPr txBox="1"/>
          <p:nvPr/>
        </p:nvSpPr>
        <p:spPr>
          <a:xfrm>
            <a:off x="8779968" y="5718987"/>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 amount of clever optimisation recovers leverage the lever does not have.</a:t>
            </a:r>
          </a:p>
        </p:txBody>
      </p:sp>
      <p:sp>
        <p:nvSpPr>
          <p:cNvPr id="24" name="Rectangle 23"/>
          <p:cNvSpPr/>
          <p:nvPr/>
        </p:nvSpPr>
        <p:spPr>
          <a:xfrm>
            <a:off x="658368" y="4927854"/>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927854"/>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074158"/>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AIRPORT OUTAGE, IN ONE NUMBER</a:t>
            </a:r>
          </a:p>
        </p:txBody>
      </p:sp>
      <p:sp>
        <p:nvSpPr>
          <p:cNvPr id="27" name="TextBox 26"/>
          <p:cNvSpPr txBox="1"/>
          <p:nvPr/>
        </p:nvSpPr>
        <p:spPr>
          <a:xfrm>
            <a:off x="896112" y="5330190"/>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One box went almost completely offline. That single event caused 103 965 of the controller's 105 181 total overload — 98.8% of it. All that traffic was already attached to the failed box, and a new-session-only lever cannot move it. Whatever the optimizer does with the remaining 1.2% simply cannot add up to a 20% improvement.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CANDIDATES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Seven controllers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20103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9" name="TextBox 8"/>
          <p:cNvSpPr txBox="1"/>
          <p:nvPr/>
        </p:nvSpPr>
        <p:spPr>
          <a:xfrm>
            <a:off x="2915655" y="1632204"/>
            <a:ext cx="657788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WORKS</a:t>
            </a:r>
          </a:p>
        </p:txBody>
      </p:sp>
      <p:sp>
        <p:nvSpPr>
          <p:cNvPr id="10" name="TextBox 9"/>
          <p:cNvSpPr txBox="1"/>
          <p:nvPr/>
        </p:nvSpPr>
        <p:spPr>
          <a:xfrm>
            <a:off x="9658130" y="1632204"/>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STATUS</a:t>
            </a:r>
          </a:p>
        </p:txBody>
      </p:sp>
      <p:sp>
        <p:nvSpPr>
          <p:cNvPr id="11" name="Rectangle 10"/>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10874959" cy="29718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Simple (static)</a:t>
            </a:r>
          </a:p>
        </p:txBody>
      </p:sp>
      <p:sp>
        <p:nvSpPr>
          <p:cNvPr id="14" name="TextBox 13"/>
          <p:cNvSpPr txBox="1"/>
          <p:nvPr/>
        </p:nvSpPr>
        <p:spPr>
          <a:xfrm>
            <a:off x="2915655" y="18790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Split traffic in proportion to each healthy box's capacity. No forecast, no memory.</a:t>
            </a:r>
          </a:p>
        </p:txBody>
      </p:sp>
      <p:sp>
        <p:nvSpPr>
          <p:cNvPr id="15" name="TextBox 14"/>
          <p:cNvSpPr txBox="1"/>
          <p:nvPr/>
        </p:nvSpPr>
        <p:spPr>
          <a:xfrm>
            <a:off x="9658130" y="1879092"/>
            <a:ext cx="1792900" cy="24231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IN PRODUCTION</a:t>
            </a:r>
          </a:p>
        </p:txBody>
      </p:sp>
      <p:sp>
        <p:nvSpPr>
          <p:cNvPr id="16" name="Rectangle 15"/>
          <p:cNvSpPr/>
          <p:nvPr/>
        </p:nvSpPr>
        <p:spPr>
          <a:xfrm>
            <a:off x="658368" y="21259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12598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1762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Reactive</a:t>
            </a:r>
          </a:p>
        </p:txBody>
      </p:sp>
      <p:sp>
        <p:nvSpPr>
          <p:cNvPr id="19" name="TextBox 18"/>
          <p:cNvSpPr txBox="1"/>
          <p:nvPr/>
        </p:nvSpPr>
        <p:spPr>
          <a:xfrm>
            <a:off x="2915655" y="21762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a box gets busy, send less traffic to it.</a:t>
            </a:r>
          </a:p>
        </p:txBody>
      </p:sp>
      <p:sp>
        <p:nvSpPr>
          <p:cNvPr id="20" name="TextBox 19"/>
          <p:cNvSpPr txBox="1"/>
          <p:nvPr/>
        </p:nvSpPr>
        <p:spPr>
          <a:xfrm>
            <a:off x="9658130" y="217627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1" name="Rectangle 20"/>
          <p:cNvSpPr/>
          <p:nvPr/>
        </p:nvSpPr>
        <p:spPr>
          <a:xfrm>
            <a:off x="658368" y="24231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47345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capacity</a:t>
            </a:r>
          </a:p>
        </p:txBody>
      </p:sp>
      <p:sp>
        <p:nvSpPr>
          <p:cNvPr id="23" name="TextBox 22"/>
          <p:cNvSpPr txBox="1"/>
          <p:nvPr/>
        </p:nvSpPr>
        <p:spPr>
          <a:xfrm>
            <a:off x="2915655" y="247345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Simple rule, but adjust each box's headroom using the forecast.</a:t>
            </a:r>
          </a:p>
        </p:txBody>
      </p:sp>
      <p:sp>
        <p:nvSpPr>
          <p:cNvPr id="24" name="TextBox 23"/>
          <p:cNvSpPr txBox="1"/>
          <p:nvPr/>
        </p:nvSpPr>
        <p:spPr>
          <a:xfrm>
            <a:off x="9658130" y="247345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5" name="Rectangle 24"/>
          <p:cNvSpPr/>
          <p:nvPr/>
        </p:nvSpPr>
        <p:spPr>
          <a:xfrm>
            <a:off x="658368" y="272034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272034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277063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28" name="TextBox 27"/>
          <p:cNvSpPr txBox="1"/>
          <p:nvPr/>
        </p:nvSpPr>
        <p:spPr>
          <a:xfrm>
            <a:off x="2915655" y="277063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Solve for the best split right now, given predicted demand and all capacity limits.</a:t>
            </a:r>
          </a:p>
        </p:txBody>
      </p:sp>
      <p:sp>
        <p:nvSpPr>
          <p:cNvPr id="29" name="TextBox 28"/>
          <p:cNvSpPr txBox="1"/>
          <p:nvPr/>
        </p:nvSpPr>
        <p:spPr>
          <a:xfrm>
            <a:off x="9658130" y="277063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Tested</a:t>
            </a:r>
          </a:p>
        </p:txBody>
      </p:sp>
      <p:sp>
        <p:nvSpPr>
          <p:cNvPr id="30" name="Rectangle 29"/>
          <p:cNvSpPr/>
          <p:nvPr/>
        </p:nvSpPr>
        <p:spPr>
          <a:xfrm>
            <a:off x="658368" y="30175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06781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32" name="TextBox 31"/>
          <p:cNvSpPr txBox="1"/>
          <p:nvPr/>
        </p:nvSpPr>
        <p:spPr>
          <a:xfrm>
            <a:off x="2915655" y="306781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Plan two hours ahead. Track which sessions are running, when they end, what failures are coming.</a:t>
            </a:r>
          </a:p>
        </p:txBody>
      </p:sp>
      <p:sp>
        <p:nvSpPr>
          <p:cNvPr id="33" name="TextBox 32"/>
          <p:cNvSpPr txBox="1"/>
          <p:nvPr/>
        </p:nvSpPr>
        <p:spPr>
          <a:xfrm>
            <a:off x="9658130" y="306781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4" name="Rectangle 33"/>
          <p:cNvSpPr/>
          <p:nvPr/>
        </p:nvSpPr>
        <p:spPr>
          <a:xfrm>
            <a:off x="658368" y="331470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31470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3649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37" name="TextBox 36"/>
          <p:cNvSpPr txBox="1"/>
          <p:nvPr/>
        </p:nvSpPr>
        <p:spPr>
          <a:xfrm>
            <a:off x="2915655" y="33649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we know a box is about to lose capacity, stop sending it new sessions in advance.</a:t>
            </a:r>
          </a:p>
        </p:txBody>
      </p:sp>
      <p:sp>
        <p:nvSpPr>
          <p:cNvPr id="38" name="TextBox 37"/>
          <p:cNvSpPr txBox="1"/>
          <p:nvPr/>
        </p:nvSpPr>
        <p:spPr>
          <a:xfrm>
            <a:off x="9658130" y="336499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9" name="Rectangle 38"/>
          <p:cNvSpPr/>
          <p:nvPr/>
        </p:nvSpPr>
        <p:spPr>
          <a:xfrm>
            <a:off x="658368" y="36118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36621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Oracle</a:t>
            </a:r>
          </a:p>
        </p:txBody>
      </p:sp>
      <p:sp>
        <p:nvSpPr>
          <p:cNvPr id="41" name="TextBox 40"/>
          <p:cNvSpPr txBox="1"/>
          <p:nvPr/>
        </p:nvSpPr>
        <p:spPr>
          <a:xfrm>
            <a:off x="2915655" y="36621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Knows the whole day in advance. Solves the entire day at once.</a:t>
            </a:r>
          </a:p>
        </p:txBody>
      </p:sp>
      <p:sp>
        <p:nvSpPr>
          <p:cNvPr id="42" name="TextBox 41"/>
          <p:cNvSpPr txBox="1"/>
          <p:nvPr/>
        </p:nvSpPr>
        <p:spPr>
          <a:xfrm>
            <a:off x="9658130" y="3662172"/>
            <a:ext cx="1792900" cy="24231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NOT DEPLOYABLE</a:t>
            </a:r>
          </a:p>
        </p:txBody>
      </p:sp>
      <p:sp>
        <p:nvSpPr>
          <p:cNvPr id="43" name="Rectangle 42"/>
          <p:cNvSpPr/>
          <p:nvPr/>
        </p:nvSpPr>
        <p:spPr>
          <a:xfrm>
            <a:off x="658368" y="39090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1554480"/>
            <a:ext cx="10874959" cy="2354580"/>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3950208"/>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950208"/>
            <a:ext cx="34747" cy="158496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09651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THE LINEAR PROGRAM ACTUALLY OPTIMISES</a:t>
            </a:r>
          </a:p>
        </p:txBody>
      </p:sp>
      <p:sp>
        <p:nvSpPr>
          <p:cNvPr id="48" name="TextBox 47"/>
          <p:cNvSpPr txBox="1"/>
          <p:nvPr/>
        </p:nvSpPr>
        <p:spPr>
          <a:xfrm>
            <a:off x="896112" y="4352544"/>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unknowns are traffic shares per (group, box). The objective is dominated by a very large penalty on exceeding a box's safe limit, plus a smaller cost for general utilisation and small penalties for sending traffic out of zone or changing the plan too often. Constraints cover uplink and downlink capacity, session count, which boxes each group may use, box health, delay limits, and a cap on how much of one group can pile onto one box. If no valid answer exists, the solver says so rather than inventing one. Each solve is capped at one second.</a:t>
            </a:r>
          </a:p>
        </p:txBody>
      </p:sp>
      <p:sp>
        <p:nvSpPr>
          <p:cNvPr id="49" name="TextBox 4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linear program vs the simple rule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One busy simulated day: three four-hour local surges, a box at reduced capacity, a box nearly offline, a network delay incident, and recovery periods. All three controllers saw identical conditions.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8482468"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258211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10" name="TextBox 9"/>
          <p:cNvSpPr txBox="1"/>
          <p:nvPr/>
        </p:nvSpPr>
        <p:spPr>
          <a:xfrm>
            <a:off x="3487367"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SIMPLE</a:t>
            </a:r>
          </a:p>
        </p:txBody>
      </p:sp>
      <p:sp>
        <p:nvSpPr>
          <p:cNvPr id="11" name="TextBox 10"/>
          <p:cNvSpPr txBox="1"/>
          <p:nvPr/>
        </p:nvSpPr>
        <p:spPr>
          <a:xfrm>
            <a:off x="4779934"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REACTIVE</a:t>
            </a:r>
          </a:p>
        </p:txBody>
      </p:sp>
      <p:sp>
        <p:nvSpPr>
          <p:cNvPr id="12" name="TextBox 11"/>
          <p:cNvSpPr txBox="1"/>
          <p:nvPr/>
        </p:nvSpPr>
        <p:spPr>
          <a:xfrm>
            <a:off x="6072501" y="2609850"/>
            <a:ext cx="120875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a:t>
            </a:r>
          </a:p>
        </p:txBody>
      </p:sp>
      <p:sp>
        <p:nvSpPr>
          <p:cNvPr id="13" name="TextBox 12"/>
          <p:cNvSpPr txBox="1"/>
          <p:nvPr/>
        </p:nvSpPr>
        <p:spPr>
          <a:xfrm>
            <a:off x="7445853" y="2609850"/>
            <a:ext cx="161268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 VS SIMPLE</a:t>
            </a:r>
          </a:p>
        </p:txBody>
      </p:sp>
      <p:sp>
        <p:nvSpPr>
          <p:cNvPr id="14" name="Rectangle 13"/>
          <p:cNvSpPr/>
          <p:nvPr/>
        </p:nvSpPr>
        <p:spPr>
          <a:xfrm>
            <a:off x="658368" y="2806445"/>
            <a:ext cx="8482468"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2806445"/>
            <a:ext cx="8482468"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Uplink overload (main metric)</a:t>
            </a:r>
          </a:p>
        </p:txBody>
      </p:sp>
      <p:sp>
        <p:nvSpPr>
          <p:cNvPr id="17" name="TextBox 16"/>
          <p:cNvSpPr txBox="1"/>
          <p:nvPr/>
        </p:nvSpPr>
        <p:spPr>
          <a:xfrm>
            <a:off x="3487367"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107 767 s</a:t>
            </a:r>
          </a:p>
        </p:txBody>
      </p:sp>
      <p:sp>
        <p:nvSpPr>
          <p:cNvPr id="18" name="TextBox 17"/>
          <p:cNvSpPr txBox="1"/>
          <p:nvPr/>
        </p:nvSpPr>
        <p:spPr>
          <a:xfrm>
            <a:off x="4779934"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211 891 s</a:t>
            </a:r>
          </a:p>
        </p:txBody>
      </p:sp>
      <p:sp>
        <p:nvSpPr>
          <p:cNvPr id="19" name="TextBox 18"/>
          <p:cNvSpPr txBox="1"/>
          <p:nvPr/>
        </p:nvSpPr>
        <p:spPr>
          <a:xfrm>
            <a:off x="6072501" y="2856738"/>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105 181 s</a:t>
            </a:r>
          </a:p>
        </p:txBody>
      </p:sp>
      <p:sp>
        <p:nvSpPr>
          <p:cNvPr id="20" name="TextBox 19"/>
          <p:cNvSpPr txBox="1"/>
          <p:nvPr/>
        </p:nvSpPr>
        <p:spPr>
          <a:xfrm>
            <a:off x="7445853" y="2856738"/>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2.40% better</a:t>
            </a:r>
          </a:p>
        </p:txBody>
      </p:sp>
      <p:sp>
        <p:nvSpPr>
          <p:cNvPr id="21" name="Rectangle 20"/>
          <p:cNvSpPr/>
          <p:nvPr/>
        </p:nvSpPr>
        <p:spPr>
          <a:xfrm>
            <a:off x="658368" y="30807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308076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31310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Downlink overload</a:t>
            </a:r>
          </a:p>
        </p:txBody>
      </p:sp>
      <p:sp>
        <p:nvSpPr>
          <p:cNvPr id="24" name="TextBox 23"/>
          <p:cNvSpPr txBox="1"/>
          <p:nvPr/>
        </p:nvSpPr>
        <p:spPr>
          <a:xfrm>
            <a:off x="3487367"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59 906 s</a:t>
            </a:r>
          </a:p>
        </p:txBody>
      </p:sp>
      <p:sp>
        <p:nvSpPr>
          <p:cNvPr id="25" name="TextBox 24"/>
          <p:cNvSpPr txBox="1"/>
          <p:nvPr/>
        </p:nvSpPr>
        <p:spPr>
          <a:xfrm>
            <a:off x="4779934"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118 167 s</a:t>
            </a:r>
          </a:p>
        </p:txBody>
      </p:sp>
      <p:sp>
        <p:nvSpPr>
          <p:cNvPr id="26" name="TextBox 25"/>
          <p:cNvSpPr txBox="1"/>
          <p:nvPr/>
        </p:nvSpPr>
        <p:spPr>
          <a:xfrm>
            <a:off x="6072501" y="31310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56 376 s</a:t>
            </a:r>
          </a:p>
        </p:txBody>
      </p:sp>
      <p:sp>
        <p:nvSpPr>
          <p:cNvPr id="27" name="TextBox 26"/>
          <p:cNvSpPr txBox="1"/>
          <p:nvPr/>
        </p:nvSpPr>
        <p:spPr>
          <a:xfrm>
            <a:off x="7445853" y="313105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5.89% better</a:t>
            </a:r>
          </a:p>
        </p:txBody>
      </p:sp>
      <p:sp>
        <p:nvSpPr>
          <p:cNvPr id="28" name="Rectangle 27"/>
          <p:cNvSpPr/>
          <p:nvPr/>
        </p:nvSpPr>
        <p:spPr>
          <a:xfrm>
            <a:off x="658368" y="33550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340537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up</a:t>
            </a:r>
          </a:p>
        </p:txBody>
      </p:sp>
      <p:sp>
        <p:nvSpPr>
          <p:cNvPr id="30" name="TextBox 29"/>
          <p:cNvSpPr txBox="1"/>
          <p:nvPr/>
        </p:nvSpPr>
        <p:spPr>
          <a:xfrm>
            <a:off x="3487367"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16 440 s</a:t>
            </a:r>
          </a:p>
        </p:txBody>
      </p:sp>
      <p:sp>
        <p:nvSpPr>
          <p:cNvPr id="31" name="TextBox 30"/>
          <p:cNvSpPr txBox="1"/>
          <p:nvPr/>
        </p:nvSpPr>
        <p:spPr>
          <a:xfrm>
            <a:off x="4779934"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19 650 s</a:t>
            </a:r>
          </a:p>
        </p:txBody>
      </p:sp>
      <p:sp>
        <p:nvSpPr>
          <p:cNvPr id="32" name="TextBox 31"/>
          <p:cNvSpPr txBox="1"/>
          <p:nvPr/>
        </p:nvSpPr>
        <p:spPr>
          <a:xfrm>
            <a:off x="6072501" y="340537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13 230 s</a:t>
            </a:r>
          </a:p>
        </p:txBody>
      </p:sp>
      <p:sp>
        <p:nvSpPr>
          <p:cNvPr id="33" name="TextBox 32"/>
          <p:cNvSpPr txBox="1"/>
          <p:nvPr/>
        </p:nvSpPr>
        <p:spPr>
          <a:xfrm>
            <a:off x="7445853" y="340537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19.53% better</a:t>
            </a:r>
          </a:p>
        </p:txBody>
      </p:sp>
      <p:sp>
        <p:nvSpPr>
          <p:cNvPr id="34" name="Rectangle 33"/>
          <p:cNvSpPr/>
          <p:nvPr/>
        </p:nvSpPr>
        <p:spPr>
          <a:xfrm>
            <a:off x="658368" y="362940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62940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67969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down</a:t>
            </a:r>
          </a:p>
        </p:txBody>
      </p:sp>
      <p:sp>
        <p:nvSpPr>
          <p:cNvPr id="37" name="TextBox 36"/>
          <p:cNvSpPr txBox="1"/>
          <p:nvPr/>
        </p:nvSpPr>
        <p:spPr>
          <a:xfrm>
            <a:off x="3487367"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30 480 s</a:t>
            </a:r>
          </a:p>
        </p:txBody>
      </p:sp>
      <p:sp>
        <p:nvSpPr>
          <p:cNvPr id="38" name="TextBox 37"/>
          <p:cNvSpPr txBox="1"/>
          <p:nvPr/>
        </p:nvSpPr>
        <p:spPr>
          <a:xfrm>
            <a:off x="4779934"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39" name="TextBox 38"/>
          <p:cNvSpPr txBox="1"/>
          <p:nvPr/>
        </p:nvSpPr>
        <p:spPr>
          <a:xfrm>
            <a:off x="6072501" y="367969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40" name="TextBox 39"/>
          <p:cNvSpPr txBox="1"/>
          <p:nvPr/>
        </p:nvSpPr>
        <p:spPr>
          <a:xfrm>
            <a:off x="7445853" y="367969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76.38% better</a:t>
            </a:r>
          </a:p>
        </p:txBody>
      </p:sp>
      <p:sp>
        <p:nvSpPr>
          <p:cNvPr id="41" name="Rectangle 40"/>
          <p:cNvSpPr/>
          <p:nvPr/>
        </p:nvSpPr>
        <p:spPr>
          <a:xfrm>
            <a:off x="658368" y="390372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395401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up</a:t>
            </a:r>
          </a:p>
        </p:txBody>
      </p:sp>
      <p:sp>
        <p:nvSpPr>
          <p:cNvPr id="43" name="TextBox 42"/>
          <p:cNvSpPr txBox="1"/>
          <p:nvPr/>
        </p:nvSpPr>
        <p:spPr>
          <a:xfrm>
            <a:off x="3487367"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49.27 TB</a:t>
            </a:r>
          </a:p>
        </p:txBody>
      </p:sp>
      <p:sp>
        <p:nvSpPr>
          <p:cNvPr id="44" name="TextBox 43"/>
          <p:cNvSpPr txBox="1"/>
          <p:nvPr/>
        </p:nvSpPr>
        <p:spPr>
          <a:xfrm>
            <a:off x="4779934"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119.44 TB</a:t>
            </a:r>
          </a:p>
        </p:txBody>
      </p:sp>
      <p:sp>
        <p:nvSpPr>
          <p:cNvPr id="45" name="TextBox 44"/>
          <p:cNvSpPr txBox="1"/>
          <p:nvPr/>
        </p:nvSpPr>
        <p:spPr>
          <a:xfrm>
            <a:off x="6072501" y="395401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49.16 TB</a:t>
            </a:r>
          </a:p>
        </p:txBody>
      </p:sp>
      <p:sp>
        <p:nvSpPr>
          <p:cNvPr id="46" name="TextBox 45"/>
          <p:cNvSpPr txBox="1"/>
          <p:nvPr/>
        </p:nvSpPr>
        <p:spPr>
          <a:xfrm>
            <a:off x="7445853" y="395401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0.23% better</a:t>
            </a:r>
          </a:p>
        </p:txBody>
      </p:sp>
      <p:sp>
        <p:nvSpPr>
          <p:cNvPr id="47" name="Rectangle 46"/>
          <p:cNvSpPr/>
          <p:nvPr/>
        </p:nvSpPr>
        <p:spPr>
          <a:xfrm>
            <a:off x="658368" y="417804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17804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0664" y="422833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down</a:t>
            </a:r>
          </a:p>
        </p:txBody>
      </p:sp>
      <p:sp>
        <p:nvSpPr>
          <p:cNvPr id="50" name="TextBox 49"/>
          <p:cNvSpPr txBox="1"/>
          <p:nvPr/>
        </p:nvSpPr>
        <p:spPr>
          <a:xfrm>
            <a:off x="3487367"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79.19 TB</a:t>
            </a:r>
          </a:p>
        </p:txBody>
      </p:sp>
      <p:sp>
        <p:nvSpPr>
          <p:cNvPr id="51" name="TextBox 50"/>
          <p:cNvSpPr txBox="1"/>
          <p:nvPr/>
        </p:nvSpPr>
        <p:spPr>
          <a:xfrm>
            <a:off x="4779934"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163.05 TB</a:t>
            </a:r>
          </a:p>
        </p:txBody>
      </p:sp>
      <p:sp>
        <p:nvSpPr>
          <p:cNvPr id="52" name="TextBox 51"/>
          <p:cNvSpPr txBox="1"/>
          <p:nvPr/>
        </p:nvSpPr>
        <p:spPr>
          <a:xfrm>
            <a:off x="6072501" y="422833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76.30 TB</a:t>
            </a:r>
          </a:p>
        </p:txBody>
      </p:sp>
      <p:sp>
        <p:nvSpPr>
          <p:cNvPr id="53" name="TextBox 52"/>
          <p:cNvSpPr txBox="1"/>
          <p:nvPr/>
        </p:nvSpPr>
        <p:spPr>
          <a:xfrm>
            <a:off x="7445853" y="422833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3.66% better</a:t>
            </a:r>
          </a:p>
        </p:txBody>
      </p:sp>
      <p:sp>
        <p:nvSpPr>
          <p:cNvPr id="54" name="Rectangle 53"/>
          <p:cNvSpPr/>
          <p:nvPr/>
        </p:nvSpPr>
        <p:spPr>
          <a:xfrm>
            <a:off x="658368" y="44523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45026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Failed session setups</a:t>
            </a:r>
          </a:p>
        </p:txBody>
      </p:sp>
      <p:sp>
        <p:nvSpPr>
          <p:cNvPr id="56" name="TextBox 55"/>
          <p:cNvSpPr txBox="1"/>
          <p:nvPr/>
        </p:nvSpPr>
        <p:spPr>
          <a:xfrm>
            <a:off x="3487367"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7" name="TextBox 56"/>
          <p:cNvSpPr txBox="1"/>
          <p:nvPr/>
        </p:nvSpPr>
        <p:spPr>
          <a:xfrm>
            <a:off x="4779934"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8" name="TextBox 57"/>
          <p:cNvSpPr txBox="1"/>
          <p:nvPr/>
        </p:nvSpPr>
        <p:spPr>
          <a:xfrm>
            <a:off x="6072501" y="45026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9" name="TextBox 58"/>
          <p:cNvSpPr txBox="1"/>
          <p:nvPr/>
        </p:nvSpPr>
        <p:spPr>
          <a:xfrm>
            <a:off x="7445853" y="4502657"/>
            <a:ext cx="161268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 change</a:t>
            </a:r>
          </a:p>
        </p:txBody>
      </p:sp>
      <p:sp>
        <p:nvSpPr>
          <p:cNvPr id="60" name="Rectangle 59"/>
          <p:cNvSpPr/>
          <p:nvPr/>
        </p:nvSpPr>
        <p:spPr>
          <a:xfrm>
            <a:off x="658368" y="47266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58368" y="2532126"/>
            <a:ext cx="8482468" cy="21945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467084"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49964" y="2550414"/>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Reactive is worse than doing nothing clever</a:t>
            </a:r>
          </a:p>
        </p:txBody>
      </p:sp>
      <p:sp>
        <p:nvSpPr>
          <p:cNvPr id="64" name="TextBox 63"/>
          <p:cNvSpPr txBox="1"/>
          <p:nvPr/>
        </p:nvSpPr>
        <p:spPr>
          <a:xfrm>
            <a:off x="9649964" y="2960979"/>
            <a:ext cx="1883362" cy="950849"/>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50% more overload and 59% more dropped data than predictive. So the real competition is the simple rule.</a:t>
            </a:r>
          </a:p>
        </p:txBody>
      </p:sp>
      <p:sp>
        <p:nvSpPr>
          <p:cNvPr id="65" name="Rectangle 64"/>
          <p:cNvSpPr/>
          <p:nvPr/>
        </p:nvSpPr>
        <p:spPr>
          <a:xfrm>
            <a:off x="9467084" y="3957548"/>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467084" y="411756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649964" y="4048988"/>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2.40% against a 20% target</a:t>
            </a:r>
          </a:p>
        </p:txBody>
      </p:sp>
      <p:sp>
        <p:nvSpPr>
          <p:cNvPr id="68" name="TextBox 67"/>
          <p:cNvSpPr txBox="1"/>
          <p:nvPr/>
        </p:nvSpPr>
        <p:spPr>
          <a:xfrm>
            <a:off x="9649964" y="4459554"/>
            <a:ext cx="1883362" cy="778967"/>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The predictive controller did beat the simple rule — by nowhere near enough.</a:t>
            </a:r>
          </a:p>
        </p:txBody>
      </p:sp>
      <p:sp>
        <p:nvSpPr>
          <p:cNvPr id="69" name="Rectangle 68"/>
          <p:cNvSpPr/>
          <p:nvPr/>
        </p:nvSpPr>
        <p:spPr>
          <a:xfrm>
            <a:off x="9467084" y="5284241"/>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467084" y="544426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49964" y="5375681"/>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It mostly chose not to act</a:t>
            </a:r>
          </a:p>
        </p:txBody>
      </p:sp>
      <p:sp>
        <p:nvSpPr>
          <p:cNvPr id="72" name="TextBox 71"/>
          <p:cNvSpPr txBox="1"/>
          <p:nvPr/>
        </p:nvSpPr>
        <p:spPr>
          <a:xfrm>
            <a:off x="9649964" y="5786247"/>
            <a:ext cx="1883362" cy="607085"/>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It left the plan unchanged in 109 of 143 rounds, acting only 34 times.</a:t>
            </a:r>
          </a:p>
        </p:txBody>
      </p:sp>
      <p:sp>
        <p:nvSpPr>
          <p:cNvPr id="73" name="TextBox 7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Tuning made it worse, every time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Eight settings across two validation days, then six more that each added one specific capability. Negative means worse than the simple rule.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tuning.png"/>
          <p:cNvPicPr>
            <a:picLocks noChangeAspect="1"/>
          </p:cNvPicPr>
          <p:nvPr/>
        </p:nvPicPr>
        <p:blipFill>
          <a:blip r:embed="rId2"/>
          <a:stretch>
            <a:fillRect/>
          </a:stretch>
        </p:blipFill>
        <p:spPr>
          <a:xfrm>
            <a:off x="658368" y="2261108"/>
            <a:ext cx="5437479" cy="2891519"/>
          </a:xfrm>
          <a:prstGeom prst="rect">
            <a:avLst/>
          </a:prstGeom>
        </p:spPr>
      </p:pic>
      <p:sp>
        <p:nvSpPr>
          <p:cNvPr id="9" name="Rectangle 8"/>
          <p:cNvSpPr/>
          <p:nvPr/>
        </p:nvSpPr>
        <p:spPr>
          <a:xfrm>
            <a:off x="6422096" y="2261108"/>
            <a:ext cx="5111230" cy="228965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2096" y="2261108"/>
            <a:ext cx="34747" cy="2289657"/>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9840" y="2407412"/>
            <a:ext cx="4654030"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THE OPTIMIZER ACTIVELY HURTS</a:t>
            </a:r>
          </a:p>
        </p:txBody>
      </p:sp>
      <p:sp>
        <p:nvSpPr>
          <p:cNvPr id="12" name="TextBox 11"/>
          <p:cNvSpPr txBox="1"/>
          <p:nvPr/>
        </p:nvSpPr>
        <p:spPr>
          <a:xfrm>
            <a:off x="6659840" y="2663444"/>
            <a:ext cx="4608310" cy="1832457"/>
          </a:xfrm>
          <a:prstGeom prst="rect">
            <a:avLst/>
          </a:prstGeom>
          <a:noFill/>
        </p:spPr>
        <p:txBody>
          <a:bodyPr wrap="square" anchor="t" lIns="0" rIns="0" tIns="0" bIns="0">
            <a:spAutoFit/>
          </a:bodyPr>
          <a:lstStyle/>
          <a:p>
            <a:pPr algn="l">
              <a:lnSpc>
                <a:spcPct val="136000"/>
              </a:lnSpc>
            </a:pPr>
            <a:r>
              <a:rPr sz="1120" b="0" i="0">
                <a:solidFill>
                  <a:srgbClr val="3C4653"/>
                </a:solidFill>
                <a:latin typeface="Segoe UI"/>
              </a:rPr>
              <a:t>It correctly reduces the peak inside its planning window by packing traffic onto whichever boxes look free right now. But sessions last hours. Those sessions become a permanent load that a new-session-only lever cannot undo later. The simple rule spreads every group across all its allowed boxes, which is far more robust. We confirmed it directly: several settings reduced immediate overload while making total overload and dropped data worse over the full day.</a:t>
            </a:r>
          </a:p>
        </p:txBody>
      </p:sp>
      <p:sp>
        <p:nvSpPr>
          <p:cNvPr id="13" name="TextBox 12"/>
          <p:cNvSpPr txBox="1"/>
          <p:nvPr/>
        </p:nvSpPr>
        <p:spPr>
          <a:xfrm>
            <a:off x="6422096" y="4770221"/>
            <a:ext cx="5111230" cy="1737360"/>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then tested whether any single missing capability explained the gap: telling the optimizer about scheduled events, adding a surge detector, weighting by how long sessions last, and capping how much one box can take. All six variants still lost.</a:t>
            </a:r>
          </a:p>
          <a:p>
            <a:pPr algn="l">
              <a:lnSpc>
                <a:spcPct val="134000"/>
              </a:lnSpc>
              <a:spcBef>
                <a:spcPts val="600"/>
              </a:spcBef>
            </a:pPr>
            <a:r>
              <a:rPr sz="1090" b="0" i="0">
                <a:solidFill>
                  <a:srgbClr val="3C4653"/>
                </a:solidFill>
                <a:latin typeface="Segoe UI"/>
              </a:rPr>
              <a:t>Session-length weighting helped a little — 1.95 percentage points against a 9-point deficit. The conclusion was explicit: the next change is not another parameter, it is a different kind of model.</a:t>
            </a:r>
          </a:p>
        </p:txBody>
      </p:sp>
      <p:sp>
        <p:nvSpPr>
          <p:cNvPr id="14" name="TextBox 1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room for improvement is there?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Before building something harder, we asked whether the problem is solvable at all. An oracle reads the exact arrivals for the whole day, then solves the entire day at once. It cannot be deployed — it knows the future — but it tells us the ceiling.</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oracle.png"/>
          <p:cNvPicPr>
            <a:picLocks noChangeAspect="1"/>
          </p:cNvPicPr>
          <p:nvPr/>
        </p:nvPicPr>
        <p:blipFill>
          <a:blip r:embed="rId2"/>
          <a:stretch>
            <a:fillRect/>
          </a:stretch>
        </p:blipFill>
        <p:spPr>
          <a:xfrm>
            <a:off x="658368" y="2532126"/>
            <a:ext cx="6959973" cy="2378807"/>
          </a:xfrm>
          <a:prstGeom prst="rect">
            <a:avLst/>
          </a:prstGeom>
        </p:spPr>
      </p:pic>
      <p:sp>
        <p:nvSpPr>
          <p:cNvPr id="9" name="Rectangle 8"/>
          <p:cNvSpPr/>
          <p:nvPr/>
        </p:nvSpPr>
        <p:spPr>
          <a:xfrm>
            <a:off x="7944590"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513838"/>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Failures matter more than demand</a:t>
            </a:r>
          </a:p>
        </p:txBody>
      </p:sp>
      <p:sp>
        <p:nvSpPr>
          <p:cNvPr id="11" name="TextBox 10"/>
          <p:cNvSpPr txBox="1"/>
          <p:nvPr/>
        </p:nvSpPr>
        <p:spPr>
          <a:xfrm>
            <a:off x="8127470" y="2755341"/>
            <a:ext cx="3405856"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Knowing all future arrivals removes ~55% of overload. Knowing about failures in advance removes 100%.</a:t>
            </a:r>
          </a:p>
        </p:txBody>
      </p:sp>
      <p:sp>
        <p:nvSpPr>
          <p:cNvPr id="12" name="Rectangle 11"/>
          <p:cNvSpPr/>
          <p:nvPr/>
        </p:nvSpPr>
        <p:spPr>
          <a:xfrm>
            <a:off x="7944590" y="3419424"/>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501720"/>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That reframes the whole problem</a:t>
            </a:r>
          </a:p>
        </p:txBody>
      </p:sp>
      <p:sp>
        <p:nvSpPr>
          <p:cNvPr id="15" name="TextBox 14"/>
          <p:cNvSpPr txBox="1"/>
          <p:nvPr/>
        </p:nvSpPr>
        <p:spPr>
          <a:xfrm>
            <a:off x="8127470" y="3743223"/>
            <a:ext cx="3405856"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We had been building better demand forecasts when the leverage was in failure knowledge.</a:t>
            </a:r>
          </a:p>
        </p:txBody>
      </p:sp>
      <p:sp>
        <p:nvSpPr>
          <p:cNvPr id="16" name="Rectangle 15"/>
          <p:cNvSpPr/>
          <p:nvPr/>
        </p:nvSpPr>
        <p:spPr>
          <a:xfrm>
            <a:off x="7944590" y="4228617"/>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437949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4310913"/>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middle rows are unstable</a:t>
            </a:r>
          </a:p>
        </p:txBody>
      </p:sp>
      <p:sp>
        <p:nvSpPr>
          <p:cNvPr id="19" name="TextBox 18"/>
          <p:cNvSpPr txBox="1"/>
          <p:nvPr/>
        </p:nvSpPr>
        <p:spPr>
          <a:xfrm>
            <a:off x="8127470" y="4552416"/>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One day gave −91%, the other +97%. Before an unannounced failure many plans look equally good, and the solver picks between them almost at random.</a:t>
            </a:r>
          </a:p>
        </p:txBody>
      </p:sp>
      <p:sp>
        <p:nvSpPr>
          <p:cNvPr id="20" name="Rectangle 19"/>
          <p:cNvSpPr/>
          <p:nvPr/>
        </p:nvSpPr>
        <p:spPr>
          <a:xfrm>
            <a:off x="7944590" y="539518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5477484"/>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Which is itself evidence</a:t>
            </a:r>
          </a:p>
        </p:txBody>
      </p:sp>
      <p:sp>
        <p:nvSpPr>
          <p:cNvPr id="23" name="TextBox 22"/>
          <p:cNvSpPr txBox="1"/>
          <p:nvPr/>
        </p:nvSpPr>
        <p:spPr>
          <a:xfrm>
            <a:off x="8127470" y="5718987"/>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The next controller needs a reason to prefer staying close to the simple rule, and it needs to care about where it leaves itself exposed later.</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MPC, in four rounds</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means Model Predictive Control: plan several steps ahead, act on the first step, re-plan with fresh information. Ours tracks every running session over a two-hour horizon, and only publishes a plan if it can prove that plan beats the simple rule from the same starting state.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mpcjourney.png"/>
          <p:cNvPicPr>
            <a:picLocks noChangeAspect="1"/>
          </p:cNvPicPr>
          <p:nvPr/>
        </p:nvPicPr>
        <p:blipFill>
          <a:blip r:embed="rId2"/>
          <a:stretch>
            <a:fillRect/>
          </a:stretch>
        </p:blipFill>
        <p:spPr>
          <a:xfrm>
            <a:off x="658368" y="2748280"/>
            <a:ext cx="6307476" cy="1895689"/>
          </a:xfrm>
          <a:prstGeom prst="rect">
            <a:avLst/>
          </a:prstGeom>
        </p:spPr>
      </p:pic>
      <p:sp>
        <p:nvSpPr>
          <p:cNvPr id="9" name="TextBox 8"/>
          <p:cNvSpPr txBox="1"/>
          <p:nvPr/>
        </p:nvSpPr>
        <p:spPr>
          <a:xfrm>
            <a:off x="658368" y="4814824"/>
            <a:ext cx="6307476" cy="365760"/>
          </a:xfrm>
          <a:prstGeom prst="rect">
            <a:avLst/>
          </a:prstGeom>
          <a:noFill/>
        </p:spPr>
        <p:txBody>
          <a:bodyPr wrap="square" anchor="t" lIns="0" rIns="0" tIns="0" bIns="0">
            <a:spAutoFit/>
          </a:bodyPr>
          <a:lstStyle/>
          <a:p>
            <a:pPr algn="l">
              <a:lnSpc>
                <a:spcPct val="134000"/>
              </a:lnSpc>
            </a:pPr>
            <a:r>
              <a:rPr sz="1080" b="0" i="0">
                <a:solidFill>
                  <a:srgbClr val="6C7683"/>
                </a:solidFill>
                <a:latin typeface="Segoe UI"/>
              </a:rPr>
              <a:t>Every time we made the test stricter, the result got smaller — and on the realistic production test set it flipped negative.</a:t>
            </a:r>
          </a:p>
        </p:txBody>
      </p:sp>
      <p:sp>
        <p:nvSpPr>
          <p:cNvPr id="10" name="Rectangle 9"/>
          <p:cNvSpPr/>
          <p:nvPr/>
        </p:nvSpPr>
        <p:spPr>
          <a:xfrm>
            <a:off x="7509592" y="2803144"/>
            <a:ext cx="4023734"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91888" y="2880868"/>
            <a:ext cx="9327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ROUND</a:t>
            </a:r>
          </a:p>
        </p:txBody>
      </p:sp>
      <p:sp>
        <p:nvSpPr>
          <p:cNvPr id="12" name="TextBox 11"/>
          <p:cNvSpPr txBox="1"/>
          <p:nvPr/>
        </p:nvSpPr>
        <p:spPr>
          <a:xfrm>
            <a:off x="8689270" y="2880868"/>
            <a:ext cx="31094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DAYS</a:t>
            </a:r>
          </a:p>
        </p:txBody>
      </p:sp>
      <p:sp>
        <p:nvSpPr>
          <p:cNvPr id="13" name="TextBox 12"/>
          <p:cNvSpPr txBox="1"/>
          <p:nvPr/>
        </p:nvSpPr>
        <p:spPr>
          <a:xfrm>
            <a:off x="9164802" y="2880868"/>
            <a:ext cx="71331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4" name="TextBox 13"/>
          <p:cNvSpPr txBox="1"/>
          <p:nvPr/>
        </p:nvSpPr>
        <p:spPr>
          <a:xfrm>
            <a:off x="10042708" y="2880868"/>
            <a:ext cx="56699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5" name="TextBox 14"/>
          <p:cNvSpPr txBox="1"/>
          <p:nvPr/>
        </p:nvSpPr>
        <p:spPr>
          <a:xfrm>
            <a:off x="10774296" y="2880868"/>
            <a:ext cx="67673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VERDICT</a:t>
            </a:r>
          </a:p>
        </p:txBody>
      </p:sp>
      <p:sp>
        <p:nvSpPr>
          <p:cNvPr id="16" name="Rectangle 15"/>
          <p:cNvSpPr/>
          <p:nvPr/>
        </p:nvSpPr>
        <p:spPr>
          <a:xfrm>
            <a:off x="7509592" y="3077464"/>
            <a:ext cx="4023734"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91888" y="312775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First look</a:t>
            </a:r>
          </a:p>
        </p:txBody>
      </p:sp>
      <p:sp>
        <p:nvSpPr>
          <p:cNvPr id="18" name="TextBox 17"/>
          <p:cNvSpPr txBox="1"/>
          <p:nvPr/>
        </p:nvSpPr>
        <p:spPr>
          <a:xfrm>
            <a:off x="8689270" y="312775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a:t>
            </a:r>
          </a:p>
        </p:txBody>
      </p:sp>
      <p:sp>
        <p:nvSpPr>
          <p:cNvPr id="19" name="TextBox 18"/>
          <p:cNvSpPr txBox="1"/>
          <p:nvPr/>
        </p:nvSpPr>
        <p:spPr>
          <a:xfrm>
            <a:off x="9164802" y="3127756"/>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+25.09%</a:t>
            </a:r>
          </a:p>
        </p:txBody>
      </p:sp>
      <p:sp>
        <p:nvSpPr>
          <p:cNvPr id="20" name="TextBox 19"/>
          <p:cNvSpPr txBox="1"/>
          <p:nvPr/>
        </p:nvSpPr>
        <p:spPr>
          <a:xfrm>
            <a:off x="10042708" y="3127756"/>
            <a:ext cx="566996"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+22.87%</a:t>
            </a:r>
          </a:p>
        </p:txBody>
      </p:sp>
      <p:sp>
        <p:nvSpPr>
          <p:cNvPr id="21" name="TextBox 20"/>
          <p:cNvSpPr txBox="1"/>
          <p:nvPr/>
        </p:nvSpPr>
        <p:spPr>
          <a:xfrm>
            <a:off x="10774296" y="3127756"/>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Promising</a:t>
            </a:r>
          </a:p>
        </p:txBody>
      </p:sp>
      <p:sp>
        <p:nvSpPr>
          <p:cNvPr id="22" name="Rectangle 21"/>
          <p:cNvSpPr/>
          <p:nvPr/>
        </p:nvSpPr>
        <p:spPr>
          <a:xfrm>
            <a:off x="7509592" y="335178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09592" y="3351783"/>
            <a:ext cx="4023734"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91888" y="340207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Wider test</a:t>
            </a:r>
          </a:p>
        </p:txBody>
      </p:sp>
      <p:sp>
        <p:nvSpPr>
          <p:cNvPr id="25" name="TextBox 24"/>
          <p:cNvSpPr txBox="1"/>
          <p:nvPr/>
        </p:nvSpPr>
        <p:spPr>
          <a:xfrm>
            <a:off x="8689270" y="340207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a:t>
            </a:r>
          </a:p>
        </p:txBody>
      </p:sp>
      <p:sp>
        <p:nvSpPr>
          <p:cNvPr id="26" name="TextBox 25"/>
          <p:cNvSpPr txBox="1"/>
          <p:nvPr/>
        </p:nvSpPr>
        <p:spPr>
          <a:xfrm>
            <a:off x="9164802" y="3402076"/>
            <a:ext cx="713313"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+4.74%</a:t>
            </a:r>
          </a:p>
        </p:txBody>
      </p:sp>
      <p:sp>
        <p:nvSpPr>
          <p:cNvPr id="27" name="TextBox 26"/>
          <p:cNvSpPr txBox="1"/>
          <p:nvPr/>
        </p:nvSpPr>
        <p:spPr>
          <a:xfrm>
            <a:off x="10042708" y="3402076"/>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−13.91%</a:t>
            </a:r>
          </a:p>
        </p:txBody>
      </p:sp>
      <p:sp>
        <p:nvSpPr>
          <p:cNvPr id="28" name="TextBox 27"/>
          <p:cNvSpPr txBox="1"/>
          <p:nvPr/>
        </p:nvSpPr>
        <p:spPr>
          <a:xfrm>
            <a:off x="10774296" y="3402076"/>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Blocked</a:t>
            </a:r>
          </a:p>
        </p:txBody>
      </p:sp>
      <p:sp>
        <p:nvSpPr>
          <p:cNvPr id="29" name="Rectangle 28"/>
          <p:cNvSpPr/>
          <p:nvPr/>
        </p:nvSpPr>
        <p:spPr>
          <a:xfrm>
            <a:off x="7509592" y="36261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91888" y="367639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Full campaign</a:t>
            </a:r>
          </a:p>
        </p:txBody>
      </p:sp>
      <p:sp>
        <p:nvSpPr>
          <p:cNvPr id="31" name="TextBox 30"/>
          <p:cNvSpPr txBox="1"/>
          <p:nvPr/>
        </p:nvSpPr>
        <p:spPr>
          <a:xfrm>
            <a:off x="8689270" y="367639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a:t>
            </a:r>
          </a:p>
        </p:txBody>
      </p:sp>
      <p:sp>
        <p:nvSpPr>
          <p:cNvPr id="32" name="TextBox 31"/>
          <p:cNvSpPr txBox="1"/>
          <p:nvPr/>
        </p:nvSpPr>
        <p:spPr>
          <a:xfrm>
            <a:off x="9164802" y="3676395"/>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+10.52%</a:t>
            </a:r>
          </a:p>
        </p:txBody>
      </p:sp>
      <p:sp>
        <p:nvSpPr>
          <p:cNvPr id="33" name="TextBox 32"/>
          <p:cNvSpPr txBox="1"/>
          <p:nvPr/>
        </p:nvSpPr>
        <p:spPr>
          <a:xfrm>
            <a:off x="10042708" y="367639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−23.50%</a:t>
            </a:r>
          </a:p>
        </p:txBody>
      </p:sp>
      <p:sp>
        <p:nvSpPr>
          <p:cNvPr id="34" name="TextBox 33"/>
          <p:cNvSpPr txBox="1"/>
          <p:nvPr/>
        </p:nvSpPr>
        <p:spPr>
          <a:xfrm>
            <a:off x="10774296" y="3676395"/>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Demo only</a:t>
            </a:r>
          </a:p>
        </p:txBody>
      </p:sp>
      <p:sp>
        <p:nvSpPr>
          <p:cNvPr id="35" name="Rectangle 34"/>
          <p:cNvSpPr/>
          <p:nvPr/>
        </p:nvSpPr>
        <p:spPr>
          <a:xfrm>
            <a:off x="7509592" y="390042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09592" y="3900424"/>
            <a:ext cx="4023734"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1888" y="395071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Production test</a:t>
            </a:r>
          </a:p>
        </p:txBody>
      </p:sp>
      <p:sp>
        <p:nvSpPr>
          <p:cNvPr id="38" name="TextBox 37"/>
          <p:cNvSpPr txBox="1"/>
          <p:nvPr/>
        </p:nvSpPr>
        <p:spPr>
          <a:xfrm>
            <a:off x="8689270" y="395071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128</a:t>
            </a:r>
          </a:p>
        </p:txBody>
      </p:sp>
      <p:sp>
        <p:nvSpPr>
          <p:cNvPr id="39" name="TextBox 38"/>
          <p:cNvSpPr txBox="1"/>
          <p:nvPr/>
        </p:nvSpPr>
        <p:spPr>
          <a:xfrm>
            <a:off x="9164802" y="3950715"/>
            <a:ext cx="713313"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−13.30%</a:t>
            </a:r>
          </a:p>
        </p:txBody>
      </p:sp>
      <p:sp>
        <p:nvSpPr>
          <p:cNvPr id="40" name="TextBox 39"/>
          <p:cNvSpPr txBox="1"/>
          <p:nvPr/>
        </p:nvSpPr>
        <p:spPr>
          <a:xfrm>
            <a:off x="10042708" y="395071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−36.22%</a:t>
            </a:r>
          </a:p>
        </p:txBody>
      </p:sp>
      <p:sp>
        <p:nvSpPr>
          <p:cNvPr id="41" name="TextBox 40"/>
          <p:cNvSpPr txBox="1"/>
          <p:nvPr/>
        </p:nvSpPr>
        <p:spPr>
          <a:xfrm>
            <a:off x="10774296" y="3950715"/>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Rejected</a:t>
            </a:r>
          </a:p>
        </p:txBody>
      </p:sp>
      <p:sp>
        <p:nvSpPr>
          <p:cNvPr id="42" name="Rectangle 41"/>
          <p:cNvSpPr/>
          <p:nvPr/>
        </p:nvSpPr>
        <p:spPr>
          <a:xfrm>
            <a:off x="7509592" y="417474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09592" y="2803144"/>
            <a:ext cx="4023734" cy="137159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09592" y="4174743"/>
            <a:ext cx="4023734" cy="262128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09592" y="4174743"/>
            <a:ext cx="34747" cy="2621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47336" y="4321048"/>
            <a:ext cx="356653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RECONCILING +10.52% WITH −13.30%</a:t>
            </a:r>
          </a:p>
        </p:txBody>
      </p:sp>
      <p:sp>
        <p:nvSpPr>
          <p:cNvPr id="47" name="TextBox 46"/>
          <p:cNvSpPr txBox="1"/>
          <p:nvPr/>
        </p:nvSpPr>
        <p:spPr>
          <a:xfrm>
            <a:off x="7747336" y="4577080"/>
            <a:ext cx="3520814" cy="216408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Both used the same controller, settings and metric. What differed was the mix of test days. The 30-day set was deliberately balanced across four stress types, and all the gain came from planned-failure days (+19% there) while surprise and mixed days were already slightly negative. The production set was a larger, different mix with no overlap. On it, only 2 of 128 days improved.</a:t>
            </a:r>
          </a:p>
        </p:txBody>
      </p:sp>
      <p:sp>
        <p:nvSpPr>
          <p:cNvPr id="48" name="TextBox 4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128 production test days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is set to 100 on every measure. Lower is better.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prod128.png"/>
          <p:cNvPicPr>
            <a:picLocks noChangeAspect="1"/>
          </p:cNvPicPr>
          <p:nvPr/>
        </p:nvPicPr>
        <p:blipFill>
          <a:blip r:embed="rId2"/>
          <a:stretch>
            <a:fillRect/>
          </a:stretch>
        </p:blipFill>
        <p:spPr>
          <a:xfrm>
            <a:off x="658368" y="2063242"/>
            <a:ext cx="7394972" cy="2703397"/>
          </a:xfrm>
          <a:prstGeom prst="rect">
            <a:avLst/>
          </a:prstGeom>
        </p:spPr>
      </p:pic>
      <p:sp>
        <p:nvSpPr>
          <p:cNvPr id="9" name="Rectangle 8"/>
          <p:cNvSpPr/>
          <p:nvPr/>
        </p:nvSpPr>
        <p:spPr>
          <a:xfrm>
            <a:off x="8379589" y="224155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62469" y="2172970"/>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Reactive lands at 198–221%</a:t>
            </a:r>
          </a:p>
        </p:txBody>
      </p:sp>
      <p:sp>
        <p:nvSpPr>
          <p:cNvPr id="11" name="TextBox 10"/>
          <p:cNvSpPr txBox="1"/>
          <p:nvPr/>
        </p:nvSpPr>
        <p:spPr>
          <a:xfrm>
            <a:off x="8562469" y="2417724"/>
            <a:ext cx="2970858"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on every single loss measure. It is the worst controller we tested.</a:t>
            </a:r>
          </a:p>
        </p:txBody>
      </p:sp>
      <p:sp>
        <p:nvSpPr>
          <p:cNvPr id="12" name="Rectangle 11"/>
          <p:cNvSpPr/>
          <p:nvPr/>
        </p:nvSpPr>
        <p:spPr>
          <a:xfrm>
            <a:off x="8379589" y="292821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79589" y="309737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2469" y="302879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improves that to 105–117%</a:t>
            </a:r>
          </a:p>
        </p:txBody>
      </p:sp>
      <p:sp>
        <p:nvSpPr>
          <p:cNvPr id="15" name="TextBox 14"/>
          <p:cNvSpPr txBox="1"/>
          <p:nvPr/>
        </p:nvSpPr>
        <p:spPr>
          <a:xfrm>
            <a:off x="8562469" y="327355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much better than reactive, and still consistently worse than doing nothing clever.</a:t>
            </a:r>
          </a:p>
        </p:txBody>
      </p:sp>
      <p:sp>
        <p:nvSpPr>
          <p:cNvPr id="16" name="Rectangle 15"/>
          <p:cNvSpPr/>
          <p:nvPr/>
        </p:nvSpPr>
        <p:spPr>
          <a:xfrm>
            <a:off x="8379589" y="396613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79589" y="413529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2469" y="406671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simple rule wins on all four</a:t>
            </a:r>
          </a:p>
        </p:txBody>
      </p:sp>
      <p:sp>
        <p:nvSpPr>
          <p:cNvPr id="19" name="TextBox 18"/>
          <p:cNvSpPr txBox="1"/>
          <p:nvPr/>
        </p:nvSpPr>
        <p:spPr>
          <a:xfrm>
            <a:off x="8562469" y="431147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uplink overload, downlink overload, uplink drops and downlink drops — simultaneously.</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5</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Learning how long sessions last</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needs to know how long the sessions it places will occupy a box. Using the simulator's own setting would be cheating, so we estimate it from ordinary start/stop logs — using Kaplan–Meier, which handles the awkward part: many sessions are still running when we look.</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surv.png"/>
          <p:cNvPicPr>
            <a:picLocks noChangeAspect="1"/>
          </p:cNvPicPr>
          <p:nvPr/>
        </p:nvPicPr>
        <p:blipFill>
          <a:blip r:embed="rId2"/>
          <a:stretch>
            <a:fillRect/>
          </a:stretch>
        </p:blipFill>
        <p:spPr>
          <a:xfrm>
            <a:off x="658368" y="2766568"/>
            <a:ext cx="6742474" cy="2445890"/>
          </a:xfrm>
          <a:prstGeom prst="rect">
            <a:avLst/>
          </a:prstGeom>
        </p:spPr>
      </p:pic>
      <p:sp>
        <p:nvSpPr>
          <p:cNvPr id="9" name="Rectangle 8"/>
          <p:cNvSpPr/>
          <p:nvPr/>
        </p:nvSpPr>
        <p:spPr>
          <a:xfrm>
            <a:off x="7727091" y="27802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711704"/>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More observations, better estimates</a:t>
            </a:r>
          </a:p>
        </p:txBody>
      </p:sp>
      <p:sp>
        <p:nvSpPr>
          <p:cNvPr id="11" name="TextBox 10"/>
          <p:cNvSpPr txBox="1"/>
          <p:nvPr/>
        </p:nvSpPr>
        <p:spPr>
          <a:xfrm>
            <a:off x="7909971" y="2948330"/>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With 10 000 sessions per group the estimate is off by 0.42%. A fixed guess is off by 33.3%.</a:t>
            </a:r>
          </a:p>
        </p:txBody>
      </p:sp>
      <p:sp>
        <p:nvSpPr>
          <p:cNvPr id="12" name="Rectangle 11"/>
          <p:cNvSpPr/>
          <p:nvPr/>
        </p:nvSpPr>
        <p:spPr>
          <a:xfrm>
            <a:off x="7727091" y="3400653"/>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52866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60089"/>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We tested it blind</a:t>
            </a:r>
          </a:p>
        </p:txBody>
      </p:sp>
      <p:sp>
        <p:nvSpPr>
          <p:cNvPr id="15" name="TextBox 14"/>
          <p:cNvSpPr txBox="1"/>
          <p:nvPr/>
        </p:nvSpPr>
        <p:spPr>
          <a:xfrm>
            <a:off x="7909971" y="3696715"/>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25 trials against each of five distributions it was never told about. Average error 2.9–3.5%.</a:t>
            </a:r>
          </a:p>
        </p:txBody>
      </p:sp>
      <p:sp>
        <p:nvSpPr>
          <p:cNvPr id="16" name="Rectangle 15"/>
          <p:cNvSpPr/>
          <p:nvPr/>
        </p:nvSpPr>
        <p:spPr>
          <a:xfrm>
            <a:off x="7727091" y="4149039"/>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7705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08475"/>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handles drift</a:t>
            </a:r>
          </a:p>
        </p:txBody>
      </p:sp>
      <p:sp>
        <p:nvSpPr>
          <p:cNvPr id="19" name="TextBox 18"/>
          <p:cNvSpPr txBox="1"/>
          <p:nvPr/>
        </p:nvSpPr>
        <p:spPr>
          <a:xfrm>
            <a:off x="7909971" y="4445101"/>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Drift mid-experiment raised error to 4.2%; re-estimating brought it back to 2.75%.</a:t>
            </a:r>
          </a:p>
        </p:txBody>
      </p:sp>
      <p:sp>
        <p:nvSpPr>
          <p:cNvPr id="20" name="Rectangle 19"/>
          <p:cNvSpPr/>
          <p:nvPr/>
        </p:nvSpPr>
        <p:spPr>
          <a:xfrm>
            <a:off x="7727091" y="489742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7091" y="50254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971" y="4956860"/>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fails safe</a:t>
            </a:r>
          </a:p>
        </p:txBody>
      </p:sp>
      <p:sp>
        <p:nvSpPr>
          <p:cNvPr id="23" name="TextBox 22"/>
          <p:cNvSpPr txBox="1"/>
          <p:nvPr/>
        </p:nvSpPr>
        <p:spPr>
          <a:xfrm>
            <a:off x="7909971" y="5193487"/>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Stale data triggered a fallback to the simple rule in 100% of trials.</a:t>
            </a:r>
          </a:p>
        </p:txBody>
      </p:sp>
      <p:sp>
        <p:nvSpPr>
          <p:cNvPr id="24" name="Rectangle 23"/>
          <p:cNvSpPr/>
          <p:nvPr/>
        </p:nvSpPr>
        <p:spPr>
          <a:xfrm>
            <a:off x="658368" y="501599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015992"/>
            <a:ext cx="34747" cy="117043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162296"/>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THE ESTIMATOR WORKS. IT JUST DOESN'T HELP.</a:t>
            </a:r>
          </a:p>
        </p:txBody>
      </p:sp>
      <p:sp>
        <p:nvSpPr>
          <p:cNvPr id="27" name="TextBox 26"/>
          <p:cNvSpPr txBox="1"/>
          <p:nvPr/>
        </p:nvSpPr>
        <p:spPr>
          <a:xfrm>
            <a:off x="896112" y="541832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Feeding these curves into MPC changed almost nothing. Across twelve test days: the perfect oracle curve gave +11.22%, the accurate estimated curve gave +9.91%, and a deliberately wrong uniform curve — off by 40.5% — gave the best result of all at +12.25%. In this setting, survival accuracy and control quality are essentially unrelated.</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Pre-drain, and an impossible trade-off</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If failures matter more than demand, attack failures directly. Pre-drain does one thing: when we know a box will lose capacity soon, stop sending it new sessions ahead of time. Small problem — 648 unknowns — solves in about 30 milliseconds.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frontier.png"/>
          <p:cNvPicPr>
            <a:picLocks noChangeAspect="1"/>
          </p:cNvPicPr>
          <p:nvPr/>
        </p:nvPicPr>
        <p:blipFill>
          <a:blip r:embed="rId2"/>
          <a:stretch>
            <a:fillRect/>
          </a:stretch>
        </p:blipFill>
        <p:spPr>
          <a:xfrm>
            <a:off x="658368" y="2513838"/>
            <a:ext cx="6524975" cy="2332231"/>
          </a:xfrm>
          <a:prstGeom prst="rect">
            <a:avLst/>
          </a:prstGeom>
        </p:spPr>
      </p:pic>
      <p:sp>
        <p:nvSpPr>
          <p:cNvPr id="9" name="Rectangle 8"/>
          <p:cNvSpPr/>
          <p:nvPr/>
        </p:nvSpPr>
        <p:spPr>
          <a:xfrm>
            <a:off x="7509592" y="256413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495550"/>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Each dot is one configuration</a:t>
            </a:r>
          </a:p>
        </p:txBody>
      </p:sp>
      <p:sp>
        <p:nvSpPr>
          <p:cNvPr id="11" name="TextBox 10"/>
          <p:cNvSpPr txBox="1"/>
          <p:nvPr/>
        </p:nvSpPr>
        <p:spPr>
          <a:xfrm>
            <a:off x="7692472" y="2737053"/>
            <a:ext cx="3840854"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Average gain up the axis, worst-day loss across it. Bubble size is how much routing churn it causes.</a:t>
            </a:r>
          </a:p>
        </p:txBody>
      </p:sp>
      <p:sp>
        <p:nvSpPr>
          <p:cNvPr id="12" name="Rectangle 11"/>
          <p:cNvSpPr/>
          <p:nvPr/>
        </p:nvSpPr>
        <p:spPr>
          <a:xfrm>
            <a:off x="7509592" y="32133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35503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286455"/>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green box is the release zone</a:t>
            </a:r>
          </a:p>
        </p:txBody>
      </p:sp>
      <p:sp>
        <p:nvSpPr>
          <p:cNvPr id="15" name="TextBox 14"/>
          <p:cNvSpPr txBox="1"/>
          <p:nvPr/>
        </p:nvSpPr>
        <p:spPr>
          <a:xfrm>
            <a:off x="7692472" y="3527958"/>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 configuration must land inside it. Nothing does.</a:t>
            </a:r>
          </a:p>
        </p:txBody>
      </p:sp>
      <p:sp>
        <p:nvSpPr>
          <p:cNvPr id="16" name="Rectangle 15"/>
          <p:cNvSpPr/>
          <p:nvPr/>
        </p:nvSpPr>
        <p:spPr>
          <a:xfrm>
            <a:off x="7509592" y="382551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396725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3898671"/>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strongly</a:t>
            </a:r>
          </a:p>
        </p:txBody>
      </p:sp>
      <p:sp>
        <p:nvSpPr>
          <p:cNvPr id="19" name="TextBox 18"/>
          <p:cNvSpPr txBox="1"/>
          <p:nvPr/>
        </p:nvSpPr>
        <p:spPr>
          <a:xfrm>
            <a:off x="7692472" y="4140174"/>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buys a good average and an unacceptable worst day.</a:t>
            </a:r>
          </a:p>
        </p:txBody>
      </p:sp>
      <p:sp>
        <p:nvSpPr>
          <p:cNvPr id="20" name="Rectangle 19"/>
          <p:cNvSpPr/>
          <p:nvPr/>
        </p:nvSpPr>
        <p:spPr>
          <a:xfrm>
            <a:off x="7509592" y="4437735"/>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457946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4510887"/>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gently</a:t>
            </a:r>
          </a:p>
        </p:txBody>
      </p:sp>
      <p:sp>
        <p:nvSpPr>
          <p:cNvPr id="23" name="TextBox 22"/>
          <p:cNvSpPr txBox="1"/>
          <p:nvPr/>
        </p:nvSpPr>
        <p:spPr>
          <a:xfrm>
            <a:off x="7692472" y="4752390"/>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is safe and gains too little.</a:t>
            </a:r>
          </a:p>
        </p:txBody>
      </p:sp>
      <p:sp>
        <p:nvSpPr>
          <p:cNvPr id="24" name="Rectangle 23"/>
          <p:cNvSpPr/>
          <p:nvPr/>
        </p:nvSpPr>
        <p:spPr>
          <a:xfrm>
            <a:off x="7509592" y="504995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09592" y="519168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2472" y="5123103"/>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closest miss</a:t>
            </a:r>
          </a:p>
        </p:txBody>
      </p:sp>
      <p:sp>
        <p:nvSpPr>
          <p:cNvPr id="27" name="TextBox 26"/>
          <p:cNvSpPr txBox="1"/>
          <p:nvPr/>
        </p:nvSpPr>
        <p:spPr>
          <a:xfrm>
            <a:off x="7692472" y="5364607"/>
            <a:ext cx="3840854"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50% strength passed ten of eleven checks and failed the worst-day limit by 0.37 percentage points. We did not relax the limit.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 · DETAIL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pre-drain configuration</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240 test days on fresh data. A candidate must pass every check, not most of them.</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06324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40966"/>
            <a:ext cx="16841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CONFIGURATION</a:t>
            </a:r>
          </a:p>
        </p:txBody>
      </p:sp>
      <p:sp>
        <p:nvSpPr>
          <p:cNvPr id="10" name="TextBox 9"/>
          <p:cNvSpPr txBox="1"/>
          <p:nvPr/>
        </p:nvSpPr>
        <p:spPr>
          <a:xfrm>
            <a:off x="258940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1" name="TextBox 10"/>
          <p:cNvSpPr txBox="1"/>
          <p:nvPr/>
        </p:nvSpPr>
        <p:spPr>
          <a:xfrm>
            <a:off x="3785652" y="214096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RANGE</a:t>
            </a:r>
          </a:p>
        </p:txBody>
      </p:sp>
      <p:sp>
        <p:nvSpPr>
          <p:cNvPr id="12" name="TextBox 11"/>
          <p:cNvSpPr txBox="1"/>
          <p:nvPr/>
        </p:nvSpPr>
        <p:spPr>
          <a:xfrm>
            <a:off x="5416896" y="2140966"/>
            <a:ext cx="922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3" name="TextBox 12"/>
          <p:cNvSpPr txBox="1"/>
          <p:nvPr/>
        </p:nvSpPr>
        <p:spPr>
          <a:xfrm>
            <a:off x="6504392" y="2140966"/>
            <a:ext cx="124915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PLANNED FAILURES</a:t>
            </a:r>
          </a:p>
        </p:txBody>
      </p:sp>
      <p:sp>
        <p:nvSpPr>
          <p:cNvPr id="14" name="TextBox 13"/>
          <p:cNvSpPr txBox="1"/>
          <p:nvPr/>
        </p:nvSpPr>
        <p:spPr>
          <a:xfrm>
            <a:off x="791813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MIXED STRESS</a:t>
            </a:r>
          </a:p>
        </p:txBody>
      </p:sp>
      <p:sp>
        <p:nvSpPr>
          <p:cNvPr id="15" name="TextBox 14"/>
          <p:cNvSpPr txBox="1"/>
          <p:nvPr/>
        </p:nvSpPr>
        <p:spPr>
          <a:xfrm>
            <a:off x="9114382"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DECISION</a:t>
            </a:r>
          </a:p>
        </p:txBody>
      </p:sp>
      <p:sp>
        <p:nvSpPr>
          <p:cNvPr id="16" name="TextBox 15"/>
          <p:cNvSpPr txBox="1"/>
          <p:nvPr/>
        </p:nvSpPr>
        <p:spPr>
          <a:xfrm>
            <a:off x="10310628" y="2140966"/>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FAILED ON</a:t>
            </a:r>
          </a:p>
        </p:txBody>
      </p:sp>
      <p:sp>
        <p:nvSpPr>
          <p:cNvPr id="17" name="Rectangle 16"/>
          <p:cNvSpPr/>
          <p:nvPr/>
        </p:nvSpPr>
        <p:spPr>
          <a:xfrm>
            <a:off x="658368" y="233756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38785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Full strength</a:t>
            </a:r>
          </a:p>
        </p:txBody>
      </p:sp>
      <p:sp>
        <p:nvSpPr>
          <p:cNvPr id="19" name="TextBox 18"/>
          <p:cNvSpPr txBox="1"/>
          <p:nvPr/>
        </p:nvSpPr>
        <p:spPr>
          <a:xfrm>
            <a:off x="2589407" y="238785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+18.41%</a:t>
            </a:r>
          </a:p>
        </p:txBody>
      </p:sp>
      <p:sp>
        <p:nvSpPr>
          <p:cNvPr id="20" name="TextBox 19"/>
          <p:cNvSpPr txBox="1"/>
          <p:nvPr/>
        </p:nvSpPr>
        <p:spPr>
          <a:xfrm>
            <a:off x="3785652" y="2387854"/>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[+3.89, +35.43]</a:t>
            </a:r>
          </a:p>
        </p:txBody>
      </p:sp>
      <p:sp>
        <p:nvSpPr>
          <p:cNvPr id="21" name="TextBox 20"/>
          <p:cNvSpPr txBox="1"/>
          <p:nvPr/>
        </p:nvSpPr>
        <p:spPr>
          <a:xfrm>
            <a:off x="5416896" y="238785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−16.22%</a:t>
            </a:r>
          </a:p>
        </p:txBody>
      </p:sp>
      <p:sp>
        <p:nvSpPr>
          <p:cNvPr id="22" name="TextBox 21"/>
          <p:cNvSpPr txBox="1"/>
          <p:nvPr/>
        </p:nvSpPr>
        <p:spPr>
          <a:xfrm>
            <a:off x="6504392" y="238785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+79.20%</a:t>
            </a:r>
          </a:p>
        </p:txBody>
      </p:sp>
      <p:sp>
        <p:nvSpPr>
          <p:cNvPr id="23" name="TextBox 22"/>
          <p:cNvSpPr txBox="1"/>
          <p:nvPr/>
        </p:nvSpPr>
        <p:spPr>
          <a:xfrm>
            <a:off x="7918137" y="238785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−5.58%</a:t>
            </a:r>
          </a:p>
        </p:txBody>
      </p:sp>
      <p:sp>
        <p:nvSpPr>
          <p:cNvPr id="24" name="TextBox 23"/>
          <p:cNvSpPr txBox="1"/>
          <p:nvPr/>
        </p:nvSpPr>
        <p:spPr>
          <a:xfrm>
            <a:off x="9114382" y="238785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25" name="TextBox 24"/>
          <p:cNvSpPr txBox="1"/>
          <p:nvPr/>
        </p:nvSpPr>
        <p:spPr>
          <a:xfrm>
            <a:off x="10310628" y="238785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26" name="Rectangle 25"/>
          <p:cNvSpPr/>
          <p:nvPr/>
        </p:nvSpPr>
        <p:spPr>
          <a:xfrm>
            <a:off x="658368" y="25981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2598166"/>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264845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Early &amp; spread out</a:t>
            </a:r>
          </a:p>
        </p:txBody>
      </p:sp>
      <p:sp>
        <p:nvSpPr>
          <p:cNvPr id="29" name="TextBox 28"/>
          <p:cNvSpPr txBox="1"/>
          <p:nvPr/>
        </p:nvSpPr>
        <p:spPr>
          <a:xfrm>
            <a:off x="2589407" y="2648458"/>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+18.97%</a:t>
            </a:r>
          </a:p>
        </p:txBody>
      </p:sp>
      <p:sp>
        <p:nvSpPr>
          <p:cNvPr id="30" name="TextBox 29"/>
          <p:cNvSpPr txBox="1"/>
          <p:nvPr/>
        </p:nvSpPr>
        <p:spPr>
          <a:xfrm>
            <a:off x="3785652" y="2648458"/>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[+3.78, +36.63]</a:t>
            </a:r>
          </a:p>
        </p:txBody>
      </p:sp>
      <p:sp>
        <p:nvSpPr>
          <p:cNvPr id="31" name="TextBox 30"/>
          <p:cNvSpPr txBox="1"/>
          <p:nvPr/>
        </p:nvSpPr>
        <p:spPr>
          <a:xfrm>
            <a:off x="5416896" y="264845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−20.19%</a:t>
            </a:r>
          </a:p>
        </p:txBody>
      </p:sp>
      <p:sp>
        <p:nvSpPr>
          <p:cNvPr id="32" name="TextBox 31"/>
          <p:cNvSpPr txBox="1"/>
          <p:nvPr/>
        </p:nvSpPr>
        <p:spPr>
          <a:xfrm>
            <a:off x="6504392" y="264845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+83.05%</a:t>
            </a:r>
          </a:p>
        </p:txBody>
      </p:sp>
      <p:sp>
        <p:nvSpPr>
          <p:cNvPr id="33" name="TextBox 32"/>
          <p:cNvSpPr txBox="1"/>
          <p:nvPr/>
        </p:nvSpPr>
        <p:spPr>
          <a:xfrm>
            <a:off x="7918137" y="264845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−7.18%</a:t>
            </a:r>
          </a:p>
        </p:txBody>
      </p:sp>
      <p:sp>
        <p:nvSpPr>
          <p:cNvPr id="34" name="TextBox 33"/>
          <p:cNvSpPr txBox="1"/>
          <p:nvPr/>
        </p:nvSpPr>
        <p:spPr>
          <a:xfrm>
            <a:off x="9114382" y="264845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35" name="TextBox 34"/>
          <p:cNvSpPr txBox="1"/>
          <p:nvPr/>
        </p:nvSpPr>
        <p:spPr>
          <a:xfrm>
            <a:off x="10310628" y="264845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36" name="Rectangle 35"/>
          <p:cNvSpPr/>
          <p:nvPr/>
        </p:nvSpPr>
        <p:spPr>
          <a:xfrm>
            <a:off x="658368" y="285877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2858770"/>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290906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50% strength</a:t>
            </a:r>
          </a:p>
        </p:txBody>
      </p:sp>
      <p:sp>
        <p:nvSpPr>
          <p:cNvPr id="39" name="TextBox 38"/>
          <p:cNvSpPr txBox="1"/>
          <p:nvPr/>
        </p:nvSpPr>
        <p:spPr>
          <a:xfrm>
            <a:off x="2589407" y="2909062"/>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+10.16%</a:t>
            </a:r>
          </a:p>
        </p:txBody>
      </p:sp>
      <p:sp>
        <p:nvSpPr>
          <p:cNvPr id="40" name="TextBox 39"/>
          <p:cNvSpPr txBox="1"/>
          <p:nvPr/>
        </p:nvSpPr>
        <p:spPr>
          <a:xfrm>
            <a:off x="3785652" y="2909062"/>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[+0.99, +21.92]</a:t>
            </a:r>
          </a:p>
        </p:txBody>
      </p:sp>
      <p:sp>
        <p:nvSpPr>
          <p:cNvPr id="41" name="TextBox 40"/>
          <p:cNvSpPr txBox="1"/>
          <p:nvPr/>
        </p:nvSpPr>
        <p:spPr>
          <a:xfrm>
            <a:off x="5416896" y="290906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−10.37%</a:t>
            </a:r>
          </a:p>
        </p:txBody>
      </p:sp>
      <p:sp>
        <p:nvSpPr>
          <p:cNvPr id="42" name="TextBox 41"/>
          <p:cNvSpPr txBox="1"/>
          <p:nvPr/>
        </p:nvSpPr>
        <p:spPr>
          <a:xfrm>
            <a:off x="6504392" y="290906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+43.89%</a:t>
            </a:r>
          </a:p>
        </p:txBody>
      </p:sp>
      <p:sp>
        <p:nvSpPr>
          <p:cNvPr id="43" name="TextBox 42"/>
          <p:cNvSpPr txBox="1"/>
          <p:nvPr/>
        </p:nvSpPr>
        <p:spPr>
          <a:xfrm>
            <a:off x="7918137" y="290906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−3.27%</a:t>
            </a:r>
          </a:p>
        </p:txBody>
      </p:sp>
      <p:sp>
        <p:nvSpPr>
          <p:cNvPr id="44" name="TextBox 43"/>
          <p:cNvSpPr txBox="1"/>
          <p:nvPr/>
        </p:nvSpPr>
        <p:spPr>
          <a:xfrm>
            <a:off x="9114382" y="290906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45" name="TextBox 44"/>
          <p:cNvSpPr txBox="1"/>
          <p:nvPr/>
        </p:nvSpPr>
        <p:spPr>
          <a:xfrm>
            <a:off x="10310628" y="290906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only</a:t>
            </a:r>
          </a:p>
        </p:txBody>
      </p:sp>
      <p:sp>
        <p:nvSpPr>
          <p:cNvPr id="46" name="Rectangle 45"/>
          <p:cNvSpPr/>
          <p:nvPr/>
        </p:nvSpPr>
        <p:spPr>
          <a:xfrm>
            <a:off x="658368" y="311937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119374"/>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316966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25% strength</a:t>
            </a:r>
          </a:p>
        </p:txBody>
      </p:sp>
      <p:sp>
        <p:nvSpPr>
          <p:cNvPr id="49" name="TextBox 48"/>
          <p:cNvSpPr txBox="1"/>
          <p:nvPr/>
        </p:nvSpPr>
        <p:spPr>
          <a:xfrm>
            <a:off x="2589407"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+6.35%</a:t>
            </a:r>
          </a:p>
        </p:txBody>
      </p:sp>
      <p:sp>
        <p:nvSpPr>
          <p:cNvPr id="50" name="TextBox 49"/>
          <p:cNvSpPr txBox="1"/>
          <p:nvPr/>
        </p:nvSpPr>
        <p:spPr>
          <a:xfrm>
            <a:off x="3785652" y="3169666"/>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[+0.66, +14.19]</a:t>
            </a:r>
          </a:p>
        </p:txBody>
      </p:sp>
      <p:sp>
        <p:nvSpPr>
          <p:cNvPr id="51" name="TextBox 50"/>
          <p:cNvSpPr txBox="1"/>
          <p:nvPr/>
        </p:nvSpPr>
        <p:spPr>
          <a:xfrm>
            <a:off x="5416896" y="3169666"/>
            <a:ext cx="92290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−4.54%</a:t>
            </a:r>
          </a:p>
        </p:txBody>
      </p:sp>
      <p:sp>
        <p:nvSpPr>
          <p:cNvPr id="52" name="TextBox 51"/>
          <p:cNvSpPr txBox="1"/>
          <p:nvPr/>
        </p:nvSpPr>
        <p:spPr>
          <a:xfrm>
            <a:off x="6504392" y="316966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+26.76%</a:t>
            </a:r>
          </a:p>
        </p:txBody>
      </p:sp>
      <p:sp>
        <p:nvSpPr>
          <p:cNvPr id="53" name="TextBox 52"/>
          <p:cNvSpPr txBox="1"/>
          <p:nvPr/>
        </p:nvSpPr>
        <p:spPr>
          <a:xfrm>
            <a:off x="7918137" y="316966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−1.37%</a:t>
            </a:r>
          </a:p>
        </p:txBody>
      </p:sp>
      <p:sp>
        <p:nvSpPr>
          <p:cNvPr id="54" name="TextBox 53"/>
          <p:cNvSpPr txBox="1"/>
          <p:nvPr/>
        </p:nvSpPr>
        <p:spPr>
          <a:xfrm>
            <a:off x="9114382"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55" name="TextBox 54"/>
          <p:cNvSpPr txBox="1"/>
          <p:nvPr/>
        </p:nvSpPr>
        <p:spPr>
          <a:xfrm>
            <a:off x="10310628" y="316966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average only</a:t>
            </a:r>
          </a:p>
        </p:txBody>
      </p:sp>
      <p:sp>
        <p:nvSpPr>
          <p:cNvPr id="56" name="Rectangle 55"/>
          <p:cNvSpPr/>
          <p:nvPr/>
        </p:nvSpPr>
        <p:spPr>
          <a:xfrm>
            <a:off x="658368" y="337997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0664" y="3430270"/>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35%</a:t>
            </a:r>
          </a:p>
        </p:txBody>
      </p:sp>
      <p:sp>
        <p:nvSpPr>
          <p:cNvPr id="58" name="TextBox 57"/>
          <p:cNvSpPr txBox="1"/>
          <p:nvPr/>
        </p:nvSpPr>
        <p:spPr>
          <a:xfrm>
            <a:off x="2589407" y="3430270"/>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+6.15%</a:t>
            </a:r>
          </a:p>
        </p:txBody>
      </p:sp>
      <p:sp>
        <p:nvSpPr>
          <p:cNvPr id="59" name="TextBox 58"/>
          <p:cNvSpPr txBox="1"/>
          <p:nvPr/>
        </p:nvSpPr>
        <p:spPr>
          <a:xfrm>
            <a:off x="3785652" y="3430270"/>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[−0.84, +16.37]</a:t>
            </a:r>
          </a:p>
        </p:txBody>
      </p:sp>
      <p:sp>
        <p:nvSpPr>
          <p:cNvPr id="60" name="TextBox 59"/>
          <p:cNvSpPr txBox="1"/>
          <p:nvPr/>
        </p:nvSpPr>
        <p:spPr>
          <a:xfrm>
            <a:off x="5416896" y="3430270"/>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−9.49%</a:t>
            </a:r>
          </a:p>
        </p:txBody>
      </p:sp>
      <p:sp>
        <p:nvSpPr>
          <p:cNvPr id="61" name="TextBox 60"/>
          <p:cNvSpPr txBox="1"/>
          <p:nvPr/>
        </p:nvSpPr>
        <p:spPr>
          <a:xfrm>
            <a:off x="6504392" y="3430270"/>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+28.40%</a:t>
            </a:r>
          </a:p>
        </p:txBody>
      </p:sp>
      <p:sp>
        <p:nvSpPr>
          <p:cNvPr id="62" name="TextBox 61"/>
          <p:cNvSpPr txBox="1"/>
          <p:nvPr/>
        </p:nvSpPr>
        <p:spPr>
          <a:xfrm>
            <a:off x="7918137"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−3.79%</a:t>
            </a:r>
          </a:p>
        </p:txBody>
      </p:sp>
      <p:sp>
        <p:nvSpPr>
          <p:cNvPr id="63" name="TextBox 62"/>
          <p:cNvSpPr txBox="1"/>
          <p:nvPr/>
        </p:nvSpPr>
        <p:spPr>
          <a:xfrm>
            <a:off x="9114382"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764 ms</a:t>
            </a:r>
          </a:p>
        </p:txBody>
      </p:sp>
      <p:sp>
        <p:nvSpPr>
          <p:cNvPr id="64" name="TextBox 63"/>
          <p:cNvSpPr txBox="1"/>
          <p:nvPr/>
        </p:nvSpPr>
        <p:spPr>
          <a:xfrm>
            <a:off x="10310628" y="3430270"/>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65" name="Rectangle 64"/>
          <p:cNvSpPr/>
          <p:nvPr/>
        </p:nvSpPr>
        <p:spPr>
          <a:xfrm>
            <a:off x="658368" y="36405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8368" y="3640582"/>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0664" y="369087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40%</a:t>
            </a:r>
          </a:p>
        </p:txBody>
      </p:sp>
      <p:sp>
        <p:nvSpPr>
          <p:cNvPr id="68" name="TextBox 67"/>
          <p:cNvSpPr txBox="1"/>
          <p:nvPr/>
        </p:nvSpPr>
        <p:spPr>
          <a:xfrm>
            <a:off x="2589407" y="369087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+6.39%</a:t>
            </a:r>
          </a:p>
        </p:txBody>
      </p:sp>
      <p:sp>
        <p:nvSpPr>
          <p:cNvPr id="69" name="TextBox 68"/>
          <p:cNvSpPr txBox="1"/>
          <p:nvPr/>
        </p:nvSpPr>
        <p:spPr>
          <a:xfrm>
            <a:off x="3785652" y="3690874"/>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[−0.99, +16.74]</a:t>
            </a:r>
          </a:p>
        </p:txBody>
      </p:sp>
      <p:sp>
        <p:nvSpPr>
          <p:cNvPr id="70" name="TextBox 69"/>
          <p:cNvSpPr txBox="1"/>
          <p:nvPr/>
        </p:nvSpPr>
        <p:spPr>
          <a:xfrm>
            <a:off x="5416896" y="369087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−10.58%</a:t>
            </a:r>
          </a:p>
        </p:txBody>
      </p:sp>
      <p:sp>
        <p:nvSpPr>
          <p:cNvPr id="71" name="TextBox 70"/>
          <p:cNvSpPr txBox="1"/>
          <p:nvPr/>
        </p:nvSpPr>
        <p:spPr>
          <a:xfrm>
            <a:off x="6504392" y="369087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+30.01%</a:t>
            </a:r>
          </a:p>
        </p:txBody>
      </p:sp>
      <p:sp>
        <p:nvSpPr>
          <p:cNvPr id="72" name="TextBox 71"/>
          <p:cNvSpPr txBox="1"/>
          <p:nvPr/>
        </p:nvSpPr>
        <p:spPr>
          <a:xfrm>
            <a:off x="7918137" y="369087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−4.44%</a:t>
            </a:r>
          </a:p>
        </p:txBody>
      </p:sp>
      <p:sp>
        <p:nvSpPr>
          <p:cNvPr id="73" name="TextBox 72"/>
          <p:cNvSpPr txBox="1"/>
          <p:nvPr/>
        </p:nvSpPr>
        <p:spPr>
          <a:xfrm>
            <a:off x="9114382" y="369087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225 ms</a:t>
            </a:r>
          </a:p>
        </p:txBody>
      </p:sp>
      <p:sp>
        <p:nvSpPr>
          <p:cNvPr id="74" name="TextBox 73"/>
          <p:cNvSpPr txBox="1"/>
          <p:nvPr/>
        </p:nvSpPr>
        <p:spPr>
          <a:xfrm>
            <a:off x="10310628" y="369087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75" name="Rectangle 74"/>
          <p:cNvSpPr/>
          <p:nvPr/>
        </p:nvSpPr>
        <p:spPr>
          <a:xfrm>
            <a:off x="658368" y="39011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0664" y="395147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45%</a:t>
            </a:r>
          </a:p>
        </p:txBody>
      </p:sp>
      <p:sp>
        <p:nvSpPr>
          <p:cNvPr id="77" name="TextBox 76"/>
          <p:cNvSpPr txBox="1"/>
          <p:nvPr/>
        </p:nvSpPr>
        <p:spPr>
          <a:xfrm>
            <a:off x="2589407" y="395147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+6.65%</a:t>
            </a:r>
          </a:p>
        </p:txBody>
      </p:sp>
      <p:sp>
        <p:nvSpPr>
          <p:cNvPr id="78" name="TextBox 77"/>
          <p:cNvSpPr txBox="1"/>
          <p:nvPr/>
        </p:nvSpPr>
        <p:spPr>
          <a:xfrm>
            <a:off x="3785652" y="3951478"/>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[−1.12, +17.18]</a:t>
            </a:r>
          </a:p>
        </p:txBody>
      </p:sp>
      <p:sp>
        <p:nvSpPr>
          <p:cNvPr id="79" name="TextBox 78"/>
          <p:cNvSpPr txBox="1"/>
          <p:nvPr/>
        </p:nvSpPr>
        <p:spPr>
          <a:xfrm>
            <a:off x="5416896" y="395147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−11.97%</a:t>
            </a:r>
          </a:p>
        </p:txBody>
      </p:sp>
      <p:sp>
        <p:nvSpPr>
          <p:cNvPr id="80" name="TextBox 79"/>
          <p:cNvSpPr txBox="1"/>
          <p:nvPr/>
        </p:nvSpPr>
        <p:spPr>
          <a:xfrm>
            <a:off x="6504392" y="395147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81" name="TextBox 80"/>
          <p:cNvSpPr txBox="1"/>
          <p:nvPr/>
        </p:nvSpPr>
        <p:spPr>
          <a:xfrm>
            <a:off x="7918137"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−4.94%</a:t>
            </a:r>
          </a:p>
        </p:txBody>
      </p:sp>
      <p:sp>
        <p:nvSpPr>
          <p:cNvPr id="82" name="TextBox 81"/>
          <p:cNvSpPr txBox="1"/>
          <p:nvPr/>
        </p:nvSpPr>
        <p:spPr>
          <a:xfrm>
            <a:off x="9114382"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970 ms</a:t>
            </a:r>
          </a:p>
        </p:txBody>
      </p:sp>
      <p:sp>
        <p:nvSpPr>
          <p:cNvPr id="83" name="TextBox 82"/>
          <p:cNvSpPr txBox="1"/>
          <p:nvPr/>
        </p:nvSpPr>
        <p:spPr>
          <a:xfrm>
            <a:off x="10310628" y="395147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84" name="Rectangle 83"/>
          <p:cNvSpPr/>
          <p:nvPr/>
        </p:nvSpPr>
        <p:spPr>
          <a:xfrm>
            <a:off x="658368" y="41617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58368" y="41617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40664" y="421208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early taper</a:t>
            </a:r>
          </a:p>
        </p:txBody>
      </p:sp>
      <p:sp>
        <p:nvSpPr>
          <p:cNvPr id="87" name="TextBox 86"/>
          <p:cNvSpPr txBox="1"/>
          <p:nvPr/>
        </p:nvSpPr>
        <p:spPr>
          <a:xfrm>
            <a:off x="2589407" y="421208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+6.61%</a:t>
            </a:r>
          </a:p>
        </p:txBody>
      </p:sp>
      <p:sp>
        <p:nvSpPr>
          <p:cNvPr id="88" name="TextBox 87"/>
          <p:cNvSpPr txBox="1"/>
          <p:nvPr/>
        </p:nvSpPr>
        <p:spPr>
          <a:xfrm>
            <a:off x="3785652" y="4212082"/>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+17.19]</a:t>
            </a:r>
          </a:p>
        </p:txBody>
      </p:sp>
      <p:sp>
        <p:nvSpPr>
          <p:cNvPr id="89" name="TextBox 88"/>
          <p:cNvSpPr txBox="1"/>
          <p:nvPr/>
        </p:nvSpPr>
        <p:spPr>
          <a:xfrm>
            <a:off x="5416896" y="421208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0" name="TextBox 89"/>
          <p:cNvSpPr txBox="1"/>
          <p:nvPr/>
        </p:nvSpPr>
        <p:spPr>
          <a:xfrm>
            <a:off x="6504392" y="421208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+31.53%</a:t>
            </a:r>
          </a:p>
        </p:txBody>
      </p:sp>
      <p:sp>
        <p:nvSpPr>
          <p:cNvPr id="91" name="TextBox 90"/>
          <p:cNvSpPr txBox="1"/>
          <p:nvPr/>
        </p:nvSpPr>
        <p:spPr>
          <a:xfrm>
            <a:off x="7918137"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92" name="TextBox 91"/>
          <p:cNvSpPr txBox="1"/>
          <p:nvPr/>
        </p:nvSpPr>
        <p:spPr>
          <a:xfrm>
            <a:off x="9114382"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739 ms</a:t>
            </a:r>
          </a:p>
        </p:txBody>
      </p:sp>
      <p:sp>
        <p:nvSpPr>
          <p:cNvPr id="93" name="TextBox 92"/>
          <p:cNvSpPr txBox="1"/>
          <p:nvPr/>
        </p:nvSpPr>
        <p:spPr>
          <a:xfrm>
            <a:off x="10310628" y="421208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94" name="Rectangle 93"/>
          <p:cNvSpPr/>
          <p:nvPr/>
        </p:nvSpPr>
        <p:spPr>
          <a:xfrm>
            <a:off x="658368" y="44223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40664" y="447268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late taper</a:t>
            </a:r>
          </a:p>
        </p:txBody>
      </p:sp>
      <p:sp>
        <p:nvSpPr>
          <p:cNvPr id="96" name="TextBox 95"/>
          <p:cNvSpPr txBox="1"/>
          <p:nvPr/>
        </p:nvSpPr>
        <p:spPr>
          <a:xfrm>
            <a:off x="2589407" y="447268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+6.63%</a:t>
            </a:r>
          </a:p>
        </p:txBody>
      </p:sp>
      <p:sp>
        <p:nvSpPr>
          <p:cNvPr id="97" name="TextBox 96"/>
          <p:cNvSpPr txBox="1"/>
          <p:nvPr/>
        </p:nvSpPr>
        <p:spPr>
          <a:xfrm>
            <a:off x="3785652" y="4472686"/>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+17.22]</a:t>
            </a:r>
          </a:p>
        </p:txBody>
      </p:sp>
      <p:sp>
        <p:nvSpPr>
          <p:cNvPr id="98" name="TextBox 97"/>
          <p:cNvSpPr txBox="1"/>
          <p:nvPr/>
        </p:nvSpPr>
        <p:spPr>
          <a:xfrm>
            <a:off x="5416896" y="4472686"/>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9" name="TextBox 98"/>
          <p:cNvSpPr txBox="1"/>
          <p:nvPr/>
        </p:nvSpPr>
        <p:spPr>
          <a:xfrm>
            <a:off x="6504392" y="447268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100" name="TextBox 99"/>
          <p:cNvSpPr txBox="1"/>
          <p:nvPr/>
        </p:nvSpPr>
        <p:spPr>
          <a:xfrm>
            <a:off x="7918137"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101" name="TextBox 100"/>
          <p:cNvSpPr txBox="1"/>
          <p:nvPr/>
        </p:nvSpPr>
        <p:spPr>
          <a:xfrm>
            <a:off x="9114382"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628 ms</a:t>
            </a:r>
          </a:p>
        </p:txBody>
      </p:sp>
      <p:sp>
        <p:nvSpPr>
          <p:cNvPr id="102" name="TextBox 101"/>
          <p:cNvSpPr txBox="1"/>
          <p:nvPr/>
        </p:nvSpPr>
        <p:spPr>
          <a:xfrm>
            <a:off x="10310628" y="447268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103" name="Rectangle 102"/>
          <p:cNvSpPr/>
          <p:nvPr/>
        </p:nvSpPr>
        <p:spPr>
          <a:xfrm>
            <a:off x="658368" y="46829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2063242"/>
            <a:ext cx="10874959" cy="261975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 y="4678426"/>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58368" y="4678426"/>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96112" y="4824730"/>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MAKING IT ADAPTIVE DIDN'T SAVE IT</a:t>
            </a:r>
          </a:p>
        </p:txBody>
      </p:sp>
      <p:sp>
        <p:nvSpPr>
          <p:cNvPr id="108" name="TextBox 107"/>
          <p:cNvSpPr txBox="1"/>
          <p:nvPr/>
        </p:nvSpPr>
        <p:spPr>
          <a:xfrm>
            <a:off x="896112" y="5080762"/>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We tried varying the strength based on how busy the box currently was. The mechanism worked — strength ranged from 25% to 50% as intended. It still failed on the same day. The known capacity loss entered the planning window first, and the surprise surge started well after that. At every pre-drain decision the box looked only 35% busy, so the controller applied full strength. By the time the surge arrived those sessions were already placed. Reacting to how busy things are right now cannot protect you from a surprise that arrives after you have already committed.</a:t>
            </a:r>
          </a:p>
        </p:txBody>
      </p:sp>
      <p:sp>
        <p:nvSpPr>
          <p:cNvPr id="109" name="TextBox 10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compute a decision takes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measured solver status, problem size, solve time and — importantly — the complete time to make a decision, not just the solver call. Earlier checks only looked at the solver, and that hid real outliers.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159611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10" name="TextBox 9"/>
          <p:cNvSpPr txBox="1"/>
          <p:nvPr/>
        </p:nvSpPr>
        <p:spPr>
          <a:xfrm>
            <a:off x="2501371" y="2609850"/>
            <a:ext cx="19068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PROBLEM SIZE</a:t>
            </a:r>
          </a:p>
        </p:txBody>
      </p:sp>
      <p:sp>
        <p:nvSpPr>
          <p:cNvPr id="11" name="TextBox 10"/>
          <p:cNvSpPr txBox="1"/>
          <p:nvPr/>
        </p:nvSpPr>
        <p:spPr>
          <a:xfrm>
            <a:off x="4572792" y="2609850"/>
            <a:ext cx="169968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SOLVE TIME</a:t>
            </a:r>
          </a:p>
        </p:txBody>
      </p:sp>
      <p:sp>
        <p:nvSpPr>
          <p:cNvPr id="12" name="TextBox 11"/>
          <p:cNvSpPr txBox="1"/>
          <p:nvPr/>
        </p:nvSpPr>
        <p:spPr>
          <a:xfrm>
            <a:off x="6437071" y="2609850"/>
            <a:ext cx="138897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SOLVE</a:t>
            </a:r>
          </a:p>
        </p:txBody>
      </p:sp>
      <p:sp>
        <p:nvSpPr>
          <p:cNvPr id="13" name="TextBox 12"/>
          <p:cNvSpPr txBox="1"/>
          <p:nvPr/>
        </p:nvSpPr>
        <p:spPr>
          <a:xfrm>
            <a:off x="7990636" y="2609850"/>
            <a:ext cx="180325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FULL DECISION</a:t>
            </a:r>
          </a:p>
        </p:txBody>
      </p:sp>
      <p:sp>
        <p:nvSpPr>
          <p:cNvPr id="14" name="TextBox 13"/>
          <p:cNvSpPr txBox="1"/>
          <p:nvPr/>
        </p:nvSpPr>
        <p:spPr>
          <a:xfrm>
            <a:off x="9958486" y="2609850"/>
            <a:ext cx="149254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TIMEOUTS / ERRORS</a:t>
            </a:r>
          </a:p>
        </p:txBody>
      </p:sp>
      <p:sp>
        <p:nvSpPr>
          <p:cNvPr id="15" name="Rectangle 14"/>
          <p:cNvSpPr/>
          <p:nvPr/>
        </p:nvSpPr>
        <p:spPr>
          <a:xfrm>
            <a:off x="658368" y="2806445"/>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17" name="TextBox 16"/>
          <p:cNvSpPr txBox="1"/>
          <p:nvPr/>
        </p:nvSpPr>
        <p:spPr>
          <a:xfrm>
            <a:off x="2501371" y="2856738"/>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648 unknowns</a:t>
            </a:r>
          </a:p>
        </p:txBody>
      </p:sp>
      <p:sp>
        <p:nvSpPr>
          <p:cNvPr id="18" name="TextBox 17"/>
          <p:cNvSpPr txBox="1"/>
          <p:nvPr/>
        </p:nvSpPr>
        <p:spPr>
          <a:xfrm>
            <a:off x="4572792" y="2856738"/>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27–28 ms typical</a:t>
            </a:r>
          </a:p>
        </p:txBody>
      </p:sp>
      <p:sp>
        <p:nvSpPr>
          <p:cNvPr id="19" name="TextBox 18"/>
          <p:cNvSpPr txBox="1"/>
          <p:nvPr/>
        </p:nvSpPr>
        <p:spPr>
          <a:xfrm>
            <a:off x="6437071" y="2856738"/>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118–127 ms</a:t>
            </a:r>
          </a:p>
        </p:txBody>
      </p:sp>
      <p:sp>
        <p:nvSpPr>
          <p:cNvPr id="20" name="TextBox 19"/>
          <p:cNvSpPr txBox="1"/>
          <p:nvPr/>
        </p:nvSpPr>
        <p:spPr>
          <a:xfrm>
            <a:off x="7990636" y="2856738"/>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225–970 ms</a:t>
            </a:r>
          </a:p>
        </p:txBody>
      </p:sp>
      <p:sp>
        <p:nvSpPr>
          <p:cNvPr id="21" name="TextBox 20"/>
          <p:cNvSpPr txBox="1"/>
          <p:nvPr/>
        </p:nvSpPr>
        <p:spPr>
          <a:xfrm>
            <a:off x="9958486" y="2856738"/>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22" name="Rectangle 21"/>
          <p:cNvSpPr/>
          <p:nvPr/>
        </p:nvSpPr>
        <p:spPr>
          <a:xfrm>
            <a:off x="658368" y="30990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99053"/>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149345"/>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25" name="TextBox 24"/>
          <p:cNvSpPr txBox="1"/>
          <p:nvPr/>
        </p:nvSpPr>
        <p:spPr>
          <a:xfrm>
            <a:off x="2501371" y="3149345"/>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 3 818 unknowns</a:t>
            </a:r>
          </a:p>
        </p:txBody>
      </p:sp>
      <p:sp>
        <p:nvSpPr>
          <p:cNvPr id="26" name="TextBox 25"/>
          <p:cNvSpPr txBox="1"/>
          <p:nvPr/>
        </p:nvSpPr>
        <p:spPr>
          <a:xfrm>
            <a:off x="4572792" y="3149345"/>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4.1–4.2 s</a:t>
            </a:r>
          </a:p>
        </p:txBody>
      </p:sp>
      <p:sp>
        <p:nvSpPr>
          <p:cNvPr id="27" name="TextBox 26"/>
          <p:cNvSpPr txBox="1"/>
          <p:nvPr/>
        </p:nvSpPr>
        <p:spPr>
          <a:xfrm>
            <a:off x="6437071" y="3149345"/>
            <a:ext cx="138897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6.18 s</a:t>
            </a:r>
          </a:p>
        </p:txBody>
      </p:sp>
      <p:sp>
        <p:nvSpPr>
          <p:cNvPr id="28" name="TextBox 27"/>
          <p:cNvSpPr txBox="1"/>
          <p:nvPr/>
        </p:nvSpPr>
        <p:spPr>
          <a:xfrm>
            <a:off x="7990636" y="3149345"/>
            <a:ext cx="1803257"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5.4–6.2 s</a:t>
            </a:r>
          </a:p>
        </p:txBody>
      </p:sp>
      <p:sp>
        <p:nvSpPr>
          <p:cNvPr id="29" name="TextBox 28"/>
          <p:cNvSpPr txBox="1"/>
          <p:nvPr/>
        </p:nvSpPr>
        <p:spPr>
          <a:xfrm>
            <a:off x="9958486" y="3149345"/>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30" name="Rectangle 29"/>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441953"/>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32" name="TextBox 31"/>
          <p:cNvSpPr txBox="1"/>
          <p:nvPr/>
        </p:nvSpPr>
        <p:spPr>
          <a:xfrm>
            <a:off x="2501371" y="3441953"/>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 groups × 24 boxes</a:t>
            </a:r>
          </a:p>
        </p:txBody>
      </p:sp>
      <p:sp>
        <p:nvSpPr>
          <p:cNvPr id="33" name="TextBox 32"/>
          <p:cNvSpPr txBox="1"/>
          <p:nvPr/>
        </p:nvSpPr>
        <p:spPr>
          <a:xfrm>
            <a:off x="4572792" y="3441953"/>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&lt; 1 s (capped)</a:t>
            </a:r>
          </a:p>
        </p:txBody>
      </p:sp>
      <p:sp>
        <p:nvSpPr>
          <p:cNvPr id="34" name="TextBox 33"/>
          <p:cNvSpPr txBox="1"/>
          <p:nvPr/>
        </p:nvSpPr>
        <p:spPr>
          <a:xfrm>
            <a:off x="6437071" y="3441953"/>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5" name="TextBox 34"/>
          <p:cNvSpPr txBox="1"/>
          <p:nvPr/>
        </p:nvSpPr>
        <p:spPr>
          <a:xfrm>
            <a:off x="7990636" y="3441953"/>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6" name="TextBox 35"/>
          <p:cNvSpPr txBox="1"/>
          <p:nvPr/>
        </p:nvSpPr>
        <p:spPr>
          <a:xfrm>
            <a:off x="9958486" y="3441953"/>
            <a:ext cx="1492544"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always solved</a:t>
            </a:r>
          </a:p>
        </p:txBody>
      </p:sp>
      <p:sp>
        <p:nvSpPr>
          <p:cNvPr id="37" name="Rectangle 36"/>
          <p:cNvSpPr/>
          <p:nvPr/>
        </p:nvSpPr>
        <p:spPr>
          <a:xfrm>
            <a:off x="658368" y="368426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2532126"/>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3830573"/>
            <a:ext cx="10874959" cy="457200"/>
          </a:xfrm>
          <a:prstGeom prst="rect">
            <a:avLst/>
          </a:prstGeom>
          <a:noFill/>
        </p:spPr>
        <p:txBody>
          <a:bodyPr wrap="square" anchor="t" lIns="0" rIns="0" tIns="0" bIns="0">
            <a:spAutoFit/>
          </a:bodyPr>
          <a:lstStyle/>
          <a:p>
            <a:pPr algn="l">
              <a:lnSpc>
                <a:spcPct val="130000"/>
              </a:lnSpc>
            </a:pPr>
            <a:r>
              <a:rPr sz="980" b="0" i="0">
                <a:solidFill>
                  <a:srgbClr val="9C3B35"/>
                </a:solidFill>
                <a:latin typeface="Segoe UI"/>
              </a:rPr>
              <a:t>These worst-case times were measured while 120 simulations ran at once on a fully loaded 125-CPU machine. They are NOT a clean measurement of production speed and should not be quoted as one.</a:t>
            </a:r>
          </a:p>
        </p:txBody>
      </p:sp>
      <p:sp>
        <p:nvSpPr>
          <p:cNvPr id="40" name="Rectangle 39"/>
          <p:cNvSpPr/>
          <p:nvPr/>
        </p:nvSpPr>
        <p:spPr>
          <a:xfrm>
            <a:off x="658368" y="3995166"/>
            <a:ext cx="5245455" cy="230997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TIMEOUT DISCOVERY</a:t>
            </a:r>
          </a:p>
        </p:txBody>
      </p:sp>
      <p:sp>
        <p:nvSpPr>
          <p:cNvPr id="42" name="TextBox 41"/>
          <p:cNvSpPr txBox="1"/>
          <p:nvPr/>
        </p:nvSpPr>
        <p:spPr>
          <a:xfrm>
            <a:off x="859536" y="4470654"/>
            <a:ext cx="4843119" cy="1688185"/>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Early MPC runs showed the solver timing out about 69% of the time. We removed the timeout to check whether the negative result was just an artefact of the optimizer never running. It ran fine — and the gap did not close. So the negative result is real.</a:t>
            </a:r>
          </a:p>
          <a:p>
            <a:pPr algn="l">
              <a:lnSpc>
                <a:spcPct val="134000"/>
              </a:lnSpc>
              <a:spcBef>
                <a:spcPts val="600"/>
              </a:spcBef>
            </a:pPr>
            <a:r>
              <a:rPr sz="1090" b="0" i="0">
                <a:solidFill>
                  <a:srgbClr val="3C4653"/>
                </a:solidFill>
                <a:latin typeface="Segoe UI"/>
              </a:rPr>
              <a:t>But the 2-second solver limit was never a limit on the whole decision. One decision makes several solver and validation calls.</a:t>
            </a:r>
          </a:p>
        </p:txBody>
      </p:sp>
      <p:sp>
        <p:nvSpPr>
          <p:cNvPr id="43" name="Rectangle 42"/>
          <p:cNvSpPr/>
          <p:nvPr/>
        </p:nvSpPr>
        <p:spPr>
          <a:xfrm>
            <a:off x="6287871" y="3995166"/>
            <a:ext cx="5245455" cy="212448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89039"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CAMPAIGN COMPUTE</a:t>
            </a:r>
          </a:p>
        </p:txBody>
      </p:sp>
      <p:sp>
        <p:nvSpPr>
          <p:cNvPr id="45" name="TextBox 44"/>
          <p:cNvSpPr txBox="1"/>
          <p:nvPr/>
        </p:nvSpPr>
        <p:spPr>
          <a:xfrm>
            <a:off x="6489039" y="4470654"/>
            <a:ext cx="4843119" cy="1502689"/>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Each 120-day campaign took about 1 hour 10 minutes on one exclusive 125-CPU node, running at roughly 12 000% CPU — about 120 cores busy at once.</a:t>
            </a:r>
          </a:p>
          <a:p>
            <a:pPr algn="l">
              <a:lnSpc>
                <a:spcPct val="134000"/>
              </a:lnSpc>
              <a:spcBef>
                <a:spcPts val="600"/>
              </a:spcBef>
            </a:pPr>
            <a:r>
              <a:rPr sz="1090" b="0" i="0">
                <a:solidFill>
                  <a:srgbClr val="3C4653"/>
                </a:solidFill>
                <a:latin typeface="Segoe UI"/>
              </a:rPr>
              <a:t>Only the fixed 40% configuration met the new 500 ms decision budget, and it still failed on average gain, confidence and worst day. The speed check did its job: it exposed slow decisions that solver-only reporting had completely hidden.</a:t>
            </a:r>
          </a:p>
        </p:txBody>
      </p:sp>
      <p:sp>
        <p:nvSpPr>
          <p:cNvPr id="46" name="TextBox 4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FULL SCORECARD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Fifteen candidates, thirteen checks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candidate must fill every square.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gates3.png"/>
          <p:cNvPicPr>
            <a:picLocks noChangeAspect="1"/>
          </p:cNvPicPr>
          <p:nvPr/>
        </p:nvPicPr>
        <p:blipFill>
          <a:blip r:embed="rId2"/>
          <a:stretch>
            <a:fillRect/>
          </a:stretch>
        </p:blipFill>
        <p:spPr>
          <a:xfrm>
            <a:off x="658368" y="1916938"/>
            <a:ext cx="6892687" cy="4041648"/>
          </a:xfrm>
          <a:prstGeom prst="rect">
            <a:avLst/>
          </a:prstGeom>
        </p:spPr>
      </p:pic>
      <p:sp>
        <p:nvSpPr>
          <p:cNvPr id="9" name="Rectangle 8"/>
          <p:cNvSpPr/>
          <p:nvPr/>
        </p:nvSpPr>
        <p:spPr>
          <a:xfrm>
            <a:off x="8597088" y="2099818"/>
            <a:ext cx="2936238" cy="22585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97088" y="2099818"/>
            <a:ext cx="34747" cy="225856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4832" y="2246122"/>
            <a:ext cx="2479038"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FILLED A ROW</a:t>
            </a:r>
          </a:p>
        </p:txBody>
      </p:sp>
      <p:sp>
        <p:nvSpPr>
          <p:cNvPr id="12" name="TextBox 11"/>
          <p:cNvSpPr txBox="1"/>
          <p:nvPr/>
        </p:nvSpPr>
        <p:spPr>
          <a:xfrm>
            <a:off x="8834832" y="2502154"/>
            <a:ext cx="2433318" cy="1801368"/>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The first three MPC variants failed for a different reason entirely: the trained forecaster needed 144 completed history windows to warm up, and the experiment only had 143. So all 10 368 decisions safely refused to act — correct behaviour, and useless as evidence.</a:t>
            </a:r>
          </a:p>
        </p:txBody>
      </p:sp>
      <p:sp>
        <p:nvSpPr>
          <p:cNvPr id="13" name="Rectangle 12"/>
          <p:cNvSpPr/>
          <p:nvPr/>
        </p:nvSpPr>
        <p:spPr>
          <a:xfrm>
            <a:off x="8597088" y="4596130"/>
            <a:ext cx="2936238" cy="130860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97088" y="4596130"/>
            <a:ext cx="34747" cy="13086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34832" y="4742434"/>
            <a:ext cx="2479038"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CHANGED</a:t>
            </a:r>
          </a:p>
        </p:txBody>
      </p:sp>
      <p:sp>
        <p:nvSpPr>
          <p:cNvPr id="16" name="TextBox 15"/>
          <p:cNvSpPr txBox="1"/>
          <p:nvPr/>
        </p:nvSpPr>
        <p:spPr>
          <a:xfrm>
            <a:off x="8834832" y="4998466"/>
            <a:ext cx="2433318" cy="851407"/>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history-compatibility preflight now rejects that interface before an experiment can consume a development seed pool.</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MACHINERY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happened to every proposed action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7" name="Picture 6" descr="c_funnel.png"/>
          <p:cNvPicPr>
            <a:picLocks noChangeAspect="1"/>
          </p:cNvPicPr>
          <p:nvPr/>
        </p:nvPicPr>
        <p:blipFill>
          <a:blip r:embed="rId2"/>
          <a:stretch>
            <a:fillRect/>
          </a:stretch>
        </p:blipFill>
        <p:spPr>
          <a:xfrm>
            <a:off x="658368" y="1554480"/>
            <a:ext cx="6742474" cy="2611390"/>
          </a:xfrm>
          <a:prstGeom prst="rect">
            <a:avLst/>
          </a:prstGeom>
        </p:spPr>
      </p:pic>
      <p:sp>
        <p:nvSpPr>
          <p:cNvPr id="8" name="Rectangle 7"/>
          <p:cNvSpPr/>
          <p:nvPr/>
        </p:nvSpPr>
        <p:spPr>
          <a:xfrm>
            <a:off x="7727091" y="164134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971" y="1572768"/>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proposed 1 697 actions</a:t>
            </a:r>
          </a:p>
        </p:txBody>
      </p:sp>
      <p:sp>
        <p:nvSpPr>
          <p:cNvPr id="10" name="TextBox 9"/>
          <p:cNvSpPr txBox="1"/>
          <p:nvPr/>
        </p:nvSpPr>
        <p:spPr>
          <a:xfrm>
            <a:off x="7909971" y="1817522"/>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across three variants, once the warm-up problem was fixed.</a:t>
            </a:r>
          </a:p>
        </p:txBody>
      </p:sp>
      <p:sp>
        <p:nvSpPr>
          <p:cNvPr id="11" name="Rectangle 10"/>
          <p:cNvSpPr/>
          <p:nvPr/>
        </p:nvSpPr>
        <p:spPr>
          <a:xfrm>
            <a:off x="7727091" y="231886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27091" y="24788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971" y="2410307"/>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1 032 were executed</a:t>
            </a:r>
          </a:p>
        </p:txBody>
      </p:sp>
      <p:sp>
        <p:nvSpPr>
          <p:cNvPr id="14" name="TextBox 13"/>
          <p:cNvSpPr txBox="1"/>
          <p:nvPr/>
        </p:nvSpPr>
        <p:spPr>
          <a:xfrm>
            <a:off x="7909971" y="2655062"/>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after passing the safety check.</a:t>
            </a:r>
          </a:p>
        </p:txBody>
      </p:sp>
      <p:sp>
        <p:nvSpPr>
          <p:cNvPr id="15" name="Rectangle 14"/>
          <p:cNvSpPr/>
          <p:nvPr/>
        </p:nvSpPr>
        <p:spPr>
          <a:xfrm>
            <a:off x="7727091" y="297431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7091" y="313433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971" y="306575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665 were rejected</a:t>
            </a:r>
          </a:p>
        </p:txBody>
      </p:sp>
      <p:sp>
        <p:nvSpPr>
          <p:cNvPr id="18" name="TextBox 17"/>
          <p:cNvSpPr txBox="1"/>
          <p:nvPr/>
        </p:nvSpPr>
        <p:spPr>
          <a:xfrm>
            <a:off x="7909971" y="3310508"/>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mostly because the improvement was not large enough to justify acting.</a:t>
            </a:r>
          </a:p>
        </p:txBody>
      </p:sp>
      <p:sp>
        <p:nvSpPr>
          <p:cNvPr id="19" name="Rectangle 18"/>
          <p:cNvSpPr/>
          <p:nvPr/>
        </p:nvSpPr>
        <p:spPr>
          <a:xfrm>
            <a:off x="7727091" y="381185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27091" y="397187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971" y="390329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166 had no valid solution</a:t>
            </a:r>
          </a:p>
        </p:txBody>
      </p:sp>
      <p:sp>
        <p:nvSpPr>
          <p:cNvPr id="22" name="TextBox 21"/>
          <p:cNvSpPr txBox="1"/>
          <p:nvPr/>
        </p:nvSpPr>
        <p:spPr>
          <a:xfrm>
            <a:off x="7909971" y="4148048"/>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and correctly fell back.</a:t>
            </a:r>
          </a:p>
        </p:txBody>
      </p:sp>
      <p:sp>
        <p:nvSpPr>
          <p:cNvPr id="23" name="Rectangle 22"/>
          <p:cNvSpPr/>
          <p:nvPr/>
        </p:nvSpPr>
        <p:spPr>
          <a:xfrm>
            <a:off x="7727091" y="4467301"/>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27091" y="46273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971" y="45587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machinery works end to end</a:t>
            </a:r>
          </a:p>
        </p:txBody>
      </p:sp>
      <p:sp>
        <p:nvSpPr>
          <p:cNvPr id="26" name="TextBox 25"/>
          <p:cNvSpPr txBox="1"/>
          <p:nvPr/>
        </p:nvSpPr>
        <p:spPr>
          <a:xfrm>
            <a:off x="7909971" y="4803495"/>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benefit is simply not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SELF-AUDIT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 safety problem we found in our own results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6742474"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554480"/>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700784"/>
            <a:ext cx="6285274"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“SOLVED” DID NOT ALWAYS MEAN “VALID”</a:t>
            </a:r>
          </a:p>
        </p:txBody>
      </p:sp>
      <p:sp>
        <p:nvSpPr>
          <p:cNvPr id="10" name="TextBox 9"/>
          <p:cNvSpPr txBox="1"/>
          <p:nvPr/>
        </p:nvSpPr>
        <p:spPr>
          <a:xfrm>
            <a:off x="896112" y="1956816"/>
            <a:ext cx="6239554"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A later review found that seven pre-drain configurations produced answers the solver marked as solved while still slightly exceeding a capacity limit. Previously we would have called those plans feasible. They were not.</a:t>
            </a:r>
          </a:p>
        </p:txBody>
      </p:sp>
      <p:sp>
        <p:nvSpPr>
          <p:cNvPr id="11" name="Rectangle 10"/>
          <p:cNvSpPr/>
          <p:nvPr/>
        </p:nvSpPr>
        <p:spPr>
          <a:xfrm>
            <a:off x="658368" y="3293364"/>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224784"/>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changed</a:t>
            </a:r>
          </a:p>
        </p:txBody>
      </p:sp>
      <p:sp>
        <p:nvSpPr>
          <p:cNvPr id="13" name="TextBox 12"/>
          <p:cNvSpPr txBox="1"/>
          <p:nvPr/>
        </p:nvSpPr>
        <p:spPr>
          <a:xfrm>
            <a:off x="841247" y="3479292"/>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system now reports any such excess explicitly.</a:t>
            </a:r>
          </a:p>
        </p:txBody>
      </p:sp>
      <p:sp>
        <p:nvSpPr>
          <p:cNvPr id="14" name="Rectangle 13"/>
          <p:cNvSpPr/>
          <p:nvPr/>
        </p:nvSpPr>
        <p:spPr>
          <a:xfrm>
            <a:off x="658368" y="3817899"/>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987063"/>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918483"/>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A new mandatory check</a:t>
            </a:r>
          </a:p>
        </p:txBody>
      </p:sp>
      <p:sp>
        <p:nvSpPr>
          <p:cNvPr id="17" name="TextBox 16"/>
          <p:cNvSpPr txBox="1"/>
          <p:nvPr/>
        </p:nvSpPr>
        <p:spPr>
          <a:xfrm>
            <a:off x="841247" y="4172991"/>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capacity exceeded” is now a release requirement, not a nice-to-have.</a:t>
            </a:r>
          </a:p>
        </p:txBody>
      </p:sp>
      <p:sp>
        <p:nvSpPr>
          <p:cNvPr id="18" name="Rectangle 17"/>
          <p:cNvSpPr/>
          <p:nvPr/>
        </p:nvSpPr>
        <p:spPr>
          <a:xfrm>
            <a:off x="658368" y="45115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6807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6121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a:t>
            </a:r>
          </a:p>
        </p:txBody>
      </p:sp>
      <p:sp>
        <p:nvSpPr>
          <p:cNvPr id="21" name="TextBox 20"/>
          <p:cNvSpPr txBox="1"/>
          <p:nvPr/>
        </p:nvSpPr>
        <p:spPr>
          <a:xfrm>
            <a:off x="841247" y="4866690"/>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violation hands control straight back to the simple rule.</a:t>
            </a:r>
          </a:p>
        </p:txBody>
      </p:sp>
      <p:sp>
        <p:nvSpPr>
          <p:cNvPr id="22" name="Rectangle 21"/>
          <p:cNvSpPr/>
          <p:nvPr/>
        </p:nvSpPr>
        <p:spPr>
          <a:xfrm>
            <a:off x="658368" y="52052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744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3058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we did not do</a:t>
            </a:r>
          </a:p>
        </p:txBody>
      </p:sp>
      <p:sp>
        <p:nvSpPr>
          <p:cNvPr id="25" name="TextBox 24"/>
          <p:cNvSpPr txBox="1"/>
          <p:nvPr/>
        </p:nvSpPr>
        <p:spPr>
          <a:xfrm>
            <a:off x="841247" y="5560390"/>
            <a:ext cx="6559594"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We did not re-score the old experiments — their conclusions were negative anyway — but we no longer describe those actions as validated.</a:t>
            </a:r>
          </a:p>
        </p:txBody>
      </p:sp>
      <p:sp>
        <p:nvSpPr>
          <p:cNvPr id="26" name="Rectangle 25"/>
          <p:cNvSpPr/>
          <p:nvPr/>
        </p:nvSpPr>
        <p:spPr>
          <a:xfrm>
            <a:off x="7835841" y="1554480"/>
            <a:ext cx="3697486" cy="36342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7009" y="1719072"/>
            <a:ext cx="3295150"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REPORT THIS AT ALL?</a:t>
            </a:r>
          </a:p>
        </p:txBody>
      </p:sp>
      <p:sp>
        <p:nvSpPr>
          <p:cNvPr id="28" name="TextBox 27"/>
          <p:cNvSpPr txBox="1"/>
          <p:nvPr/>
        </p:nvSpPr>
        <p:spPr>
          <a:xfrm>
            <a:off x="8037009" y="2029968"/>
            <a:ext cx="3295150" cy="3012440"/>
          </a:xfrm>
          <a:prstGeom prst="rect">
            <a:avLst/>
          </a:prstGeom>
          <a:noFill/>
        </p:spPr>
        <p:txBody>
          <a:bodyPr wrap="square" anchor="t" lIns="0" rIns="0" tIns="0" bIns="0">
            <a:spAutoFit/>
          </a:bodyPr>
          <a:lstStyle/>
          <a:p>
            <a:pPr algn="l">
              <a:lnSpc>
                <a:spcPct val="140000"/>
              </a:lnSpc>
            </a:pPr>
            <a:r>
              <a:rPr sz="1160" b="0" i="0">
                <a:solidFill>
                  <a:srgbClr val="3C4653"/>
                </a:solidFill>
                <a:latin typeface="Segoe UI"/>
              </a:rPr>
              <a:t>Nobody outside the project would have found this. The affected experiments had already been rejected, so the headline conclusions do not change.</a:t>
            </a:r>
          </a:p>
          <a:p>
            <a:pPr algn="l">
              <a:lnSpc>
                <a:spcPct val="140000"/>
              </a:lnSpc>
              <a:spcBef>
                <a:spcPts val="800"/>
              </a:spcBef>
            </a:pPr>
            <a:r>
              <a:rPr sz="1160" b="0" i="0">
                <a:solidFill>
                  <a:srgbClr val="3C4653"/>
                </a:solidFill>
                <a:latin typeface="Segoe UI"/>
              </a:rPr>
              <a:t>We report it because the value of this whole apparatus is that its claims can be trusted. An evidence system that quietly corrects its own record is worth more than one that never admits to a correction.</a:t>
            </a:r>
          </a:p>
          <a:p>
            <a:pPr algn="l">
              <a:lnSpc>
                <a:spcPct val="140000"/>
              </a:lnSpc>
              <a:spcBef>
                <a:spcPts val="800"/>
              </a:spcBef>
            </a:pPr>
            <a:r>
              <a:rPr sz="1160" b="0" i="0">
                <a:solidFill>
                  <a:srgbClr val="3C4653"/>
                </a:solidFill>
                <a:latin typeface="Segoe UI"/>
              </a:rPr>
              <a:t>It also produced a real improvement: a check that did not exist before now runs on every candidate.</a:t>
            </a:r>
          </a:p>
        </p:txBody>
      </p:sp>
      <p:sp>
        <p:nvSpPr>
          <p:cNvPr id="29" name="TextBox 2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we run in production,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Split new sessions across each group's healthy boxes in proportion to their capacity. No forecast, no memory, no solver.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It wins on the metric we chose in advance</a:t>
            </a:r>
          </a:p>
        </p:txBody>
      </p:sp>
      <p:sp>
        <p:nvSpPr>
          <p:cNvPr id="10" name="TextBox 9"/>
          <p:cNvSpPr txBox="1"/>
          <p:nvPr/>
        </p:nvSpPr>
        <p:spPr>
          <a:xfrm>
            <a:off x="841247" y="253390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Across 128 production test days it is best on uplink overload, downlink overload, uplink drops and downlink drops — all four at once.</a:t>
            </a:r>
          </a:p>
        </p:txBody>
      </p:sp>
      <p:sp>
        <p:nvSpPr>
          <p:cNvPr id="11" name="Rectangle 10"/>
          <p:cNvSpPr/>
          <p:nvPr/>
        </p:nvSpPr>
        <p:spPr>
          <a:xfrm>
            <a:off x="658368" y="3073958"/>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25226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18368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Spreading is structurally safer</a:t>
            </a:r>
          </a:p>
        </p:txBody>
      </p:sp>
      <p:sp>
        <p:nvSpPr>
          <p:cNvPr id="14" name="TextBox 13"/>
          <p:cNvSpPr txBox="1"/>
          <p:nvPr/>
        </p:nvSpPr>
        <p:spPr>
          <a:xfrm>
            <a:off x="841247" y="343819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When each group has three to six eligible boxes, sessions last hours, and you cannot move them afterwards, spreading beats concentrating.</a:t>
            </a:r>
          </a:p>
        </p:txBody>
      </p:sp>
      <p:sp>
        <p:nvSpPr>
          <p:cNvPr id="15" name="Rectangle 14"/>
          <p:cNvSpPr/>
          <p:nvPr/>
        </p:nvSpPr>
        <p:spPr>
          <a:xfrm>
            <a:off x="658368" y="3978249"/>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15655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087977"/>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It has no bad days</a:t>
            </a:r>
          </a:p>
        </p:txBody>
      </p:sp>
      <p:sp>
        <p:nvSpPr>
          <p:cNvPr id="18" name="TextBox 17"/>
          <p:cNvSpPr txBox="1"/>
          <p:nvPr/>
        </p:nvSpPr>
        <p:spPr>
          <a:xfrm>
            <a:off x="841247" y="4342485"/>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worst-case loss, no validation to fail, no solver to time out, no data to go stale, no forecast to be wrong during a surge.</a:t>
            </a:r>
          </a:p>
        </p:txBody>
      </p:sp>
      <p:sp>
        <p:nvSpPr>
          <p:cNvPr id="19" name="Rectangle 18"/>
          <p:cNvSpPr/>
          <p:nvPr/>
        </p:nvSpPr>
        <p:spPr>
          <a:xfrm>
            <a:off x="658368" y="4882540"/>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060848"/>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992268"/>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clever controllers stay available, but supervised</a:t>
            </a:r>
          </a:p>
        </p:txBody>
      </p:sp>
      <p:sp>
        <p:nvSpPr>
          <p:cNvPr id="22" name="TextBox 21"/>
          <p:cNvSpPr txBox="1"/>
          <p:nvPr/>
        </p:nvSpPr>
        <p:spPr>
          <a:xfrm>
            <a:off x="841247" y="5246776"/>
            <a:ext cx="6342095"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MPC and pre-drain remain implemented and can run in shadow mode. They give up control the moment telemetry looks uncertain, their data is stale, or a capacity limit would be exceeded.</a:t>
            </a:r>
          </a:p>
        </p:txBody>
      </p:sp>
      <p:sp>
        <p:nvSpPr>
          <p:cNvPr id="23" name="Rectangle 22"/>
          <p:cNvSpPr/>
          <p:nvPr/>
        </p:nvSpPr>
        <p:spPr>
          <a:xfrm>
            <a:off x="7618341" y="2334260"/>
            <a:ext cx="3914985" cy="199948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18341" y="2334260"/>
            <a:ext cx="34747" cy="199948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56085" y="2480564"/>
            <a:ext cx="3457785"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ONE SPECIFIC WARNING</a:t>
            </a:r>
          </a:p>
        </p:txBody>
      </p:sp>
      <p:sp>
        <p:nvSpPr>
          <p:cNvPr id="26" name="TextBox 25"/>
          <p:cNvSpPr txBox="1"/>
          <p:nvPr/>
        </p:nvSpPr>
        <p:spPr>
          <a:xfrm>
            <a:off x="7856085" y="2736596"/>
            <a:ext cx="3412065" cy="1542288"/>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reactive controller is 98–121% worse than the simple rule on every production measure. “Move traffic away from the busy box” is the most intuitive policy and the worst one we tested. Whatever C-DOT deploys, it should not be that.</a:t>
            </a:r>
          </a:p>
        </p:txBody>
      </p:sp>
      <p:sp>
        <p:nvSpPr>
          <p:cNvPr id="27" name="Rectangle 26"/>
          <p:cNvSpPr/>
          <p:nvPr/>
        </p:nvSpPr>
        <p:spPr>
          <a:xfrm>
            <a:off x="7618341"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4645" y="4291076"/>
            <a:ext cx="1015435" cy="384048"/>
          </a:xfrm>
          <a:prstGeom prst="rect">
            <a:avLst/>
          </a:prstGeom>
          <a:noFill/>
        </p:spPr>
        <p:txBody>
          <a:bodyPr wrap="square" anchor="t" lIns="0" rIns="0" tIns="0" bIns="0">
            <a:spAutoFit/>
          </a:bodyPr>
          <a:lstStyle/>
          <a:p>
            <a:pPr algn="l">
              <a:lnSpc>
                <a:spcPct val="100000"/>
              </a:lnSpc>
            </a:pPr>
            <a:r>
              <a:rPr sz="1700" b="0" i="0">
                <a:solidFill>
                  <a:srgbClr val="2E7D5B"/>
                </a:solidFill>
                <a:latin typeface="Georgia"/>
              </a:rPr>
              <a:t>100</a:t>
            </a:r>
          </a:p>
        </p:txBody>
      </p:sp>
      <p:sp>
        <p:nvSpPr>
          <p:cNvPr id="29" name="TextBox 28"/>
          <p:cNvSpPr txBox="1"/>
          <p:nvPr/>
        </p:nvSpPr>
        <p:spPr>
          <a:xfrm>
            <a:off x="7764645"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SIMPLE RULE</a:t>
            </a:r>
          </a:p>
          <a:p>
            <a:pPr algn="l">
              <a:lnSpc>
                <a:spcPct val="130000"/>
              </a:lnSpc>
              <a:spcBef>
                <a:spcPts val="0"/>
              </a:spcBef>
            </a:pPr>
            <a:r>
              <a:rPr sz="819" b="0" i="0">
                <a:solidFill>
                  <a:srgbClr val="6C7683"/>
                </a:solidFill>
                <a:latin typeface="Consolas"/>
              </a:rPr>
              <a:t>BASELINE</a:t>
            </a:r>
          </a:p>
        </p:txBody>
      </p:sp>
      <p:sp>
        <p:nvSpPr>
          <p:cNvPr id="30" name="Rectangle 29"/>
          <p:cNvSpPr/>
          <p:nvPr/>
        </p:nvSpPr>
        <p:spPr>
          <a:xfrm>
            <a:off x="894010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86404" y="4291076"/>
            <a:ext cx="1015435" cy="384048"/>
          </a:xfrm>
          <a:prstGeom prst="rect">
            <a:avLst/>
          </a:prstGeom>
          <a:noFill/>
        </p:spPr>
        <p:txBody>
          <a:bodyPr wrap="square" anchor="t" lIns="0" rIns="0" tIns="0" bIns="0">
            <a:spAutoFit/>
          </a:bodyPr>
          <a:lstStyle/>
          <a:p>
            <a:pPr algn="l">
              <a:lnSpc>
                <a:spcPct val="100000"/>
              </a:lnSpc>
            </a:pPr>
            <a:r>
              <a:rPr sz="1700" b="0" i="0">
                <a:solidFill>
                  <a:srgbClr val="B5761F"/>
                </a:solidFill>
                <a:latin typeface="Georgia"/>
              </a:rPr>
              <a:t>105–117</a:t>
            </a:r>
          </a:p>
        </p:txBody>
      </p:sp>
      <p:sp>
        <p:nvSpPr>
          <p:cNvPr id="32" name="TextBox 31"/>
          <p:cNvSpPr txBox="1"/>
          <p:nvPr/>
        </p:nvSpPr>
        <p:spPr>
          <a:xfrm>
            <a:off x="908640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COHORT</a:t>
            </a:r>
          </a:p>
          <a:p>
            <a:pPr algn="l">
              <a:lnSpc>
                <a:spcPct val="130000"/>
              </a:lnSpc>
              <a:spcBef>
                <a:spcPts val="0"/>
              </a:spcBef>
            </a:pPr>
            <a:r>
              <a:rPr sz="819" b="0" i="0">
                <a:solidFill>
                  <a:srgbClr val="6C7683"/>
                </a:solidFill>
                <a:latin typeface="Consolas"/>
              </a:rPr>
              <a:t>MPC</a:t>
            </a:r>
          </a:p>
        </p:txBody>
      </p:sp>
      <p:sp>
        <p:nvSpPr>
          <p:cNvPr id="33" name="Rectangle 32"/>
          <p:cNvSpPr/>
          <p:nvPr/>
        </p:nvSpPr>
        <p:spPr>
          <a:xfrm>
            <a:off x="1026186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8164" y="4291076"/>
            <a:ext cx="1015435" cy="384048"/>
          </a:xfrm>
          <a:prstGeom prst="rect">
            <a:avLst/>
          </a:prstGeom>
          <a:noFill/>
        </p:spPr>
        <p:txBody>
          <a:bodyPr wrap="square" anchor="t" lIns="0" rIns="0" tIns="0" bIns="0">
            <a:spAutoFit/>
          </a:bodyPr>
          <a:lstStyle/>
          <a:p>
            <a:pPr algn="l">
              <a:lnSpc>
                <a:spcPct val="100000"/>
              </a:lnSpc>
            </a:pPr>
            <a:r>
              <a:rPr sz="1700" b="0" i="0">
                <a:solidFill>
                  <a:srgbClr val="9C3B35"/>
                </a:solidFill>
                <a:latin typeface="Georgia"/>
              </a:rPr>
              <a:t>198–221</a:t>
            </a:r>
          </a:p>
        </p:txBody>
      </p:sp>
      <p:sp>
        <p:nvSpPr>
          <p:cNvPr id="35" name="TextBox 34"/>
          <p:cNvSpPr txBox="1"/>
          <p:nvPr/>
        </p:nvSpPr>
        <p:spPr>
          <a:xfrm>
            <a:off x="1040816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REACTIVE</a:t>
            </a:r>
          </a:p>
          <a:p>
            <a:pPr algn="l">
              <a:lnSpc>
                <a:spcPct val="130000"/>
              </a:lnSpc>
              <a:spcBef>
                <a:spcPts val="0"/>
              </a:spcBef>
            </a:pPr>
            <a:r>
              <a:rPr sz="819" b="0" i="0">
                <a:solidFill>
                  <a:srgbClr val="6C7683"/>
                </a:solidFill>
                <a:latin typeface="Consolas"/>
              </a:rPr>
              <a:t>CONTROLLER</a:t>
            </a:r>
          </a:p>
        </p:txBody>
      </p:sp>
      <p:sp>
        <p:nvSpPr>
          <p:cNvPr id="36" name="TextBox 3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optimizer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481328"/>
            <a:ext cx="5245455" cy="359305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GET A BETTER LEVER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Settle the session-migration question with C-DOT</a:t>
            </a:r>
          </a:p>
        </p:txBody>
      </p:sp>
      <p:sp>
        <p:nvSpPr>
          <p:cNvPr id="11" name="TextBox 10"/>
          <p:cNvSpPr txBox="1"/>
          <p:nvPr/>
        </p:nvSpPr>
        <p:spPr>
          <a:xfrm>
            <a:off x="1042415" y="2186533"/>
            <a:ext cx="4660239" cy="833424"/>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The oracle shows that moving just 10% of live sessions per 10 minutes removes all overload. If the system can do it, model its cost. If not, publish the ceiling honestly and stop optimising against it.</a:t>
            </a:r>
          </a:p>
        </p:txBody>
      </p:sp>
      <p:sp>
        <p:nvSpPr>
          <p:cNvPr id="12" name="Rectangle 11"/>
          <p:cNvSpPr/>
          <p:nvPr/>
        </p:nvSpPr>
        <p:spPr>
          <a:xfrm>
            <a:off x="859536" y="306567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322569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15711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Add capacity as an action</a:t>
            </a:r>
          </a:p>
        </p:txBody>
      </p:sp>
      <p:sp>
        <p:nvSpPr>
          <p:cNvPr id="15" name="TextBox 14"/>
          <p:cNvSpPr txBox="1"/>
          <p:nvPr/>
        </p:nvSpPr>
        <p:spPr>
          <a:xfrm>
            <a:off x="1042415" y="3405124"/>
            <a:ext cx="4660239" cy="647928"/>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Spinning up another box is a fundamentally different lever from redistributing existing ones. The simulator already supports it.</a:t>
            </a:r>
          </a:p>
        </p:txBody>
      </p:sp>
      <p:sp>
        <p:nvSpPr>
          <p:cNvPr id="16" name="Rectangle 15"/>
          <p:cNvSpPr/>
          <p:nvPr/>
        </p:nvSpPr>
        <p:spPr>
          <a:xfrm>
            <a:off x="859536" y="409877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42587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190212"/>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Reversible placements</a:t>
            </a:r>
          </a:p>
        </p:txBody>
      </p:sp>
      <p:sp>
        <p:nvSpPr>
          <p:cNvPr id="19" name="TextBox 18"/>
          <p:cNvSpPr txBox="1"/>
          <p:nvPr/>
        </p:nvSpPr>
        <p:spPr>
          <a:xfrm>
            <a:off x="1042415" y="4438218"/>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Short-lived allocations that can be revised before they turn into hours of committed load.</a:t>
            </a:r>
          </a:p>
        </p:txBody>
      </p:sp>
      <p:sp>
        <p:nvSpPr>
          <p:cNvPr id="20" name="Rectangle 19"/>
          <p:cNvSpPr/>
          <p:nvPr/>
        </p:nvSpPr>
        <p:spPr>
          <a:xfrm>
            <a:off x="6287871" y="1481328"/>
            <a:ext cx="5245455" cy="460753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CHANGE THE METHOD, NOT THE NUMBERS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Limit commitments under uncertainty</a:t>
            </a:r>
          </a:p>
        </p:txBody>
      </p:sp>
      <p:sp>
        <p:nvSpPr>
          <p:cNvPr id="24" name="TextBox 23"/>
          <p:cNvSpPr txBox="1"/>
          <p:nvPr/>
        </p:nvSpPr>
        <p:spPr>
          <a:xfrm>
            <a:off x="6671919" y="2183282"/>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Instead of another blend percentage, give the controller an explicit uncertainty budget it may not exceed.</a:t>
            </a:r>
          </a:p>
        </p:txBody>
      </p:sp>
      <p:sp>
        <p:nvSpPr>
          <p:cNvPr id="25" name="Rectangle 24"/>
          <p:cNvSpPr/>
          <p:nvPr/>
        </p:nvSpPr>
        <p:spPr>
          <a:xfrm>
            <a:off x="6489039" y="265262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78063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71205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Validate against a full simulated day</a:t>
            </a:r>
          </a:p>
        </p:txBody>
      </p:sp>
      <p:sp>
        <p:nvSpPr>
          <p:cNvPr id="28" name="TextBox 27"/>
          <p:cNvSpPr txBox="1"/>
          <p:nvPr/>
        </p:nvSpPr>
        <p:spPr>
          <a:xfrm>
            <a:off x="6671919" y="295681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 just “is this step better” but “does this whole plan still beat the simple rule”, including forecast error.</a:t>
            </a:r>
          </a:p>
        </p:txBody>
      </p:sp>
      <p:sp>
        <p:nvSpPr>
          <p:cNvPr id="29" name="Rectangle 28"/>
          <p:cNvSpPr/>
          <p:nvPr/>
        </p:nvSpPr>
        <p:spPr>
          <a:xfrm>
            <a:off x="6489039" y="342615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55417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485591"/>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Do nothing when nothing is wrong</a:t>
            </a:r>
          </a:p>
        </p:txBody>
      </p:sp>
      <p:sp>
        <p:nvSpPr>
          <p:cNvPr id="32" name="TextBox 31"/>
          <p:cNvSpPr txBox="1"/>
          <p:nvPr/>
        </p:nvSpPr>
        <p:spPr>
          <a:xfrm>
            <a:off x="6671919" y="3730345"/>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controller sometimes accepts a small uplink loss for a large downlink gain on days with no uplink problem. It should decline.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Design to the decision deadline</a:t>
            </a:r>
          </a:p>
        </p:txBody>
      </p:sp>
      <p:sp>
        <p:nvSpPr>
          <p:cNvPr id="36" name="TextBox 35"/>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Treat 500 ms as a design constraint from the start, not something measured afterwards.</a:t>
            </a:r>
          </a:p>
        </p:txBody>
      </p:sp>
      <p:sp>
        <p:nvSpPr>
          <p:cNvPr id="37" name="Rectangle 36"/>
          <p:cNvSpPr/>
          <p:nvPr/>
        </p:nvSpPr>
        <p:spPr>
          <a:xfrm>
            <a:off x="6489039" y="5155311"/>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214747"/>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Reinforcement learning, later</a:t>
            </a:r>
          </a:p>
        </p:txBody>
      </p:sp>
      <p:sp>
        <p:nvSpPr>
          <p:cNvPr id="40" name="TextBox 39"/>
          <p:cNvSpPr txBox="1"/>
          <p:nvPr/>
        </p:nvSpPr>
        <p:spPr>
          <a:xfrm>
            <a:off x="6671919" y="5459501"/>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 of scope until the lever question is settled. An RL agent inherits exactly the same 1.6% of movable traffic.</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04</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CONCLUSION</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The system knew when the algorithm wasn't ready</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That is the real deliverable. A simulator, a forecaster and an optimizer are ordinary engineering. A test apparatus that can run 588 experiments, produce several genuinely exciting intermediate results, and still refuse to release any of them — that is the hard part.</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EVERYTHING WE RAN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complete inventory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pic>
        <p:nvPicPr>
          <p:cNvPr id="7" name="Picture 6" descr="c_inventory.png"/>
          <p:cNvPicPr>
            <a:picLocks noChangeAspect="1"/>
          </p:cNvPicPr>
          <p:nvPr/>
        </p:nvPicPr>
        <p:blipFill>
          <a:blip r:embed="rId2"/>
          <a:stretch>
            <a:fillRect/>
          </a:stretch>
        </p:blipFill>
        <p:spPr>
          <a:xfrm>
            <a:off x="658368" y="1554480"/>
            <a:ext cx="8264968" cy="1194163"/>
          </a:xfrm>
          <a:prstGeom prst="rect">
            <a:avLst/>
          </a:prstGeom>
        </p:spPr>
      </p:pic>
      <p:sp>
        <p:nvSpPr>
          <p:cNvPr id="8" name="Rectangle 7"/>
          <p:cNvSpPr/>
          <p:nvPr/>
        </p:nvSpPr>
        <p:spPr>
          <a:xfrm>
            <a:off x="6583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588</a:t>
            </a:r>
          </a:p>
        </p:txBody>
      </p:sp>
      <p:sp>
        <p:nvSpPr>
          <p:cNvPr id="10" name="TextBox 9"/>
          <p:cNvSpPr txBox="1"/>
          <p:nvPr/>
        </p:nvSpPr>
        <p:spPr>
          <a:xfrm>
            <a:off x="8046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CONTROLLER</a:t>
            </a:r>
          </a:p>
          <a:p>
            <a:pPr algn="l">
              <a:lnSpc>
                <a:spcPct val="130000"/>
              </a:lnSpc>
              <a:spcBef>
                <a:spcPts val="0"/>
              </a:spcBef>
            </a:pPr>
            <a:r>
              <a:rPr sz="819" b="0" i="0">
                <a:solidFill>
                  <a:srgbClr val="6C7683"/>
                </a:solidFill>
                <a:latin typeface="Consolas"/>
              </a:rPr>
              <a:t>COMPARISONS</a:t>
            </a:r>
          </a:p>
        </p:txBody>
      </p:sp>
      <p:sp>
        <p:nvSpPr>
          <p:cNvPr id="11" name="Rectangle 10"/>
          <p:cNvSpPr/>
          <p:nvPr/>
        </p:nvSpPr>
        <p:spPr>
          <a:xfrm>
            <a:off x="247924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28</a:t>
            </a:r>
          </a:p>
        </p:txBody>
      </p:sp>
      <p:sp>
        <p:nvSpPr>
          <p:cNvPr id="13" name="TextBox 12"/>
          <p:cNvSpPr txBox="1"/>
          <p:nvPr/>
        </p:nvSpPr>
        <p:spPr>
          <a:xfrm>
            <a:off x="262554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CONFIGURATIONS</a:t>
            </a:r>
          </a:p>
          <a:p>
            <a:pPr algn="l">
              <a:lnSpc>
                <a:spcPct val="130000"/>
              </a:lnSpc>
              <a:spcBef>
                <a:spcPts val="0"/>
              </a:spcBef>
            </a:pPr>
            <a:r>
              <a:rPr sz="819" b="0" i="0">
                <a:solidFill>
                  <a:srgbClr val="6C7683"/>
                </a:solidFill>
                <a:latin typeface="Consolas"/>
              </a:rPr>
              <a:t>TESTED</a:t>
            </a:r>
          </a:p>
        </p:txBody>
      </p:sp>
      <p:sp>
        <p:nvSpPr>
          <p:cNvPr id="14" name="Rectangle 13"/>
          <p:cNvSpPr/>
          <p:nvPr/>
        </p:nvSpPr>
        <p:spPr>
          <a:xfrm>
            <a:off x="430011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125</a:t>
            </a:r>
          </a:p>
        </p:txBody>
      </p:sp>
      <p:sp>
        <p:nvSpPr>
          <p:cNvPr id="16" name="TextBox 15"/>
          <p:cNvSpPr txBox="1"/>
          <p:nvPr/>
        </p:nvSpPr>
        <p:spPr>
          <a:xfrm>
            <a:off x="444642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BLIND SURVIVAL</a:t>
            </a:r>
          </a:p>
          <a:p>
            <a:pPr algn="l">
              <a:lnSpc>
                <a:spcPct val="130000"/>
              </a:lnSpc>
              <a:spcBef>
                <a:spcPts val="0"/>
              </a:spcBef>
            </a:pPr>
            <a:r>
              <a:rPr sz="819" b="0" i="0">
                <a:solidFill>
                  <a:srgbClr val="6C7683"/>
                </a:solidFill>
                <a:latin typeface="Consolas"/>
              </a:rPr>
              <a:t>TRIALS</a:t>
            </a:r>
          </a:p>
        </p:txBody>
      </p:sp>
      <p:sp>
        <p:nvSpPr>
          <p:cNvPr id="17" name="Rectangle 16"/>
          <p:cNvSpPr/>
          <p:nvPr/>
        </p:nvSpPr>
        <p:spPr>
          <a:xfrm>
            <a:off x="612099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174</a:t>
            </a:r>
          </a:p>
        </p:txBody>
      </p:sp>
      <p:sp>
        <p:nvSpPr>
          <p:cNvPr id="19" name="TextBox 18"/>
          <p:cNvSpPr txBox="1"/>
          <p:nvPr/>
        </p:nvSpPr>
        <p:spPr>
          <a:xfrm>
            <a:off x="626729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CODE TESTS</a:t>
            </a:r>
          </a:p>
          <a:p>
            <a:pPr algn="l">
              <a:lnSpc>
                <a:spcPct val="130000"/>
              </a:lnSpc>
              <a:spcBef>
                <a:spcPts val="0"/>
              </a:spcBef>
            </a:pPr>
            <a:r>
              <a:rPr sz="819" b="0" i="0">
                <a:solidFill>
                  <a:srgbClr val="6C7683"/>
                </a:solidFill>
                <a:latin typeface="Consolas"/>
              </a:rPr>
              <a:t>PASSING</a:t>
            </a:r>
          </a:p>
        </p:txBody>
      </p:sp>
      <p:sp>
        <p:nvSpPr>
          <p:cNvPr id="20" name="Rectangle 19"/>
          <p:cNvSpPr/>
          <p:nvPr/>
        </p:nvSpPr>
        <p:spPr>
          <a:xfrm>
            <a:off x="79418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2" name="TextBox 21"/>
          <p:cNvSpPr txBox="1"/>
          <p:nvPr/>
        </p:nvSpPr>
        <p:spPr>
          <a:xfrm>
            <a:off x="80881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PROTECTED TEST</a:t>
            </a:r>
          </a:p>
          <a:p>
            <a:pPr algn="l">
              <a:lnSpc>
                <a:spcPct val="130000"/>
              </a:lnSpc>
              <a:spcBef>
                <a:spcPts val="0"/>
              </a:spcBef>
            </a:pPr>
            <a:r>
              <a:rPr sz="819" b="0" i="0">
                <a:solidFill>
                  <a:srgbClr val="6C7683"/>
                </a:solidFill>
                <a:latin typeface="Consolas"/>
              </a:rPr>
              <a:t>DATA USED</a:t>
            </a:r>
          </a:p>
        </p:txBody>
      </p:sp>
      <p:sp>
        <p:nvSpPr>
          <p:cNvPr id="23" name="Rectangle 22"/>
          <p:cNvSpPr/>
          <p:nvPr/>
        </p:nvSpPr>
        <p:spPr>
          <a:xfrm>
            <a:off x="9762744"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5" name="TextBox 24"/>
          <p:cNvSpPr txBox="1"/>
          <p:nvPr/>
        </p:nvSpPr>
        <p:spPr>
          <a:xfrm>
            <a:off x="9909048"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UNSAFE</a:t>
            </a:r>
          </a:p>
          <a:p>
            <a:pPr algn="l">
              <a:lnSpc>
                <a:spcPct val="130000"/>
              </a:lnSpc>
              <a:spcBef>
                <a:spcPts val="0"/>
              </a:spcBef>
            </a:pPr>
            <a:r>
              <a:rPr sz="819" b="0" i="0">
                <a:solidFill>
                  <a:srgbClr val="6C7683"/>
                </a:solidFill>
                <a:latin typeface="Consolas"/>
              </a:rPr>
              <a:t>RELEASES</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CONCLUSION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is true, stated plainly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6819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499616"/>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simulator is solid engineering.</a:t>
            </a:r>
          </a:p>
        </p:txBody>
      </p:sp>
      <p:sp>
        <p:nvSpPr>
          <p:cNvPr id="9" name="TextBox 8"/>
          <p:cNvSpPr txBox="1"/>
          <p:nvPr/>
        </p:nvSpPr>
        <p:spPr>
          <a:xfrm>
            <a:off x="841247" y="1760626"/>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Traffic adds up to zero error, memory stays flat as runs get longer, every result is reproducible from a hash, and the final campaign ran 384 jobs on 12 nodes with no failures.</a:t>
            </a:r>
          </a:p>
        </p:txBody>
      </p:sp>
      <p:sp>
        <p:nvSpPr>
          <p:cNvPr id="10" name="Rectangle 9"/>
          <p:cNvSpPr/>
          <p:nvPr/>
        </p:nvSpPr>
        <p:spPr>
          <a:xfrm>
            <a:off x="658368" y="2323439"/>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5108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442311"/>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forecaster and the survival estimator both work.</a:t>
            </a:r>
          </a:p>
        </p:txBody>
      </p:sp>
      <p:sp>
        <p:nvSpPr>
          <p:cNvPr id="13" name="TextBox 12"/>
          <p:cNvSpPr txBox="1"/>
          <p:nvPr/>
        </p:nvSpPr>
        <p:spPr>
          <a:xfrm>
            <a:off x="841247" y="2703322"/>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LightGBM improves every target and catches peaks 27.5% better. The survival estimator gets within 0.42% and survives five unknown distributions. Neither cleared its release bar.</a:t>
            </a:r>
          </a:p>
        </p:txBody>
      </p:sp>
      <p:sp>
        <p:nvSpPr>
          <p:cNvPr id="14" name="Rectangle 13"/>
          <p:cNvSpPr/>
          <p:nvPr/>
        </p:nvSpPr>
        <p:spPr>
          <a:xfrm>
            <a:off x="658368" y="3266135"/>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4535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385007"/>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room to improve is real — but not where we were looking.</a:t>
            </a:r>
          </a:p>
        </p:txBody>
      </p:sp>
      <p:sp>
        <p:nvSpPr>
          <p:cNvPr id="17" name="TextBox 16"/>
          <p:cNvSpPr txBox="1"/>
          <p:nvPr/>
        </p:nvSpPr>
        <p:spPr>
          <a:xfrm>
            <a:off x="841247" y="3646017"/>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The oracle shows new-session steering can remove all overload, but only with advance knowledge of failures, not of demand.</a:t>
            </a:r>
          </a:p>
        </p:txBody>
      </p:sp>
      <p:sp>
        <p:nvSpPr>
          <p:cNvPr id="18" name="Rectangle 17"/>
          <p:cNvSpPr/>
          <p:nvPr/>
        </p:nvSpPr>
        <p:spPr>
          <a:xfrm>
            <a:off x="658368" y="4208830"/>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962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327702"/>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No deployable controller captured it.</a:t>
            </a:r>
          </a:p>
        </p:txBody>
      </p:sp>
      <p:sp>
        <p:nvSpPr>
          <p:cNvPr id="21" name="TextBox 20"/>
          <p:cNvSpPr txBox="1"/>
          <p:nvPr/>
        </p:nvSpPr>
        <p:spPr>
          <a:xfrm>
            <a:off x="841247" y="4588713"/>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Under realistic mixed conditions, worst-day limits and speed limits, MPC was break-even to harmful and pre-drain traded average gain for unsafe worst days. The simple rule stays.</a:t>
            </a:r>
          </a:p>
        </p:txBody>
      </p:sp>
      <p:sp>
        <p:nvSpPr>
          <p:cNvPr id="22" name="Rectangle 21"/>
          <p:cNvSpPr/>
          <p:nvPr/>
        </p:nvSpPr>
        <p:spPr>
          <a:xfrm>
            <a:off x="658368" y="5151526"/>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3897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270398"/>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None of this is calibrated to real C-DOT traffic.</a:t>
            </a:r>
          </a:p>
        </p:txBody>
      </p:sp>
      <p:sp>
        <p:nvSpPr>
          <p:cNvPr id="25" name="TextBox 24"/>
          <p:cNvSpPr txBox="1"/>
          <p:nvPr/>
        </p:nvSpPr>
        <p:spPr>
          <a:xfrm>
            <a:off x="841247" y="5531408"/>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Every record is labelled synthetic. The next real milestone is a telemetry contract and capacity figures from the operator — not another model.</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PATH FORWARD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Three questions that unblock everything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01</a:t>
            </a:r>
          </a:p>
        </p:txBody>
      </p:sp>
      <p:sp>
        <p:nvSpPr>
          <p:cNvPr id="9" name="TextBox 8"/>
          <p:cNvSpPr txBox="1"/>
          <p:nvPr/>
        </p:nvSpPr>
        <p:spPr>
          <a:xfrm>
            <a:off x="877824"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Can a running session be moved to another box?</a:t>
            </a:r>
          </a:p>
        </p:txBody>
      </p:sp>
      <p:sp>
        <p:nvSpPr>
          <p:cNvPr id="10" name="TextBox 9"/>
          <p:cNvSpPr txBox="1"/>
          <p:nvPr/>
        </p:nvSpPr>
        <p:spPr>
          <a:xfrm>
            <a:off x="877824"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Yes turns 1.6% movable traffic into a solvable problem, and makes every controller in this deck worth revisiting. No sets a hard, publishable ceiling on predictive steering — and tells us to spend the effort on capacity instead.</a:t>
            </a:r>
          </a:p>
        </p:txBody>
      </p:sp>
      <p:sp>
        <p:nvSpPr>
          <p:cNvPr id="11" name="Rectangle 10"/>
          <p:cNvSpPr/>
          <p:nvPr/>
        </p:nvSpPr>
        <p:spPr>
          <a:xfrm>
            <a:off x="4386986"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6442"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02</a:t>
            </a:r>
          </a:p>
        </p:txBody>
      </p:sp>
      <p:sp>
        <p:nvSpPr>
          <p:cNvPr id="13" name="TextBox 12"/>
          <p:cNvSpPr txBox="1"/>
          <p:nvPr/>
        </p:nvSpPr>
        <p:spPr>
          <a:xfrm>
            <a:off x="4606442"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What does C-DOT's telemetry actually look like?</a:t>
            </a:r>
          </a:p>
        </p:txBody>
      </p:sp>
      <p:sp>
        <p:nvSpPr>
          <p:cNvPr id="14" name="TextBox 13"/>
          <p:cNvSpPr txBox="1"/>
          <p:nvPr/>
        </p:nvSpPr>
        <p:spPr>
          <a:xfrm>
            <a:off x="4606442"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Metric names, scrape interval, counter behaviour, reset semantics, and real per-box capacity. Until we have these, “accuracy on C-DOT traffic” is not something we can measure.</a:t>
            </a:r>
          </a:p>
        </p:txBody>
      </p:sp>
      <p:sp>
        <p:nvSpPr>
          <p:cNvPr id="15" name="Rectangle 14"/>
          <p:cNvSpPr/>
          <p:nvPr/>
        </p:nvSpPr>
        <p:spPr>
          <a:xfrm>
            <a:off x="8115604"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5060"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03</a:t>
            </a:r>
          </a:p>
        </p:txBody>
      </p:sp>
      <p:sp>
        <p:nvSpPr>
          <p:cNvPr id="17" name="TextBox 16"/>
          <p:cNvSpPr txBox="1"/>
          <p:nvPr/>
        </p:nvSpPr>
        <p:spPr>
          <a:xfrm>
            <a:off x="8335060"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Is uplink overload the right thing to optimise?</a:t>
            </a:r>
          </a:p>
        </p:txBody>
      </p:sp>
      <p:sp>
        <p:nvSpPr>
          <p:cNvPr id="18" name="TextBox 17"/>
          <p:cNvSpPr txBox="1"/>
          <p:nvPr/>
        </p:nvSpPr>
        <p:spPr>
          <a:xfrm>
            <a:off x="8335060"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We chose it in advance and stuck to it, which is why these results can be trusted. But it is dominated by single catastrophic outages. Reporting an “avoidable overload” measure alongside it — never instead of it — is the natural next refinement.</a:t>
            </a:r>
          </a:p>
        </p:txBody>
      </p:sp>
      <p:sp>
        <p:nvSpPr>
          <p:cNvPr id="19" name="TextBox 1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103120"/>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95728"/>
            <a:ext cx="7829970" cy="1463040"/>
          </a:xfrm>
          <a:prstGeom prst="rect">
            <a:avLst/>
          </a:prstGeom>
          <a:noFill/>
        </p:spPr>
        <p:txBody>
          <a:bodyPr wrap="square" anchor="t" lIns="0" rIns="0" tIns="0" bIns="0">
            <a:spAutoFit/>
          </a:bodyPr>
          <a:lstStyle/>
          <a:p>
            <a:pPr algn="l">
              <a:lnSpc>
                <a:spcPct val="112000"/>
              </a:lnSpc>
            </a:pPr>
            <a:r>
              <a:rPr sz="3200" b="0" i="0">
                <a:solidFill>
                  <a:srgbClr val="111721"/>
                </a:solidFill>
                <a:latin typeface="Georgia"/>
              </a:rPr>
              <a:t>The evidence system worked. That is what we are asking you to trust next.</a:t>
            </a:r>
          </a:p>
        </p:txBody>
      </p:sp>
      <p:sp>
        <p:nvSpPr>
          <p:cNvPr id="6" name="TextBox 5"/>
          <p:cNvSpPr txBox="1"/>
          <p:nvPr/>
        </p:nvSpPr>
        <p:spPr>
          <a:xfrm>
            <a:off x="658368" y="3749039"/>
            <a:ext cx="6524975" cy="1097280"/>
          </a:xfrm>
          <a:prstGeom prst="rect">
            <a:avLst/>
          </a:prstGeom>
          <a:noFill/>
        </p:spPr>
        <p:txBody>
          <a:bodyPr wrap="square" anchor="t" lIns="0" rIns="0" tIns="0" bIns="0">
            <a:spAutoFit/>
          </a:bodyPr>
          <a:lstStyle/>
          <a:p>
            <a:pPr algn="l">
              <a:lnSpc>
                <a:spcPct val="145000"/>
              </a:lnSpc>
            </a:pPr>
            <a:r>
              <a:rPr sz="1200" b="0" i="0">
                <a:solidFill>
                  <a:srgbClr val="3C4653"/>
                </a:solidFill>
                <a:latin typeface="Segoe UI"/>
              </a:rPr>
              <a:t>Every figure in this deck comes from frozen result files in the project: the traffic realism evaluation, the forecaster freeze and baseline comparison, the five-family forecast selection, the three optimizer development campaigns, the survival campaign, the oracle bound evaluation, the MPC campaign results, and the final 12-node production metrics.</a:t>
            </a:r>
          </a:p>
        </p:txBody>
      </p:sp>
      <p:sp>
        <p:nvSpPr>
          <p:cNvPr id="7" name="TextBox 6"/>
          <p:cNvSpPr txBox="1"/>
          <p:nvPr/>
        </p:nvSpPr>
        <p:spPr>
          <a:xfrm>
            <a:off x="658368" y="4992624"/>
            <a:ext cx="6524975" cy="548640"/>
          </a:xfrm>
          <a:prstGeom prst="rect">
            <a:avLst/>
          </a:prstGeom>
          <a:noFill/>
        </p:spPr>
        <p:txBody>
          <a:bodyPr wrap="square" anchor="t" lIns="0" rIns="0" tIns="0" bIns="0">
            <a:spAutoFit/>
          </a:bodyPr>
          <a:lstStyle/>
          <a:p>
            <a:pPr algn="l">
              <a:lnSpc>
                <a:spcPct val="145000"/>
              </a:lnSpc>
            </a:pPr>
            <a:r>
              <a:rPr sz="1200" b="0" i="0">
                <a:solidFill>
                  <a:srgbClr val="6C7683"/>
                </a:solidFill>
                <a:latin typeface="Segoe UI"/>
              </a:rPr>
              <a:t>Nothing was re-scored to build this presentation, and no protected test data was used. All traffic data is synthetic.</a:t>
            </a:r>
          </a:p>
        </p:txBody>
      </p:sp>
      <p:sp>
        <p:nvSpPr>
          <p:cNvPr id="8" name="TextBox 7"/>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