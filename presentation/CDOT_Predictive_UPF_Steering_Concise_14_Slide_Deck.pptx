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jpeg" ContentType="image/jpeg"/>
  <Override PartName="/ppt/media/image2.jpeg" ContentType="image/jpeg"/>
  <Override PartName="/ppt/presProps.xml" ContentType="application/vnd.openxmlformats-officedocument.presentationml.presPro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C1648F-4864-4DDE-A26C-4621EBDE5A0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FFA237-CC55-4E8E-B7C4-4619CE4F2A7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64D235-8E73-43CC-9910-1FE354A6AEF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414C5B-24F7-4FD1-B1F4-71D89FD6192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54C6E7-A849-4A50-A23B-1199886BC78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1CFBBA-4CD7-4BD0-BB76-75AF51AC2AA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496FB9-B62A-424A-AA15-21FB3C7A30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9C4A9D-B83A-4EF4-B5FA-2FF7D87D0DC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7FFCFA-D8E2-4AB3-849E-2B4EAEC111B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56A188-1166-4E98-9EA5-EAF83A8DFEE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A805C3-B5A2-4869-96D4-32E6C6E6ABB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244F45-5A53-4109-8381-D9CADBD963D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B7917722-1ED8-4F7D-AE19-FD0E5F0722D6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10222e"/>
          </a:solidFill>
          <a:ln w="0">
            <a:noFill/>
          </a:ln>
        </p:spPr>
      </p:sp>
      <p:sp>
        <p:nvSpPr>
          <p:cNvPr id="44" name=""/>
          <p:cNvSpPr txBox="1"/>
          <p:nvPr/>
        </p:nvSpPr>
        <p:spPr>
          <a:xfrm>
            <a:off x="360000" y="324000"/>
            <a:ext cx="3600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395" strike="noStrike">
                <a:solidFill>
                  <a:srgbClr val="77c6d4"/>
                </a:solidFill>
                <a:latin typeface="Courier New"/>
              </a:rPr>
              <a:t>C-DOT · PREDICTIVE USER PLANE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360000" y="1512000"/>
            <a:ext cx="9252000" cy="10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100" spc="-1" strike="noStrike">
                <a:solidFill>
                  <a:srgbClr val="ffffff"/>
                </a:solidFill>
                <a:latin typeface="Arial"/>
              </a:rPr>
              <a:t>Predictive UPF Steering</a:t>
            </a:r>
            <a:endParaRPr b="0" lang="en-US" sz="3100" spc="-1" strike="noStrike">
              <a:latin typeface="Arial"/>
            </a:endParaRPr>
          </a:p>
          <a:p>
            <a:r>
              <a:rPr b="1" lang="en-US" sz="3100" spc="-1" strike="noStrike">
                <a:solidFill>
                  <a:srgbClr val="ffffff"/>
                </a:solidFill>
                <a:latin typeface="Arial"/>
              </a:rPr>
              <a:t>Simulation to Working Demo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360000" y="2952000"/>
            <a:ext cx="8460000" cy="4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00" spc="-1" strike="noStrike">
                <a:solidFill>
                  <a:srgbClr val="c4d3d9"/>
                </a:solidFill>
                <a:latin typeface="Arial"/>
              </a:rPr>
              <a:t>Data modelling, forecasting, controller experiments and evidence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360000" y="3708000"/>
            <a:ext cx="6480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00" spc="-1" strike="noStrike">
                <a:solidFill>
                  <a:srgbClr val="9fb4be"/>
                </a:solidFill>
                <a:latin typeface="Arial"/>
              </a:rPr>
              <a:t>Concise technical review · 09 August 2026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360000" y="4752000"/>
            <a:ext cx="1656000" cy="900000"/>
          </a:xfrm>
          <a:prstGeom prst="roundRect">
            <a:avLst/>
          </a:prstGeom>
          <a:solidFill>
            <a:srgbClr val="193541"/>
          </a:solidFill>
          <a:ln w="6480">
            <a:solidFill>
              <a:srgbClr val="385662"/>
            </a:solidFill>
            <a:round/>
          </a:ln>
        </p:spPr>
      </p:sp>
      <p:sp>
        <p:nvSpPr>
          <p:cNvPr id="49" name=""/>
          <p:cNvSpPr/>
          <p:nvPr/>
        </p:nvSpPr>
        <p:spPr>
          <a:xfrm>
            <a:off x="360000" y="4752000"/>
            <a:ext cx="64800" cy="900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50" name=""/>
          <p:cNvSpPr txBox="1"/>
          <p:nvPr/>
        </p:nvSpPr>
        <p:spPr>
          <a:xfrm>
            <a:off x="540000" y="4932000"/>
            <a:ext cx="126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" spc="-1" strike="noStrike">
                <a:solidFill>
                  <a:srgbClr val="9cb3bd"/>
                </a:solidFill>
                <a:latin typeface="Courier New"/>
              </a:rPr>
              <a:t>01</a:t>
            </a:r>
            <a:endParaRPr b="0" lang="en-US" sz="720" spc="-1" strike="noStrike"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540000" y="5148000"/>
            <a:ext cx="126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30" spc="-1" strike="noStrike">
                <a:solidFill>
                  <a:srgbClr val="ffffff"/>
                </a:solidFill>
                <a:latin typeface="Arial"/>
              </a:rPr>
              <a:t>MODEL</a:t>
            </a:r>
            <a:endParaRPr b="0" lang="en-US" sz="1030" spc="-1" strike="noStrike"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540000" y="5400000"/>
            <a:ext cx="126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b8cbd2"/>
                </a:solidFill>
                <a:latin typeface="Arial"/>
              </a:rPr>
              <a:t>traffic + events</a:t>
            </a:r>
            <a:endParaRPr b="0" lang="en-US" sz="770" spc="-1" strike="noStrike"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2016000" y="5220000"/>
            <a:ext cx="140400" cy="0"/>
          </a:xfrm>
          <a:prstGeom prst="line">
            <a:avLst/>
          </a:prstGeom>
          <a:ln w="4680">
            <a:solidFill>
              <a:srgbClr val="4d6a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"/>
          <p:cNvSpPr txBox="1"/>
          <p:nvPr/>
        </p:nvSpPr>
        <p:spPr>
          <a:xfrm>
            <a:off x="2098800" y="5091840"/>
            <a:ext cx="144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4d6a75"/>
                </a:solidFill>
                <a:latin typeface="Arial"/>
              </a:rPr>
              <a:t>›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2242800" y="4752000"/>
            <a:ext cx="1656000" cy="900000"/>
          </a:xfrm>
          <a:prstGeom prst="roundRect">
            <a:avLst/>
          </a:prstGeom>
          <a:solidFill>
            <a:srgbClr val="193541"/>
          </a:solidFill>
          <a:ln w="6480">
            <a:solidFill>
              <a:srgbClr val="385662"/>
            </a:solidFill>
            <a:round/>
          </a:ln>
        </p:spPr>
      </p:sp>
      <p:sp>
        <p:nvSpPr>
          <p:cNvPr id="56" name=""/>
          <p:cNvSpPr/>
          <p:nvPr/>
        </p:nvSpPr>
        <p:spPr>
          <a:xfrm>
            <a:off x="2242800" y="4752000"/>
            <a:ext cx="64800" cy="900000"/>
          </a:xfrm>
          <a:prstGeom prst="rect">
            <a:avLst/>
          </a:prstGeom>
          <a:solidFill>
            <a:srgbClr val="2f91a6"/>
          </a:solidFill>
          <a:ln w="0">
            <a:noFill/>
          </a:ln>
        </p:spPr>
      </p:sp>
      <p:sp>
        <p:nvSpPr>
          <p:cNvPr id="57" name=""/>
          <p:cNvSpPr txBox="1"/>
          <p:nvPr/>
        </p:nvSpPr>
        <p:spPr>
          <a:xfrm>
            <a:off x="2422800" y="4932000"/>
            <a:ext cx="126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" spc="-1" strike="noStrike">
                <a:solidFill>
                  <a:srgbClr val="9cb3bd"/>
                </a:solidFill>
                <a:latin typeface="Courier New"/>
              </a:rPr>
              <a:t>02</a:t>
            </a:r>
            <a:endParaRPr b="0" lang="en-US" sz="720" spc="-1" strike="noStrike"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2422800" y="5148000"/>
            <a:ext cx="126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30" spc="-1" strike="noStrike">
                <a:solidFill>
                  <a:srgbClr val="ffffff"/>
                </a:solidFill>
                <a:latin typeface="Arial"/>
              </a:rPr>
              <a:t>GENERATE</a:t>
            </a:r>
            <a:endParaRPr b="0" lang="en-US" sz="1030" spc="-1" strike="noStrike"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2422800" y="5400000"/>
            <a:ext cx="126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b8cbd2"/>
                </a:solidFill>
                <a:latin typeface="Arial"/>
              </a:rPr>
              <a:t>30 s simulation</a:t>
            </a:r>
            <a:endParaRPr b="0" lang="en-US" sz="770" spc="-1" strike="noStrike"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3898800" y="5220000"/>
            <a:ext cx="140400" cy="0"/>
          </a:xfrm>
          <a:prstGeom prst="line">
            <a:avLst/>
          </a:prstGeom>
          <a:ln w="4680">
            <a:solidFill>
              <a:srgbClr val="4d6a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"/>
          <p:cNvSpPr txBox="1"/>
          <p:nvPr/>
        </p:nvSpPr>
        <p:spPr>
          <a:xfrm>
            <a:off x="3981600" y="5091840"/>
            <a:ext cx="144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4d6a75"/>
                </a:solidFill>
                <a:latin typeface="Arial"/>
              </a:rPr>
              <a:t>›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4125600" y="4752000"/>
            <a:ext cx="1656000" cy="900000"/>
          </a:xfrm>
          <a:prstGeom prst="roundRect">
            <a:avLst/>
          </a:prstGeom>
          <a:solidFill>
            <a:srgbClr val="193541"/>
          </a:solidFill>
          <a:ln w="6480">
            <a:solidFill>
              <a:srgbClr val="385662"/>
            </a:solidFill>
            <a:round/>
          </a:ln>
        </p:spPr>
      </p:sp>
      <p:sp>
        <p:nvSpPr>
          <p:cNvPr id="63" name=""/>
          <p:cNvSpPr/>
          <p:nvPr/>
        </p:nvSpPr>
        <p:spPr>
          <a:xfrm>
            <a:off x="4125600" y="4752000"/>
            <a:ext cx="64800" cy="900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64" name=""/>
          <p:cNvSpPr txBox="1"/>
          <p:nvPr/>
        </p:nvSpPr>
        <p:spPr>
          <a:xfrm>
            <a:off x="4305600" y="4932000"/>
            <a:ext cx="126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" spc="-1" strike="noStrike">
                <a:solidFill>
                  <a:srgbClr val="9cb3bd"/>
                </a:solidFill>
                <a:latin typeface="Courier New"/>
              </a:rPr>
              <a:t>03</a:t>
            </a:r>
            <a:endParaRPr b="0" lang="en-US" sz="720" spc="-1" strike="noStrike"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4305600" y="5148000"/>
            <a:ext cx="126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30" spc="-1" strike="noStrike">
                <a:solidFill>
                  <a:srgbClr val="ffffff"/>
                </a:solidFill>
                <a:latin typeface="Arial"/>
              </a:rPr>
              <a:t>FORECAST</a:t>
            </a:r>
            <a:endParaRPr b="0" lang="en-US" sz="1030" spc="-1" strike="noStrike"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4305600" y="5400000"/>
            <a:ext cx="126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b8cbd2"/>
                </a:solidFill>
                <a:latin typeface="Arial"/>
              </a:rPr>
              <a:t>10–80 min</a:t>
            </a:r>
            <a:endParaRPr b="0" lang="en-US" sz="770" spc="-1" strike="noStrike"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5781600" y="5220000"/>
            <a:ext cx="140400" cy="0"/>
          </a:xfrm>
          <a:prstGeom prst="line">
            <a:avLst/>
          </a:prstGeom>
          <a:ln w="4680">
            <a:solidFill>
              <a:srgbClr val="4d6a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"/>
          <p:cNvSpPr txBox="1"/>
          <p:nvPr/>
        </p:nvSpPr>
        <p:spPr>
          <a:xfrm>
            <a:off x="5864400" y="5091840"/>
            <a:ext cx="144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4d6a75"/>
                </a:solidFill>
                <a:latin typeface="Arial"/>
              </a:rPr>
              <a:t>›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6008400" y="4752000"/>
            <a:ext cx="1656000" cy="900000"/>
          </a:xfrm>
          <a:prstGeom prst="roundRect">
            <a:avLst/>
          </a:prstGeom>
          <a:solidFill>
            <a:srgbClr val="193541"/>
          </a:solidFill>
          <a:ln w="6480">
            <a:solidFill>
              <a:srgbClr val="385662"/>
            </a:solidFill>
            <a:round/>
          </a:ln>
        </p:spPr>
      </p:sp>
      <p:sp>
        <p:nvSpPr>
          <p:cNvPr id="70" name=""/>
          <p:cNvSpPr/>
          <p:nvPr/>
        </p:nvSpPr>
        <p:spPr>
          <a:xfrm>
            <a:off x="6008400" y="4752000"/>
            <a:ext cx="64800" cy="900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71" name=""/>
          <p:cNvSpPr txBox="1"/>
          <p:nvPr/>
        </p:nvSpPr>
        <p:spPr>
          <a:xfrm>
            <a:off x="6188400" y="4932000"/>
            <a:ext cx="126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" spc="-1" strike="noStrike">
                <a:solidFill>
                  <a:srgbClr val="9cb3bd"/>
                </a:solidFill>
                <a:latin typeface="Courier New"/>
              </a:rPr>
              <a:t>04</a:t>
            </a:r>
            <a:endParaRPr b="0" lang="en-US" sz="720" spc="-1" strike="noStrike"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6188400" y="5148000"/>
            <a:ext cx="126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30" spc="-1" strike="noStrike">
                <a:solidFill>
                  <a:srgbClr val="ffffff"/>
                </a:solidFill>
                <a:latin typeface="Arial"/>
              </a:rPr>
              <a:t>OPTIMIZE</a:t>
            </a:r>
            <a:endParaRPr b="0" lang="en-US" sz="1030" spc="-1" strike="noStrike"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6188400" y="5400000"/>
            <a:ext cx="126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b8cbd2"/>
                </a:solidFill>
                <a:latin typeface="Arial"/>
              </a:rPr>
              <a:t>2 h cohort MPC</a:t>
            </a:r>
            <a:endParaRPr b="0" lang="en-US" sz="770" spc="-1" strike="noStrike"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7664400" y="5220000"/>
            <a:ext cx="140400" cy="0"/>
          </a:xfrm>
          <a:prstGeom prst="line">
            <a:avLst/>
          </a:prstGeom>
          <a:ln w="4680">
            <a:solidFill>
              <a:srgbClr val="4d6a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"/>
          <p:cNvSpPr txBox="1"/>
          <p:nvPr/>
        </p:nvSpPr>
        <p:spPr>
          <a:xfrm>
            <a:off x="7747200" y="5091840"/>
            <a:ext cx="144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4d6a75"/>
                </a:solidFill>
                <a:latin typeface="Arial"/>
              </a:rPr>
              <a:t>›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7891200" y="4752000"/>
            <a:ext cx="1656000" cy="900000"/>
          </a:xfrm>
          <a:prstGeom prst="roundRect">
            <a:avLst/>
          </a:prstGeom>
          <a:solidFill>
            <a:srgbClr val="193541"/>
          </a:solidFill>
          <a:ln w="6480">
            <a:solidFill>
              <a:srgbClr val="385662"/>
            </a:solidFill>
            <a:round/>
          </a:ln>
        </p:spPr>
      </p:sp>
      <p:sp>
        <p:nvSpPr>
          <p:cNvPr id="77" name=""/>
          <p:cNvSpPr/>
          <p:nvPr/>
        </p:nvSpPr>
        <p:spPr>
          <a:xfrm>
            <a:off x="7891200" y="4752000"/>
            <a:ext cx="64800" cy="900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78" name=""/>
          <p:cNvSpPr txBox="1"/>
          <p:nvPr/>
        </p:nvSpPr>
        <p:spPr>
          <a:xfrm>
            <a:off x="8071200" y="4932000"/>
            <a:ext cx="126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" spc="-1" strike="noStrike">
                <a:solidFill>
                  <a:srgbClr val="9cb3bd"/>
                </a:solidFill>
                <a:latin typeface="Courier New"/>
              </a:rPr>
              <a:t>05</a:t>
            </a:r>
            <a:endParaRPr b="0" lang="en-US" sz="720" spc="-1" strike="noStrike">
              <a:latin typeface="Arial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8071200" y="5148000"/>
            <a:ext cx="126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30" spc="-1" strike="noStrike">
                <a:solidFill>
                  <a:srgbClr val="ffffff"/>
                </a:solidFill>
                <a:latin typeface="Arial"/>
              </a:rPr>
              <a:t>STEER</a:t>
            </a:r>
            <a:endParaRPr b="0" lang="en-US" sz="1030" spc="-1" strike="noStrike"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8071200" y="5400000"/>
            <a:ext cx="126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b8cbd2"/>
                </a:solidFill>
                <a:latin typeface="Arial"/>
              </a:rPr>
              <a:t>new sessions</a:t>
            </a:r>
            <a:endParaRPr b="0" lang="en-US" sz="770" spc="-1" strike="noStrike"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9547200" y="5220000"/>
            <a:ext cx="140400" cy="0"/>
          </a:xfrm>
          <a:prstGeom prst="line">
            <a:avLst/>
          </a:prstGeom>
          <a:ln w="4680">
            <a:solidFill>
              <a:srgbClr val="4d6a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"/>
          <p:cNvSpPr txBox="1"/>
          <p:nvPr/>
        </p:nvSpPr>
        <p:spPr>
          <a:xfrm>
            <a:off x="9630000" y="5091840"/>
            <a:ext cx="144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4d6a75"/>
                </a:solidFill>
                <a:latin typeface="Arial"/>
              </a:rPr>
              <a:t>›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9774000" y="4752000"/>
            <a:ext cx="1656000" cy="900000"/>
          </a:xfrm>
          <a:prstGeom prst="roundRect">
            <a:avLst/>
          </a:prstGeom>
          <a:solidFill>
            <a:srgbClr val="193541"/>
          </a:solidFill>
          <a:ln w="6480">
            <a:solidFill>
              <a:srgbClr val="385662"/>
            </a:solidFill>
            <a:round/>
          </a:ln>
        </p:spPr>
      </p:sp>
      <p:sp>
        <p:nvSpPr>
          <p:cNvPr id="84" name=""/>
          <p:cNvSpPr/>
          <p:nvPr/>
        </p:nvSpPr>
        <p:spPr>
          <a:xfrm>
            <a:off x="9774000" y="4752000"/>
            <a:ext cx="64800" cy="900000"/>
          </a:xfrm>
          <a:prstGeom prst="rect">
            <a:avLst/>
          </a:prstGeom>
          <a:solidFill>
            <a:srgbClr val="cd443b"/>
          </a:solidFill>
          <a:ln w="0">
            <a:noFill/>
          </a:ln>
        </p:spPr>
      </p:sp>
      <p:sp>
        <p:nvSpPr>
          <p:cNvPr id="85" name=""/>
          <p:cNvSpPr txBox="1"/>
          <p:nvPr/>
        </p:nvSpPr>
        <p:spPr>
          <a:xfrm>
            <a:off x="9954000" y="4932000"/>
            <a:ext cx="126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" spc="-1" strike="noStrike">
                <a:solidFill>
                  <a:srgbClr val="9cb3bd"/>
                </a:solidFill>
                <a:latin typeface="Courier New"/>
              </a:rPr>
              <a:t>06</a:t>
            </a:r>
            <a:endParaRPr b="0" lang="en-US" sz="720" spc="-1" strike="noStrike"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9954000" y="5148000"/>
            <a:ext cx="126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30" spc="-1" strike="noStrike">
                <a:solidFill>
                  <a:srgbClr val="ffffff"/>
                </a:solidFill>
                <a:latin typeface="Arial"/>
              </a:rPr>
              <a:t>DEMO</a:t>
            </a:r>
            <a:endParaRPr b="0" lang="en-US" sz="1030" spc="-1" strike="noStrike"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9954000" y="5400000"/>
            <a:ext cx="126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b8cbd2"/>
                </a:solidFill>
                <a:latin typeface="Arial"/>
              </a:rPr>
              <a:t>evidence + outcome</a:t>
            </a:r>
            <a:endParaRPr b="0" lang="en-US" sz="770" spc="-1" strike="noStrike"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360000" y="6120000"/>
            <a:ext cx="900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50" spc="-1" strike="noStrike">
                <a:solidFill>
                  <a:srgbClr val="f0c36d"/>
                </a:solidFill>
                <a:latin typeface="Arial"/>
              </a:rPr>
              <a:t>Synthetic, reproducible and explicitly outside a production-release claim.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3951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9fb4be"/>
                </a:solidFill>
                <a:latin typeface="Courier New"/>
              </a:rPr>
              <a:t>Implementation + documentation + frozen experiment review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9fb4be"/>
                </a:solidFill>
                <a:latin typeface="Courier New"/>
              </a:rPr>
              <a:t>01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</p:sp>
      <p:sp>
        <p:nvSpPr>
          <p:cNvPr id="93" name=""/>
          <p:cNvSpPr txBox="1"/>
          <p:nvPr/>
        </p:nvSpPr>
        <p:spPr>
          <a:xfrm>
            <a:off x="324000" y="158400"/>
            <a:ext cx="309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EXECUTIVE SUMMARY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A complete predictive steering loop is implemented and measurable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96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324000" y="1404000"/>
            <a:ext cx="2592000" cy="100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98" name=""/>
          <p:cNvSpPr/>
          <p:nvPr/>
        </p:nvSpPr>
        <p:spPr>
          <a:xfrm>
            <a:off x="324000" y="1404000"/>
            <a:ext cx="64800" cy="1008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99" name=""/>
          <p:cNvSpPr txBox="1"/>
          <p:nvPr/>
        </p:nvSpPr>
        <p:spPr>
          <a:xfrm>
            <a:off x="504000" y="1548000"/>
            <a:ext cx="2268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" spc="-1" strike="noStrike">
                <a:solidFill>
                  <a:srgbClr val="718592"/>
                </a:solidFill>
                <a:latin typeface="Courier New"/>
              </a:rPr>
              <a:t>TRAINING DATA</a:t>
            </a:r>
            <a:endParaRPr b="0" lang="en-US" sz="720" spc="-1" strike="noStrike"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504000" y="1728000"/>
            <a:ext cx="2268000" cy="34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400" spc="-1" strike="noStrike">
                <a:solidFill>
                  <a:srgbClr val="007c99"/>
                </a:solidFill>
                <a:latin typeface="Arial"/>
              </a:rPr>
              <a:t>1.55M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504000" y="2124000"/>
            <a:ext cx="2268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526875"/>
                </a:solidFill>
                <a:latin typeface="Arial"/>
              </a:rPr>
              <a:t>group × 10-minute rows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3132000" y="1404000"/>
            <a:ext cx="2592000" cy="100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03" name=""/>
          <p:cNvSpPr/>
          <p:nvPr/>
        </p:nvSpPr>
        <p:spPr>
          <a:xfrm>
            <a:off x="3132000" y="1404000"/>
            <a:ext cx="64800" cy="1008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104" name=""/>
          <p:cNvSpPr txBox="1"/>
          <p:nvPr/>
        </p:nvSpPr>
        <p:spPr>
          <a:xfrm>
            <a:off x="3312000" y="1548000"/>
            <a:ext cx="2268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" spc="-1" strike="noStrike">
                <a:solidFill>
                  <a:srgbClr val="718592"/>
                </a:solidFill>
                <a:latin typeface="Courier New"/>
              </a:rPr>
              <a:t>FORECAST WAPE</a:t>
            </a:r>
            <a:endParaRPr b="0" lang="en-US" sz="720" spc="-1" strike="noStrike"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3312000" y="1728000"/>
            <a:ext cx="2268000" cy="34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400" spc="-1" strike="noStrike">
                <a:solidFill>
                  <a:srgbClr val="6750a4"/>
                </a:solidFill>
                <a:latin typeface="Arial"/>
              </a:rPr>
              <a:t>7.63%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3312000" y="2124000"/>
            <a:ext cx="2268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526875"/>
                </a:solidFill>
                <a:latin typeface="Arial"/>
              </a:rPr>
              <a:t>held-out macro mean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5940000" y="1404000"/>
            <a:ext cx="2736000" cy="100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08" name=""/>
          <p:cNvSpPr/>
          <p:nvPr/>
        </p:nvSpPr>
        <p:spPr>
          <a:xfrm>
            <a:off x="5940000" y="1404000"/>
            <a:ext cx="64800" cy="1008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09" name=""/>
          <p:cNvSpPr txBox="1"/>
          <p:nvPr/>
        </p:nvSpPr>
        <p:spPr>
          <a:xfrm>
            <a:off x="6120000" y="1548000"/>
            <a:ext cx="2412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" spc="-1" strike="noStrike">
                <a:solidFill>
                  <a:srgbClr val="718592"/>
                </a:solidFill>
                <a:latin typeface="Courier New"/>
              </a:rPr>
              <a:t>MEAN-PAIR UL GAIN</a:t>
            </a:r>
            <a:endParaRPr b="0" lang="en-US" sz="720" spc="-1" strike="noStrike"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6120000" y="1728000"/>
            <a:ext cx="2412000" cy="34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400" spc="-1" strike="noStrike">
                <a:solidFill>
                  <a:srgbClr val="16805f"/>
                </a:solidFill>
                <a:latin typeface="Arial"/>
              </a:rPr>
              <a:t>10.52%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6120000" y="2124000"/>
            <a:ext cx="241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526875"/>
                </a:solidFill>
                <a:latin typeface="Arial"/>
              </a:rPr>
              <a:t>30 matched scenarios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8892000" y="1404000"/>
            <a:ext cx="2844000" cy="100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13" name=""/>
          <p:cNvSpPr/>
          <p:nvPr/>
        </p:nvSpPr>
        <p:spPr>
          <a:xfrm>
            <a:off x="8892000" y="1404000"/>
            <a:ext cx="64800" cy="1008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114" name=""/>
          <p:cNvSpPr txBox="1"/>
          <p:nvPr/>
        </p:nvSpPr>
        <p:spPr>
          <a:xfrm>
            <a:off x="9072000" y="1548000"/>
            <a:ext cx="252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" spc="-1" strike="noStrike">
                <a:solidFill>
                  <a:srgbClr val="718592"/>
                </a:solidFill>
                <a:latin typeface="Courier New"/>
              </a:rPr>
              <a:t>WEIGHTED UL GAIN</a:t>
            </a:r>
            <a:endParaRPr b="0" lang="en-US" sz="720" spc="-1" strike="noStrike">
              <a:latin typeface="Arial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9072000" y="1728000"/>
            <a:ext cx="2520000" cy="34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400" spc="-1" strike="noStrike">
                <a:solidFill>
                  <a:srgbClr val="c77b0b"/>
                </a:solidFill>
                <a:latin typeface="Arial"/>
              </a:rPr>
              <a:t>2.84%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9072000" y="2124000"/>
            <a:ext cx="252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526875"/>
                </a:solidFill>
                <a:latin typeface="Arial"/>
              </a:rPr>
              <a:t>tail-sensitive total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324000" y="2952000"/>
            <a:ext cx="3528000" cy="108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18" name=""/>
          <p:cNvSpPr/>
          <p:nvPr/>
        </p:nvSpPr>
        <p:spPr>
          <a:xfrm>
            <a:off x="324000" y="2952000"/>
            <a:ext cx="64800" cy="1080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119" name=""/>
          <p:cNvSpPr txBox="1"/>
          <p:nvPr/>
        </p:nvSpPr>
        <p:spPr>
          <a:xfrm>
            <a:off x="540000" y="3132000"/>
            <a:ext cx="302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00" spc="-1" strike="noStrike">
                <a:solidFill>
                  <a:srgbClr val="007c99"/>
                </a:solidFill>
                <a:latin typeface="Arial"/>
              </a:rPr>
              <a:t>01 · Traffic model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540000" y="3456000"/>
            <a:ext cx="3024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0" spc="-1" strike="noStrike">
                <a:solidFill>
                  <a:srgbClr val="172731"/>
                </a:solidFill>
                <a:latin typeface="Arial"/>
              </a:rPr>
              <a:t>zones, services, probability and faults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4140000" y="2952000"/>
            <a:ext cx="3528000" cy="108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22" name=""/>
          <p:cNvSpPr/>
          <p:nvPr/>
        </p:nvSpPr>
        <p:spPr>
          <a:xfrm>
            <a:off x="4140000" y="2952000"/>
            <a:ext cx="64800" cy="1080000"/>
          </a:xfrm>
          <a:prstGeom prst="rect">
            <a:avLst/>
          </a:prstGeom>
          <a:solidFill>
            <a:srgbClr val="2f91a6"/>
          </a:solidFill>
          <a:ln w="0">
            <a:noFill/>
          </a:ln>
        </p:spPr>
      </p:sp>
      <p:sp>
        <p:nvSpPr>
          <p:cNvPr id="123" name=""/>
          <p:cNvSpPr txBox="1"/>
          <p:nvPr/>
        </p:nvSpPr>
        <p:spPr>
          <a:xfrm>
            <a:off x="4356000" y="3132000"/>
            <a:ext cx="302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00" spc="-1" strike="noStrike">
                <a:solidFill>
                  <a:srgbClr val="2f91a6"/>
                </a:solidFill>
                <a:latin typeface="Arial"/>
              </a:rPr>
              <a:t>02 · Synthetic history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4356000" y="3456000"/>
            <a:ext cx="3024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0" spc="-1" strike="noStrike">
                <a:solidFill>
                  <a:srgbClr val="172731"/>
                </a:solidFill>
                <a:latin typeface="Arial"/>
              </a:rPr>
              <a:t>30-second causal cohort simulation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7956000" y="2952000"/>
            <a:ext cx="3528000" cy="108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26" name=""/>
          <p:cNvSpPr/>
          <p:nvPr/>
        </p:nvSpPr>
        <p:spPr>
          <a:xfrm>
            <a:off x="7956000" y="2952000"/>
            <a:ext cx="64800" cy="1080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127" name=""/>
          <p:cNvSpPr txBox="1"/>
          <p:nvPr/>
        </p:nvSpPr>
        <p:spPr>
          <a:xfrm>
            <a:off x="8172000" y="3132000"/>
            <a:ext cx="302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00" spc="-1" strike="noStrike">
                <a:solidFill>
                  <a:srgbClr val="6750a4"/>
                </a:solidFill>
                <a:latin typeface="Arial"/>
              </a:rPr>
              <a:t>03 · Forecaster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8172000" y="3456000"/>
            <a:ext cx="3024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0" spc="-1" strike="noStrike">
                <a:solidFill>
                  <a:srgbClr val="172731"/>
                </a:solidFill>
                <a:latin typeface="Arial"/>
              </a:rPr>
              <a:t>demand and uncertainty by group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324000" y="4320000"/>
            <a:ext cx="3528000" cy="108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30" name=""/>
          <p:cNvSpPr/>
          <p:nvPr/>
        </p:nvSpPr>
        <p:spPr>
          <a:xfrm>
            <a:off x="324000" y="4320000"/>
            <a:ext cx="64800" cy="1080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31" name=""/>
          <p:cNvSpPr txBox="1"/>
          <p:nvPr/>
        </p:nvSpPr>
        <p:spPr>
          <a:xfrm>
            <a:off x="540000" y="4500000"/>
            <a:ext cx="302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00" spc="-1" strike="noStrike">
                <a:solidFill>
                  <a:srgbClr val="16805f"/>
                </a:solidFill>
                <a:latin typeface="Arial"/>
              </a:rPr>
              <a:t>04 · Controller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540000" y="4824000"/>
            <a:ext cx="3024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0" spc="-1" strike="noStrike">
                <a:solidFill>
                  <a:srgbClr val="172731"/>
                </a:solidFill>
                <a:latin typeface="Arial"/>
              </a:rPr>
              <a:t>cohort MPC certified against static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4140000" y="4320000"/>
            <a:ext cx="3528000" cy="108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34" name=""/>
          <p:cNvSpPr/>
          <p:nvPr/>
        </p:nvSpPr>
        <p:spPr>
          <a:xfrm>
            <a:off x="4140000" y="4320000"/>
            <a:ext cx="64800" cy="1080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135" name=""/>
          <p:cNvSpPr txBox="1"/>
          <p:nvPr/>
        </p:nvSpPr>
        <p:spPr>
          <a:xfrm>
            <a:off x="4356000" y="4500000"/>
            <a:ext cx="302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00" spc="-1" strike="noStrike">
                <a:solidFill>
                  <a:srgbClr val="c77b0b"/>
                </a:solidFill>
                <a:latin typeface="Arial"/>
              </a:rPr>
              <a:t>05 · Steering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4356000" y="4824000"/>
            <a:ext cx="3024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0" spc="-1" strike="noStrike">
                <a:solidFill>
                  <a:srgbClr val="172731"/>
                </a:solidFill>
                <a:latin typeface="Arial"/>
              </a:rPr>
              <a:t>weighted placement for future sessions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7956000" y="4320000"/>
            <a:ext cx="3528000" cy="108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38" name=""/>
          <p:cNvSpPr/>
          <p:nvPr/>
        </p:nvSpPr>
        <p:spPr>
          <a:xfrm>
            <a:off x="7956000" y="4320000"/>
            <a:ext cx="64800" cy="1080000"/>
          </a:xfrm>
          <a:prstGeom prst="rect">
            <a:avLst/>
          </a:prstGeom>
          <a:solidFill>
            <a:srgbClr val="cd443b"/>
          </a:solidFill>
          <a:ln w="0">
            <a:noFill/>
          </a:ln>
        </p:spPr>
      </p:sp>
      <p:sp>
        <p:nvSpPr>
          <p:cNvPr id="139" name=""/>
          <p:cNvSpPr txBox="1"/>
          <p:nvPr/>
        </p:nvSpPr>
        <p:spPr>
          <a:xfrm>
            <a:off x="8172000" y="4500000"/>
            <a:ext cx="302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00" spc="-1" strike="noStrike">
                <a:solidFill>
                  <a:srgbClr val="cd443b"/>
                </a:solidFill>
                <a:latin typeface="Arial"/>
              </a:rPr>
              <a:t>06 · Demo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8172000" y="4824000"/>
            <a:ext cx="3024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0" spc="-1" strike="noStrike">
                <a:solidFill>
                  <a:srgbClr val="172731"/>
                </a:solidFill>
                <a:latin typeface="Arial"/>
              </a:rPr>
              <a:t>actual outcomes and frozen evidence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324000" y="5832000"/>
            <a:ext cx="11412000" cy="468000"/>
          </a:xfrm>
          <a:prstGeom prst="roundRect">
            <a:avLst/>
          </a:prstGeom>
          <a:solidFill>
            <a:srgbClr val="faf0de"/>
          </a:solidFill>
          <a:ln w="0">
            <a:noFill/>
          </a:ln>
        </p:spPr>
      </p:sp>
      <p:sp>
        <p:nvSpPr>
          <p:cNvPr id="142" name=""/>
          <p:cNvSpPr/>
          <p:nvPr/>
        </p:nvSpPr>
        <p:spPr>
          <a:xfrm>
            <a:off x="324000" y="5832000"/>
            <a:ext cx="64800" cy="468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143" name=""/>
          <p:cNvSpPr txBox="1"/>
          <p:nvPr/>
        </p:nvSpPr>
        <p:spPr>
          <a:xfrm>
            <a:off x="576000" y="5940000"/>
            <a:ext cx="10908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172731"/>
                </a:solidFill>
                <a:latin typeface="Arial"/>
              </a:rPr>
              <a:t>Claim: reduced modeled overload exposure for future sessions—not guaranteed prevention, migration or live C-DOT actuation.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README.md · docs/extreme-forecaster-v1-results.md · docs/cohort-mpc-full-campaign-results.md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02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</p:sp>
      <p:sp>
        <p:nvSpPr>
          <p:cNvPr id="148" name=""/>
          <p:cNvSpPr txBox="1"/>
          <p:nvPr/>
        </p:nvSpPr>
        <p:spPr>
          <a:xfrm>
            <a:off x="324000" y="158400"/>
            <a:ext cx="3096000" cy="23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SIMULATION DATA · MODELLING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Stage 1 — model diverse traffic as controllable groups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51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324000" y="1440000"/>
            <a:ext cx="5400000" cy="4392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53" name=""/>
          <p:cNvSpPr/>
          <p:nvPr/>
        </p:nvSpPr>
        <p:spPr>
          <a:xfrm>
            <a:off x="324000" y="1440000"/>
            <a:ext cx="64800" cy="4392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154" name=""/>
          <p:cNvSpPr txBox="1"/>
          <p:nvPr/>
        </p:nvSpPr>
        <p:spPr>
          <a:xfrm>
            <a:off x="576000" y="1692000"/>
            <a:ext cx="4896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500" spc="-1" strike="noStrike">
                <a:solidFill>
                  <a:srgbClr val="172731"/>
                </a:solidFill>
                <a:latin typeface="Arial"/>
              </a:rPr>
              <a:t>Dimensions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576000" y="2124000"/>
            <a:ext cx="2160000" cy="100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56" name=""/>
          <p:cNvSpPr/>
          <p:nvPr/>
        </p:nvSpPr>
        <p:spPr>
          <a:xfrm>
            <a:off x="576000" y="2124000"/>
            <a:ext cx="64800" cy="1008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157" name=""/>
          <p:cNvSpPr txBox="1"/>
          <p:nvPr/>
        </p:nvSpPr>
        <p:spPr>
          <a:xfrm>
            <a:off x="756000" y="2268000"/>
            <a:ext cx="183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" spc="-1" strike="noStrike">
                <a:solidFill>
                  <a:srgbClr val="718592"/>
                </a:solidFill>
                <a:latin typeface="Courier New"/>
              </a:rPr>
              <a:t>ZONES</a:t>
            </a:r>
            <a:endParaRPr b="0" lang="en-US" sz="720" spc="-1" strike="noStrike">
              <a:latin typeface="Arial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756000" y="2448000"/>
            <a:ext cx="1836000" cy="34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400" spc="-1" strike="noStrike">
                <a:solidFill>
                  <a:srgbClr val="007c99"/>
                </a:solidFill>
                <a:latin typeface="Arial"/>
              </a:rPr>
              <a:t>8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756000" y="2844000"/>
            <a:ext cx="1836000" cy="23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526875"/>
                </a:solidFill>
                <a:latin typeface="Arial"/>
              </a:rPr>
              <a:t>urban · airport · stadium · industrial · rural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3024000" y="2124000"/>
            <a:ext cx="2412000" cy="100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61" name=""/>
          <p:cNvSpPr/>
          <p:nvPr/>
        </p:nvSpPr>
        <p:spPr>
          <a:xfrm>
            <a:off x="3024000" y="2124000"/>
            <a:ext cx="64800" cy="1008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162" name=""/>
          <p:cNvSpPr txBox="1"/>
          <p:nvPr/>
        </p:nvSpPr>
        <p:spPr>
          <a:xfrm>
            <a:off x="3204000" y="2268000"/>
            <a:ext cx="2088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" spc="-1" strike="noStrike">
                <a:solidFill>
                  <a:srgbClr val="718592"/>
                </a:solidFill>
                <a:latin typeface="Courier New"/>
              </a:rPr>
              <a:t>GROUPS</a:t>
            </a:r>
            <a:endParaRPr b="0" lang="en-US" sz="720" spc="-1" strike="noStrike">
              <a:latin typeface="Arial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3204000" y="2448000"/>
            <a:ext cx="2088000" cy="34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400" spc="-1" strike="noStrike">
                <a:solidFill>
                  <a:srgbClr val="6750a4"/>
                </a:solidFill>
                <a:latin typeface="Arial"/>
              </a:rPr>
              <a:t>96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3204000" y="2844000"/>
            <a:ext cx="2088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526875"/>
                </a:solidFill>
                <a:latin typeface="Arial"/>
              </a:rPr>
              <a:t>zone × DNN × slice × 5QI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576000" y="3492000"/>
            <a:ext cx="489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-1" strike="noStrike">
                <a:solidFill>
                  <a:srgbClr val="007c99"/>
                </a:solidFill>
                <a:latin typeface="Courier New"/>
              </a:rPr>
              <a:t>12 SERVICE CLASSES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576000" y="3924000"/>
            <a:ext cx="79200" cy="79200"/>
          </a:xfrm>
          <a:prstGeom prst="ellipse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167" name=""/>
          <p:cNvSpPr txBox="1"/>
          <p:nvPr/>
        </p:nvSpPr>
        <p:spPr>
          <a:xfrm>
            <a:off x="756000" y="3888000"/>
            <a:ext cx="2052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10" spc="-1" strike="noStrike">
                <a:solidFill>
                  <a:srgbClr val="172731"/>
                </a:solidFill>
                <a:latin typeface="Arial"/>
              </a:rPr>
              <a:t>Consumer video</a:t>
            </a:r>
            <a:endParaRPr b="0" lang="en-US" sz="810" spc="-1" strike="noStrike"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2952000" y="3924000"/>
            <a:ext cx="79200" cy="79200"/>
          </a:xfrm>
          <a:prstGeom prst="ellipse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169" name=""/>
          <p:cNvSpPr txBox="1"/>
          <p:nvPr/>
        </p:nvSpPr>
        <p:spPr>
          <a:xfrm>
            <a:off x="3132000" y="3888000"/>
            <a:ext cx="2052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10" spc="-1" strike="noStrike">
                <a:solidFill>
                  <a:srgbClr val="172731"/>
                </a:solidFill>
                <a:latin typeface="Arial"/>
              </a:rPr>
              <a:t>Social/live</a:t>
            </a:r>
            <a:endParaRPr b="0" lang="en-US" sz="810" spc="-1" strike="noStrike"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576000" y="4212000"/>
            <a:ext cx="79200" cy="79200"/>
          </a:xfrm>
          <a:prstGeom prst="ellipse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171" name=""/>
          <p:cNvSpPr txBox="1"/>
          <p:nvPr/>
        </p:nvSpPr>
        <p:spPr>
          <a:xfrm>
            <a:off x="756000" y="4176000"/>
            <a:ext cx="2052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10" spc="-1" strike="noStrike">
                <a:solidFill>
                  <a:srgbClr val="172731"/>
                </a:solidFill>
                <a:latin typeface="Arial"/>
              </a:rPr>
              <a:t>Gaming</a:t>
            </a:r>
            <a:endParaRPr b="0" lang="en-US" sz="810" spc="-1" strike="noStrike"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2952000" y="4212000"/>
            <a:ext cx="79200" cy="79200"/>
          </a:xfrm>
          <a:prstGeom prst="ellipse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173" name=""/>
          <p:cNvSpPr txBox="1"/>
          <p:nvPr/>
        </p:nvSpPr>
        <p:spPr>
          <a:xfrm>
            <a:off x="3132000" y="4176000"/>
            <a:ext cx="2052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10" spc="-1" strike="noStrike">
                <a:solidFill>
                  <a:srgbClr val="172731"/>
                </a:solidFill>
                <a:latin typeface="Arial"/>
              </a:rPr>
              <a:t>IMS voice</a:t>
            </a:r>
            <a:endParaRPr b="0" lang="en-US" sz="810" spc="-1" strike="noStrike"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576000" y="4500000"/>
            <a:ext cx="79200" cy="79200"/>
          </a:xfrm>
          <a:prstGeom prst="ellipse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175" name=""/>
          <p:cNvSpPr txBox="1"/>
          <p:nvPr/>
        </p:nvSpPr>
        <p:spPr>
          <a:xfrm>
            <a:off x="756000" y="4464000"/>
            <a:ext cx="2052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10" spc="-1" strike="noStrike">
                <a:solidFill>
                  <a:srgbClr val="172731"/>
                </a:solidFill>
                <a:latin typeface="Arial"/>
              </a:rPr>
              <a:t>Enterprise</a:t>
            </a:r>
            <a:endParaRPr b="0" lang="en-US" sz="810" spc="-1" strike="noStrike"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2952000" y="4500000"/>
            <a:ext cx="79200" cy="79200"/>
          </a:xfrm>
          <a:prstGeom prst="ellipse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177" name=""/>
          <p:cNvSpPr txBox="1"/>
          <p:nvPr/>
        </p:nvSpPr>
        <p:spPr>
          <a:xfrm>
            <a:off x="3132000" y="4464000"/>
            <a:ext cx="2052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10" spc="-1" strike="noStrike">
                <a:solidFill>
                  <a:srgbClr val="172731"/>
                </a:solidFill>
                <a:latin typeface="Arial"/>
              </a:rPr>
              <a:t>Video conference</a:t>
            </a:r>
            <a:endParaRPr b="0" lang="en-US" sz="810" spc="-1" strike="noStrike"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576000" y="4788000"/>
            <a:ext cx="79200" cy="79200"/>
          </a:xfrm>
          <a:prstGeom prst="ellipse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179" name=""/>
          <p:cNvSpPr txBox="1"/>
          <p:nvPr/>
        </p:nvSpPr>
        <p:spPr>
          <a:xfrm>
            <a:off x="756000" y="4752000"/>
            <a:ext cx="2052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10" spc="-1" strike="noStrike">
                <a:solidFill>
                  <a:srgbClr val="172731"/>
                </a:solidFill>
                <a:latin typeface="Arial"/>
              </a:rPr>
              <a:t>Industrial URLLC</a:t>
            </a:r>
            <a:endParaRPr b="0" lang="en-US" sz="810" spc="-1" strike="noStrike"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2952000" y="4788000"/>
            <a:ext cx="79200" cy="79200"/>
          </a:xfrm>
          <a:prstGeom prst="ellipse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181" name=""/>
          <p:cNvSpPr txBox="1"/>
          <p:nvPr/>
        </p:nvSpPr>
        <p:spPr>
          <a:xfrm>
            <a:off x="3132000" y="4752000"/>
            <a:ext cx="2052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10" spc="-1" strike="noStrike">
                <a:solidFill>
                  <a:srgbClr val="172731"/>
                </a:solidFill>
                <a:latin typeface="Arial"/>
              </a:rPr>
              <a:t>Massive IoT</a:t>
            </a:r>
            <a:endParaRPr b="0" lang="en-US" sz="810" spc="-1" strike="noStrike"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576000" y="5076000"/>
            <a:ext cx="79200" cy="79200"/>
          </a:xfrm>
          <a:prstGeom prst="ellipse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183" name=""/>
          <p:cNvSpPr txBox="1"/>
          <p:nvPr/>
        </p:nvSpPr>
        <p:spPr>
          <a:xfrm>
            <a:off x="756000" y="5040000"/>
            <a:ext cx="2052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10" spc="-1" strike="noStrike">
                <a:solidFill>
                  <a:srgbClr val="172731"/>
                </a:solidFill>
                <a:latin typeface="Arial"/>
              </a:rPr>
              <a:t>Connected vehicle</a:t>
            </a:r>
            <a:endParaRPr b="0" lang="en-US" sz="810" spc="-1" strike="noStrike"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2952000" y="5076000"/>
            <a:ext cx="79200" cy="79200"/>
          </a:xfrm>
          <a:prstGeom prst="ellipse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185" name=""/>
          <p:cNvSpPr txBox="1"/>
          <p:nvPr/>
        </p:nvSpPr>
        <p:spPr>
          <a:xfrm>
            <a:off x="3132000" y="5040000"/>
            <a:ext cx="2052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10" spc="-1" strike="noStrike">
                <a:solidFill>
                  <a:srgbClr val="172731"/>
                </a:solidFill>
                <a:latin typeface="Arial"/>
              </a:rPr>
              <a:t>Edge AI</a:t>
            </a:r>
            <a:endParaRPr b="0" lang="en-US" sz="810" spc="-1" strike="noStrike"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576000" y="5364000"/>
            <a:ext cx="79200" cy="79200"/>
          </a:xfrm>
          <a:prstGeom prst="ellipse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187" name=""/>
          <p:cNvSpPr txBox="1"/>
          <p:nvPr/>
        </p:nvSpPr>
        <p:spPr>
          <a:xfrm>
            <a:off x="756000" y="5328000"/>
            <a:ext cx="2052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10" spc="-1" strike="noStrike">
                <a:solidFill>
                  <a:srgbClr val="172731"/>
                </a:solidFill>
                <a:latin typeface="Arial"/>
              </a:rPr>
              <a:t>Cloud backup</a:t>
            </a:r>
            <a:endParaRPr b="0" lang="en-US" sz="810" spc="-1" strike="noStrike"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2952000" y="5364000"/>
            <a:ext cx="79200" cy="79200"/>
          </a:xfrm>
          <a:prstGeom prst="ellipse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189" name=""/>
          <p:cNvSpPr txBox="1"/>
          <p:nvPr/>
        </p:nvSpPr>
        <p:spPr>
          <a:xfrm>
            <a:off x="3132000" y="5328000"/>
            <a:ext cx="2052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10" spc="-1" strike="noStrike">
                <a:solidFill>
                  <a:srgbClr val="172731"/>
                </a:solidFill>
                <a:latin typeface="Arial"/>
              </a:rPr>
              <a:t>Public safety</a:t>
            </a:r>
            <a:endParaRPr b="0" lang="en-US" sz="810" spc="-1" strike="noStrike"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6048000" y="1440000"/>
            <a:ext cx="5688000" cy="4392000"/>
          </a:xfrm>
          <a:prstGeom prst="roundRect">
            <a:avLst/>
          </a:prstGeom>
          <a:solidFill>
            <a:srgbClr val="193644"/>
          </a:solidFill>
          <a:ln w="0">
            <a:noFill/>
          </a:ln>
        </p:spPr>
      </p:sp>
      <p:sp>
        <p:nvSpPr>
          <p:cNvPr id="191" name=""/>
          <p:cNvSpPr/>
          <p:nvPr/>
        </p:nvSpPr>
        <p:spPr>
          <a:xfrm>
            <a:off x="6048000" y="1440000"/>
            <a:ext cx="64800" cy="4392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192" name=""/>
          <p:cNvSpPr txBox="1"/>
          <p:nvPr/>
        </p:nvSpPr>
        <p:spPr>
          <a:xfrm>
            <a:off x="6336000" y="1728000"/>
            <a:ext cx="5112000" cy="20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Executable probability model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6336000" y="2304000"/>
            <a:ext cx="5112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900" spc="-1" strike="noStrike">
                <a:solidFill>
                  <a:srgbClr val="77c6d4"/>
                </a:solidFill>
                <a:latin typeface="Courier New"/>
              </a:rPr>
              <a:t>N(g,t) ~ Poisson(λg × Fg,t)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6336000" y="2844000"/>
            <a:ext cx="5112000" cy="4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910" spc="-1" strike="noStrike">
                <a:solidFill>
                  <a:srgbClr val="d1e0e5"/>
                </a:solidFill>
                <a:latin typeface="Arial"/>
              </a:rPr>
              <a:t>Fg,t = daily curve × weekend factor × weekly noise × surge multiplier</a:t>
            </a:r>
            <a:endParaRPr b="0" lang="en-US" sz="910" spc="-1" strike="noStrike"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6336000" y="3628800"/>
            <a:ext cx="79200" cy="79200"/>
          </a:xfrm>
          <a:prstGeom prst="ellipse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196" name=""/>
          <p:cNvSpPr txBox="1"/>
          <p:nvPr/>
        </p:nvSpPr>
        <p:spPr>
          <a:xfrm>
            <a:off x="6516000" y="3546000"/>
            <a:ext cx="4932000" cy="34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0" spc="-1" strike="noStrike">
                <a:solidFill>
                  <a:srgbClr val="ffffff"/>
                </a:solidFill>
                <a:latin typeface="Arial"/>
              </a:rPr>
              <a:t>independent SHA-derived arrival and lifetime streams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6336000" y="3974400"/>
            <a:ext cx="79200" cy="79200"/>
          </a:xfrm>
          <a:prstGeom prst="ellipse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198" name=""/>
          <p:cNvSpPr txBox="1"/>
          <p:nvPr/>
        </p:nvSpPr>
        <p:spPr>
          <a:xfrm>
            <a:off x="6516000" y="3891600"/>
            <a:ext cx="4932000" cy="34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0" spc="-1" strike="noStrike">
                <a:solidFill>
                  <a:srgbClr val="ffffff"/>
                </a:solidFill>
                <a:latin typeface="Arial"/>
              </a:rPr>
              <a:t>uniform integer session lifetime by class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6336000" y="4320000"/>
            <a:ext cx="79200" cy="79200"/>
          </a:xfrm>
          <a:prstGeom prst="ellipse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200" name=""/>
          <p:cNvSpPr txBox="1"/>
          <p:nvPr/>
        </p:nvSpPr>
        <p:spPr>
          <a:xfrm>
            <a:off x="6516000" y="4237200"/>
            <a:ext cx="4932000" cy="34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0" spc="-1" strike="noStrike">
                <a:solidFill>
                  <a:srgbClr val="ffffff"/>
                </a:solidFill>
                <a:latin typeface="Arial"/>
              </a:rPr>
              <a:t>fixed class-level UL/DL Mbps per active session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6336000" y="4665600"/>
            <a:ext cx="79200" cy="79200"/>
          </a:xfrm>
          <a:prstGeom prst="ellipse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202" name=""/>
          <p:cNvSpPr txBox="1"/>
          <p:nvPr/>
        </p:nvSpPr>
        <p:spPr>
          <a:xfrm>
            <a:off x="6516000" y="4582800"/>
            <a:ext cx="4932000" cy="34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0" spc="-1" strike="noStrike">
                <a:solidFill>
                  <a:srgbClr val="ffffff"/>
                </a:solidFill>
                <a:latin typeface="Arial"/>
              </a:rPr>
              <a:t>sessions retained as anchored cohorts after placement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6336000" y="5011200"/>
            <a:ext cx="79200" cy="79200"/>
          </a:xfrm>
          <a:prstGeom prst="ellipse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204" name=""/>
          <p:cNvSpPr txBox="1"/>
          <p:nvPr/>
        </p:nvSpPr>
        <p:spPr>
          <a:xfrm>
            <a:off x="6516000" y="4928400"/>
            <a:ext cx="4932000" cy="34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0" spc="-1" strike="noStrike">
                <a:solidFill>
                  <a:srgbClr val="ffffff"/>
                </a:solidFill>
                <a:latin typeface="Arial"/>
              </a:rPr>
              <a:t>5QI is forecast/QoS metadata, not a separate v1 steering key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configs/extreme_training_profile.json · simulator/macro/engine.py · docs/extreme-data-spec-and-cdot-gap-analysis.md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03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</p:sp>
      <p:sp>
        <p:nvSpPr>
          <p:cNvPr id="209" name=""/>
          <p:cNvSpPr txBox="1"/>
          <p:nvPr/>
        </p:nvSpPr>
        <p:spPr>
          <a:xfrm>
            <a:off x="324000" y="158400"/>
            <a:ext cx="3096000" cy="23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SIMULATION DATA · EXPERIMENTS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Stage 1 — generate normal regimes, stochastic surges and network stress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212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324000" y="1476000"/>
            <a:ext cx="7344000" cy="57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214" name=""/>
          <p:cNvSpPr/>
          <p:nvPr/>
        </p:nvSpPr>
        <p:spPr>
          <a:xfrm>
            <a:off x="324000" y="1476000"/>
            <a:ext cx="64800" cy="576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215" name=""/>
          <p:cNvSpPr txBox="1"/>
          <p:nvPr/>
        </p:nvSpPr>
        <p:spPr>
          <a:xfrm>
            <a:off x="576000" y="1620000"/>
            <a:ext cx="1692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007c99"/>
                </a:solidFill>
                <a:latin typeface="Courier New"/>
              </a:rPr>
              <a:t>DAILY / WEEKLY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2412000" y="1584000"/>
            <a:ext cx="147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70" spc="-1" strike="noStrike">
                <a:solidFill>
                  <a:srgbClr val="172731"/>
                </a:solidFill>
                <a:latin typeface="Arial"/>
              </a:rPr>
              <a:t>258,048 factors</a:t>
            </a:r>
            <a:endParaRPr b="0" lang="en-US" sz="970" spc="-1" strike="noStrike">
              <a:latin typeface="Arial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3996000" y="1584000"/>
            <a:ext cx="3384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50" spc="-1" strike="noStrike">
                <a:solidFill>
                  <a:srgbClr val="526875"/>
                </a:solidFill>
                <a:latin typeface="Arial"/>
              </a:rPr>
              <a:t>service curves + weekend + U(0.86,1.16)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324000" y="2214000"/>
            <a:ext cx="7344000" cy="57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219" name=""/>
          <p:cNvSpPr/>
          <p:nvPr/>
        </p:nvSpPr>
        <p:spPr>
          <a:xfrm>
            <a:off x="324000" y="2214000"/>
            <a:ext cx="64800" cy="576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220" name=""/>
          <p:cNvSpPr txBox="1"/>
          <p:nvPr/>
        </p:nvSpPr>
        <p:spPr>
          <a:xfrm>
            <a:off x="576000" y="2358000"/>
            <a:ext cx="1692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6750a4"/>
                </a:solidFill>
                <a:latin typeface="Courier New"/>
              </a:rPr>
              <a:t>FLASH CROWDS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2412000" y="2322000"/>
            <a:ext cx="147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70" spc="-1" strike="noStrike">
                <a:solidFill>
                  <a:srgbClr val="172731"/>
                </a:solidFill>
                <a:latin typeface="Arial"/>
              </a:rPr>
              <a:t>192 episodes</a:t>
            </a:r>
            <a:endParaRPr b="0" lang="en-US" sz="970" spc="-1" strike="noStrike">
              <a:latin typeface="Arial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3996000" y="2322000"/>
            <a:ext cx="3384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50" spc="-1" strike="noStrike">
                <a:solidFill>
                  <a:srgbClr val="526875"/>
                </a:solidFill>
                <a:latin typeface="Arial"/>
              </a:rPr>
              <a:t>12/week · random group · 2–10 h · ×2.5–8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324000" y="2952000"/>
            <a:ext cx="7344000" cy="57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224" name=""/>
          <p:cNvSpPr/>
          <p:nvPr/>
        </p:nvSpPr>
        <p:spPr>
          <a:xfrm>
            <a:off x="324000" y="2952000"/>
            <a:ext cx="64800" cy="576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225" name=""/>
          <p:cNvSpPr txBox="1"/>
          <p:nvPr/>
        </p:nvSpPr>
        <p:spPr>
          <a:xfrm>
            <a:off x="576000" y="3096000"/>
            <a:ext cx="1692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c77b0b"/>
                </a:solidFill>
                <a:latin typeface="Courier New"/>
              </a:rPr>
              <a:t>BROWNOUTS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2412000" y="3060000"/>
            <a:ext cx="147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70" spc="-1" strike="noStrike">
                <a:solidFill>
                  <a:srgbClr val="172731"/>
                </a:solidFill>
                <a:latin typeface="Arial"/>
              </a:rPr>
              <a:t>128 episodes</a:t>
            </a:r>
            <a:endParaRPr b="0" lang="en-US" sz="970" spc="-1" strike="noStrike">
              <a:latin typeface="Arial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3996000" y="3060000"/>
            <a:ext cx="3384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50" spc="-1" strike="noStrike">
                <a:solidFill>
                  <a:srgbClr val="526875"/>
                </a:solidFill>
                <a:latin typeface="Arial"/>
              </a:rPr>
              <a:t>8/week · UL capacity ×0.18–0.70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324000" y="3690000"/>
            <a:ext cx="7344000" cy="57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229" name=""/>
          <p:cNvSpPr/>
          <p:nvPr/>
        </p:nvSpPr>
        <p:spPr>
          <a:xfrm>
            <a:off x="324000" y="3690000"/>
            <a:ext cx="64800" cy="576000"/>
          </a:xfrm>
          <a:prstGeom prst="rect">
            <a:avLst/>
          </a:prstGeom>
          <a:solidFill>
            <a:srgbClr val="cd443b"/>
          </a:solidFill>
          <a:ln w="0">
            <a:noFill/>
          </a:ln>
        </p:spPr>
      </p:sp>
      <p:sp>
        <p:nvSpPr>
          <p:cNvPr id="230" name=""/>
          <p:cNvSpPr txBox="1"/>
          <p:nvPr/>
        </p:nvSpPr>
        <p:spPr>
          <a:xfrm>
            <a:off x="576000" y="3834000"/>
            <a:ext cx="1692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cd443b"/>
                </a:solidFill>
                <a:latin typeface="Courier New"/>
              </a:rPr>
              <a:t>NEAR OUTAGES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2412000" y="3798000"/>
            <a:ext cx="147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70" spc="-1" strike="noStrike">
                <a:solidFill>
                  <a:srgbClr val="172731"/>
                </a:solidFill>
                <a:latin typeface="Arial"/>
              </a:rPr>
              <a:t>48 episodes</a:t>
            </a:r>
            <a:endParaRPr b="0" lang="en-US" sz="970" spc="-1" strike="noStrike">
              <a:latin typeface="Arial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3996000" y="3798000"/>
            <a:ext cx="3384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50" spc="-1" strike="noStrike">
                <a:solidFill>
                  <a:srgbClr val="526875"/>
                </a:solidFill>
                <a:latin typeface="Arial"/>
              </a:rPr>
              <a:t>3/week · degraded + 1% capacity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324000" y="4428000"/>
            <a:ext cx="7344000" cy="57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234" name=""/>
          <p:cNvSpPr/>
          <p:nvPr/>
        </p:nvSpPr>
        <p:spPr>
          <a:xfrm>
            <a:off x="324000" y="4428000"/>
            <a:ext cx="64800" cy="576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235" name=""/>
          <p:cNvSpPr txBox="1"/>
          <p:nvPr/>
        </p:nvSpPr>
        <p:spPr>
          <a:xfrm>
            <a:off x="576000" y="4572000"/>
            <a:ext cx="1692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16805f"/>
                </a:solidFill>
                <a:latin typeface="Courier New"/>
              </a:rPr>
              <a:t>LATENCY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2412000" y="4536000"/>
            <a:ext cx="147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70" spc="-1" strike="noStrike">
                <a:solidFill>
                  <a:srgbClr val="172731"/>
                </a:solidFill>
                <a:latin typeface="Arial"/>
              </a:rPr>
              <a:t>80 episodes</a:t>
            </a:r>
            <a:endParaRPr b="0" lang="en-US" sz="970" spc="-1" strike="noStrike">
              <a:latin typeface="Arial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3996000" y="4536000"/>
            <a:ext cx="3384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50" spc="-1" strike="noStrike">
                <a:solidFill>
                  <a:srgbClr val="526875"/>
                </a:solidFill>
                <a:latin typeface="Arial"/>
              </a:rPr>
              <a:t>5/week · +25–140 ms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>
            <a:off x="7992000" y="1476000"/>
            <a:ext cx="3744000" cy="352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239" name=""/>
          <p:cNvSpPr/>
          <p:nvPr/>
        </p:nvSpPr>
        <p:spPr>
          <a:xfrm>
            <a:off x="7992000" y="1476000"/>
            <a:ext cx="64800" cy="3528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240" name=""/>
          <p:cNvSpPr txBox="1"/>
          <p:nvPr/>
        </p:nvSpPr>
        <p:spPr>
          <a:xfrm>
            <a:off x="8244000" y="1728000"/>
            <a:ext cx="3240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400" spc="-1" strike="noStrike">
                <a:solidFill>
                  <a:srgbClr val="172731"/>
                </a:solidFill>
                <a:latin typeface="Arial"/>
              </a:rPr>
              <a:t>16-week corpus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8244000" y="2268000"/>
            <a:ext cx="122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70" spc="-1" strike="noStrike">
                <a:solidFill>
                  <a:srgbClr val="16805f"/>
                </a:solidFill>
                <a:latin typeface="Arial"/>
              </a:rPr>
              <a:t>112 days</a:t>
            </a:r>
            <a:endParaRPr b="0" lang="en-US" sz="1070" spc="-1" strike="noStrike">
              <a:latin typeface="Arial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9576000" y="2286000"/>
            <a:ext cx="187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90" spc="-1" strike="noStrike">
                <a:solidFill>
                  <a:srgbClr val="526875"/>
                </a:solidFill>
                <a:latin typeface="Arial"/>
              </a:rPr>
              <a:t>322,560 ticks</a:t>
            </a:r>
            <a:endParaRPr b="0" lang="en-US" sz="790" spc="-1" strike="noStrike">
              <a:latin typeface="Arial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8244000" y="2700000"/>
            <a:ext cx="122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70" spc="-1" strike="noStrike">
                <a:solidFill>
                  <a:srgbClr val="16805f"/>
                </a:solidFill>
                <a:latin typeface="Arial"/>
              </a:rPr>
              <a:t>16,128</a:t>
            </a:r>
            <a:endParaRPr b="0" lang="en-US" sz="1070" spc="-1" strike="noStrike">
              <a:latin typeface="Arial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9576000" y="2718000"/>
            <a:ext cx="187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90" spc="-1" strike="noStrike">
                <a:solidFill>
                  <a:srgbClr val="526875"/>
                </a:solidFill>
                <a:latin typeface="Arial"/>
              </a:rPr>
              <a:t>10-minute buckets</a:t>
            </a:r>
            <a:endParaRPr b="0" lang="en-US" sz="790" spc="-1" strike="noStrike">
              <a:latin typeface="Arial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8244000" y="3132000"/>
            <a:ext cx="122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70" spc="-1" strike="noStrike">
                <a:solidFill>
                  <a:srgbClr val="16805f"/>
                </a:solidFill>
                <a:latin typeface="Arial"/>
              </a:rPr>
              <a:t>1,548,288</a:t>
            </a:r>
            <a:endParaRPr b="0" lang="en-US" sz="1070" spc="-1" strike="noStrike">
              <a:latin typeface="Arial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9576000" y="3150000"/>
            <a:ext cx="187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90" spc="-1" strike="noStrike">
                <a:solidFill>
                  <a:srgbClr val="526875"/>
                </a:solidFill>
                <a:latin typeface="Arial"/>
              </a:rPr>
              <a:t>group observations</a:t>
            </a:r>
            <a:endParaRPr b="0" lang="en-US" sz="790" spc="-1" strike="noStrike">
              <a:latin typeface="Arial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8244000" y="3564000"/>
            <a:ext cx="122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70" spc="-1" strike="noStrike">
                <a:solidFill>
                  <a:srgbClr val="16805f"/>
                </a:solidFill>
                <a:latin typeface="Arial"/>
              </a:rPr>
              <a:t>24 UPFs</a:t>
            </a:r>
            <a:endParaRPr b="0" lang="en-US" sz="1070" spc="-1" strike="noStrike">
              <a:latin typeface="Arial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9576000" y="3582000"/>
            <a:ext cx="187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90" spc="-1" strike="noStrike">
                <a:solidFill>
                  <a:srgbClr val="526875"/>
                </a:solidFill>
                <a:latin typeface="Arial"/>
              </a:rPr>
              <a:t>16 edge · 4 regional · 4 central</a:t>
            </a:r>
            <a:endParaRPr b="0" lang="en-US" sz="790" spc="-1" strike="noStrike">
              <a:latin typeface="Arial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8244000" y="3996000"/>
            <a:ext cx="122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70" spc="-1" strike="noStrike">
                <a:solidFill>
                  <a:srgbClr val="16805f"/>
                </a:solidFill>
                <a:latin typeface="Arial"/>
              </a:rPr>
              <a:t>≈</a:t>
            </a:r>
            <a:r>
              <a:rPr b="1" lang="en-US" sz="1070" spc="-1" strike="noStrike">
                <a:solidFill>
                  <a:srgbClr val="16805f"/>
                </a:solidFill>
                <a:latin typeface="Arial"/>
              </a:rPr>
              <a:t>4.39 B</a:t>
            </a:r>
            <a:endParaRPr b="0" lang="en-US" sz="1070" spc="-1" strike="noStrike">
              <a:latin typeface="Arial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9576000" y="4014000"/>
            <a:ext cx="187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90" spc="-1" strike="noStrike">
                <a:solidFill>
                  <a:srgbClr val="526875"/>
                </a:solidFill>
                <a:latin typeface="Arial"/>
              </a:rPr>
              <a:t>projected session arrivals</a:t>
            </a:r>
            <a:endParaRPr b="0" lang="en-US" sz="790" spc="-1" strike="noStrike">
              <a:latin typeface="Arial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8244000" y="4428000"/>
            <a:ext cx="122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70" spc="-1" strike="noStrike">
                <a:solidFill>
                  <a:srgbClr val="16805f"/>
                </a:solidFill>
                <a:latin typeface="Arial"/>
              </a:rPr>
              <a:t>≈</a:t>
            </a:r>
            <a:r>
              <a:rPr b="1" lang="en-US" sz="1070" spc="-1" strike="noStrike">
                <a:solidFill>
                  <a:srgbClr val="16805f"/>
                </a:solidFill>
                <a:latin typeface="Arial"/>
              </a:rPr>
              <a:t>9.6 GiB</a:t>
            </a:r>
            <a:endParaRPr b="0" lang="en-US" sz="1070" spc="-1" strike="noStrike">
              <a:latin typeface="Arial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9576000" y="4446000"/>
            <a:ext cx="187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90" spc="-1" strike="noStrike">
                <a:solidFill>
                  <a:srgbClr val="526875"/>
                </a:solidFill>
                <a:latin typeface="Arial"/>
              </a:rPr>
              <a:t>projected artifact volume</a:t>
            </a:r>
            <a:endParaRPr b="0" lang="en-US" sz="790" spc="-1" strike="noStrike"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7992000" y="5256000"/>
            <a:ext cx="3744000" cy="720000"/>
          </a:xfrm>
          <a:prstGeom prst="roundRect">
            <a:avLst/>
          </a:prstGeom>
          <a:solidFill>
            <a:srgbClr val="e1f1f4"/>
          </a:solidFill>
          <a:ln w="0">
            <a:noFill/>
          </a:ln>
        </p:spPr>
      </p:sp>
      <p:sp>
        <p:nvSpPr>
          <p:cNvPr id="254" name=""/>
          <p:cNvSpPr/>
          <p:nvPr/>
        </p:nvSpPr>
        <p:spPr>
          <a:xfrm>
            <a:off x="7992000" y="5256000"/>
            <a:ext cx="64800" cy="720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255" name=""/>
          <p:cNvSpPr txBox="1"/>
          <p:nvPr/>
        </p:nvSpPr>
        <p:spPr>
          <a:xfrm>
            <a:off x="8244000" y="5400000"/>
            <a:ext cx="3240000" cy="4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172731"/>
                </a:solidFill>
                <a:latin typeface="Arial"/>
              </a:rPr>
              <a:t>Outputs: run.parquet, group/UPF buckets, selection audits and hashed metadata.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>
            <a:off x="324000" y="5436000"/>
            <a:ext cx="7344000" cy="540000"/>
          </a:xfrm>
          <a:prstGeom prst="roundRect">
            <a:avLst/>
          </a:prstGeom>
          <a:solidFill>
            <a:srgbClr val="faf0de"/>
          </a:solidFill>
          <a:ln w="0">
            <a:noFill/>
          </a:ln>
        </p:spPr>
      </p:sp>
      <p:sp>
        <p:nvSpPr>
          <p:cNvPr id="257" name=""/>
          <p:cNvSpPr/>
          <p:nvPr/>
        </p:nvSpPr>
        <p:spPr>
          <a:xfrm>
            <a:off x="324000" y="5436000"/>
            <a:ext cx="64800" cy="540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258" name=""/>
          <p:cNvSpPr txBox="1"/>
          <p:nvPr/>
        </p:nvSpPr>
        <p:spPr>
          <a:xfrm>
            <a:off x="576000" y="5544000"/>
            <a:ext cx="6840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50" spc="-1" strike="noStrike">
                <a:solidFill>
                  <a:srgbClr val="172731"/>
                </a:solidFill>
                <a:latin typeface="Arial"/>
              </a:rPr>
              <a:t>Boundary: no mobility, persistent UE identity, heavy-tailed rates, packets or generated telemetry faults in the extreme profile.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0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experiments/build_extreme_history_manifest.py · docs/extreme-data-spec-and-cdot-gap-analysis.md §§3–8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04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</p:sp>
      <p:sp>
        <p:nvSpPr>
          <p:cNvPr id="263" name=""/>
          <p:cNvSpPr txBox="1"/>
          <p:nvPr/>
        </p:nvSpPr>
        <p:spPr>
          <a:xfrm>
            <a:off x="324000" y="158400"/>
            <a:ext cx="309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FORECASTER · TRAINING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Stage 2 — transform the history into causal demand forecasts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266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324000" y="1656000"/>
            <a:ext cx="1656000" cy="108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268" name=""/>
          <p:cNvSpPr/>
          <p:nvPr/>
        </p:nvSpPr>
        <p:spPr>
          <a:xfrm>
            <a:off x="324000" y="1656000"/>
            <a:ext cx="64800" cy="1080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269" name=""/>
          <p:cNvSpPr txBox="1"/>
          <p:nvPr/>
        </p:nvSpPr>
        <p:spPr>
          <a:xfrm>
            <a:off x="504000" y="1872000"/>
            <a:ext cx="129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0" spc="-1" strike="noStrike">
                <a:solidFill>
                  <a:srgbClr val="007c99"/>
                </a:solidFill>
                <a:latin typeface="Arial"/>
              </a:rPr>
              <a:t>30 s data</a:t>
            </a:r>
            <a:endParaRPr b="0" lang="en-US" sz="930" spc="-1" strike="noStrike">
              <a:latin typeface="Arial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504000" y="2232000"/>
            <a:ext cx="1296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0" spc="-1" strike="noStrike">
                <a:solidFill>
                  <a:srgbClr val="172731"/>
                </a:solidFill>
                <a:latin typeface="Arial"/>
              </a:rPr>
              <a:t>20 rows</a:t>
            </a:r>
            <a:endParaRPr b="0" lang="en-US" sz="830" spc="-1" strike="noStrike"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>
            <a:off x="1980000" y="2196000"/>
            <a:ext cx="158400" cy="0"/>
          </a:xfrm>
          <a:prstGeom prst="line">
            <a:avLst/>
          </a:prstGeom>
          <a:ln w="4680">
            <a:solidFill>
              <a:srgbClr val="5268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2" name=""/>
          <p:cNvSpPr txBox="1"/>
          <p:nvPr/>
        </p:nvSpPr>
        <p:spPr>
          <a:xfrm>
            <a:off x="2080800" y="2067840"/>
            <a:ext cx="144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526875"/>
                </a:solidFill>
                <a:latin typeface="Arial"/>
              </a:rPr>
              <a:t>›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73" name=""/>
          <p:cNvSpPr/>
          <p:nvPr/>
        </p:nvSpPr>
        <p:spPr>
          <a:xfrm>
            <a:off x="2224800" y="1656000"/>
            <a:ext cx="1656000" cy="108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274" name=""/>
          <p:cNvSpPr/>
          <p:nvPr/>
        </p:nvSpPr>
        <p:spPr>
          <a:xfrm>
            <a:off x="2224800" y="1656000"/>
            <a:ext cx="64800" cy="1080000"/>
          </a:xfrm>
          <a:prstGeom prst="rect">
            <a:avLst/>
          </a:prstGeom>
          <a:solidFill>
            <a:srgbClr val="2f91a6"/>
          </a:solidFill>
          <a:ln w="0">
            <a:noFill/>
          </a:ln>
        </p:spPr>
      </p:sp>
      <p:sp>
        <p:nvSpPr>
          <p:cNvPr id="275" name=""/>
          <p:cNvSpPr txBox="1"/>
          <p:nvPr/>
        </p:nvSpPr>
        <p:spPr>
          <a:xfrm>
            <a:off x="2404800" y="1872000"/>
            <a:ext cx="129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0" spc="-1" strike="noStrike">
                <a:solidFill>
                  <a:srgbClr val="2f91a6"/>
                </a:solidFill>
                <a:latin typeface="Arial"/>
              </a:rPr>
              <a:t>10 min bucket</a:t>
            </a:r>
            <a:endParaRPr b="0" lang="en-US" sz="930" spc="-1" strike="noStrike">
              <a:latin typeface="Arial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2404800" y="2232000"/>
            <a:ext cx="1296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0" spc="-1" strike="noStrike">
                <a:solidFill>
                  <a:srgbClr val="172731"/>
                </a:solidFill>
                <a:latin typeface="Arial"/>
              </a:rPr>
              <a:t>arrivals + mean residual</a:t>
            </a:r>
            <a:endParaRPr b="0" lang="en-US" sz="830" spc="-1" strike="noStrike">
              <a:latin typeface="Arial"/>
            </a:endParaRPr>
          </a:p>
        </p:txBody>
      </p:sp>
      <p:sp>
        <p:nvSpPr>
          <p:cNvPr id="277" name=""/>
          <p:cNvSpPr/>
          <p:nvPr/>
        </p:nvSpPr>
        <p:spPr>
          <a:xfrm>
            <a:off x="3880800" y="2196000"/>
            <a:ext cx="158400" cy="0"/>
          </a:xfrm>
          <a:prstGeom prst="line">
            <a:avLst/>
          </a:prstGeom>
          <a:ln w="4680">
            <a:solidFill>
              <a:srgbClr val="5268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8" name=""/>
          <p:cNvSpPr txBox="1"/>
          <p:nvPr/>
        </p:nvSpPr>
        <p:spPr>
          <a:xfrm>
            <a:off x="3981600" y="2067840"/>
            <a:ext cx="144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526875"/>
                </a:solidFill>
                <a:latin typeface="Arial"/>
              </a:rPr>
              <a:t>›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79" name=""/>
          <p:cNvSpPr/>
          <p:nvPr/>
        </p:nvSpPr>
        <p:spPr>
          <a:xfrm>
            <a:off x="4125600" y="1656000"/>
            <a:ext cx="1656000" cy="108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280" name=""/>
          <p:cNvSpPr/>
          <p:nvPr/>
        </p:nvSpPr>
        <p:spPr>
          <a:xfrm>
            <a:off x="4125600" y="1656000"/>
            <a:ext cx="64800" cy="1080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281" name=""/>
          <p:cNvSpPr txBox="1"/>
          <p:nvPr/>
        </p:nvSpPr>
        <p:spPr>
          <a:xfrm>
            <a:off x="4305600" y="1872000"/>
            <a:ext cx="129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0" spc="-1" strike="noStrike">
                <a:solidFill>
                  <a:srgbClr val="6750a4"/>
                </a:solidFill>
                <a:latin typeface="Arial"/>
              </a:rPr>
              <a:t>Observation</a:t>
            </a:r>
            <a:endParaRPr b="0" lang="en-US" sz="930" spc="-1" strike="noStrike">
              <a:latin typeface="Arial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4305600" y="2232000"/>
            <a:ext cx="1296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0" spc="-1" strike="noStrike">
                <a:solidFill>
                  <a:srgbClr val="172731"/>
                </a:solidFill>
                <a:latin typeface="Arial"/>
              </a:rPr>
              <a:t>sessions · UL · DL</a:t>
            </a:r>
            <a:endParaRPr b="0" lang="en-US" sz="830" spc="-1" strike="noStrike">
              <a:latin typeface="Arial"/>
            </a:endParaRPr>
          </a:p>
        </p:txBody>
      </p:sp>
      <p:sp>
        <p:nvSpPr>
          <p:cNvPr id="283" name=""/>
          <p:cNvSpPr/>
          <p:nvPr/>
        </p:nvSpPr>
        <p:spPr>
          <a:xfrm>
            <a:off x="5781600" y="2196000"/>
            <a:ext cx="158400" cy="0"/>
          </a:xfrm>
          <a:prstGeom prst="line">
            <a:avLst/>
          </a:prstGeom>
          <a:ln w="4680">
            <a:solidFill>
              <a:srgbClr val="5268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4" name=""/>
          <p:cNvSpPr txBox="1"/>
          <p:nvPr/>
        </p:nvSpPr>
        <p:spPr>
          <a:xfrm>
            <a:off x="5882400" y="2067840"/>
            <a:ext cx="144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526875"/>
                </a:solidFill>
                <a:latin typeface="Arial"/>
              </a:rPr>
              <a:t>›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85" name=""/>
          <p:cNvSpPr/>
          <p:nvPr/>
        </p:nvSpPr>
        <p:spPr>
          <a:xfrm>
            <a:off x="6026400" y="1656000"/>
            <a:ext cx="1656000" cy="108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286" name=""/>
          <p:cNvSpPr/>
          <p:nvPr/>
        </p:nvSpPr>
        <p:spPr>
          <a:xfrm>
            <a:off x="6026400" y="1656000"/>
            <a:ext cx="64800" cy="1080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287" name=""/>
          <p:cNvSpPr txBox="1"/>
          <p:nvPr/>
        </p:nvSpPr>
        <p:spPr>
          <a:xfrm>
            <a:off x="6206400" y="1872000"/>
            <a:ext cx="129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0" spc="-1" strike="noStrike">
                <a:solidFill>
                  <a:srgbClr val="6750a4"/>
                </a:solidFill>
                <a:latin typeface="Arial"/>
              </a:rPr>
              <a:t>Direct models</a:t>
            </a:r>
            <a:endParaRPr b="0" lang="en-US" sz="930" spc="-1" strike="noStrike">
              <a:latin typeface="Arial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6206400" y="2232000"/>
            <a:ext cx="1296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0" spc="-1" strike="noStrike">
                <a:solidFill>
                  <a:srgbClr val="172731"/>
                </a:solidFill>
                <a:latin typeface="Arial"/>
              </a:rPr>
              <a:t>8 horizons</a:t>
            </a:r>
            <a:endParaRPr b="0" lang="en-US" sz="830" spc="-1" strike="noStrike">
              <a:latin typeface="Arial"/>
            </a:endParaRPr>
          </a:p>
        </p:txBody>
      </p:sp>
      <p:sp>
        <p:nvSpPr>
          <p:cNvPr id="289" name=""/>
          <p:cNvSpPr/>
          <p:nvPr/>
        </p:nvSpPr>
        <p:spPr>
          <a:xfrm>
            <a:off x="7682400" y="2196000"/>
            <a:ext cx="158400" cy="0"/>
          </a:xfrm>
          <a:prstGeom prst="line">
            <a:avLst/>
          </a:prstGeom>
          <a:ln w="4680">
            <a:solidFill>
              <a:srgbClr val="5268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"/>
          <p:cNvSpPr txBox="1"/>
          <p:nvPr/>
        </p:nvSpPr>
        <p:spPr>
          <a:xfrm>
            <a:off x="7783200" y="2067840"/>
            <a:ext cx="144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526875"/>
                </a:solidFill>
                <a:latin typeface="Arial"/>
              </a:rPr>
              <a:t>›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91" name=""/>
          <p:cNvSpPr/>
          <p:nvPr/>
        </p:nvSpPr>
        <p:spPr>
          <a:xfrm>
            <a:off x="7927200" y="1656000"/>
            <a:ext cx="1656000" cy="108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292" name=""/>
          <p:cNvSpPr/>
          <p:nvPr/>
        </p:nvSpPr>
        <p:spPr>
          <a:xfrm>
            <a:off x="7927200" y="1656000"/>
            <a:ext cx="64800" cy="1080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293" name=""/>
          <p:cNvSpPr txBox="1"/>
          <p:nvPr/>
        </p:nvSpPr>
        <p:spPr>
          <a:xfrm>
            <a:off x="8107200" y="1872000"/>
            <a:ext cx="129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0" spc="-1" strike="noStrike">
                <a:solidFill>
                  <a:srgbClr val="16805f"/>
                </a:solidFill>
                <a:latin typeface="Arial"/>
              </a:rPr>
              <a:t>Calibration</a:t>
            </a:r>
            <a:endParaRPr b="0" lang="en-US" sz="930" spc="-1" strike="noStrike">
              <a:latin typeface="Arial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8107200" y="2232000"/>
            <a:ext cx="1296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0" spc="-1" strike="noStrike">
                <a:solidFill>
                  <a:srgbClr val="172731"/>
                </a:solidFill>
                <a:latin typeface="Arial"/>
              </a:rPr>
              <a:t>p50 · p90 · p95</a:t>
            </a:r>
            <a:endParaRPr b="0" lang="en-US" sz="830" spc="-1" strike="noStrike">
              <a:latin typeface="Arial"/>
            </a:endParaRPr>
          </a:p>
        </p:txBody>
      </p:sp>
      <p:sp>
        <p:nvSpPr>
          <p:cNvPr id="295" name=""/>
          <p:cNvSpPr/>
          <p:nvPr/>
        </p:nvSpPr>
        <p:spPr>
          <a:xfrm>
            <a:off x="9583200" y="2196000"/>
            <a:ext cx="158400" cy="0"/>
          </a:xfrm>
          <a:prstGeom prst="line">
            <a:avLst/>
          </a:prstGeom>
          <a:ln w="4680">
            <a:solidFill>
              <a:srgbClr val="5268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6" name=""/>
          <p:cNvSpPr txBox="1"/>
          <p:nvPr/>
        </p:nvSpPr>
        <p:spPr>
          <a:xfrm>
            <a:off x="9684000" y="2067840"/>
            <a:ext cx="144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526875"/>
                </a:solidFill>
                <a:latin typeface="Arial"/>
              </a:rPr>
              <a:t>›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>
            <a:off x="9828000" y="1656000"/>
            <a:ext cx="1656000" cy="108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298" name=""/>
          <p:cNvSpPr/>
          <p:nvPr/>
        </p:nvSpPr>
        <p:spPr>
          <a:xfrm>
            <a:off x="9828000" y="1656000"/>
            <a:ext cx="64800" cy="1080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299" name=""/>
          <p:cNvSpPr txBox="1"/>
          <p:nvPr/>
        </p:nvSpPr>
        <p:spPr>
          <a:xfrm>
            <a:off x="10008000" y="1872000"/>
            <a:ext cx="129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0" spc="-1" strike="noStrike">
                <a:solidFill>
                  <a:srgbClr val="c77b0b"/>
                </a:solidFill>
                <a:latin typeface="Arial"/>
              </a:rPr>
              <a:t>Bundle</a:t>
            </a:r>
            <a:endParaRPr b="0" lang="en-US" sz="930" spc="-1" strike="noStrike">
              <a:latin typeface="Arial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10008000" y="2232000"/>
            <a:ext cx="1296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0" spc="-1" strike="noStrike">
                <a:solidFill>
                  <a:srgbClr val="172731"/>
                </a:solidFill>
                <a:latin typeface="Arial"/>
              </a:rPr>
              <a:t>checksum + metrics</a:t>
            </a:r>
            <a:endParaRPr b="0" lang="en-US" sz="830" spc="-1" strike="noStrike"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324000" y="3204000"/>
            <a:ext cx="5580000" cy="262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302" name=""/>
          <p:cNvSpPr/>
          <p:nvPr/>
        </p:nvSpPr>
        <p:spPr>
          <a:xfrm>
            <a:off x="324000" y="3204000"/>
            <a:ext cx="64800" cy="2628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303" name=""/>
          <p:cNvSpPr txBox="1"/>
          <p:nvPr/>
        </p:nvSpPr>
        <p:spPr>
          <a:xfrm>
            <a:off x="576000" y="3456000"/>
            <a:ext cx="5040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400" spc="-1" strike="noStrike">
                <a:solidFill>
                  <a:srgbClr val="172731"/>
                </a:solidFill>
                <a:latin typeface="Arial"/>
              </a:rPr>
              <a:t>Model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576000" y="3852000"/>
            <a:ext cx="50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400" spc="-1" strike="noStrike">
                <a:solidFill>
                  <a:srgbClr val="6750a4"/>
                </a:solidFill>
                <a:latin typeface="Arial"/>
              </a:rPr>
              <a:t>Calendar-ridge direct multi-horizon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05" name=""/>
          <p:cNvSpPr/>
          <p:nvPr/>
        </p:nvSpPr>
        <p:spPr>
          <a:xfrm>
            <a:off x="576000" y="4492800"/>
            <a:ext cx="79200" cy="79200"/>
          </a:xfrm>
          <a:prstGeom prst="ellipse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306" name=""/>
          <p:cNvSpPr txBox="1"/>
          <p:nvPr/>
        </p:nvSpPr>
        <p:spPr>
          <a:xfrm>
            <a:off x="756000" y="4410000"/>
            <a:ext cx="4860000" cy="31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0" spc="-1" strike="noStrike">
                <a:solidFill>
                  <a:srgbClr val="172731"/>
                </a:solidFill>
                <a:latin typeface="Arial"/>
              </a:rPr>
              <a:t>96 groups × 3 targets × 8 horizons = 2,304 models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576000" y="4809600"/>
            <a:ext cx="79200" cy="79200"/>
          </a:xfrm>
          <a:prstGeom prst="ellipse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308" name=""/>
          <p:cNvSpPr txBox="1"/>
          <p:nvPr/>
        </p:nvSpPr>
        <p:spPr>
          <a:xfrm>
            <a:off x="756000" y="4726800"/>
            <a:ext cx="4860000" cy="31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0" spc="-1" strike="noStrike">
                <a:solidFill>
                  <a:srgbClr val="172731"/>
                </a:solidFill>
                <a:latin typeface="Arial"/>
              </a:rPr>
              <a:t>last, MA(6), trend, daily lag and calendar Fourier features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309" name=""/>
          <p:cNvSpPr/>
          <p:nvPr/>
        </p:nvSpPr>
        <p:spPr>
          <a:xfrm>
            <a:off x="576000" y="5126400"/>
            <a:ext cx="79200" cy="79200"/>
          </a:xfrm>
          <a:prstGeom prst="ellipse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310" name=""/>
          <p:cNvSpPr txBox="1"/>
          <p:nvPr/>
        </p:nvSpPr>
        <p:spPr>
          <a:xfrm>
            <a:off x="756000" y="5043600"/>
            <a:ext cx="4860000" cy="31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0" spc="-1" strike="noStrike">
                <a:solidFill>
                  <a:srgbClr val="172731"/>
                </a:solidFill>
                <a:latin typeface="Arial"/>
              </a:rPr>
              <a:t>70% train · 15% calibration · 15% chronological test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>
            <a:off x="576000" y="5443200"/>
            <a:ext cx="79200" cy="79200"/>
          </a:xfrm>
          <a:prstGeom prst="ellipse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312" name=""/>
          <p:cNvSpPr txBox="1"/>
          <p:nvPr/>
        </p:nvSpPr>
        <p:spPr>
          <a:xfrm>
            <a:off x="756000" y="5360400"/>
            <a:ext cx="4860000" cy="31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0" spc="-1" strike="noStrike">
                <a:solidFill>
                  <a:srgbClr val="172731"/>
                </a:solidFill>
                <a:latin typeface="Arial"/>
              </a:rPr>
              <a:t>median bias correction + split conformal uncertainty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6228000" y="3204000"/>
            <a:ext cx="5508000" cy="262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314" name=""/>
          <p:cNvSpPr/>
          <p:nvPr/>
        </p:nvSpPr>
        <p:spPr>
          <a:xfrm>
            <a:off x="6228000" y="3204000"/>
            <a:ext cx="64800" cy="2628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315" name=""/>
          <p:cNvSpPr txBox="1"/>
          <p:nvPr/>
        </p:nvSpPr>
        <p:spPr>
          <a:xfrm>
            <a:off x="6480000" y="3456000"/>
            <a:ext cx="5004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400" spc="-1" strike="noStrike">
                <a:solidFill>
                  <a:srgbClr val="172731"/>
                </a:solidFill>
                <a:latin typeface="Arial"/>
              </a:rPr>
              <a:t>Training optimizations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6480000" y="40248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317" name=""/>
          <p:cNvSpPr txBox="1"/>
          <p:nvPr/>
        </p:nvSpPr>
        <p:spPr>
          <a:xfrm>
            <a:off x="6660000" y="3942000"/>
            <a:ext cx="4824000" cy="36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vectorized O(n) feature construction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18" name=""/>
          <p:cNvSpPr/>
          <p:nvPr/>
        </p:nvSpPr>
        <p:spPr>
          <a:xfrm>
            <a:off x="6480000" y="43920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319" name=""/>
          <p:cNvSpPr txBox="1"/>
          <p:nvPr/>
        </p:nvSpPr>
        <p:spPr>
          <a:xfrm>
            <a:off x="6660000" y="4309200"/>
            <a:ext cx="4824000" cy="36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RMS scaling for national-scale numerical stability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20" name=""/>
          <p:cNvSpPr/>
          <p:nvPr/>
        </p:nvSpPr>
        <p:spPr>
          <a:xfrm>
            <a:off x="6480000" y="47592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321" name=""/>
          <p:cNvSpPr txBox="1"/>
          <p:nvPr/>
        </p:nvSpPr>
        <p:spPr>
          <a:xfrm>
            <a:off x="6660000" y="4676400"/>
            <a:ext cx="4824000" cy="36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immutable JSON bundle with internal SHA-256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22" name=""/>
          <p:cNvSpPr/>
          <p:nvPr/>
        </p:nvSpPr>
        <p:spPr>
          <a:xfrm>
            <a:off x="6480000" y="51264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323" name=""/>
          <p:cNvSpPr txBox="1"/>
          <p:nvPr/>
        </p:nvSpPr>
        <p:spPr>
          <a:xfrm>
            <a:off x="6660000" y="5043600"/>
            <a:ext cx="4824000" cy="36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172731"/>
                </a:solidFill>
                <a:latin typeface="Arial"/>
              </a:rPr>
              <a:t>adaptive conformal alpha after realized coverage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6480000" y="5400000"/>
            <a:ext cx="5004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0" spc="-1" strike="noStrike">
                <a:solidFill>
                  <a:srgbClr val="16805f"/>
                </a:solidFill>
                <a:latin typeface="Arial"/>
              </a:rPr>
              <a:t>3:03 total · ~13 s fitting · ~1.8 GiB RSS</a:t>
            </a:r>
            <a:endParaRPr b="0" lang="en-US" sz="930" spc="-1" strike="noStrike">
              <a:latin typeface="Arial"/>
            </a:endParaRPr>
          </a:p>
        </p:txBody>
      </p:sp>
      <p:sp>
        <p:nvSpPr>
          <p:cNvPr id="325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6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experiments/train_forecaster.py · forecasting/bundle.py · docs/extreme-forecaster-v1-results.md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05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</p:sp>
      <p:sp>
        <p:nvSpPr>
          <p:cNvPr id="329" name=""/>
          <p:cNvSpPr txBox="1"/>
          <p:nvPr/>
        </p:nvSpPr>
        <p:spPr>
          <a:xfrm>
            <a:off x="324000" y="158400"/>
            <a:ext cx="309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FORECASTER · EVALUATION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Stage 2 — forecasting beats causal baselines, but surges remain difficult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331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332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333" name=""/>
          <p:cNvSpPr/>
          <p:nvPr/>
        </p:nvSpPr>
        <p:spPr>
          <a:xfrm>
            <a:off x="324000" y="1440000"/>
            <a:ext cx="6840000" cy="334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334" name=""/>
          <p:cNvSpPr/>
          <p:nvPr/>
        </p:nvSpPr>
        <p:spPr>
          <a:xfrm>
            <a:off x="324000" y="1440000"/>
            <a:ext cx="64800" cy="3348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335" name=""/>
          <p:cNvSpPr txBox="1"/>
          <p:nvPr/>
        </p:nvSpPr>
        <p:spPr>
          <a:xfrm>
            <a:off x="576000" y="1692000"/>
            <a:ext cx="6336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00" spc="-1" strike="noStrike">
                <a:solidFill>
                  <a:srgbClr val="172731"/>
                </a:solidFill>
                <a:latin typeface="Arial"/>
              </a:rPr>
              <a:t>Held-out WAPE by horizon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36" name=""/>
          <p:cNvSpPr/>
          <p:nvPr/>
        </p:nvSpPr>
        <p:spPr>
          <a:xfrm>
            <a:off x="936000" y="3996000"/>
            <a:ext cx="5616000" cy="0"/>
          </a:xfrm>
          <a:prstGeom prst="line">
            <a:avLst/>
          </a:prstGeom>
          <a:ln w="720">
            <a:solidFill>
              <a:srgbClr val="dce6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7" name=""/>
          <p:cNvSpPr txBox="1"/>
          <p:nvPr/>
        </p:nvSpPr>
        <p:spPr>
          <a:xfrm>
            <a:off x="504000" y="3924000"/>
            <a:ext cx="36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0%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338" name=""/>
          <p:cNvSpPr/>
          <p:nvPr/>
        </p:nvSpPr>
        <p:spPr>
          <a:xfrm>
            <a:off x="936000" y="3456000"/>
            <a:ext cx="5616000" cy="0"/>
          </a:xfrm>
          <a:prstGeom prst="line">
            <a:avLst/>
          </a:prstGeom>
          <a:ln w="720">
            <a:solidFill>
              <a:srgbClr val="dce6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9" name=""/>
          <p:cNvSpPr txBox="1"/>
          <p:nvPr/>
        </p:nvSpPr>
        <p:spPr>
          <a:xfrm>
            <a:off x="504000" y="3384000"/>
            <a:ext cx="36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4%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340" name=""/>
          <p:cNvSpPr/>
          <p:nvPr/>
        </p:nvSpPr>
        <p:spPr>
          <a:xfrm>
            <a:off x="936000" y="2916000"/>
            <a:ext cx="5616000" cy="0"/>
          </a:xfrm>
          <a:prstGeom prst="line">
            <a:avLst/>
          </a:prstGeom>
          <a:ln w="720">
            <a:solidFill>
              <a:srgbClr val="dce6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1" name=""/>
          <p:cNvSpPr txBox="1"/>
          <p:nvPr/>
        </p:nvSpPr>
        <p:spPr>
          <a:xfrm>
            <a:off x="504000" y="2844000"/>
            <a:ext cx="36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8%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342" name=""/>
          <p:cNvSpPr/>
          <p:nvPr/>
        </p:nvSpPr>
        <p:spPr>
          <a:xfrm>
            <a:off x="936000" y="2376000"/>
            <a:ext cx="5616000" cy="0"/>
          </a:xfrm>
          <a:prstGeom prst="line">
            <a:avLst/>
          </a:prstGeom>
          <a:ln w="720">
            <a:solidFill>
              <a:srgbClr val="dce6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3" name=""/>
          <p:cNvSpPr txBox="1"/>
          <p:nvPr/>
        </p:nvSpPr>
        <p:spPr>
          <a:xfrm>
            <a:off x="504000" y="2304000"/>
            <a:ext cx="36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12%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344" name=""/>
          <p:cNvSpPr/>
          <p:nvPr/>
        </p:nvSpPr>
        <p:spPr>
          <a:xfrm>
            <a:off x="878400" y="3333600"/>
            <a:ext cx="115200" cy="115200"/>
          </a:xfrm>
          <a:prstGeom prst="ellipse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345" name=""/>
          <p:cNvSpPr txBox="1"/>
          <p:nvPr/>
        </p:nvSpPr>
        <p:spPr>
          <a:xfrm>
            <a:off x="648000" y="4140000"/>
            <a:ext cx="57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10m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648000" y="3175200"/>
            <a:ext cx="57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680" spc="-1" strike="noStrike">
                <a:solidFill>
                  <a:srgbClr val="6750a4"/>
                </a:solidFill>
                <a:latin typeface="Courier New"/>
              </a:rPr>
              <a:t>4.5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347" name=""/>
          <p:cNvSpPr/>
          <p:nvPr/>
        </p:nvSpPr>
        <p:spPr>
          <a:xfrm flipV="1">
            <a:off x="936000" y="3174120"/>
            <a:ext cx="802080" cy="217080"/>
          </a:xfrm>
          <a:prstGeom prst="line">
            <a:avLst/>
          </a:prstGeom>
          <a:ln w="3960">
            <a:solidFill>
              <a:srgbClr val="6750a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8" name=""/>
          <p:cNvSpPr/>
          <p:nvPr/>
        </p:nvSpPr>
        <p:spPr>
          <a:xfrm>
            <a:off x="1680480" y="3116160"/>
            <a:ext cx="115200" cy="115200"/>
          </a:xfrm>
          <a:prstGeom prst="ellipse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349" name=""/>
          <p:cNvSpPr txBox="1"/>
          <p:nvPr/>
        </p:nvSpPr>
        <p:spPr>
          <a:xfrm>
            <a:off x="1450080" y="4140000"/>
            <a:ext cx="57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20m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1450080" y="2957760"/>
            <a:ext cx="57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680" spc="-1" strike="noStrike">
                <a:solidFill>
                  <a:srgbClr val="6750a4"/>
                </a:solidFill>
                <a:latin typeface="Courier New"/>
              </a:rPr>
              <a:t>6.1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351" name=""/>
          <p:cNvSpPr/>
          <p:nvPr/>
        </p:nvSpPr>
        <p:spPr>
          <a:xfrm flipV="1">
            <a:off x="1738080" y="3003840"/>
            <a:ext cx="802080" cy="169920"/>
          </a:xfrm>
          <a:prstGeom prst="line">
            <a:avLst/>
          </a:prstGeom>
          <a:ln w="3960">
            <a:solidFill>
              <a:srgbClr val="6750a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2" name=""/>
          <p:cNvSpPr/>
          <p:nvPr/>
        </p:nvSpPr>
        <p:spPr>
          <a:xfrm>
            <a:off x="2482920" y="2945880"/>
            <a:ext cx="115200" cy="115200"/>
          </a:xfrm>
          <a:prstGeom prst="ellipse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353" name=""/>
          <p:cNvSpPr txBox="1"/>
          <p:nvPr/>
        </p:nvSpPr>
        <p:spPr>
          <a:xfrm>
            <a:off x="2252520" y="4140000"/>
            <a:ext cx="57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30m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2252520" y="2787480"/>
            <a:ext cx="57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680" spc="-1" strike="noStrike">
                <a:solidFill>
                  <a:srgbClr val="6750a4"/>
                </a:solidFill>
                <a:latin typeface="Courier New"/>
              </a:rPr>
              <a:t>7.3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355" name=""/>
          <p:cNvSpPr/>
          <p:nvPr/>
        </p:nvSpPr>
        <p:spPr>
          <a:xfrm flipV="1">
            <a:off x="2540520" y="2922480"/>
            <a:ext cx="802080" cy="81000"/>
          </a:xfrm>
          <a:prstGeom prst="line">
            <a:avLst/>
          </a:prstGeom>
          <a:ln w="3960">
            <a:solidFill>
              <a:srgbClr val="6750a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6" name=""/>
          <p:cNvSpPr/>
          <p:nvPr/>
        </p:nvSpPr>
        <p:spPr>
          <a:xfrm>
            <a:off x="3285000" y="2864880"/>
            <a:ext cx="115200" cy="115200"/>
          </a:xfrm>
          <a:prstGeom prst="ellipse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357" name=""/>
          <p:cNvSpPr txBox="1"/>
          <p:nvPr/>
        </p:nvSpPr>
        <p:spPr>
          <a:xfrm>
            <a:off x="3054600" y="4140000"/>
            <a:ext cx="57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40m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3054600" y="2706480"/>
            <a:ext cx="57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680" spc="-1" strike="noStrike">
                <a:solidFill>
                  <a:srgbClr val="6750a4"/>
                </a:solidFill>
                <a:latin typeface="Courier New"/>
              </a:rPr>
              <a:t>8.0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359" name=""/>
          <p:cNvSpPr/>
          <p:nvPr/>
        </p:nvSpPr>
        <p:spPr>
          <a:xfrm>
            <a:off x="3342600" y="2922480"/>
            <a:ext cx="802080" cy="71280"/>
          </a:xfrm>
          <a:prstGeom prst="line">
            <a:avLst/>
          </a:prstGeom>
          <a:ln w="3960">
            <a:solidFill>
              <a:srgbClr val="6750a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0" name=""/>
          <p:cNvSpPr/>
          <p:nvPr/>
        </p:nvSpPr>
        <p:spPr>
          <a:xfrm>
            <a:off x="4087440" y="2936520"/>
            <a:ext cx="115200" cy="115200"/>
          </a:xfrm>
          <a:prstGeom prst="ellipse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361" name=""/>
          <p:cNvSpPr txBox="1"/>
          <p:nvPr/>
        </p:nvSpPr>
        <p:spPr>
          <a:xfrm>
            <a:off x="3857040" y="4140000"/>
            <a:ext cx="57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50m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362" name=""/>
          <p:cNvSpPr txBox="1"/>
          <p:nvPr/>
        </p:nvSpPr>
        <p:spPr>
          <a:xfrm>
            <a:off x="3857040" y="2778120"/>
            <a:ext cx="57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680" spc="-1" strike="noStrike">
                <a:solidFill>
                  <a:srgbClr val="6750a4"/>
                </a:solidFill>
                <a:latin typeface="Courier New"/>
              </a:rPr>
              <a:t>7.4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363" name=""/>
          <p:cNvSpPr/>
          <p:nvPr/>
        </p:nvSpPr>
        <p:spPr>
          <a:xfrm flipV="1">
            <a:off x="4145040" y="2966040"/>
            <a:ext cx="802080" cy="28080"/>
          </a:xfrm>
          <a:prstGeom prst="line">
            <a:avLst/>
          </a:prstGeom>
          <a:ln w="3960">
            <a:solidFill>
              <a:srgbClr val="6750a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4" name=""/>
          <p:cNvSpPr/>
          <p:nvPr/>
        </p:nvSpPr>
        <p:spPr>
          <a:xfrm>
            <a:off x="4889520" y="2908080"/>
            <a:ext cx="115200" cy="115200"/>
          </a:xfrm>
          <a:prstGeom prst="ellipse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365" name=""/>
          <p:cNvSpPr txBox="1"/>
          <p:nvPr/>
        </p:nvSpPr>
        <p:spPr>
          <a:xfrm>
            <a:off x="4659120" y="4140000"/>
            <a:ext cx="57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60m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4659120" y="2749680"/>
            <a:ext cx="57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680" spc="-1" strike="noStrike">
                <a:solidFill>
                  <a:srgbClr val="6750a4"/>
                </a:solidFill>
                <a:latin typeface="Courier New"/>
              </a:rPr>
              <a:t>7.6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367" name=""/>
          <p:cNvSpPr/>
          <p:nvPr/>
        </p:nvSpPr>
        <p:spPr>
          <a:xfrm flipV="1">
            <a:off x="4947120" y="2734920"/>
            <a:ext cx="802080" cy="230760"/>
          </a:xfrm>
          <a:prstGeom prst="line">
            <a:avLst/>
          </a:prstGeom>
          <a:ln w="3960">
            <a:solidFill>
              <a:srgbClr val="6750a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8" name=""/>
          <p:cNvSpPr/>
          <p:nvPr/>
        </p:nvSpPr>
        <p:spPr>
          <a:xfrm>
            <a:off x="5691960" y="2677320"/>
            <a:ext cx="115200" cy="115200"/>
          </a:xfrm>
          <a:prstGeom prst="ellipse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369" name=""/>
          <p:cNvSpPr txBox="1"/>
          <p:nvPr/>
        </p:nvSpPr>
        <p:spPr>
          <a:xfrm>
            <a:off x="5461560" y="4140000"/>
            <a:ext cx="57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70m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5461560" y="2518920"/>
            <a:ext cx="57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680" spc="-1" strike="noStrike">
                <a:solidFill>
                  <a:srgbClr val="6750a4"/>
                </a:solidFill>
                <a:latin typeface="Courier New"/>
              </a:rPr>
              <a:t>9.3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371" name=""/>
          <p:cNvSpPr/>
          <p:nvPr/>
        </p:nvSpPr>
        <p:spPr>
          <a:xfrm flipV="1">
            <a:off x="5749560" y="2547360"/>
            <a:ext cx="802080" cy="187560"/>
          </a:xfrm>
          <a:prstGeom prst="line">
            <a:avLst/>
          </a:prstGeom>
          <a:ln w="3960">
            <a:solidFill>
              <a:srgbClr val="6750a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2" name=""/>
          <p:cNvSpPr/>
          <p:nvPr/>
        </p:nvSpPr>
        <p:spPr>
          <a:xfrm>
            <a:off x="6494400" y="2489760"/>
            <a:ext cx="115200" cy="115200"/>
          </a:xfrm>
          <a:prstGeom prst="ellipse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373" name=""/>
          <p:cNvSpPr txBox="1"/>
          <p:nvPr/>
        </p:nvSpPr>
        <p:spPr>
          <a:xfrm>
            <a:off x="6264000" y="4140000"/>
            <a:ext cx="57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80m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6264000" y="2331360"/>
            <a:ext cx="57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680" spc="-1" strike="noStrike">
                <a:solidFill>
                  <a:srgbClr val="6750a4"/>
                </a:solidFill>
                <a:latin typeface="Courier New"/>
              </a:rPr>
              <a:t>10.7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576000" y="4356000"/>
            <a:ext cx="633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50" spc="-1" strike="noStrike">
                <a:solidFill>
                  <a:srgbClr val="16805f"/>
                </a:solidFill>
                <a:latin typeface="Arial"/>
              </a:rPr>
              <a:t>Overall p90 coverage 94.21% · p95 coverage 96.69%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76" name=""/>
          <p:cNvSpPr/>
          <p:nvPr/>
        </p:nvSpPr>
        <p:spPr>
          <a:xfrm>
            <a:off x="7488000" y="1440000"/>
            <a:ext cx="4248000" cy="334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377" name=""/>
          <p:cNvSpPr/>
          <p:nvPr/>
        </p:nvSpPr>
        <p:spPr>
          <a:xfrm>
            <a:off x="7488000" y="1440000"/>
            <a:ext cx="64800" cy="3348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378" name=""/>
          <p:cNvSpPr txBox="1"/>
          <p:nvPr/>
        </p:nvSpPr>
        <p:spPr>
          <a:xfrm>
            <a:off x="7740000" y="1692000"/>
            <a:ext cx="3744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00" spc="-1" strike="noStrike">
                <a:solidFill>
                  <a:srgbClr val="172731"/>
                </a:solidFill>
                <a:latin typeface="Arial"/>
              </a:rPr>
              <a:t>Baseline comparison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7740000" y="2340000"/>
            <a:ext cx="198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50" spc="-1" strike="noStrike">
                <a:solidFill>
                  <a:srgbClr val="172731"/>
                </a:solidFill>
                <a:latin typeface="Arial"/>
              </a:rPr>
              <a:t>Calendar ridge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80" name=""/>
          <p:cNvSpPr/>
          <p:nvPr/>
        </p:nvSpPr>
        <p:spPr>
          <a:xfrm>
            <a:off x="9792000" y="2376000"/>
            <a:ext cx="1188000" cy="180000"/>
          </a:xfrm>
          <a:prstGeom prst="roundRect">
            <a:avLst/>
          </a:prstGeom>
          <a:solidFill>
            <a:srgbClr val="eaf1f3"/>
          </a:solidFill>
          <a:ln w="0">
            <a:noFill/>
          </a:ln>
        </p:spPr>
      </p:sp>
      <p:sp>
        <p:nvSpPr>
          <p:cNvPr id="381" name=""/>
          <p:cNvSpPr/>
          <p:nvPr/>
        </p:nvSpPr>
        <p:spPr>
          <a:xfrm>
            <a:off x="9792000" y="2376000"/>
            <a:ext cx="604080" cy="180000"/>
          </a:xfrm>
          <a:prstGeom prst="round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382" name=""/>
          <p:cNvSpPr txBox="1"/>
          <p:nvPr/>
        </p:nvSpPr>
        <p:spPr>
          <a:xfrm>
            <a:off x="11052000" y="2347200"/>
            <a:ext cx="900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850" spc="-1" strike="noStrike">
                <a:solidFill>
                  <a:srgbClr val="172731"/>
                </a:solidFill>
                <a:latin typeface="Arial"/>
              </a:rPr>
              <a:t>7.63%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7740000" y="2988000"/>
            <a:ext cx="198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50" spc="-1" strike="noStrike">
                <a:solidFill>
                  <a:srgbClr val="172731"/>
                </a:solidFill>
                <a:latin typeface="Arial"/>
              </a:rPr>
              <a:t>Daily seasonal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84" name=""/>
          <p:cNvSpPr/>
          <p:nvPr/>
        </p:nvSpPr>
        <p:spPr>
          <a:xfrm>
            <a:off x="9792000" y="3024000"/>
            <a:ext cx="1188000" cy="180000"/>
          </a:xfrm>
          <a:prstGeom prst="roundRect">
            <a:avLst/>
          </a:prstGeom>
          <a:solidFill>
            <a:srgbClr val="eaf1f3"/>
          </a:solidFill>
          <a:ln w="0">
            <a:noFill/>
          </a:ln>
        </p:spPr>
      </p:sp>
      <p:sp>
        <p:nvSpPr>
          <p:cNvPr id="385" name=""/>
          <p:cNvSpPr/>
          <p:nvPr/>
        </p:nvSpPr>
        <p:spPr>
          <a:xfrm>
            <a:off x="9792000" y="3024000"/>
            <a:ext cx="1085760" cy="180000"/>
          </a:xfrm>
          <a:prstGeom prst="roundRect">
            <a:avLst/>
          </a:prstGeom>
          <a:solidFill>
            <a:srgbClr val="2f91a6"/>
          </a:solidFill>
          <a:ln w="0">
            <a:noFill/>
          </a:ln>
        </p:spPr>
      </p:sp>
      <p:sp>
        <p:nvSpPr>
          <p:cNvPr id="386" name=""/>
          <p:cNvSpPr txBox="1"/>
          <p:nvPr/>
        </p:nvSpPr>
        <p:spPr>
          <a:xfrm>
            <a:off x="11052000" y="2995200"/>
            <a:ext cx="900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850" spc="-1" strike="noStrike">
                <a:solidFill>
                  <a:srgbClr val="172731"/>
                </a:solidFill>
                <a:latin typeface="Arial"/>
              </a:rPr>
              <a:t>13.71%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7740000" y="3636000"/>
            <a:ext cx="198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50" spc="-1" strike="noStrike">
                <a:solidFill>
                  <a:srgbClr val="172731"/>
                </a:solidFill>
                <a:latin typeface="Arial"/>
              </a:rPr>
              <a:t>MA(6)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88" name=""/>
          <p:cNvSpPr/>
          <p:nvPr/>
        </p:nvSpPr>
        <p:spPr>
          <a:xfrm>
            <a:off x="9792000" y="3672000"/>
            <a:ext cx="1188000" cy="180000"/>
          </a:xfrm>
          <a:prstGeom prst="roundRect">
            <a:avLst/>
          </a:prstGeom>
          <a:solidFill>
            <a:srgbClr val="eaf1f3"/>
          </a:solidFill>
          <a:ln w="0">
            <a:noFill/>
          </a:ln>
        </p:spPr>
      </p:sp>
      <p:sp>
        <p:nvSpPr>
          <p:cNvPr id="389" name=""/>
          <p:cNvSpPr/>
          <p:nvPr/>
        </p:nvSpPr>
        <p:spPr>
          <a:xfrm>
            <a:off x="9792000" y="3672000"/>
            <a:ext cx="1132560" cy="180000"/>
          </a:xfrm>
          <a:prstGeom prst="round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390" name=""/>
          <p:cNvSpPr txBox="1"/>
          <p:nvPr/>
        </p:nvSpPr>
        <p:spPr>
          <a:xfrm>
            <a:off x="11052000" y="3643200"/>
            <a:ext cx="900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850" spc="-1" strike="noStrike">
                <a:solidFill>
                  <a:srgbClr val="172731"/>
                </a:solidFill>
                <a:latin typeface="Arial"/>
              </a:rPr>
              <a:t>14.30%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7740000" y="4284000"/>
            <a:ext cx="3708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70" spc="-1" strike="noStrike">
                <a:solidFill>
                  <a:srgbClr val="16805f"/>
                </a:solidFill>
                <a:latin typeface="Arial"/>
              </a:rPr>
              <a:t>44.36% WAPE reduction vs seasonal naive</a:t>
            </a:r>
            <a:endParaRPr b="0" lang="en-US" sz="870" spc="-1" strike="noStrike">
              <a:latin typeface="Arial"/>
            </a:endParaRPr>
          </a:p>
        </p:txBody>
      </p:sp>
      <p:sp>
        <p:nvSpPr>
          <p:cNvPr id="392" name=""/>
          <p:cNvSpPr/>
          <p:nvPr/>
        </p:nvSpPr>
        <p:spPr>
          <a:xfrm>
            <a:off x="324000" y="5148000"/>
            <a:ext cx="2592000" cy="792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393" name=""/>
          <p:cNvSpPr/>
          <p:nvPr/>
        </p:nvSpPr>
        <p:spPr>
          <a:xfrm>
            <a:off x="324000" y="5148000"/>
            <a:ext cx="64800" cy="792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394" name=""/>
          <p:cNvSpPr txBox="1"/>
          <p:nvPr/>
        </p:nvSpPr>
        <p:spPr>
          <a:xfrm>
            <a:off x="540000" y="5328000"/>
            <a:ext cx="972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40" spc="-1" strike="noStrike">
                <a:solidFill>
                  <a:srgbClr val="16805f"/>
                </a:solidFill>
                <a:latin typeface="Courier New"/>
              </a:rPr>
              <a:t>NORMAL</a:t>
            </a:r>
            <a:endParaRPr b="0" lang="en-US" sz="740" spc="-1" strike="noStrike">
              <a:latin typeface="Arial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1584000" y="5274000"/>
            <a:ext cx="111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839" spc="-1" strike="noStrike">
                <a:solidFill>
                  <a:srgbClr val="172731"/>
                </a:solidFill>
                <a:latin typeface="Arial"/>
              </a:rPr>
              <a:t>6.51% WAPE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1584000" y="5544000"/>
            <a:ext cx="111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0" lang="en-US" sz="730" spc="-1" strike="noStrike">
                <a:solidFill>
                  <a:srgbClr val="526875"/>
                </a:solidFill>
                <a:latin typeface="Arial"/>
              </a:rPr>
              <a:t>94.19% p90</a:t>
            </a:r>
            <a:endParaRPr b="0" lang="en-US" sz="730" spc="-1" strike="noStrike">
              <a:latin typeface="Arial"/>
            </a:endParaRPr>
          </a:p>
        </p:txBody>
      </p:sp>
      <p:sp>
        <p:nvSpPr>
          <p:cNvPr id="397" name=""/>
          <p:cNvSpPr/>
          <p:nvPr/>
        </p:nvSpPr>
        <p:spPr>
          <a:xfrm>
            <a:off x="3178800" y="5148000"/>
            <a:ext cx="2592000" cy="792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398" name=""/>
          <p:cNvSpPr/>
          <p:nvPr/>
        </p:nvSpPr>
        <p:spPr>
          <a:xfrm>
            <a:off x="3178800" y="5148000"/>
            <a:ext cx="64800" cy="792000"/>
          </a:xfrm>
          <a:prstGeom prst="rect">
            <a:avLst/>
          </a:prstGeom>
          <a:solidFill>
            <a:srgbClr val="cd443b"/>
          </a:solidFill>
          <a:ln w="0">
            <a:noFill/>
          </a:ln>
        </p:spPr>
      </p:sp>
      <p:sp>
        <p:nvSpPr>
          <p:cNvPr id="399" name=""/>
          <p:cNvSpPr txBox="1"/>
          <p:nvPr/>
        </p:nvSpPr>
        <p:spPr>
          <a:xfrm>
            <a:off x="3394800" y="5328000"/>
            <a:ext cx="972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40" spc="-1" strike="noStrike">
                <a:solidFill>
                  <a:srgbClr val="cd443b"/>
                </a:solidFill>
                <a:latin typeface="Courier New"/>
              </a:rPr>
              <a:t>SURGE</a:t>
            </a:r>
            <a:endParaRPr b="0" lang="en-US" sz="740" spc="-1" strike="noStrike">
              <a:latin typeface="Arial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4438800" y="5274000"/>
            <a:ext cx="111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839" spc="-1" strike="noStrike">
                <a:solidFill>
                  <a:srgbClr val="172731"/>
                </a:solidFill>
                <a:latin typeface="Arial"/>
              </a:rPr>
              <a:t>11.08% WAPE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4438800" y="5544000"/>
            <a:ext cx="111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0" lang="en-US" sz="730" spc="-1" strike="noStrike">
                <a:solidFill>
                  <a:srgbClr val="526875"/>
                </a:solidFill>
                <a:latin typeface="Arial"/>
              </a:rPr>
              <a:t>30.73% p90</a:t>
            </a:r>
            <a:endParaRPr b="0" lang="en-US" sz="730" spc="-1" strike="noStrike">
              <a:latin typeface="Arial"/>
            </a:endParaRPr>
          </a:p>
        </p:txBody>
      </p:sp>
      <p:sp>
        <p:nvSpPr>
          <p:cNvPr id="402" name=""/>
          <p:cNvSpPr/>
          <p:nvPr/>
        </p:nvSpPr>
        <p:spPr>
          <a:xfrm>
            <a:off x="6033600" y="5148000"/>
            <a:ext cx="2592000" cy="792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403" name=""/>
          <p:cNvSpPr/>
          <p:nvPr/>
        </p:nvSpPr>
        <p:spPr>
          <a:xfrm>
            <a:off x="6033600" y="5148000"/>
            <a:ext cx="64800" cy="792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404" name=""/>
          <p:cNvSpPr txBox="1"/>
          <p:nvPr/>
        </p:nvSpPr>
        <p:spPr>
          <a:xfrm>
            <a:off x="6249600" y="5328000"/>
            <a:ext cx="972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40" spc="-1" strike="noStrike">
                <a:solidFill>
                  <a:srgbClr val="c77b0b"/>
                </a:solidFill>
                <a:latin typeface="Courier New"/>
              </a:rPr>
              <a:t>BROWNOUT</a:t>
            </a:r>
            <a:endParaRPr b="0" lang="en-US" sz="740" spc="-1" strike="noStrike">
              <a:latin typeface="Arial"/>
            </a:endParaRPr>
          </a:p>
        </p:txBody>
      </p:sp>
      <p:sp>
        <p:nvSpPr>
          <p:cNvPr id="405" name=""/>
          <p:cNvSpPr txBox="1"/>
          <p:nvPr/>
        </p:nvSpPr>
        <p:spPr>
          <a:xfrm>
            <a:off x="7293600" y="5274000"/>
            <a:ext cx="111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839" spc="-1" strike="noStrike">
                <a:solidFill>
                  <a:srgbClr val="172731"/>
                </a:solidFill>
                <a:latin typeface="Arial"/>
              </a:rPr>
              <a:t>5.09% WAPE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406" name=""/>
          <p:cNvSpPr txBox="1"/>
          <p:nvPr/>
        </p:nvSpPr>
        <p:spPr>
          <a:xfrm>
            <a:off x="7293600" y="5544000"/>
            <a:ext cx="111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0" lang="en-US" sz="730" spc="-1" strike="noStrike">
                <a:solidFill>
                  <a:srgbClr val="526875"/>
                </a:solidFill>
                <a:latin typeface="Arial"/>
              </a:rPr>
              <a:t>87.88% p90</a:t>
            </a:r>
            <a:endParaRPr b="0" lang="en-US" sz="730" spc="-1" strike="noStrike">
              <a:latin typeface="Arial"/>
            </a:endParaRPr>
          </a:p>
        </p:txBody>
      </p:sp>
      <p:sp>
        <p:nvSpPr>
          <p:cNvPr id="407" name=""/>
          <p:cNvSpPr/>
          <p:nvPr/>
        </p:nvSpPr>
        <p:spPr>
          <a:xfrm>
            <a:off x="8888400" y="5148000"/>
            <a:ext cx="2592000" cy="792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408" name=""/>
          <p:cNvSpPr/>
          <p:nvPr/>
        </p:nvSpPr>
        <p:spPr>
          <a:xfrm>
            <a:off x="8888400" y="5148000"/>
            <a:ext cx="64800" cy="792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409" name=""/>
          <p:cNvSpPr txBox="1"/>
          <p:nvPr/>
        </p:nvSpPr>
        <p:spPr>
          <a:xfrm>
            <a:off x="9104400" y="5328000"/>
            <a:ext cx="972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40" spc="-1" strike="noStrike">
                <a:solidFill>
                  <a:srgbClr val="6750a4"/>
                </a:solidFill>
                <a:latin typeface="Courier New"/>
              </a:rPr>
              <a:t>OUTAGE</a:t>
            </a:r>
            <a:endParaRPr b="0" lang="en-US" sz="740" spc="-1" strike="noStrike">
              <a:latin typeface="Arial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10148400" y="5274000"/>
            <a:ext cx="111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839" spc="-1" strike="noStrike">
                <a:solidFill>
                  <a:srgbClr val="172731"/>
                </a:solidFill>
                <a:latin typeface="Arial"/>
              </a:rPr>
              <a:t>5.29% WAPE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411" name=""/>
          <p:cNvSpPr txBox="1"/>
          <p:nvPr/>
        </p:nvSpPr>
        <p:spPr>
          <a:xfrm>
            <a:off x="10148400" y="5544000"/>
            <a:ext cx="111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0" lang="en-US" sz="730" spc="-1" strike="noStrike">
                <a:solidFill>
                  <a:srgbClr val="526875"/>
                </a:solidFill>
                <a:latin typeface="Arial"/>
              </a:rPr>
              <a:t>73.96% p90</a:t>
            </a:r>
            <a:endParaRPr b="0" lang="en-US" sz="730" spc="-1" strike="noStrike">
              <a:latin typeface="Arial"/>
            </a:endParaRPr>
          </a:p>
        </p:txBody>
      </p:sp>
      <p:sp>
        <p:nvSpPr>
          <p:cNvPr id="412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3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docs/extreme-forecaster-v1-results.md · docs/extreme-optimizer-tuning-results.md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414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06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</p:sp>
      <p:sp>
        <p:nvSpPr>
          <p:cNvPr id="416" name=""/>
          <p:cNvSpPr txBox="1"/>
          <p:nvPr/>
        </p:nvSpPr>
        <p:spPr>
          <a:xfrm>
            <a:off x="324000" y="158400"/>
            <a:ext cx="3096000" cy="23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OPTIMIZER · EXPERIMENT PROGRESSION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Stage 3 — experiments showed why a one-window optimizer was not enough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418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419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420" name=""/>
          <p:cNvSpPr/>
          <p:nvPr/>
        </p:nvSpPr>
        <p:spPr>
          <a:xfrm>
            <a:off x="324000" y="1476000"/>
            <a:ext cx="11412000" cy="547200"/>
          </a:xfrm>
          <a:prstGeom prst="rect">
            <a:avLst/>
          </a:prstGeom>
          <a:solidFill>
            <a:srgbClr val="193644"/>
          </a:solidFill>
          <a:ln w="6480">
            <a:solidFill>
              <a:srgbClr val="cfdce1"/>
            </a:solidFill>
            <a:round/>
          </a:ln>
        </p:spPr>
      </p:sp>
      <p:sp>
        <p:nvSpPr>
          <p:cNvPr id="421" name=""/>
          <p:cNvSpPr txBox="1"/>
          <p:nvPr/>
        </p:nvSpPr>
        <p:spPr>
          <a:xfrm>
            <a:off x="385200" y="1522800"/>
            <a:ext cx="225360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Arial"/>
              </a:rPr>
              <a:t>EXPERIMENT</a:t>
            </a:r>
            <a:endParaRPr b="0" lang="en-US" sz="790" spc="-1" strike="noStrike">
              <a:latin typeface="Arial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2761200" y="1522800"/>
            <a:ext cx="466560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Arial"/>
              </a:rPr>
              <a:t>WHAT CHANGED</a:t>
            </a:r>
            <a:endParaRPr b="0" lang="en-US" sz="790" spc="-1" strike="noStrike">
              <a:latin typeface="Arial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7549200" y="1522800"/>
            <a:ext cx="412560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Arial"/>
              </a:rPr>
              <a:t>RESULT / DECISION</a:t>
            </a:r>
            <a:endParaRPr b="0" lang="en-US" sz="790" spc="-1" strike="noStrike">
              <a:latin typeface="Arial"/>
            </a:endParaRPr>
          </a:p>
        </p:txBody>
      </p:sp>
      <p:sp>
        <p:nvSpPr>
          <p:cNvPr id="424" name=""/>
          <p:cNvSpPr/>
          <p:nvPr/>
        </p:nvSpPr>
        <p:spPr>
          <a:xfrm>
            <a:off x="324000" y="2023200"/>
            <a:ext cx="11412000" cy="547200"/>
          </a:xfrm>
          <a:prstGeom prst="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425" name=""/>
          <p:cNvSpPr txBox="1"/>
          <p:nvPr/>
        </p:nvSpPr>
        <p:spPr>
          <a:xfrm>
            <a:off x="385200" y="2070000"/>
            <a:ext cx="225360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10" spc="-1" strike="noStrike">
                <a:solidFill>
                  <a:srgbClr val="172731"/>
                </a:solidFill>
                <a:latin typeface="Arial"/>
              </a:rPr>
              <a:t>One-day predictive pilot</a:t>
            </a:r>
            <a:endParaRPr b="0" lang="en-US" sz="810" spc="-1" strike="noStrike">
              <a:latin typeface="Arial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2761200" y="2070000"/>
            <a:ext cx="466560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10" spc="-1" strike="noStrike">
                <a:solidFill>
                  <a:srgbClr val="172731"/>
                </a:solidFill>
                <a:latin typeface="Arial"/>
              </a:rPr>
              <a:t>trained p95 forecast + one-window HiGHS LP</a:t>
            </a:r>
            <a:endParaRPr b="0" lang="en-US" sz="810" spc="-1" strike="noStrike">
              <a:latin typeface="Arial"/>
            </a:endParaRPr>
          </a:p>
        </p:txBody>
      </p:sp>
      <p:sp>
        <p:nvSpPr>
          <p:cNvPr id="427" name=""/>
          <p:cNvSpPr txBox="1"/>
          <p:nvPr/>
        </p:nvSpPr>
        <p:spPr>
          <a:xfrm>
            <a:off x="7549200" y="2070000"/>
            <a:ext cx="412560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10" spc="-1" strike="noStrike">
                <a:solidFill>
                  <a:srgbClr val="172731"/>
                </a:solidFill>
                <a:latin typeface="Arial"/>
              </a:rPr>
              <a:t>+2.40% UL area; insufficient for campaign</a:t>
            </a:r>
            <a:endParaRPr b="0" lang="en-US" sz="810" spc="-1" strike="noStrike">
              <a:latin typeface="Arial"/>
            </a:endParaRPr>
          </a:p>
        </p:txBody>
      </p:sp>
      <p:sp>
        <p:nvSpPr>
          <p:cNvPr id="428" name=""/>
          <p:cNvSpPr/>
          <p:nvPr/>
        </p:nvSpPr>
        <p:spPr>
          <a:xfrm>
            <a:off x="324000" y="2570400"/>
            <a:ext cx="11412000" cy="547200"/>
          </a:xfrm>
          <a:prstGeom prst="rect">
            <a:avLst/>
          </a:prstGeom>
          <a:solidFill>
            <a:srgbClr val="fae8e6"/>
          </a:solidFill>
          <a:ln w="6480">
            <a:solidFill>
              <a:srgbClr val="cfdce1"/>
            </a:solidFill>
            <a:round/>
          </a:ln>
        </p:spPr>
      </p:sp>
      <p:sp>
        <p:nvSpPr>
          <p:cNvPr id="429" name=""/>
          <p:cNvSpPr txBox="1"/>
          <p:nvPr/>
        </p:nvSpPr>
        <p:spPr>
          <a:xfrm>
            <a:off x="385200" y="2617200"/>
            <a:ext cx="225360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10" spc="-1" strike="noStrike">
                <a:solidFill>
                  <a:srgbClr val="172731"/>
                </a:solidFill>
                <a:latin typeface="Arial"/>
              </a:rPr>
              <a:t>Eight-profile tuning</a:t>
            </a:r>
            <a:endParaRPr b="0" lang="en-US" sz="810" spc="-1" strike="noStrike">
              <a:latin typeface="Arial"/>
            </a:endParaRPr>
          </a:p>
        </p:txBody>
      </p:sp>
      <p:sp>
        <p:nvSpPr>
          <p:cNvPr id="430" name=""/>
          <p:cNvSpPr txBox="1"/>
          <p:nvPr/>
        </p:nvSpPr>
        <p:spPr>
          <a:xfrm>
            <a:off x="2761200" y="2617200"/>
            <a:ext cx="466560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10" spc="-1" strike="noStrike">
                <a:solidFill>
                  <a:srgbClr val="172731"/>
                </a:solidFill>
                <a:latin typeface="Arial"/>
              </a:rPr>
              <a:t>gate, costs, safety factors and static blends</a:t>
            </a:r>
            <a:endParaRPr b="0" lang="en-US" sz="810" spc="-1" strike="noStrike">
              <a:latin typeface="Arial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7549200" y="2617200"/>
            <a:ext cx="412560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10" spc="-1" strike="noStrike">
                <a:solidFill>
                  <a:srgbClr val="172731"/>
                </a:solidFill>
                <a:latin typeface="Arial"/>
              </a:rPr>
              <a:t>all validation profiles lost to static</a:t>
            </a:r>
            <a:endParaRPr b="0" lang="en-US" sz="810" spc="-1" strike="noStrike">
              <a:latin typeface="Arial"/>
            </a:endParaRPr>
          </a:p>
        </p:txBody>
      </p:sp>
      <p:sp>
        <p:nvSpPr>
          <p:cNvPr id="432" name=""/>
          <p:cNvSpPr/>
          <p:nvPr/>
        </p:nvSpPr>
        <p:spPr>
          <a:xfrm>
            <a:off x="324000" y="3117600"/>
            <a:ext cx="11412000" cy="547200"/>
          </a:xfrm>
          <a:prstGeom prst="rect">
            <a:avLst/>
          </a:prstGeom>
          <a:solidFill>
            <a:srgbClr val="fae8e6"/>
          </a:solidFill>
          <a:ln w="6480">
            <a:solidFill>
              <a:srgbClr val="cfdce1"/>
            </a:solidFill>
            <a:round/>
          </a:ln>
        </p:spPr>
      </p:sp>
      <p:sp>
        <p:nvSpPr>
          <p:cNvPr id="433" name=""/>
          <p:cNvSpPr txBox="1"/>
          <p:nvPr/>
        </p:nvSpPr>
        <p:spPr>
          <a:xfrm>
            <a:off x="385200" y="3164400"/>
            <a:ext cx="225360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10" spc="-1" strike="noStrike">
                <a:solidFill>
                  <a:srgbClr val="172731"/>
                </a:solidFill>
                <a:latin typeface="Arial"/>
              </a:rPr>
              <a:t>Mechanism isolation</a:t>
            </a:r>
            <a:endParaRPr b="0" lang="en-US" sz="810" spc="-1" strike="noStrike">
              <a:latin typeface="Arial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2761200" y="3164400"/>
            <a:ext cx="466560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10" spc="-1" strike="noStrike">
                <a:solidFill>
                  <a:srgbClr val="172731"/>
                </a:solidFill>
                <a:latin typeface="Arial"/>
              </a:rPr>
              <a:t>scheduled hints, anomaly, lifetime and concentration cap</a:t>
            </a:r>
            <a:endParaRPr b="0" lang="en-US" sz="810" spc="-1" strike="noStrike">
              <a:latin typeface="Arial"/>
            </a:endParaRPr>
          </a:p>
        </p:txBody>
      </p:sp>
      <p:sp>
        <p:nvSpPr>
          <p:cNvPr id="435" name=""/>
          <p:cNvSpPr txBox="1"/>
          <p:nvPr/>
        </p:nvSpPr>
        <p:spPr>
          <a:xfrm>
            <a:off x="7549200" y="3164400"/>
            <a:ext cx="412560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10" spc="-1" strike="noStrike">
                <a:solidFill>
                  <a:srgbClr val="172731"/>
                </a:solidFill>
                <a:latin typeface="Arial"/>
              </a:rPr>
              <a:t>lifetime helped, but no profile passed</a:t>
            </a:r>
            <a:endParaRPr b="0" lang="en-US" sz="810" spc="-1" strike="noStrike">
              <a:latin typeface="Arial"/>
            </a:endParaRPr>
          </a:p>
        </p:txBody>
      </p:sp>
      <p:sp>
        <p:nvSpPr>
          <p:cNvPr id="436" name=""/>
          <p:cNvSpPr/>
          <p:nvPr/>
        </p:nvSpPr>
        <p:spPr>
          <a:xfrm>
            <a:off x="324000" y="3664800"/>
            <a:ext cx="11412000" cy="547200"/>
          </a:xfrm>
          <a:prstGeom prst="rect">
            <a:avLst/>
          </a:prstGeom>
          <a:solidFill>
            <a:srgbClr val="e1f1f4"/>
          </a:solidFill>
          <a:ln w="6480">
            <a:solidFill>
              <a:srgbClr val="cfdce1"/>
            </a:solidFill>
            <a:round/>
          </a:ln>
        </p:spPr>
      </p:sp>
      <p:sp>
        <p:nvSpPr>
          <p:cNvPr id="437" name=""/>
          <p:cNvSpPr txBox="1"/>
          <p:nvPr/>
        </p:nvSpPr>
        <p:spPr>
          <a:xfrm>
            <a:off x="385200" y="3711600"/>
            <a:ext cx="225360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10" spc="-1" strike="noStrike">
                <a:solidFill>
                  <a:srgbClr val="172731"/>
                </a:solidFill>
                <a:latin typeface="Arial"/>
              </a:rPr>
              <a:t>Oracle action-space bound</a:t>
            </a:r>
            <a:endParaRPr b="0" lang="en-US" sz="810" spc="-1" strike="noStrike">
              <a:latin typeface="Arial"/>
            </a:endParaRPr>
          </a:p>
        </p:txBody>
      </p:sp>
      <p:sp>
        <p:nvSpPr>
          <p:cNvPr id="438" name=""/>
          <p:cNvSpPr txBox="1"/>
          <p:nvPr/>
        </p:nvSpPr>
        <p:spPr>
          <a:xfrm>
            <a:off x="2761200" y="3711600"/>
            <a:ext cx="466560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10" spc="-1" strike="noStrike">
                <a:solidFill>
                  <a:srgbClr val="172731"/>
                </a:solidFill>
                <a:latin typeface="Arial"/>
              </a:rPr>
              <a:t>full-day cohort survival + perfect fault knowledge</a:t>
            </a:r>
            <a:endParaRPr b="0" lang="en-US" sz="810" spc="-1" strike="noStrike">
              <a:latin typeface="Arial"/>
            </a:endParaRPr>
          </a:p>
        </p:txBody>
      </p:sp>
      <p:sp>
        <p:nvSpPr>
          <p:cNvPr id="439" name=""/>
          <p:cNvSpPr txBox="1"/>
          <p:nvPr/>
        </p:nvSpPr>
        <p:spPr>
          <a:xfrm>
            <a:off x="7549200" y="3711600"/>
            <a:ext cx="412560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10" spc="-1" strike="noStrike">
                <a:solidFill>
                  <a:srgbClr val="172731"/>
                </a:solidFill>
                <a:latin typeface="Arial"/>
              </a:rPr>
              <a:t>100% modeled UL reduction was feasible</a:t>
            </a:r>
            <a:endParaRPr b="0" lang="en-US" sz="810" spc="-1" strike="noStrike">
              <a:latin typeface="Arial"/>
            </a:endParaRPr>
          </a:p>
        </p:txBody>
      </p:sp>
      <p:sp>
        <p:nvSpPr>
          <p:cNvPr id="440" name=""/>
          <p:cNvSpPr/>
          <p:nvPr/>
        </p:nvSpPr>
        <p:spPr>
          <a:xfrm>
            <a:off x="324000" y="4212000"/>
            <a:ext cx="11412000" cy="547200"/>
          </a:xfrm>
          <a:prstGeom prst="rect">
            <a:avLst/>
          </a:prstGeom>
          <a:solidFill>
            <a:srgbClr val="e5f2ed"/>
          </a:solidFill>
          <a:ln w="6480">
            <a:solidFill>
              <a:srgbClr val="cfdce1"/>
            </a:solidFill>
            <a:round/>
          </a:ln>
        </p:spPr>
      </p:sp>
      <p:sp>
        <p:nvSpPr>
          <p:cNvPr id="441" name=""/>
          <p:cNvSpPr txBox="1"/>
          <p:nvPr/>
        </p:nvSpPr>
        <p:spPr>
          <a:xfrm>
            <a:off x="385200" y="4258800"/>
            <a:ext cx="225360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10" spc="-1" strike="noStrike">
                <a:solidFill>
                  <a:srgbClr val="172731"/>
                </a:solidFill>
                <a:latin typeface="Arial"/>
              </a:rPr>
              <a:t>Cohort MPC development</a:t>
            </a:r>
            <a:endParaRPr b="0" lang="en-US" sz="810" spc="-1" strike="noStrike">
              <a:latin typeface="Arial"/>
            </a:endParaRPr>
          </a:p>
        </p:txBody>
      </p:sp>
      <p:sp>
        <p:nvSpPr>
          <p:cNvPr id="442" name=""/>
          <p:cNvSpPr txBox="1"/>
          <p:nvPr/>
        </p:nvSpPr>
        <p:spPr>
          <a:xfrm>
            <a:off x="2761200" y="4258800"/>
            <a:ext cx="466560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10" spc="-1" strike="noStrike">
                <a:solidFill>
                  <a:srgbClr val="172731"/>
                </a:solidFill>
                <a:latin typeface="Arial"/>
              </a:rPr>
              <a:t>two-hour state transition + static certificate</a:t>
            </a:r>
            <a:endParaRPr b="0" lang="en-US" sz="810" spc="-1" strike="noStrike">
              <a:latin typeface="Arial"/>
            </a:endParaRPr>
          </a:p>
        </p:txBody>
      </p:sp>
      <p:sp>
        <p:nvSpPr>
          <p:cNvPr id="443" name=""/>
          <p:cNvSpPr txBox="1"/>
          <p:nvPr/>
        </p:nvSpPr>
        <p:spPr>
          <a:xfrm>
            <a:off x="7549200" y="4258800"/>
            <a:ext cx="412560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10" spc="-1" strike="noStrike">
                <a:solidFill>
                  <a:srgbClr val="172731"/>
                </a:solidFill>
                <a:latin typeface="Arial"/>
              </a:rPr>
              <a:t>~25.09% mean on five dev seeds</a:t>
            </a:r>
            <a:endParaRPr b="0" lang="en-US" sz="810" spc="-1" strike="noStrike">
              <a:latin typeface="Arial"/>
            </a:endParaRPr>
          </a:p>
        </p:txBody>
      </p:sp>
      <p:sp>
        <p:nvSpPr>
          <p:cNvPr id="444" name=""/>
          <p:cNvSpPr/>
          <p:nvPr/>
        </p:nvSpPr>
        <p:spPr>
          <a:xfrm>
            <a:off x="324000" y="4759200"/>
            <a:ext cx="11412000" cy="547200"/>
          </a:xfrm>
          <a:prstGeom prst="rect">
            <a:avLst/>
          </a:prstGeom>
          <a:solidFill>
            <a:srgbClr val="fae8e6"/>
          </a:solidFill>
          <a:ln w="6480">
            <a:solidFill>
              <a:srgbClr val="cfdce1"/>
            </a:solidFill>
            <a:round/>
          </a:ln>
        </p:spPr>
      </p:sp>
      <p:sp>
        <p:nvSpPr>
          <p:cNvPr id="445" name=""/>
          <p:cNvSpPr txBox="1"/>
          <p:nvPr/>
        </p:nvSpPr>
        <p:spPr>
          <a:xfrm>
            <a:off x="385200" y="4806000"/>
            <a:ext cx="225360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10" spc="-1" strike="noStrike">
                <a:solidFill>
                  <a:srgbClr val="172731"/>
                </a:solidFill>
                <a:latin typeface="Arial"/>
              </a:rPr>
              <a:t>First 12-pair pilot</a:t>
            </a:r>
            <a:endParaRPr b="0" lang="en-US" sz="810" spc="-1" strike="noStrike">
              <a:latin typeface="Arial"/>
            </a:endParaRPr>
          </a:p>
        </p:txBody>
      </p:sp>
      <p:sp>
        <p:nvSpPr>
          <p:cNvPr id="446" name=""/>
          <p:cNvSpPr txBox="1"/>
          <p:nvPr/>
        </p:nvSpPr>
        <p:spPr>
          <a:xfrm>
            <a:off x="2761200" y="4806000"/>
            <a:ext cx="466560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10" spc="-1" strike="noStrike">
                <a:solidFill>
                  <a:srgbClr val="172731"/>
                </a:solidFill>
                <a:latin typeface="Arial"/>
              </a:rPr>
              <a:t>broader surge/fault/outage/mixed matrix</a:t>
            </a:r>
            <a:endParaRPr b="0" lang="en-US" sz="810" spc="-1" strike="noStrike">
              <a:latin typeface="Arial"/>
            </a:endParaRPr>
          </a:p>
        </p:txBody>
      </p:sp>
      <p:sp>
        <p:nvSpPr>
          <p:cNvPr id="447" name=""/>
          <p:cNvSpPr txBox="1"/>
          <p:nvPr/>
        </p:nvSpPr>
        <p:spPr>
          <a:xfrm>
            <a:off x="7549200" y="4806000"/>
            <a:ext cx="412560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10" spc="-1" strike="noStrike">
                <a:solidFill>
                  <a:srgbClr val="172731"/>
                </a:solidFill>
                <a:latin typeface="Arial"/>
              </a:rPr>
              <a:t>failed: 4.74% mean; profile rejected</a:t>
            </a:r>
            <a:endParaRPr b="0" lang="en-US" sz="810" spc="-1" strike="noStrike">
              <a:latin typeface="Arial"/>
            </a:endParaRPr>
          </a:p>
        </p:txBody>
      </p:sp>
      <p:sp>
        <p:nvSpPr>
          <p:cNvPr id="448" name=""/>
          <p:cNvSpPr/>
          <p:nvPr/>
        </p:nvSpPr>
        <p:spPr>
          <a:xfrm>
            <a:off x="324000" y="5306400"/>
            <a:ext cx="11412000" cy="547200"/>
          </a:xfrm>
          <a:prstGeom prst="rect">
            <a:avLst/>
          </a:prstGeom>
          <a:solidFill>
            <a:srgbClr val="e5f2ed"/>
          </a:solidFill>
          <a:ln w="6480">
            <a:solidFill>
              <a:srgbClr val="cfdce1"/>
            </a:solidFill>
            <a:round/>
          </a:ln>
        </p:spPr>
      </p:sp>
      <p:sp>
        <p:nvSpPr>
          <p:cNvPr id="449" name=""/>
          <p:cNvSpPr txBox="1"/>
          <p:nvPr/>
        </p:nvSpPr>
        <p:spPr>
          <a:xfrm>
            <a:off x="385200" y="5353200"/>
            <a:ext cx="225360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10" spc="-1" strike="noStrike">
                <a:solidFill>
                  <a:srgbClr val="172731"/>
                </a:solidFill>
                <a:latin typeface="Arial"/>
              </a:rPr>
              <a:t>Frozen MA6 MPC</a:t>
            </a:r>
            <a:endParaRPr b="0" lang="en-US" sz="810" spc="-1" strike="noStrike">
              <a:latin typeface="Arial"/>
            </a:endParaRPr>
          </a:p>
        </p:txBody>
      </p:sp>
      <p:sp>
        <p:nvSpPr>
          <p:cNvPr id="450" name=""/>
          <p:cNvSpPr txBox="1"/>
          <p:nvPr/>
        </p:nvSpPr>
        <p:spPr>
          <a:xfrm>
            <a:off x="2761200" y="5353200"/>
            <a:ext cx="466560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10" spc="-1" strike="noStrike">
                <a:solidFill>
                  <a:srgbClr val="172731"/>
                </a:solidFill>
                <a:latin typeface="Arial"/>
              </a:rPr>
              <a:t>50% static blend + unknown-fault fallback</a:t>
            </a:r>
            <a:endParaRPr b="0" lang="en-US" sz="810" spc="-1" strike="noStrike">
              <a:latin typeface="Arial"/>
            </a:endParaRPr>
          </a:p>
        </p:txBody>
      </p:sp>
      <p:sp>
        <p:nvSpPr>
          <p:cNvPr id="451" name=""/>
          <p:cNvSpPr txBox="1"/>
          <p:nvPr/>
        </p:nvSpPr>
        <p:spPr>
          <a:xfrm>
            <a:off x="7549200" y="5353200"/>
            <a:ext cx="4125600" cy="4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10" spc="-1" strike="noStrike">
                <a:solidFill>
                  <a:srgbClr val="172731"/>
                </a:solidFill>
                <a:latin typeface="Arial"/>
              </a:rPr>
              <a:t>advanced to fresh 30-pair campaign</a:t>
            </a:r>
            <a:endParaRPr b="0" lang="en-US" sz="810" spc="-1" strike="noStrike">
              <a:latin typeface="Arial"/>
            </a:endParaRPr>
          </a:p>
        </p:txBody>
      </p:sp>
      <p:sp>
        <p:nvSpPr>
          <p:cNvPr id="452" name=""/>
          <p:cNvSpPr/>
          <p:nvPr/>
        </p:nvSpPr>
        <p:spPr>
          <a:xfrm>
            <a:off x="324000" y="5940000"/>
            <a:ext cx="11412000" cy="360000"/>
          </a:xfrm>
          <a:prstGeom prst="roundRect">
            <a:avLst/>
          </a:prstGeom>
          <a:solidFill>
            <a:srgbClr val="193644"/>
          </a:solidFill>
          <a:ln w="0">
            <a:noFill/>
          </a:ln>
        </p:spPr>
      </p:sp>
      <p:sp>
        <p:nvSpPr>
          <p:cNvPr id="453" name=""/>
          <p:cNvSpPr/>
          <p:nvPr/>
        </p:nvSpPr>
        <p:spPr>
          <a:xfrm>
            <a:off x="324000" y="5940000"/>
            <a:ext cx="64800" cy="360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454" name=""/>
          <p:cNvSpPr txBox="1"/>
          <p:nvPr/>
        </p:nvSpPr>
        <p:spPr>
          <a:xfrm>
            <a:off x="576000" y="6030000"/>
            <a:ext cx="10908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839" spc="-1" strike="noStrike">
                <a:solidFill>
                  <a:srgbClr val="ffffff"/>
                </a:solidFill>
                <a:latin typeface="Arial"/>
              </a:rPr>
              <a:t>Lesson: placements persist for hours; optimizing only the next bucket can create residual concentrations that later decisions cannot undo.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455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6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docs/extreme-optimizer-pilot-results.md · extreme-optimizer-tuning-results.md · extreme-oracle-bound-results.md · cohort-mpc-pilot-results.md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457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07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</p:sp>
      <p:sp>
        <p:nvSpPr>
          <p:cNvPr id="459" name=""/>
          <p:cNvSpPr txBox="1"/>
          <p:nvPr/>
        </p:nvSpPr>
        <p:spPr>
          <a:xfrm>
            <a:off x="324000" y="158400"/>
            <a:ext cx="3096000" cy="23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OPTIMIZER · CURRENT CONTROL LOOP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460" name=""/>
          <p:cNvSpPr txBox="1"/>
          <p:nvPr/>
        </p:nvSpPr>
        <p:spPr>
          <a:xfrm>
            <a:off x="324000" y="378000"/>
            <a:ext cx="10584000" cy="61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Stage 3 — the accepted controller plans cohorts, certifies the action and steers new sessions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461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462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463" name=""/>
          <p:cNvSpPr/>
          <p:nvPr/>
        </p:nvSpPr>
        <p:spPr>
          <a:xfrm>
            <a:off x="324000" y="1548000"/>
            <a:ext cx="1656000" cy="111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464" name=""/>
          <p:cNvSpPr/>
          <p:nvPr/>
        </p:nvSpPr>
        <p:spPr>
          <a:xfrm>
            <a:off x="324000" y="1548000"/>
            <a:ext cx="64800" cy="1116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465" name=""/>
          <p:cNvSpPr txBox="1"/>
          <p:nvPr/>
        </p:nvSpPr>
        <p:spPr>
          <a:xfrm>
            <a:off x="504000" y="1764000"/>
            <a:ext cx="129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40" spc="-1" strike="noStrike">
                <a:solidFill>
                  <a:srgbClr val="6750a4"/>
                </a:solidFill>
                <a:latin typeface="Courier New"/>
              </a:rPr>
              <a:t>CLOSED HISTORY</a:t>
            </a:r>
            <a:endParaRPr b="0" lang="en-US" sz="740" spc="-1" strike="noStrike">
              <a:latin typeface="Arial"/>
            </a:endParaRPr>
          </a:p>
        </p:txBody>
      </p:sp>
      <p:sp>
        <p:nvSpPr>
          <p:cNvPr id="466" name=""/>
          <p:cNvSpPr txBox="1"/>
          <p:nvPr/>
        </p:nvSpPr>
        <p:spPr>
          <a:xfrm>
            <a:off x="504000" y="2124000"/>
            <a:ext cx="1296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9" spc="-1" strike="noStrike">
                <a:solidFill>
                  <a:srgbClr val="172731"/>
                </a:solidFill>
                <a:latin typeface="Arial"/>
              </a:rPr>
              <a:t>causal MA(6) p95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467" name=""/>
          <p:cNvSpPr/>
          <p:nvPr/>
        </p:nvSpPr>
        <p:spPr>
          <a:xfrm>
            <a:off x="1980000" y="2124000"/>
            <a:ext cx="158400" cy="0"/>
          </a:xfrm>
          <a:prstGeom prst="line">
            <a:avLst/>
          </a:prstGeom>
          <a:ln w="4680">
            <a:solidFill>
              <a:srgbClr val="5268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8" name=""/>
          <p:cNvSpPr txBox="1"/>
          <p:nvPr/>
        </p:nvSpPr>
        <p:spPr>
          <a:xfrm>
            <a:off x="2080800" y="1995840"/>
            <a:ext cx="144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526875"/>
                </a:solidFill>
                <a:latin typeface="Arial"/>
              </a:rPr>
              <a:t>›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69" name=""/>
          <p:cNvSpPr/>
          <p:nvPr/>
        </p:nvSpPr>
        <p:spPr>
          <a:xfrm>
            <a:off x="2224800" y="1548000"/>
            <a:ext cx="1656000" cy="111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470" name=""/>
          <p:cNvSpPr/>
          <p:nvPr/>
        </p:nvSpPr>
        <p:spPr>
          <a:xfrm>
            <a:off x="2224800" y="1548000"/>
            <a:ext cx="64800" cy="1116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471" name=""/>
          <p:cNvSpPr txBox="1"/>
          <p:nvPr/>
        </p:nvSpPr>
        <p:spPr>
          <a:xfrm>
            <a:off x="2404800" y="1764000"/>
            <a:ext cx="129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40" spc="-1" strike="noStrike">
                <a:solidFill>
                  <a:srgbClr val="007c99"/>
                </a:solidFill>
                <a:latin typeface="Courier New"/>
              </a:rPr>
              <a:t>COHORT STATE</a:t>
            </a:r>
            <a:endParaRPr b="0" lang="en-US" sz="740" spc="-1" strike="noStrike">
              <a:latin typeface="Arial"/>
            </a:endParaRPr>
          </a:p>
        </p:txBody>
      </p:sp>
      <p:sp>
        <p:nvSpPr>
          <p:cNvPr id="472" name=""/>
          <p:cNvSpPr txBox="1"/>
          <p:nvPr/>
        </p:nvSpPr>
        <p:spPr>
          <a:xfrm>
            <a:off x="2404800" y="2124000"/>
            <a:ext cx="1296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9" spc="-1" strike="noStrike">
                <a:solidFill>
                  <a:srgbClr val="172731"/>
                </a:solidFill>
                <a:latin typeface="Arial"/>
              </a:rPr>
              <a:t>UPF + remaining lifetime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473" name=""/>
          <p:cNvSpPr/>
          <p:nvPr/>
        </p:nvSpPr>
        <p:spPr>
          <a:xfrm>
            <a:off x="3880800" y="2124000"/>
            <a:ext cx="158400" cy="0"/>
          </a:xfrm>
          <a:prstGeom prst="line">
            <a:avLst/>
          </a:prstGeom>
          <a:ln w="4680">
            <a:solidFill>
              <a:srgbClr val="5268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4" name=""/>
          <p:cNvSpPr txBox="1"/>
          <p:nvPr/>
        </p:nvSpPr>
        <p:spPr>
          <a:xfrm>
            <a:off x="3981600" y="1995840"/>
            <a:ext cx="144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526875"/>
                </a:solidFill>
                <a:latin typeface="Arial"/>
              </a:rPr>
              <a:t>›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75" name=""/>
          <p:cNvSpPr/>
          <p:nvPr/>
        </p:nvSpPr>
        <p:spPr>
          <a:xfrm>
            <a:off x="4125600" y="1548000"/>
            <a:ext cx="1656000" cy="111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476" name=""/>
          <p:cNvSpPr/>
          <p:nvPr/>
        </p:nvSpPr>
        <p:spPr>
          <a:xfrm>
            <a:off x="4125600" y="1548000"/>
            <a:ext cx="64800" cy="1116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477" name=""/>
          <p:cNvSpPr txBox="1"/>
          <p:nvPr/>
        </p:nvSpPr>
        <p:spPr>
          <a:xfrm>
            <a:off x="4305600" y="1764000"/>
            <a:ext cx="129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40" spc="-1" strike="noStrike">
                <a:solidFill>
                  <a:srgbClr val="16805f"/>
                </a:solidFill>
                <a:latin typeface="Courier New"/>
              </a:rPr>
              <a:t>2 h MPC</a:t>
            </a:r>
            <a:endParaRPr b="0" lang="en-US" sz="740" spc="-1" strike="noStrike">
              <a:latin typeface="Arial"/>
            </a:endParaRPr>
          </a:p>
        </p:txBody>
      </p:sp>
      <p:sp>
        <p:nvSpPr>
          <p:cNvPr id="478" name=""/>
          <p:cNvSpPr txBox="1"/>
          <p:nvPr/>
        </p:nvSpPr>
        <p:spPr>
          <a:xfrm>
            <a:off x="4305600" y="2124000"/>
            <a:ext cx="1296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9" spc="-1" strike="noStrike">
                <a:solidFill>
                  <a:srgbClr val="172731"/>
                </a:solidFill>
                <a:latin typeface="Arial"/>
              </a:rPr>
              <a:t>12 future windows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479" name=""/>
          <p:cNvSpPr/>
          <p:nvPr/>
        </p:nvSpPr>
        <p:spPr>
          <a:xfrm>
            <a:off x="5781600" y="2124000"/>
            <a:ext cx="158400" cy="0"/>
          </a:xfrm>
          <a:prstGeom prst="line">
            <a:avLst/>
          </a:prstGeom>
          <a:ln w="4680">
            <a:solidFill>
              <a:srgbClr val="5268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0" name=""/>
          <p:cNvSpPr txBox="1"/>
          <p:nvPr/>
        </p:nvSpPr>
        <p:spPr>
          <a:xfrm>
            <a:off x="5882400" y="1995840"/>
            <a:ext cx="144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526875"/>
                </a:solidFill>
                <a:latin typeface="Arial"/>
              </a:rPr>
              <a:t>›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81" name=""/>
          <p:cNvSpPr/>
          <p:nvPr/>
        </p:nvSpPr>
        <p:spPr>
          <a:xfrm>
            <a:off x="6026400" y="1548000"/>
            <a:ext cx="1656000" cy="111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482" name=""/>
          <p:cNvSpPr/>
          <p:nvPr/>
        </p:nvSpPr>
        <p:spPr>
          <a:xfrm>
            <a:off x="6026400" y="1548000"/>
            <a:ext cx="64800" cy="1116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483" name=""/>
          <p:cNvSpPr txBox="1"/>
          <p:nvPr/>
        </p:nvSpPr>
        <p:spPr>
          <a:xfrm>
            <a:off x="6206400" y="1764000"/>
            <a:ext cx="129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40" spc="-1" strike="noStrike">
                <a:solidFill>
                  <a:srgbClr val="c77b0b"/>
                </a:solidFill>
                <a:latin typeface="Courier New"/>
              </a:rPr>
              <a:t>STATIC REPLAY</a:t>
            </a:r>
            <a:endParaRPr b="0" lang="en-US" sz="740" spc="-1" strike="noStrike">
              <a:latin typeface="Arial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6206400" y="2124000"/>
            <a:ext cx="1296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9" spc="-1" strike="noStrike">
                <a:solidFill>
                  <a:srgbClr val="172731"/>
                </a:solidFill>
                <a:latin typeface="Arial"/>
              </a:rPr>
              <a:t>same state + events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485" name=""/>
          <p:cNvSpPr/>
          <p:nvPr/>
        </p:nvSpPr>
        <p:spPr>
          <a:xfrm>
            <a:off x="7682400" y="2124000"/>
            <a:ext cx="158400" cy="0"/>
          </a:xfrm>
          <a:prstGeom prst="line">
            <a:avLst/>
          </a:prstGeom>
          <a:ln w="4680">
            <a:solidFill>
              <a:srgbClr val="5268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6" name=""/>
          <p:cNvSpPr txBox="1"/>
          <p:nvPr/>
        </p:nvSpPr>
        <p:spPr>
          <a:xfrm>
            <a:off x="7783200" y="1995840"/>
            <a:ext cx="144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526875"/>
                </a:solidFill>
                <a:latin typeface="Arial"/>
              </a:rPr>
              <a:t>›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87" name=""/>
          <p:cNvSpPr/>
          <p:nvPr/>
        </p:nvSpPr>
        <p:spPr>
          <a:xfrm>
            <a:off x="7927200" y="1548000"/>
            <a:ext cx="1656000" cy="111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488" name=""/>
          <p:cNvSpPr/>
          <p:nvPr/>
        </p:nvSpPr>
        <p:spPr>
          <a:xfrm>
            <a:off x="7927200" y="1548000"/>
            <a:ext cx="64800" cy="1116000"/>
          </a:xfrm>
          <a:prstGeom prst="rect">
            <a:avLst/>
          </a:prstGeom>
          <a:solidFill>
            <a:srgbClr val="cd443b"/>
          </a:solidFill>
          <a:ln w="0">
            <a:noFill/>
          </a:ln>
        </p:spPr>
      </p:sp>
      <p:sp>
        <p:nvSpPr>
          <p:cNvPr id="489" name=""/>
          <p:cNvSpPr txBox="1"/>
          <p:nvPr/>
        </p:nvSpPr>
        <p:spPr>
          <a:xfrm>
            <a:off x="8107200" y="1764000"/>
            <a:ext cx="129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40" spc="-1" strike="noStrike">
                <a:solidFill>
                  <a:srgbClr val="cd443b"/>
                </a:solidFill>
                <a:latin typeface="Courier New"/>
              </a:rPr>
              <a:t>CERTIFICATE</a:t>
            </a:r>
            <a:endParaRPr b="0" lang="en-US" sz="740" spc="-1" strike="noStrike">
              <a:latin typeface="Arial"/>
            </a:endParaRPr>
          </a:p>
        </p:txBody>
      </p:sp>
      <p:sp>
        <p:nvSpPr>
          <p:cNvPr id="490" name=""/>
          <p:cNvSpPr txBox="1"/>
          <p:nvPr/>
        </p:nvSpPr>
        <p:spPr>
          <a:xfrm>
            <a:off x="8107200" y="2124000"/>
            <a:ext cx="1296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9" spc="-1" strike="noStrike">
                <a:solidFill>
                  <a:srgbClr val="172731"/>
                </a:solidFill>
                <a:latin typeface="Arial"/>
              </a:rPr>
              <a:t>no worse guardrails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491" name=""/>
          <p:cNvSpPr/>
          <p:nvPr/>
        </p:nvSpPr>
        <p:spPr>
          <a:xfrm>
            <a:off x="9583200" y="2124000"/>
            <a:ext cx="158400" cy="0"/>
          </a:xfrm>
          <a:prstGeom prst="line">
            <a:avLst/>
          </a:prstGeom>
          <a:ln w="4680">
            <a:solidFill>
              <a:srgbClr val="5268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2" name=""/>
          <p:cNvSpPr txBox="1"/>
          <p:nvPr/>
        </p:nvSpPr>
        <p:spPr>
          <a:xfrm>
            <a:off x="9684000" y="1995840"/>
            <a:ext cx="144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526875"/>
                </a:solidFill>
                <a:latin typeface="Arial"/>
              </a:rPr>
              <a:t>›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93" name=""/>
          <p:cNvSpPr/>
          <p:nvPr/>
        </p:nvSpPr>
        <p:spPr>
          <a:xfrm>
            <a:off x="9828000" y="1548000"/>
            <a:ext cx="1656000" cy="111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494" name=""/>
          <p:cNvSpPr/>
          <p:nvPr/>
        </p:nvSpPr>
        <p:spPr>
          <a:xfrm>
            <a:off x="9828000" y="1548000"/>
            <a:ext cx="64800" cy="1116000"/>
          </a:xfrm>
          <a:prstGeom prst="rect">
            <a:avLst/>
          </a:prstGeom>
          <a:solidFill>
            <a:srgbClr val="2f91a6"/>
          </a:solidFill>
          <a:ln w="0">
            <a:noFill/>
          </a:ln>
        </p:spPr>
      </p:sp>
      <p:sp>
        <p:nvSpPr>
          <p:cNvPr id="495" name=""/>
          <p:cNvSpPr txBox="1"/>
          <p:nvPr/>
        </p:nvSpPr>
        <p:spPr>
          <a:xfrm>
            <a:off x="10008000" y="1764000"/>
            <a:ext cx="129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40" spc="-1" strike="noStrike">
                <a:solidFill>
                  <a:srgbClr val="2f91a6"/>
                </a:solidFill>
                <a:latin typeface="Courier New"/>
              </a:rPr>
              <a:t>FIRST ACTION</a:t>
            </a:r>
            <a:endParaRPr b="0" lang="en-US" sz="740" spc="-1" strike="noStrike">
              <a:latin typeface="Arial"/>
            </a:endParaRPr>
          </a:p>
        </p:txBody>
      </p:sp>
      <p:sp>
        <p:nvSpPr>
          <p:cNvPr id="496" name=""/>
          <p:cNvSpPr txBox="1"/>
          <p:nvPr/>
        </p:nvSpPr>
        <p:spPr>
          <a:xfrm>
            <a:off x="10008000" y="2124000"/>
            <a:ext cx="1296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9" spc="-1" strike="noStrike">
                <a:solidFill>
                  <a:srgbClr val="172731"/>
                </a:solidFill>
                <a:latin typeface="Arial"/>
              </a:rPr>
              <a:t>publish or exact static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497" name=""/>
          <p:cNvSpPr/>
          <p:nvPr/>
        </p:nvSpPr>
        <p:spPr>
          <a:xfrm>
            <a:off x="324000" y="3132000"/>
            <a:ext cx="5580000" cy="270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498" name=""/>
          <p:cNvSpPr/>
          <p:nvPr/>
        </p:nvSpPr>
        <p:spPr>
          <a:xfrm>
            <a:off x="324000" y="3132000"/>
            <a:ext cx="64800" cy="2700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499" name=""/>
          <p:cNvSpPr txBox="1"/>
          <p:nvPr/>
        </p:nvSpPr>
        <p:spPr>
          <a:xfrm>
            <a:off x="576000" y="3384000"/>
            <a:ext cx="5076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400" spc="-1" strike="noStrike">
                <a:solidFill>
                  <a:srgbClr val="172731"/>
                </a:solidFill>
                <a:latin typeface="Arial"/>
              </a:rPr>
              <a:t>Frozen MPC profile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00" name=""/>
          <p:cNvSpPr/>
          <p:nvPr/>
        </p:nvSpPr>
        <p:spPr>
          <a:xfrm>
            <a:off x="576000" y="39528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501" name=""/>
          <p:cNvSpPr txBox="1"/>
          <p:nvPr/>
        </p:nvSpPr>
        <p:spPr>
          <a:xfrm>
            <a:off x="756000" y="3870000"/>
            <a:ext cx="4896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0" spc="-1" strike="noStrike">
                <a:solidFill>
                  <a:srgbClr val="172731"/>
                </a:solidFill>
                <a:latin typeface="Arial"/>
              </a:rPr>
              <a:t>12 × 10-minute receding horizon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502" name=""/>
          <p:cNvSpPr/>
          <p:nvPr/>
        </p:nvSpPr>
        <p:spPr>
          <a:xfrm>
            <a:off x="576000" y="42408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503" name=""/>
          <p:cNvSpPr txBox="1"/>
          <p:nvPr/>
        </p:nvSpPr>
        <p:spPr>
          <a:xfrm>
            <a:off x="756000" y="4158000"/>
            <a:ext cx="4896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0" spc="-1" strike="noStrike">
                <a:solidFill>
                  <a:srgbClr val="172731"/>
                </a:solidFill>
                <a:latin typeface="Arial"/>
              </a:rPr>
              <a:t>exact anchored cohort state and expected survival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504" name=""/>
          <p:cNvSpPr/>
          <p:nvPr/>
        </p:nvSpPr>
        <p:spPr>
          <a:xfrm>
            <a:off x="576000" y="45288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505" name=""/>
          <p:cNvSpPr txBox="1"/>
          <p:nvPr/>
        </p:nvSpPr>
        <p:spPr>
          <a:xfrm>
            <a:off x="756000" y="4446000"/>
            <a:ext cx="4896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0" spc="-1" strike="noStrike">
                <a:solidFill>
                  <a:srgbClr val="172731"/>
                </a:solidFill>
                <a:latin typeface="Arial"/>
              </a:rPr>
              <a:t>known future capacity path only after known_at_step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506" name=""/>
          <p:cNvSpPr/>
          <p:nvPr/>
        </p:nvSpPr>
        <p:spPr>
          <a:xfrm>
            <a:off x="576000" y="48168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507" name=""/>
          <p:cNvSpPr txBox="1"/>
          <p:nvPr/>
        </p:nvSpPr>
        <p:spPr>
          <a:xfrm>
            <a:off x="756000" y="4734000"/>
            <a:ext cx="4896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0" spc="-1" strike="noStrike">
                <a:solidFill>
                  <a:srgbClr val="172731"/>
                </a:solidFill>
                <a:latin typeface="Arial"/>
              </a:rPr>
              <a:t>50% optimized action + 50% contemporaneous static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508" name=""/>
          <p:cNvSpPr/>
          <p:nvPr/>
        </p:nvSpPr>
        <p:spPr>
          <a:xfrm>
            <a:off x="576000" y="51048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509" name=""/>
          <p:cNvSpPr txBox="1"/>
          <p:nvPr/>
        </p:nvSpPr>
        <p:spPr>
          <a:xfrm>
            <a:off x="756000" y="5022000"/>
            <a:ext cx="4896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0" spc="-1" strike="noStrike">
                <a:solidFill>
                  <a:srgbClr val="172731"/>
                </a:solidFill>
                <a:latin typeface="Arial"/>
              </a:rPr>
              <a:t>fallback to static during unplanned capacity state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510" name=""/>
          <p:cNvSpPr/>
          <p:nvPr/>
        </p:nvSpPr>
        <p:spPr>
          <a:xfrm>
            <a:off x="576000" y="53928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511" name=""/>
          <p:cNvSpPr txBox="1"/>
          <p:nvPr/>
        </p:nvSpPr>
        <p:spPr>
          <a:xfrm>
            <a:off x="756000" y="5310000"/>
            <a:ext cx="4896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0" spc="-1" strike="noStrike">
                <a:solidFill>
                  <a:srgbClr val="172731"/>
                </a:solidFill>
                <a:latin typeface="Arial"/>
              </a:rPr>
              <a:t>UL, DL, drop and session guardrails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512" name=""/>
          <p:cNvSpPr/>
          <p:nvPr/>
        </p:nvSpPr>
        <p:spPr>
          <a:xfrm>
            <a:off x="6228000" y="3132000"/>
            <a:ext cx="5508000" cy="2700000"/>
          </a:xfrm>
          <a:prstGeom prst="roundRect">
            <a:avLst/>
          </a:prstGeom>
          <a:solidFill>
            <a:srgbClr val="faf0de"/>
          </a:solidFill>
          <a:ln w="6480">
            <a:solidFill>
              <a:srgbClr val="e5c78d"/>
            </a:solidFill>
            <a:round/>
          </a:ln>
        </p:spPr>
      </p:sp>
      <p:sp>
        <p:nvSpPr>
          <p:cNvPr id="513" name=""/>
          <p:cNvSpPr/>
          <p:nvPr/>
        </p:nvSpPr>
        <p:spPr>
          <a:xfrm>
            <a:off x="6228000" y="3132000"/>
            <a:ext cx="64800" cy="2700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514" name=""/>
          <p:cNvSpPr txBox="1"/>
          <p:nvPr/>
        </p:nvSpPr>
        <p:spPr>
          <a:xfrm>
            <a:off x="6480000" y="3384000"/>
            <a:ext cx="5004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400" spc="-1" strike="noStrike">
                <a:solidFill>
                  <a:srgbClr val="172731"/>
                </a:solidFill>
                <a:latin typeface="Arial"/>
              </a:rPr>
              <a:t>How steering works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15" name=""/>
          <p:cNvSpPr/>
          <p:nvPr/>
        </p:nvSpPr>
        <p:spPr>
          <a:xfrm>
            <a:off x="6480000" y="3952800"/>
            <a:ext cx="79200" cy="79200"/>
          </a:xfrm>
          <a:prstGeom prst="ellipse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516" name=""/>
          <p:cNvSpPr txBox="1"/>
          <p:nvPr/>
        </p:nvSpPr>
        <p:spPr>
          <a:xfrm>
            <a:off x="6660000" y="3870000"/>
            <a:ext cx="4824000" cy="33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0" spc="-1" strike="noStrike">
                <a:solidFill>
                  <a:srgbClr val="172731"/>
                </a:solidFill>
                <a:latin typeface="Arial"/>
              </a:rPr>
              <a:t>MPC outputs normalized weights per traffic group and eligible UPF.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517" name=""/>
          <p:cNvSpPr/>
          <p:nvPr/>
        </p:nvSpPr>
        <p:spPr>
          <a:xfrm>
            <a:off x="6480000" y="4284000"/>
            <a:ext cx="79200" cy="79200"/>
          </a:xfrm>
          <a:prstGeom prst="ellipse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518" name=""/>
          <p:cNvSpPr txBox="1"/>
          <p:nvPr/>
        </p:nvSpPr>
        <p:spPr>
          <a:xfrm>
            <a:off x="6660000" y="4201200"/>
            <a:ext cx="4824000" cy="33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0" spc="-1" strike="noStrike">
                <a:solidFill>
                  <a:srgbClr val="172731"/>
                </a:solidFill>
                <a:latin typeface="Arial"/>
              </a:rPr>
              <a:t>Unhealthy or ineligible destinations are removed and weights renormalized.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519" name=""/>
          <p:cNvSpPr/>
          <p:nvPr/>
        </p:nvSpPr>
        <p:spPr>
          <a:xfrm>
            <a:off x="6480000" y="4615200"/>
            <a:ext cx="79200" cy="79200"/>
          </a:xfrm>
          <a:prstGeom prst="ellipse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520" name=""/>
          <p:cNvSpPr txBox="1"/>
          <p:nvPr/>
        </p:nvSpPr>
        <p:spPr>
          <a:xfrm>
            <a:off x="6660000" y="4532400"/>
            <a:ext cx="4824000" cy="33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0" spc="-1" strike="noStrike">
                <a:solidFill>
                  <a:srgbClr val="172731"/>
                </a:solidFill>
                <a:latin typeface="Arial"/>
              </a:rPr>
              <a:t>Each arriving session uses deterministic weighted rendezvous hashing.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521" name=""/>
          <p:cNvSpPr/>
          <p:nvPr/>
        </p:nvSpPr>
        <p:spPr>
          <a:xfrm>
            <a:off x="6480000" y="4946400"/>
            <a:ext cx="79200" cy="79200"/>
          </a:xfrm>
          <a:prstGeom prst="ellipse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522" name=""/>
          <p:cNvSpPr txBox="1"/>
          <p:nvPr/>
        </p:nvSpPr>
        <p:spPr>
          <a:xfrm>
            <a:off x="6660000" y="4863600"/>
            <a:ext cx="4824000" cy="33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0" spc="-1" strike="noStrike">
                <a:solidFill>
                  <a:srgbClr val="172731"/>
                </a:solidFill>
                <a:latin typeface="Arial"/>
              </a:rPr>
              <a:t>Admission checks the selected UPF session limit.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523" name=""/>
          <p:cNvSpPr/>
          <p:nvPr/>
        </p:nvSpPr>
        <p:spPr>
          <a:xfrm>
            <a:off x="6480000" y="5277600"/>
            <a:ext cx="79200" cy="79200"/>
          </a:xfrm>
          <a:prstGeom prst="ellipse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524" name=""/>
          <p:cNvSpPr txBox="1"/>
          <p:nvPr/>
        </p:nvSpPr>
        <p:spPr>
          <a:xfrm>
            <a:off x="6660000" y="5194800"/>
            <a:ext cx="4824000" cy="33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80" spc="-1" strike="noStrike">
                <a:solidFill>
                  <a:srgbClr val="172731"/>
                </a:solidFill>
                <a:latin typeface="Arial"/>
              </a:rPr>
              <a:t>The session stays anchored until its lifetime ends—no migration.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525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6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optimization/cohort_mpc.py · simulator/macro/controllers.py · simulator/macro/engine.py · steering/hashing.py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527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08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</p:sp>
      <p:sp>
        <p:nvSpPr>
          <p:cNvPr id="529" name=""/>
          <p:cNvSpPr txBox="1"/>
          <p:nvPr/>
        </p:nvSpPr>
        <p:spPr>
          <a:xfrm>
            <a:off x="324000" y="158400"/>
            <a:ext cx="3096000" cy="23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OPTIMIZER · FINAL EVALUATION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530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Stage 3 — the 30-pair campaign passes the demo gate, with visible tail risk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531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532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533" name=""/>
          <p:cNvSpPr/>
          <p:nvPr/>
        </p:nvSpPr>
        <p:spPr>
          <a:xfrm>
            <a:off x="324000" y="1404000"/>
            <a:ext cx="2592000" cy="100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534" name=""/>
          <p:cNvSpPr/>
          <p:nvPr/>
        </p:nvSpPr>
        <p:spPr>
          <a:xfrm>
            <a:off x="324000" y="1404000"/>
            <a:ext cx="64800" cy="1008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535" name=""/>
          <p:cNvSpPr txBox="1"/>
          <p:nvPr/>
        </p:nvSpPr>
        <p:spPr>
          <a:xfrm>
            <a:off x="504000" y="1548000"/>
            <a:ext cx="2268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" spc="-1" strike="noStrike">
                <a:solidFill>
                  <a:srgbClr val="718592"/>
                </a:solidFill>
                <a:latin typeface="Courier New"/>
              </a:rPr>
              <a:t>MEAN-PAIR UL</a:t>
            </a:r>
            <a:endParaRPr b="0" lang="en-US" sz="720" spc="-1" strike="noStrike">
              <a:latin typeface="Arial"/>
            </a:endParaRPr>
          </a:p>
        </p:txBody>
      </p:sp>
      <p:sp>
        <p:nvSpPr>
          <p:cNvPr id="536" name=""/>
          <p:cNvSpPr txBox="1"/>
          <p:nvPr/>
        </p:nvSpPr>
        <p:spPr>
          <a:xfrm>
            <a:off x="504000" y="1728000"/>
            <a:ext cx="2268000" cy="34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400" spc="-1" strike="noStrike">
                <a:solidFill>
                  <a:srgbClr val="16805f"/>
                </a:solidFill>
                <a:latin typeface="Arial"/>
              </a:rPr>
              <a:t>+10.52%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37" name=""/>
          <p:cNvSpPr txBox="1"/>
          <p:nvPr/>
        </p:nvSpPr>
        <p:spPr>
          <a:xfrm>
            <a:off x="504000" y="2124000"/>
            <a:ext cx="2268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526875"/>
                </a:solidFill>
                <a:latin typeface="Arial"/>
              </a:rPr>
              <a:t>95% CI 4.81–16.93%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538" name=""/>
          <p:cNvSpPr/>
          <p:nvPr/>
        </p:nvSpPr>
        <p:spPr>
          <a:xfrm>
            <a:off x="3132000" y="1404000"/>
            <a:ext cx="2592000" cy="100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539" name=""/>
          <p:cNvSpPr/>
          <p:nvPr/>
        </p:nvSpPr>
        <p:spPr>
          <a:xfrm>
            <a:off x="3132000" y="1404000"/>
            <a:ext cx="64800" cy="1008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540" name=""/>
          <p:cNvSpPr txBox="1"/>
          <p:nvPr/>
        </p:nvSpPr>
        <p:spPr>
          <a:xfrm>
            <a:off x="3312000" y="1548000"/>
            <a:ext cx="2268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" spc="-1" strike="noStrike">
                <a:solidFill>
                  <a:srgbClr val="718592"/>
                </a:solidFill>
                <a:latin typeface="Courier New"/>
              </a:rPr>
              <a:t>WEIGHTED UL</a:t>
            </a:r>
            <a:endParaRPr b="0" lang="en-US" sz="720" spc="-1" strike="noStrike">
              <a:latin typeface="Arial"/>
            </a:endParaRPr>
          </a:p>
        </p:txBody>
      </p:sp>
      <p:sp>
        <p:nvSpPr>
          <p:cNvPr id="541" name=""/>
          <p:cNvSpPr txBox="1"/>
          <p:nvPr/>
        </p:nvSpPr>
        <p:spPr>
          <a:xfrm>
            <a:off x="3312000" y="1728000"/>
            <a:ext cx="2268000" cy="34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400" spc="-1" strike="noStrike">
                <a:solidFill>
                  <a:srgbClr val="c77b0b"/>
                </a:solidFill>
                <a:latin typeface="Arial"/>
              </a:rPr>
              <a:t>+2.84%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42" name=""/>
          <p:cNvSpPr txBox="1"/>
          <p:nvPr/>
        </p:nvSpPr>
        <p:spPr>
          <a:xfrm>
            <a:off x="3312000" y="2124000"/>
            <a:ext cx="2268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526875"/>
                </a:solidFill>
                <a:latin typeface="Arial"/>
              </a:rPr>
              <a:t>total overload area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543" name=""/>
          <p:cNvSpPr/>
          <p:nvPr/>
        </p:nvSpPr>
        <p:spPr>
          <a:xfrm>
            <a:off x="5940000" y="1404000"/>
            <a:ext cx="2736000" cy="100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544" name=""/>
          <p:cNvSpPr/>
          <p:nvPr/>
        </p:nvSpPr>
        <p:spPr>
          <a:xfrm>
            <a:off x="5940000" y="1404000"/>
            <a:ext cx="64800" cy="1008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545" name=""/>
          <p:cNvSpPr txBox="1"/>
          <p:nvPr/>
        </p:nvSpPr>
        <p:spPr>
          <a:xfrm>
            <a:off x="6120000" y="1548000"/>
            <a:ext cx="2412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" spc="-1" strike="noStrike">
                <a:solidFill>
                  <a:srgbClr val="718592"/>
                </a:solidFill>
                <a:latin typeface="Courier New"/>
              </a:rPr>
              <a:t>UL DROPPED</a:t>
            </a:r>
            <a:endParaRPr b="0" lang="en-US" sz="720" spc="-1" strike="noStrike">
              <a:latin typeface="Arial"/>
            </a:endParaRPr>
          </a:p>
        </p:txBody>
      </p:sp>
      <p:sp>
        <p:nvSpPr>
          <p:cNvPr id="546" name=""/>
          <p:cNvSpPr txBox="1"/>
          <p:nvPr/>
        </p:nvSpPr>
        <p:spPr>
          <a:xfrm>
            <a:off x="6120000" y="1728000"/>
            <a:ext cx="2412000" cy="34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400" spc="-1" strike="noStrike">
                <a:solidFill>
                  <a:srgbClr val="007c99"/>
                </a:solidFill>
                <a:latin typeface="Arial"/>
              </a:rPr>
              <a:t>+12.42%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47" name=""/>
          <p:cNvSpPr txBox="1"/>
          <p:nvPr/>
        </p:nvSpPr>
        <p:spPr>
          <a:xfrm>
            <a:off x="6120000" y="2124000"/>
            <a:ext cx="241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526875"/>
                </a:solidFill>
                <a:latin typeface="Arial"/>
              </a:rPr>
              <a:t>aggregate reduction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548" name=""/>
          <p:cNvSpPr/>
          <p:nvPr/>
        </p:nvSpPr>
        <p:spPr>
          <a:xfrm>
            <a:off x="8892000" y="1404000"/>
            <a:ext cx="2844000" cy="100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549" name=""/>
          <p:cNvSpPr/>
          <p:nvPr/>
        </p:nvSpPr>
        <p:spPr>
          <a:xfrm>
            <a:off x="8892000" y="1404000"/>
            <a:ext cx="64800" cy="1008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550" name=""/>
          <p:cNvSpPr txBox="1"/>
          <p:nvPr/>
        </p:nvSpPr>
        <p:spPr>
          <a:xfrm>
            <a:off x="9072000" y="1548000"/>
            <a:ext cx="252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" spc="-1" strike="noStrike">
                <a:solidFill>
                  <a:srgbClr val="718592"/>
                </a:solidFill>
                <a:latin typeface="Courier New"/>
              </a:rPr>
              <a:t>DL DROPPED</a:t>
            </a:r>
            <a:endParaRPr b="0" lang="en-US" sz="720" spc="-1" strike="noStrike">
              <a:latin typeface="Arial"/>
            </a:endParaRPr>
          </a:p>
        </p:txBody>
      </p:sp>
      <p:sp>
        <p:nvSpPr>
          <p:cNvPr id="551" name=""/>
          <p:cNvSpPr txBox="1"/>
          <p:nvPr/>
        </p:nvSpPr>
        <p:spPr>
          <a:xfrm>
            <a:off x="9072000" y="1728000"/>
            <a:ext cx="2520000" cy="34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400" spc="-1" strike="noStrike">
                <a:solidFill>
                  <a:srgbClr val="6750a4"/>
                </a:solidFill>
                <a:latin typeface="Arial"/>
              </a:rPr>
              <a:t>+9.34%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52" name=""/>
          <p:cNvSpPr txBox="1"/>
          <p:nvPr/>
        </p:nvSpPr>
        <p:spPr>
          <a:xfrm>
            <a:off x="9072000" y="2124000"/>
            <a:ext cx="252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526875"/>
                </a:solidFill>
                <a:latin typeface="Arial"/>
              </a:rPr>
              <a:t>aggregate reduction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553" name=""/>
          <p:cNvSpPr/>
          <p:nvPr/>
        </p:nvSpPr>
        <p:spPr>
          <a:xfrm>
            <a:off x="324000" y="2916000"/>
            <a:ext cx="7344000" cy="291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554" name=""/>
          <p:cNvSpPr/>
          <p:nvPr/>
        </p:nvSpPr>
        <p:spPr>
          <a:xfrm>
            <a:off x="324000" y="2916000"/>
            <a:ext cx="64800" cy="2916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555" name=""/>
          <p:cNvSpPr txBox="1"/>
          <p:nvPr/>
        </p:nvSpPr>
        <p:spPr>
          <a:xfrm>
            <a:off x="576000" y="3168000"/>
            <a:ext cx="684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80" spc="-1" strike="noStrike">
                <a:solidFill>
                  <a:srgbClr val="718592"/>
                </a:solidFill>
                <a:latin typeface="Courier New"/>
              </a:rPr>
              <a:t>AGGREGATE UL OVERLOAD-AREA REDUCTION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556" name=""/>
          <p:cNvSpPr txBox="1"/>
          <p:nvPr/>
        </p:nvSpPr>
        <p:spPr>
          <a:xfrm>
            <a:off x="576000" y="3708000"/>
            <a:ext cx="2124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70" spc="-1" strike="noStrike">
                <a:solidFill>
                  <a:srgbClr val="172731"/>
                </a:solidFill>
                <a:latin typeface="Arial"/>
              </a:rPr>
              <a:t>Demand surge</a:t>
            </a:r>
            <a:endParaRPr b="0" lang="en-US" sz="870" spc="-1" strike="noStrike">
              <a:latin typeface="Arial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2736000" y="3708000"/>
            <a:ext cx="72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00" spc="-1" strike="noStrike">
                <a:solidFill>
                  <a:srgbClr val="718592"/>
                </a:solidFill>
                <a:latin typeface="Courier New"/>
              </a:rPr>
              <a:t>8 pairs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558" name=""/>
          <p:cNvSpPr/>
          <p:nvPr/>
        </p:nvSpPr>
        <p:spPr>
          <a:xfrm>
            <a:off x="3636000" y="3744000"/>
            <a:ext cx="2268000" cy="180000"/>
          </a:xfrm>
          <a:prstGeom prst="roundRect">
            <a:avLst/>
          </a:prstGeom>
          <a:solidFill>
            <a:srgbClr val="eaf1f3"/>
          </a:solidFill>
          <a:ln w="0">
            <a:noFill/>
          </a:ln>
        </p:spPr>
      </p:sp>
      <p:sp>
        <p:nvSpPr>
          <p:cNvPr id="559" name=""/>
          <p:cNvSpPr/>
          <p:nvPr/>
        </p:nvSpPr>
        <p:spPr>
          <a:xfrm>
            <a:off x="3636000" y="3744000"/>
            <a:ext cx="1181520" cy="180000"/>
          </a:xfrm>
          <a:prstGeom prst="roundRect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560" name=""/>
          <p:cNvSpPr txBox="1"/>
          <p:nvPr/>
        </p:nvSpPr>
        <p:spPr>
          <a:xfrm>
            <a:off x="5976000" y="3715200"/>
            <a:ext cx="900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850" spc="-1" strike="noStrike">
                <a:solidFill>
                  <a:srgbClr val="172731"/>
                </a:solidFill>
                <a:latin typeface="Arial"/>
              </a:rPr>
              <a:t>+10.42%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561" name=""/>
          <p:cNvSpPr txBox="1"/>
          <p:nvPr/>
        </p:nvSpPr>
        <p:spPr>
          <a:xfrm>
            <a:off x="576000" y="4176000"/>
            <a:ext cx="2124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70" spc="-1" strike="noStrike">
                <a:solidFill>
                  <a:srgbClr val="172731"/>
                </a:solidFill>
                <a:latin typeface="Arial"/>
              </a:rPr>
              <a:t>Scheduled fault</a:t>
            </a:r>
            <a:endParaRPr b="0" lang="en-US" sz="870" spc="-1" strike="noStrike">
              <a:latin typeface="Arial"/>
            </a:endParaRPr>
          </a:p>
        </p:txBody>
      </p:sp>
      <p:sp>
        <p:nvSpPr>
          <p:cNvPr id="562" name=""/>
          <p:cNvSpPr txBox="1"/>
          <p:nvPr/>
        </p:nvSpPr>
        <p:spPr>
          <a:xfrm>
            <a:off x="2736000" y="4176000"/>
            <a:ext cx="72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00" spc="-1" strike="noStrike">
                <a:solidFill>
                  <a:srgbClr val="718592"/>
                </a:solidFill>
                <a:latin typeface="Courier New"/>
              </a:rPr>
              <a:t>8 pairs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563" name=""/>
          <p:cNvSpPr/>
          <p:nvPr/>
        </p:nvSpPr>
        <p:spPr>
          <a:xfrm>
            <a:off x="3636000" y="4212000"/>
            <a:ext cx="2268000" cy="180000"/>
          </a:xfrm>
          <a:prstGeom prst="roundRect">
            <a:avLst/>
          </a:prstGeom>
          <a:solidFill>
            <a:srgbClr val="eaf1f3"/>
          </a:solidFill>
          <a:ln w="0">
            <a:noFill/>
          </a:ln>
        </p:spPr>
      </p:sp>
      <p:sp>
        <p:nvSpPr>
          <p:cNvPr id="564" name=""/>
          <p:cNvSpPr/>
          <p:nvPr/>
        </p:nvSpPr>
        <p:spPr>
          <a:xfrm>
            <a:off x="3636000" y="4212000"/>
            <a:ext cx="2155680" cy="180000"/>
          </a:xfrm>
          <a:prstGeom prst="round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565" name=""/>
          <p:cNvSpPr txBox="1"/>
          <p:nvPr/>
        </p:nvSpPr>
        <p:spPr>
          <a:xfrm>
            <a:off x="5976000" y="4183200"/>
            <a:ext cx="900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850" spc="-1" strike="noStrike">
                <a:solidFill>
                  <a:srgbClr val="172731"/>
                </a:solidFill>
                <a:latin typeface="Arial"/>
              </a:rPr>
              <a:t>+19.01%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566" name=""/>
          <p:cNvSpPr txBox="1"/>
          <p:nvPr/>
        </p:nvSpPr>
        <p:spPr>
          <a:xfrm>
            <a:off x="576000" y="4644000"/>
            <a:ext cx="2124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70" spc="-1" strike="noStrike">
                <a:solidFill>
                  <a:srgbClr val="172731"/>
                </a:solidFill>
                <a:latin typeface="Arial"/>
              </a:rPr>
              <a:t>Unannounced outage</a:t>
            </a:r>
            <a:endParaRPr b="0" lang="en-US" sz="870" spc="-1" strike="noStrike">
              <a:latin typeface="Arial"/>
            </a:endParaRPr>
          </a:p>
        </p:txBody>
      </p:sp>
      <p:sp>
        <p:nvSpPr>
          <p:cNvPr id="567" name=""/>
          <p:cNvSpPr txBox="1"/>
          <p:nvPr/>
        </p:nvSpPr>
        <p:spPr>
          <a:xfrm>
            <a:off x="2736000" y="4644000"/>
            <a:ext cx="72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00" spc="-1" strike="noStrike">
                <a:solidFill>
                  <a:srgbClr val="718592"/>
                </a:solidFill>
                <a:latin typeface="Courier New"/>
              </a:rPr>
              <a:t>7 pairs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568" name=""/>
          <p:cNvSpPr/>
          <p:nvPr/>
        </p:nvSpPr>
        <p:spPr>
          <a:xfrm>
            <a:off x="3636000" y="4680000"/>
            <a:ext cx="2268000" cy="180000"/>
          </a:xfrm>
          <a:prstGeom prst="roundRect">
            <a:avLst/>
          </a:prstGeom>
          <a:solidFill>
            <a:srgbClr val="eaf1f3"/>
          </a:solidFill>
          <a:ln w="0">
            <a:noFill/>
          </a:ln>
        </p:spPr>
      </p:sp>
      <p:sp>
        <p:nvSpPr>
          <p:cNvPr id="569" name=""/>
          <p:cNvSpPr/>
          <p:nvPr/>
        </p:nvSpPr>
        <p:spPr>
          <a:xfrm>
            <a:off x="3636000" y="4680000"/>
            <a:ext cx="80280" cy="180000"/>
          </a:xfrm>
          <a:prstGeom prst="roundRect">
            <a:avLst/>
          </a:prstGeom>
          <a:solidFill>
            <a:srgbClr val="cd443b"/>
          </a:solidFill>
          <a:ln w="0">
            <a:noFill/>
          </a:ln>
        </p:spPr>
      </p:sp>
      <p:sp>
        <p:nvSpPr>
          <p:cNvPr id="570" name=""/>
          <p:cNvSpPr txBox="1"/>
          <p:nvPr/>
        </p:nvSpPr>
        <p:spPr>
          <a:xfrm>
            <a:off x="5976000" y="4651200"/>
            <a:ext cx="900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850" spc="-1" strike="noStrike">
                <a:solidFill>
                  <a:srgbClr val="172731"/>
                </a:solidFill>
                <a:latin typeface="Arial"/>
              </a:rPr>
              <a:t>+0.71%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571" name=""/>
          <p:cNvSpPr txBox="1"/>
          <p:nvPr/>
        </p:nvSpPr>
        <p:spPr>
          <a:xfrm>
            <a:off x="576000" y="5112000"/>
            <a:ext cx="2124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70" spc="-1" strike="noStrike">
                <a:solidFill>
                  <a:srgbClr val="172731"/>
                </a:solidFill>
                <a:latin typeface="Arial"/>
              </a:rPr>
              <a:t>Mixed stress</a:t>
            </a:r>
            <a:endParaRPr b="0" lang="en-US" sz="870" spc="-1" strike="noStrike">
              <a:latin typeface="Arial"/>
            </a:endParaRPr>
          </a:p>
        </p:txBody>
      </p:sp>
      <p:sp>
        <p:nvSpPr>
          <p:cNvPr id="572" name=""/>
          <p:cNvSpPr txBox="1"/>
          <p:nvPr/>
        </p:nvSpPr>
        <p:spPr>
          <a:xfrm>
            <a:off x="2736000" y="5112000"/>
            <a:ext cx="72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00" spc="-1" strike="noStrike">
                <a:solidFill>
                  <a:srgbClr val="718592"/>
                </a:solidFill>
                <a:latin typeface="Courier New"/>
              </a:rPr>
              <a:t>7 pairs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573" name=""/>
          <p:cNvSpPr/>
          <p:nvPr/>
        </p:nvSpPr>
        <p:spPr>
          <a:xfrm>
            <a:off x="3636000" y="5148000"/>
            <a:ext cx="2268000" cy="180000"/>
          </a:xfrm>
          <a:prstGeom prst="roundRect">
            <a:avLst/>
          </a:prstGeom>
          <a:solidFill>
            <a:srgbClr val="eaf1f3"/>
          </a:solidFill>
          <a:ln w="0">
            <a:noFill/>
          </a:ln>
        </p:spPr>
      </p:sp>
      <p:sp>
        <p:nvSpPr>
          <p:cNvPr id="574" name=""/>
          <p:cNvSpPr/>
          <p:nvPr/>
        </p:nvSpPr>
        <p:spPr>
          <a:xfrm>
            <a:off x="3636000" y="5148000"/>
            <a:ext cx="217440" cy="180000"/>
          </a:xfrm>
          <a:prstGeom prst="round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575" name=""/>
          <p:cNvSpPr txBox="1"/>
          <p:nvPr/>
        </p:nvSpPr>
        <p:spPr>
          <a:xfrm>
            <a:off x="5976000" y="5119200"/>
            <a:ext cx="900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850" spc="-1" strike="noStrike">
                <a:solidFill>
                  <a:srgbClr val="172731"/>
                </a:solidFill>
                <a:latin typeface="Arial"/>
              </a:rPr>
              <a:t>+1.92%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576" name=""/>
          <p:cNvSpPr/>
          <p:nvPr/>
        </p:nvSpPr>
        <p:spPr>
          <a:xfrm>
            <a:off x="7992000" y="2916000"/>
            <a:ext cx="3744000" cy="2916000"/>
          </a:xfrm>
          <a:prstGeom prst="roundRect">
            <a:avLst/>
          </a:prstGeom>
          <a:solidFill>
            <a:srgbClr val="fae8e6"/>
          </a:solidFill>
          <a:ln w="6480">
            <a:solidFill>
              <a:srgbClr val="ecc3bf"/>
            </a:solidFill>
            <a:round/>
          </a:ln>
        </p:spPr>
      </p:sp>
      <p:sp>
        <p:nvSpPr>
          <p:cNvPr id="577" name=""/>
          <p:cNvSpPr/>
          <p:nvPr/>
        </p:nvSpPr>
        <p:spPr>
          <a:xfrm>
            <a:off x="7992000" y="2916000"/>
            <a:ext cx="64800" cy="2916000"/>
          </a:xfrm>
          <a:prstGeom prst="rect">
            <a:avLst/>
          </a:prstGeom>
          <a:solidFill>
            <a:srgbClr val="cd443b"/>
          </a:solidFill>
          <a:ln w="0">
            <a:noFill/>
          </a:ln>
        </p:spPr>
      </p:sp>
      <p:sp>
        <p:nvSpPr>
          <p:cNvPr id="578" name=""/>
          <p:cNvSpPr txBox="1"/>
          <p:nvPr/>
        </p:nvSpPr>
        <p:spPr>
          <a:xfrm>
            <a:off x="8244000" y="3168000"/>
            <a:ext cx="3240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00" spc="-1" strike="noStrike">
                <a:solidFill>
                  <a:srgbClr val="cd443b"/>
                </a:solidFill>
                <a:latin typeface="Arial"/>
              </a:rPr>
              <a:t>Tail and release boundary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79" name=""/>
          <p:cNvSpPr txBox="1"/>
          <p:nvPr/>
        </p:nvSpPr>
        <p:spPr>
          <a:xfrm>
            <a:off x="8244000" y="3708000"/>
            <a:ext cx="3240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600" spc="-1" strike="noStrike">
                <a:solidFill>
                  <a:srgbClr val="cd443b"/>
                </a:solidFill>
                <a:latin typeface="Arial"/>
              </a:rPr>
              <a:t>Worst pair: −23.50%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80" name=""/>
          <p:cNvSpPr/>
          <p:nvPr/>
        </p:nvSpPr>
        <p:spPr>
          <a:xfrm>
            <a:off x="8244000" y="4384800"/>
            <a:ext cx="79200" cy="79200"/>
          </a:xfrm>
          <a:prstGeom prst="ellipse">
            <a:avLst/>
          </a:prstGeom>
          <a:solidFill>
            <a:srgbClr val="cd443b"/>
          </a:solidFill>
          <a:ln w="0">
            <a:noFill/>
          </a:ln>
        </p:spPr>
      </p:sp>
      <p:sp>
        <p:nvSpPr>
          <p:cNvPr id="581" name=""/>
          <p:cNvSpPr txBox="1"/>
          <p:nvPr/>
        </p:nvSpPr>
        <p:spPr>
          <a:xfrm>
            <a:off x="8424000" y="4302000"/>
            <a:ext cx="3060000" cy="33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all aggregate directional guardrails pass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582" name=""/>
          <p:cNvSpPr/>
          <p:nvPr/>
        </p:nvSpPr>
        <p:spPr>
          <a:xfrm>
            <a:off x="8244000" y="4719600"/>
            <a:ext cx="79200" cy="79200"/>
          </a:xfrm>
          <a:prstGeom prst="ellipse">
            <a:avLst/>
          </a:prstGeom>
          <a:solidFill>
            <a:srgbClr val="cd443b"/>
          </a:solidFill>
          <a:ln w="0">
            <a:noFill/>
          </a:ln>
        </p:spPr>
      </p:sp>
      <p:sp>
        <p:nvSpPr>
          <p:cNvPr id="583" name=""/>
          <p:cNvSpPr txBox="1"/>
          <p:nvPr/>
        </p:nvSpPr>
        <p:spPr>
          <a:xfrm>
            <a:off x="8424000" y="4636800"/>
            <a:ext cx="3060000" cy="33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fault-heavy individual regressions remain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584" name=""/>
          <p:cNvSpPr/>
          <p:nvPr/>
        </p:nvSpPr>
        <p:spPr>
          <a:xfrm>
            <a:off x="8244000" y="5054400"/>
            <a:ext cx="79200" cy="79200"/>
          </a:xfrm>
          <a:prstGeom prst="ellipse">
            <a:avLst/>
          </a:prstGeom>
          <a:solidFill>
            <a:srgbClr val="cd443b"/>
          </a:solidFill>
          <a:ln w="0">
            <a:noFill/>
          </a:ln>
        </p:spPr>
      </p:sp>
      <p:sp>
        <p:nvSpPr>
          <p:cNvPr id="585" name=""/>
          <p:cNvSpPr txBox="1"/>
          <p:nvPr/>
        </p:nvSpPr>
        <p:spPr>
          <a:xfrm>
            <a:off x="8424000" y="4971600"/>
            <a:ext cx="3060000" cy="33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50" spc="-1" strike="noStrike">
                <a:solidFill>
                  <a:srgbClr val="172731"/>
                </a:solidFill>
                <a:latin typeface="Arial"/>
              </a:rPr>
              <a:t>working demo candidate—not production-ready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586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7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docs/cohort-mpc-full-campaign-results.md · demo_api/data/cohort_mpc_full_campaign_evidence_v1.json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588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09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</p:sp>
      <p:sp>
        <p:nvSpPr>
          <p:cNvPr id="590" name=""/>
          <p:cNvSpPr txBox="1"/>
          <p:nvPr/>
        </p:nvSpPr>
        <p:spPr>
          <a:xfrm>
            <a:off x="324000" y="158400"/>
            <a:ext cx="309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END-TO-END LOOP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591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From incoming data to a steering decision: one causal 10-minute iteration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592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593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594" name=""/>
          <p:cNvSpPr/>
          <p:nvPr/>
        </p:nvSpPr>
        <p:spPr>
          <a:xfrm>
            <a:off x="324000" y="1476000"/>
            <a:ext cx="5436000" cy="118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595" name=""/>
          <p:cNvSpPr/>
          <p:nvPr/>
        </p:nvSpPr>
        <p:spPr>
          <a:xfrm>
            <a:off x="324000" y="1476000"/>
            <a:ext cx="64800" cy="1188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596" name=""/>
          <p:cNvSpPr/>
          <p:nvPr/>
        </p:nvSpPr>
        <p:spPr>
          <a:xfrm>
            <a:off x="576000" y="1764000"/>
            <a:ext cx="540000" cy="540000"/>
          </a:xfrm>
          <a:prstGeom prst="ellipse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597" name=""/>
          <p:cNvSpPr txBox="1"/>
          <p:nvPr/>
        </p:nvSpPr>
        <p:spPr>
          <a:xfrm>
            <a:off x="576000" y="1908000"/>
            <a:ext cx="54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850" spc="-1" strike="noStrike">
                <a:solidFill>
                  <a:srgbClr val="ffffff"/>
                </a:solidFill>
                <a:latin typeface="Courier New"/>
              </a:rPr>
              <a:t>01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598" name=""/>
          <p:cNvSpPr txBox="1"/>
          <p:nvPr/>
        </p:nvSpPr>
        <p:spPr>
          <a:xfrm>
            <a:off x="1332000" y="1692000"/>
            <a:ext cx="151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007c99"/>
                </a:solidFill>
                <a:latin typeface="Arial"/>
              </a:rPr>
              <a:t>Collect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99" name=""/>
          <p:cNvSpPr txBox="1"/>
          <p:nvPr/>
        </p:nvSpPr>
        <p:spPr>
          <a:xfrm>
            <a:off x="2952000" y="1656000"/>
            <a:ext cx="252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9" spc="-1" strike="noStrike">
                <a:solidFill>
                  <a:srgbClr val="172731"/>
                </a:solidFill>
                <a:latin typeface="Arial"/>
              </a:rPr>
              <a:t>30-second class arrivals and per-UPF sessions, UL/DL, capacity, health and quality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600" name=""/>
          <p:cNvSpPr/>
          <p:nvPr/>
        </p:nvSpPr>
        <p:spPr>
          <a:xfrm>
            <a:off x="6102000" y="1476000"/>
            <a:ext cx="5436000" cy="118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601" name=""/>
          <p:cNvSpPr/>
          <p:nvPr/>
        </p:nvSpPr>
        <p:spPr>
          <a:xfrm>
            <a:off x="6102000" y="1476000"/>
            <a:ext cx="64800" cy="1188000"/>
          </a:xfrm>
          <a:prstGeom prst="rect">
            <a:avLst/>
          </a:prstGeom>
          <a:solidFill>
            <a:srgbClr val="2f91a6"/>
          </a:solidFill>
          <a:ln w="0">
            <a:noFill/>
          </a:ln>
        </p:spPr>
      </p:sp>
      <p:sp>
        <p:nvSpPr>
          <p:cNvPr id="602" name=""/>
          <p:cNvSpPr/>
          <p:nvPr/>
        </p:nvSpPr>
        <p:spPr>
          <a:xfrm>
            <a:off x="6354000" y="1764000"/>
            <a:ext cx="540000" cy="540000"/>
          </a:xfrm>
          <a:prstGeom prst="ellipse">
            <a:avLst/>
          </a:prstGeom>
          <a:solidFill>
            <a:srgbClr val="2f91a6"/>
          </a:solidFill>
          <a:ln w="0">
            <a:noFill/>
          </a:ln>
        </p:spPr>
      </p:sp>
      <p:sp>
        <p:nvSpPr>
          <p:cNvPr id="603" name=""/>
          <p:cNvSpPr txBox="1"/>
          <p:nvPr/>
        </p:nvSpPr>
        <p:spPr>
          <a:xfrm>
            <a:off x="6354000" y="1908000"/>
            <a:ext cx="54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850" spc="-1" strike="noStrike">
                <a:solidFill>
                  <a:srgbClr val="ffffff"/>
                </a:solidFill>
                <a:latin typeface="Courier New"/>
              </a:rPr>
              <a:t>02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604" name=""/>
          <p:cNvSpPr txBox="1"/>
          <p:nvPr/>
        </p:nvSpPr>
        <p:spPr>
          <a:xfrm>
            <a:off x="7110000" y="1692000"/>
            <a:ext cx="151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2f91a6"/>
                </a:solidFill>
                <a:latin typeface="Arial"/>
              </a:rPr>
              <a:t>Close bucket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05" name=""/>
          <p:cNvSpPr txBox="1"/>
          <p:nvPr/>
        </p:nvSpPr>
        <p:spPr>
          <a:xfrm>
            <a:off x="8730000" y="1656000"/>
            <a:ext cx="252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9" spc="-1" strike="noStrike">
                <a:solidFill>
                  <a:srgbClr val="172731"/>
                </a:solidFill>
                <a:latin typeface="Arial"/>
              </a:rPr>
              <a:t>aggregate 20 ticks; history becomes available only after the window closes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606" name=""/>
          <p:cNvSpPr/>
          <p:nvPr/>
        </p:nvSpPr>
        <p:spPr>
          <a:xfrm>
            <a:off x="324000" y="2916000"/>
            <a:ext cx="5436000" cy="118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607" name=""/>
          <p:cNvSpPr/>
          <p:nvPr/>
        </p:nvSpPr>
        <p:spPr>
          <a:xfrm>
            <a:off x="324000" y="2916000"/>
            <a:ext cx="64800" cy="1188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608" name=""/>
          <p:cNvSpPr/>
          <p:nvPr/>
        </p:nvSpPr>
        <p:spPr>
          <a:xfrm>
            <a:off x="576000" y="3204000"/>
            <a:ext cx="540000" cy="540000"/>
          </a:xfrm>
          <a:prstGeom prst="ellipse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609" name=""/>
          <p:cNvSpPr txBox="1"/>
          <p:nvPr/>
        </p:nvSpPr>
        <p:spPr>
          <a:xfrm>
            <a:off x="576000" y="3348000"/>
            <a:ext cx="54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850" spc="-1" strike="noStrike">
                <a:solidFill>
                  <a:srgbClr val="ffffff"/>
                </a:solidFill>
                <a:latin typeface="Courier New"/>
              </a:rPr>
              <a:t>03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610" name=""/>
          <p:cNvSpPr txBox="1"/>
          <p:nvPr/>
        </p:nvSpPr>
        <p:spPr>
          <a:xfrm>
            <a:off x="1332000" y="3132000"/>
            <a:ext cx="151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6750a4"/>
                </a:solidFill>
                <a:latin typeface="Arial"/>
              </a:rPr>
              <a:t>Forecast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11" name=""/>
          <p:cNvSpPr txBox="1"/>
          <p:nvPr/>
        </p:nvSpPr>
        <p:spPr>
          <a:xfrm>
            <a:off x="2952000" y="3096000"/>
            <a:ext cx="252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9" spc="-1" strike="noStrike">
                <a:solidFill>
                  <a:srgbClr val="172731"/>
                </a:solidFill>
                <a:latin typeface="Arial"/>
              </a:rPr>
              <a:t>estimate future new-session demand and upper uncertainty by controllable group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612" name=""/>
          <p:cNvSpPr/>
          <p:nvPr/>
        </p:nvSpPr>
        <p:spPr>
          <a:xfrm>
            <a:off x="6102000" y="2916000"/>
            <a:ext cx="5436000" cy="118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613" name=""/>
          <p:cNvSpPr/>
          <p:nvPr/>
        </p:nvSpPr>
        <p:spPr>
          <a:xfrm>
            <a:off x="6102000" y="2916000"/>
            <a:ext cx="64800" cy="1188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614" name=""/>
          <p:cNvSpPr/>
          <p:nvPr/>
        </p:nvSpPr>
        <p:spPr>
          <a:xfrm>
            <a:off x="6354000" y="3204000"/>
            <a:ext cx="540000" cy="5400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615" name=""/>
          <p:cNvSpPr txBox="1"/>
          <p:nvPr/>
        </p:nvSpPr>
        <p:spPr>
          <a:xfrm>
            <a:off x="6354000" y="3348000"/>
            <a:ext cx="54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850" spc="-1" strike="noStrike">
                <a:solidFill>
                  <a:srgbClr val="ffffff"/>
                </a:solidFill>
                <a:latin typeface="Courier New"/>
              </a:rPr>
              <a:t>04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616" name=""/>
          <p:cNvSpPr txBox="1"/>
          <p:nvPr/>
        </p:nvSpPr>
        <p:spPr>
          <a:xfrm>
            <a:off x="7110000" y="3132000"/>
            <a:ext cx="151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16805f"/>
                </a:solidFill>
                <a:latin typeface="Arial"/>
              </a:rPr>
              <a:t>Optimize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17" name=""/>
          <p:cNvSpPr txBox="1"/>
          <p:nvPr/>
        </p:nvSpPr>
        <p:spPr>
          <a:xfrm>
            <a:off x="8730000" y="3096000"/>
            <a:ext cx="252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9" spc="-1" strike="noStrike">
                <a:solidFill>
                  <a:srgbClr val="172731"/>
                </a:solidFill>
                <a:latin typeface="Arial"/>
              </a:rPr>
              <a:t>project anchored cohorts and future arrivals across the 12-window capacity path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618" name=""/>
          <p:cNvSpPr/>
          <p:nvPr/>
        </p:nvSpPr>
        <p:spPr>
          <a:xfrm>
            <a:off x="324000" y="4356000"/>
            <a:ext cx="5436000" cy="118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619" name=""/>
          <p:cNvSpPr/>
          <p:nvPr/>
        </p:nvSpPr>
        <p:spPr>
          <a:xfrm>
            <a:off x="324000" y="4356000"/>
            <a:ext cx="64800" cy="1188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620" name=""/>
          <p:cNvSpPr/>
          <p:nvPr/>
        </p:nvSpPr>
        <p:spPr>
          <a:xfrm>
            <a:off x="576000" y="4644000"/>
            <a:ext cx="540000" cy="540000"/>
          </a:xfrm>
          <a:prstGeom prst="ellipse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621" name=""/>
          <p:cNvSpPr txBox="1"/>
          <p:nvPr/>
        </p:nvSpPr>
        <p:spPr>
          <a:xfrm>
            <a:off x="576000" y="4788000"/>
            <a:ext cx="54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850" spc="-1" strike="noStrike">
                <a:solidFill>
                  <a:srgbClr val="ffffff"/>
                </a:solidFill>
                <a:latin typeface="Courier New"/>
              </a:rPr>
              <a:t>05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622" name=""/>
          <p:cNvSpPr txBox="1"/>
          <p:nvPr/>
        </p:nvSpPr>
        <p:spPr>
          <a:xfrm>
            <a:off x="1332000" y="4572000"/>
            <a:ext cx="151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c77b0b"/>
                </a:solidFill>
                <a:latin typeface="Arial"/>
              </a:rPr>
              <a:t>Certify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23" name=""/>
          <p:cNvSpPr txBox="1"/>
          <p:nvPr/>
        </p:nvSpPr>
        <p:spPr>
          <a:xfrm>
            <a:off x="2952000" y="4536000"/>
            <a:ext cx="252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9" spc="-1" strike="noStrike">
                <a:solidFill>
                  <a:srgbClr val="172731"/>
                </a:solidFill>
                <a:latin typeface="Arial"/>
              </a:rPr>
              <a:t>compare MPC with static from the identical state and retain static on any failure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624" name=""/>
          <p:cNvSpPr/>
          <p:nvPr/>
        </p:nvSpPr>
        <p:spPr>
          <a:xfrm>
            <a:off x="6102000" y="4356000"/>
            <a:ext cx="5436000" cy="118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625" name=""/>
          <p:cNvSpPr/>
          <p:nvPr/>
        </p:nvSpPr>
        <p:spPr>
          <a:xfrm>
            <a:off x="6102000" y="4356000"/>
            <a:ext cx="64800" cy="1188000"/>
          </a:xfrm>
          <a:prstGeom prst="rect">
            <a:avLst/>
          </a:prstGeom>
          <a:solidFill>
            <a:srgbClr val="cd443b"/>
          </a:solidFill>
          <a:ln w="0">
            <a:noFill/>
          </a:ln>
        </p:spPr>
      </p:sp>
      <p:sp>
        <p:nvSpPr>
          <p:cNvPr id="626" name=""/>
          <p:cNvSpPr/>
          <p:nvPr/>
        </p:nvSpPr>
        <p:spPr>
          <a:xfrm>
            <a:off x="6354000" y="4644000"/>
            <a:ext cx="540000" cy="540000"/>
          </a:xfrm>
          <a:prstGeom prst="ellipse">
            <a:avLst/>
          </a:prstGeom>
          <a:solidFill>
            <a:srgbClr val="cd443b"/>
          </a:solidFill>
          <a:ln w="0">
            <a:noFill/>
          </a:ln>
        </p:spPr>
      </p:sp>
      <p:sp>
        <p:nvSpPr>
          <p:cNvPr id="627" name=""/>
          <p:cNvSpPr txBox="1"/>
          <p:nvPr/>
        </p:nvSpPr>
        <p:spPr>
          <a:xfrm>
            <a:off x="6354000" y="4788000"/>
            <a:ext cx="54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850" spc="-1" strike="noStrike">
                <a:solidFill>
                  <a:srgbClr val="ffffff"/>
                </a:solidFill>
                <a:latin typeface="Courier New"/>
              </a:rPr>
              <a:t>06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628" name=""/>
          <p:cNvSpPr txBox="1"/>
          <p:nvPr/>
        </p:nvSpPr>
        <p:spPr>
          <a:xfrm>
            <a:off x="7110000" y="4572000"/>
            <a:ext cx="151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cd443b"/>
                </a:solidFill>
                <a:latin typeface="Arial"/>
              </a:rPr>
              <a:t>Steer + observe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29" name=""/>
          <p:cNvSpPr txBox="1"/>
          <p:nvPr/>
        </p:nvSpPr>
        <p:spPr>
          <a:xfrm>
            <a:off x="8730000" y="4536000"/>
            <a:ext cx="252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9" spc="-1" strike="noStrike">
                <a:solidFill>
                  <a:srgbClr val="172731"/>
                </a:solidFill>
                <a:latin typeface="Arial"/>
              </a:rPr>
              <a:t>new sessions use certified weights; realized placement and loss return as the next history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630" name=""/>
          <p:cNvSpPr/>
          <p:nvPr/>
        </p:nvSpPr>
        <p:spPr>
          <a:xfrm>
            <a:off x="324000" y="5976000"/>
            <a:ext cx="11412000" cy="324000"/>
          </a:xfrm>
          <a:prstGeom prst="roundRect">
            <a:avLst/>
          </a:prstGeom>
          <a:solidFill>
            <a:srgbClr val="e1f1f4"/>
          </a:solidFill>
          <a:ln w="0">
            <a:noFill/>
          </a:ln>
        </p:spPr>
      </p:sp>
      <p:sp>
        <p:nvSpPr>
          <p:cNvPr id="631" name=""/>
          <p:cNvSpPr/>
          <p:nvPr/>
        </p:nvSpPr>
        <p:spPr>
          <a:xfrm>
            <a:off x="324000" y="5976000"/>
            <a:ext cx="64800" cy="324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632" name=""/>
          <p:cNvSpPr txBox="1"/>
          <p:nvPr/>
        </p:nvSpPr>
        <p:spPr>
          <a:xfrm>
            <a:off x="576000" y="6048000"/>
            <a:ext cx="10908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839" spc="-1" strike="noStrike">
                <a:solidFill>
                  <a:srgbClr val="172731"/>
                </a:solidFill>
                <a:latin typeface="Arial"/>
              </a:rPr>
              <a:t>The dashboard displays this same loop; it does not substitute a prerecorded result for the live causal state.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633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4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simulator/macro/engine.py · experiments/train_forecaster.py · optimization/cohort_mpc.py · demo_api/runtime.py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635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10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</p:sp>
      <p:sp>
        <p:nvSpPr>
          <p:cNvPr id="637" name=""/>
          <p:cNvSpPr txBox="1"/>
          <p:nvPr/>
        </p:nvSpPr>
        <p:spPr>
          <a:xfrm>
            <a:off x="324000" y="158400"/>
            <a:ext cx="309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WORKING DASHBOARD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638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The demo focuses on traffic pressure, steering and evidence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639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640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pic>
        <p:nvPicPr>
          <p:cNvPr id="641" name="" descr=""/>
          <p:cNvPicPr/>
          <p:nvPr/>
        </p:nvPicPr>
        <p:blipFill>
          <a:blip r:embed="rId1"/>
          <a:stretch/>
        </p:blipFill>
        <p:spPr>
          <a:xfrm>
            <a:off x="324000" y="1476000"/>
            <a:ext cx="5508000" cy="3132000"/>
          </a:xfrm>
          <a:prstGeom prst="rect">
            <a:avLst/>
          </a:prstGeom>
          <a:ln w="0">
            <a:noFill/>
          </a:ln>
        </p:spPr>
      </p:pic>
      <p:sp>
        <p:nvSpPr>
          <p:cNvPr id="642" name=""/>
          <p:cNvSpPr/>
          <p:nvPr/>
        </p:nvSpPr>
        <p:spPr>
          <a:xfrm>
            <a:off x="324000" y="1476000"/>
            <a:ext cx="5508000" cy="3132000"/>
          </a:xfrm>
          <a:prstGeom prst="rect">
            <a:avLst/>
          </a:prstGeom>
          <a:noFill/>
          <a:ln w="6480">
            <a:solidFill>
              <a:srgbClr val="cfdce1"/>
            </a:solidFill>
            <a:round/>
          </a:ln>
        </p:spPr>
      </p:sp>
      <p:pic>
        <p:nvPicPr>
          <p:cNvPr id="643" name="" descr=""/>
          <p:cNvPicPr/>
          <p:nvPr/>
        </p:nvPicPr>
        <p:blipFill>
          <a:blip r:embed="rId2"/>
          <a:stretch/>
        </p:blipFill>
        <p:spPr>
          <a:xfrm>
            <a:off x="6228000" y="1476000"/>
            <a:ext cx="5508000" cy="3132000"/>
          </a:xfrm>
          <a:prstGeom prst="rect">
            <a:avLst/>
          </a:prstGeom>
          <a:ln w="0">
            <a:noFill/>
          </a:ln>
        </p:spPr>
      </p:pic>
      <p:sp>
        <p:nvSpPr>
          <p:cNvPr id="644" name=""/>
          <p:cNvSpPr/>
          <p:nvPr/>
        </p:nvSpPr>
        <p:spPr>
          <a:xfrm>
            <a:off x="6228000" y="1476000"/>
            <a:ext cx="5508000" cy="3132000"/>
          </a:xfrm>
          <a:prstGeom prst="rect">
            <a:avLst/>
          </a:prstGeom>
          <a:noFill/>
          <a:ln w="6480">
            <a:solidFill>
              <a:srgbClr val="cfdce1"/>
            </a:solidFill>
            <a:round/>
          </a:ln>
        </p:spPr>
      </p:sp>
      <p:sp>
        <p:nvSpPr>
          <p:cNvPr id="645" name=""/>
          <p:cNvSpPr/>
          <p:nvPr/>
        </p:nvSpPr>
        <p:spPr>
          <a:xfrm>
            <a:off x="324000" y="4932000"/>
            <a:ext cx="11412000" cy="1044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646" name=""/>
          <p:cNvSpPr/>
          <p:nvPr/>
        </p:nvSpPr>
        <p:spPr>
          <a:xfrm>
            <a:off x="324000" y="4932000"/>
            <a:ext cx="64800" cy="1044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647" name=""/>
          <p:cNvSpPr txBox="1"/>
          <p:nvPr/>
        </p:nvSpPr>
        <p:spPr>
          <a:xfrm>
            <a:off x="576000" y="5148000"/>
            <a:ext cx="2448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007c99"/>
                </a:solidFill>
                <a:latin typeface="Courier New"/>
              </a:rPr>
              <a:t>LIVE STATE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648" name=""/>
          <p:cNvSpPr txBox="1"/>
          <p:nvPr/>
        </p:nvSpPr>
        <p:spPr>
          <a:xfrm>
            <a:off x="576000" y="5436000"/>
            <a:ext cx="2448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10" spc="-1" strike="noStrike">
                <a:solidFill>
                  <a:srgbClr val="172731"/>
                </a:solidFill>
                <a:latin typeface="Arial"/>
              </a:rPr>
              <a:t>UPF load, capacity, health, headroom and loss</a:t>
            </a:r>
            <a:endParaRPr b="0" lang="en-US" sz="810" spc="-1" strike="noStrike">
              <a:latin typeface="Arial"/>
            </a:endParaRPr>
          </a:p>
        </p:txBody>
      </p:sp>
      <p:sp>
        <p:nvSpPr>
          <p:cNvPr id="649" name=""/>
          <p:cNvSpPr txBox="1"/>
          <p:nvPr/>
        </p:nvSpPr>
        <p:spPr>
          <a:xfrm>
            <a:off x="3312000" y="5148000"/>
            <a:ext cx="2448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16805f"/>
                </a:solidFill>
                <a:latin typeface="Courier New"/>
              </a:rPr>
              <a:t>STEERING PROOF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650" name=""/>
          <p:cNvSpPr txBox="1"/>
          <p:nvPr/>
        </p:nvSpPr>
        <p:spPr>
          <a:xfrm>
            <a:off x="3312000" y="5436000"/>
            <a:ext cx="2448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10" spc="-1" strike="noStrike">
                <a:solidFill>
                  <a:srgbClr val="172731"/>
                </a:solidFill>
                <a:latin typeface="Arial"/>
              </a:rPr>
              <a:t>previous vs candidate weights and actual new-session placement</a:t>
            </a:r>
            <a:endParaRPr b="0" lang="en-US" sz="810" spc="-1" strike="noStrike">
              <a:latin typeface="Arial"/>
            </a:endParaRPr>
          </a:p>
        </p:txBody>
      </p:sp>
      <p:sp>
        <p:nvSpPr>
          <p:cNvPr id="651" name=""/>
          <p:cNvSpPr txBox="1"/>
          <p:nvPr/>
        </p:nvSpPr>
        <p:spPr>
          <a:xfrm>
            <a:off x="6048000" y="5148000"/>
            <a:ext cx="2448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6750a4"/>
                </a:solidFill>
                <a:latin typeface="Courier New"/>
              </a:rPr>
              <a:t>FORECAST CHECK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652" name=""/>
          <p:cNvSpPr txBox="1"/>
          <p:nvPr/>
        </p:nvSpPr>
        <p:spPr>
          <a:xfrm>
            <a:off x="6048000" y="5436000"/>
            <a:ext cx="2448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10" spc="-1" strike="noStrike">
                <a:solidFill>
                  <a:srgbClr val="172731"/>
                </a:solidFill>
                <a:latin typeface="Arial"/>
              </a:rPr>
              <a:t>p50/p90 versus realized class demand</a:t>
            </a:r>
            <a:endParaRPr b="0" lang="en-US" sz="810" spc="-1" strike="noStrike">
              <a:latin typeface="Arial"/>
            </a:endParaRPr>
          </a:p>
        </p:txBody>
      </p:sp>
      <p:sp>
        <p:nvSpPr>
          <p:cNvPr id="653" name=""/>
          <p:cNvSpPr txBox="1"/>
          <p:nvPr/>
        </p:nvSpPr>
        <p:spPr>
          <a:xfrm>
            <a:off x="8784000" y="5148000"/>
            <a:ext cx="2448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c77b0b"/>
                </a:solidFill>
                <a:latin typeface="Courier New"/>
              </a:rPr>
              <a:t>EVIDENCE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654" name=""/>
          <p:cNvSpPr txBox="1"/>
          <p:nvPr/>
        </p:nvSpPr>
        <p:spPr>
          <a:xfrm>
            <a:off x="8784000" y="5436000"/>
            <a:ext cx="2448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10" spc="-1" strike="noStrike">
                <a:solidFill>
                  <a:srgbClr val="172731"/>
                </a:solidFill>
                <a:latin typeface="Arial"/>
              </a:rPr>
              <a:t>30-pair metrics, scenario tails and release boundary</a:t>
            </a:r>
            <a:endParaRPr b="0" lang="en-US" sz="810" spc="-1" strike="noStrike">
              <a:latin typeface="Arial"/>
            </a:endParaRPr>
          </a:p>
        </p:txBody>
      </p:sp>
      <p:sp>
        <p:nvSpPr>
          <p:cNvPr id="655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6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frontend/tests/demo.spec.ts-snapshots/ · docs/presenter-guide.md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657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11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</p:sp>
      <p:sp>
        <p:nvSpPr>
          <p:cNvPr id="659" name=""/>
          <p:cNvSpPr txBox="1"/>
          <p:nvPr/>
        </p:nvSpPr>
        <p:spPr>
          <a:xfrm>
            <a:off x="324000" y="158400"/>
            <a:ext cx="3096000" cy="23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WORKING DEMO · WALKTHROUGH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660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A short guided scenario explains what changes—and what does not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661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662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663" name=""/>
          <p:cNvSpPr/>
          <p:nvPr/>
        </p:nvSpPr>
        <p:spPr>
          <a:xfrm>
            <a:off x="324000" y="1512000"/>
            <a:ext cx="11412000" cy="691200"/>
          </a:xfrm>
          <a:prstGeom prst="rect">
            <a:avLst/>
          </a:prstGeom>
          <a:solidFill>
            <a:srgbClr val="193644"/>
          </a:solidFill>
          <a:ln w="6480">
            <a:solidFill>
              <a:srgbClr val="cfdce1"/>
            </a:solidFill>
            <a:round/>
          </a:ln>
        </p:spPr>
      </p:sp>
      <p:sp>
        <p:nvSpPr>
          <p:cNvPr id="664" name=""/>
          <p:cNvSpPr txBox="1"/>
          <p:nvPr/>
        </p:nvSpPr>
        <p:spPr>
          <a:xfrm>
            <a:off x="385200" y="1558800"/>
            <a:ext cx="1749600" cy="61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860" spc="-1" strike="noStrike">
                <a:solidFill>
                  <a:srgbClr val="ffffff"/>
                </a:solidFill>
                <a:latin typeface="Arial"/>
              </a:rPr>
              <a:t>STEP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665" name=""/>
          <p:cNvSpPr txBox="1"/>
          <p:nvPr/>
        </p:nvSpPr>
        <p:spPr>
          <a:xfrm>
            <a:off x="2257200" y="1558800"/>
            <a:ext cx="4737600" cy="61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860" spc="-1" strike="noStrike">
                <a:solidFill>
                  <a:srgbClr val="ffffff"/>
                </a:solidFill>
                <a:latin typeface="Arial"/>
              </a:rPr>
              <a:t>AUDIENCE SEES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666" name=""/>
          <p:cNvSpPr txBox="1"/>
          <p:nvPr/>
        </p:nvSpPr>
        <p:spPr>
          <a:xfrm>
            <a:off x="7117200" y="1558800"/>
            <a:ext cx="4557600" cy="61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860" spc="-1" strike="noStrike">
                <a:solidFill>
                  <a:srgbClr val="ffffff"/>
                </a:solidFill>
                <a:latin typeface="Arial"/>
              </a:rPr>
              <a:t>INTERPRETATION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667" name=""/>
          <p:cNvSpPr/>
          <p:nvPr/>
        </p:nvSpPr>
        <p:spPr>
          <a:xfrm>
            <a:off x="324000" y="2203200"/>
            <a:ext cx="11412000" cy="691200"/>
          </a:xfrm>
          <a:prstGeom prst="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668" name=""/>
          <p:cNvSpPr txBox="1"/>
          <p:nvPr/>
        </p:nvSpPr>
        <p:spPr>
          <a:xfrm>
            <a:off x="385200" y="2250000"/>
            <a:ext cx="1749600" cy="61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80" spc="-1" strike="noStrike">
                <a:solidFill>
                  <a:srgbClr val="172731"/>
                </a:solidFill>
                <a:latin typeface="Arial"/>
              </a:rPr>
              <a:t>1 · Normal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669" name=""/>
          <p:cNvSpPr txBox="1"/>
          <p:nvPr/>
        </p:nvSpPr>
        <p:spPr>
          <a:xfrm>
            <a:off x="2257200" y="2250000"/>
            <a:ext cx="4737600" cy="61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80" spc="-1" strike="noStrike">
                <a:solidFill>
                  <a:srgbClr val="172731"/>
                </a:solidFill>
                <a:latin typeface="Arial"/>
              </a:rPr>
              <a:t>all UPFs inside safe envelopes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670" name=""/>
          <p:cNvSpPr txBox="1"/>
          <p:nvPr/>
        </p:nvSpPr>
        <p:spPr>
          <a:xfrm>
            <a:off x="7117200" y="2250000"/>
            <a:ext cx="4557600" cy="61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80" spc="-1" strike="noStrike">
                <a:solidFill>
                  <a:srgbClr val="172731"/>
                </a:solidFill>
                <a:latin typeface="Arial"/>
              </a:rPr>
              <a:t>existing sessions are anchored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671" name=""/>
          <p:cNvSpPr/>
          <p:nvPr/>
        </p:nvSpPr>
        <p:spPr>
          <a:xfrm>
            <a:off x="324000" y="2894400"/>
            <a:ext cx="11412000" cy="691200"/>
          </a:xfrm>
          <a:prstGeom prst="rect">
            <a:avLst/>
          </a:prstGeom>
          <a:solidFill>
            <a:srgbClr val="f8fafb"/>
          </a:solidFill>
          <a:ln w="6480">
            <a:solidFill>
              <a:srgbClr val="cfdce1"/>
            </a:solidFill>
            <a:round/>
          </a:ln>
        </p:spPr>
      </p:sp>
      <p:sp>
        <p:nvSpPr>
          <p:cNvPr id="672" name=""/>
          <p:cNvSpPr txBox="1"/>
          <p:nvPr/>
        </p:nvSpPr>
        <p:spPr>
          <a:xfrm>
            <a:off x="385200" y="2941200"/>
            <a:ext cx="1749600" cy="61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80" spc="-1" strike="noStrike">
                <a:solidFill>
                  <a:srgbClr val="172731"/>
                </a:solidFill>
                <a:latin typeface="Arial"/>
              </a:rPr>
              <a:t>2 · Pressure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673" name=""/>
          <p:cNvSpPr txBox="1"/>
          <p:nvPr/>
        </p:nvSpPr>
        <p:spPr>
          <a:xfrm>
            <a:off x="2257200" y="2941200"/>
            <a:ext cx="4737600" cy="61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80" spc="-1" strike="noStrike">
                <a:solidFill>
                  <a:srgbClr val="172731"/>
                </a:solidFill>
                <a:latin typeface="Arial"/>
              </a:rPr>
              <a:t>class demand rises; capacity threat becomes visible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674" name=""/>
          <p:cNvSpPr txBox="1"/>
          <p:nvPr/>
        </p:nvSpPr>
        <p:spPr>
          <a:xfrm>
            <a:off x="7117200" y="2941200"/>
            <a:ext cx="4557600" cy="61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80" spc="-1" strike="noStrike">
                <a:solidFill>
                  <a:srgbClr val="172731"/>
                </a:solidFill>
                <a:latin typeface="Arial"/>
              </a:rPr>
              <a:t>forecast inputs are still causal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675" name=""/>
          <p:cNvSpPr/>
          <p:nvPr/>
        </p:nvSpPr>
        <p:spPr>
          <a:xfrm>
            <a:off x="324000" y="3585600"/>
            <a:ext cx="11412000" cy="691200"/>
          </a:xfrm>
          <a:prstGeom prst="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676" name=""/>
          <p:cNvSpPr txBox="1"/>
          <p:nvPr/>
        </p:nvSpPr>
        <p:spPr>
          <a:xfrm>
            <a:off x="385200" y="3632400"/>
            <a:ext cx="1749600" cy="61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80" spc="-1" strike="noStrike">
                <a:solidFill>
                  <a:srgbClr val="172731"/>
                </a:solidFill>
                <a:latin typeface="Arial"/>
              </a:rPr>
              <a:t>3 · Predict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677" name=""/>
          <p:cNvSpPr txBox="1"/>
          <p:nvPr/>
        </p:nvSpPr>
        <p:spPr>
          <a:xfrm>
            <a:off x="2257200" y="3632400"/>
            <a:ext cx="4737600" cy="61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80" spc="-1" strike="noStrike">
                <a:solidFill>
                  <a:srgbClr val="172731"/>
                </a:solidFill>
                <a:latin typeface="Arial"/>
              </a:rPr>
              <a:t>future demand + same-state static comparison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678" name=""/>
          <p:cNvSpPr txBox="1"/>
          <p:nvPr/>
        </p:nvSpPr>
        <p:spPr>
          <a:xfrm>
            <a:off x="7117200" y="3632400"/>
            <a:ext cx="4557600" cy="61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80" spc="-1" strike="noStrike">
                <a:solidFill>
                  <a:srgbClr val="172731"/>
                </a:solidFill>
                <a:latin typeface="Arial"/>
              </a:rPr>
              <a:t>forecast estimates; MPC chooses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679" name=""/>
          <p:cNvSpPr/>
          <p:nvPr/>
        </p:nvSpPr>
        <p:spPr>
          <a:xfrm>
            <a:off x="324000" y="4276800"/>
            <a:ext cx="11412000" cy="691200"/>
          </a:xfrm>
          <a:prstGeom prst="rect">
            <a:avLst/>
          </a:prstGeom>
          <a:solidFill>
            <a:srgbClr val="f8fafb"/>
          </a:solidFill>
          <a:ln w="6480">
            <a:solidFill>
              <a:srgbClr val="cfdce1"/>
            </a:solidFill>
            <a:round/>
          </a:ln>
        </p:spPr>
      </p:sp>
      <p:sp>
        <p:nvSpPr>
          <p:cNvPr id="680" name=""/>
          <p:cNvSpPr txBox="1"/>
          <p:nvPr/>
        </p:nvSpPr>
        <p:spPr>
          <a:xfrm>
            <a:off x="385200" y="4323600"/>
            <a:ext cx="1749600" cy="61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80" spc="-1" strike="noStrike">
                <a:solidFill>
                  <a:srgbClr val="172731"/>
                </a:solidFill>
                <a:latin typeface="Arial"/>
              </a:rPr>
              <a:t>4 · Divert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681" name=""/>
          <p:cNvSpPr txBox="1"/>
          <p:nvPr/>
        </p:nvSpPr>
        <p:spPr>
          <a:xfrm>
            <a:off x="2257200" y="4323600"/>
            <a:ext cx="4737600" cy="61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80" spc="-1" strike="noStrike">
                <a:solidFill>
                  <a:srgbClr val="172731"/>
                </a:solidFill>
                <a:latin typeface="Arial"/>
              </a:rPr>
              <a:t>future-session route widths change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682" name=""/>
          <p:cNvSpPr txBox="1"/>
          <p:nvPr/>
        </p:nvSpPr>
        <p:spPr>
          <a:xfrm>
            <a:off x="7117200" y="4323600"/>
            <a:ext cx="4557600" cy="61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80" spc="-1" strike="noStrike">
                <a:solidFill>
                  <a:srgbClr val="172731"/>
                </a:solidFill>
                <a:latin typeface="Arial"/>
              </a:rPr>
              <a:t>weights change, not existing sessions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683" name=""/>
          <p:cNvSpPr/>
          <p:nvPr/>
        </p:nvSpPr>
        <p:spPr>
          <a:xfrm>
            <a:off x="324000" y="4968000"/>
            <a:ext cx="11412000" cy="691200"/>
          </a:xfrm>
          <a:prstGeom prst="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684" name=""/>
          <p:cNvSpPr txBox="1"/>
          <p:nvPr/>
        </p:nvSpPr>
        <p:spPr>
          <a:xfrm>
            <a:off x="385200" y="5014800"/>
            <a:ext cx="1749600" cy="61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80" spc="-1" strike="noStrike">
                <a:solidFill>
                  <a:srgbClr val="172731"/>
                </a:solidFill>
                <a:latin typeface="Arial"/>
              </a:rPr>
              <a:t>5 · Result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685" name=""/>
          <p:cNvSpPr txBox="1"/>
          <p:nvPr/>
        </p:nvSpPr>
        <p:spPr>
          <a:xfrm>
            <a:off x="2257200" y="5014800"/>
            <a:ext cx="4737600" cy="61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80" spc="-1" strike="noStrike">
                <a:solidFill>
                  <a:srgbClr val="172731"/>
                </a:solidFill>
                <a:latin typeface="Arial"/>
              </a:rPr>
              <a:t>actual placement, error, loss and frozen campaign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686" name=""/>
          <p:cNvSpPr txBox="1"/>
          <p:nvPr/>
        </p:nvSpPr>
        <p:spPr>
          <a:xfrm>
            <a:off x="7117200" y="5014800"/>
            <a:ext cx="4557600" cy="61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880" spc="-1" strike="noStrike">
                <a:solidFill>
                  <a:srgbClr val="172731"/>
                </a:solidFill>
                <a:latin typeface="Arial"/>
              </a:rPr>
              <a:t>reduced exposure—not perfect prevention</a:t>
            </a:r>
            <a:endParaRPr b="0" lang="en-US" sz="880" spc="-1" strike="noStrike">
              <a:latin typeface="Arial"/>
            </a:endParaRPr>
          </a:p>
        </p:txBody>
      </p:sp>
      <p:sp>
        <p:nvSpPr>
          <p:cNvPr id="687" name=""/>
          <p:cNvSpPr/>
          <p:nvPr/>
        </p:nvSpPr>
        <p:spPr>
          <a:xfrm>
            <a:off x="324000" y="5904000"/>
            <a:ext cx="11412000" cy="396000"/>
          </a:xfrm>
          <a:prstGeom prst="roundRect">
            <a:avLst/>
          </a:prstGeom>
          <a:solidFill>
            <a:srgbClr val="faf0de"/>
          </a:solidFill>
          <a:ln w="0">
            <a:noFill/>
          </a:ln>
        </p:spPr>
      </p:sp>
      <p:sp>
        <p:nvSpPr>
          <p:cNvPr id="688" name=""/>
          <p:cNvSpPr/>
          <p:nvPr/>
        </p:nvSpPr>
        <p:spPr>
          <a:xfrm>
            <a:off x="324000" y="5904000"/>
            <a:ext cx="64800" cy="396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689" name=""/>
          <p:cNvSpPr txBox="1"/>
          <p:nvPr/>
        </p:nvSpPr>
        <p:spPr>
          <a:xfrm>
            <a:off x="576000" y="5994000"/>
            <a:ext cx="10908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860" spc="-1" strike="noStrike">
                <a:solidFill>
                  <a:srgbClr val="172731"/>
                </a:solidFill>
                <a:latin typeface="Arial"/>
              </a:rPr>
              <a:t>Key language: ‘future sessions redirected’ and ‘modeled exposure reduced’; never ‘traffic migrated’ or ‘overload prevented.’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690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91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docs/presenter-guide.md · demo_api/story.py · demo_api/runtime.py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692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12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</p:sp>
      <p:sp>
        <p:nvSpPr>
          <p:cNvPr id="694" name=""/>
          <p:cNvSpPr txBox="1"/>
          <p:nvPr/>
        </p:nvSpPr>
        <p:spPr>
          <a:xfrm>
            <a:off x="324000" y="158400"/>
            <a:ext cx="309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INTEGRATION BOUNDARY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695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What is ready today—and what C-DOT must provide for a calibrated pilot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696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697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698" name=""/>
          <p:cNvSpPr/>
          <p:nvPr/>
        </p:nvSpPr>
        <p:spPr>
          <a:xfrm>
            <a:off x="324000" y="1440000"/>
            <a:ext cx="5436000" cy="4212000"/>
          </a:xfrm>
          <a:prstGeom prst="roundRect">
            <a:avLst/>
          </a:prstGeom>
          <a:solidFill>
            <a:srgbClr val="e5f2ed"/>
          </a:solidFill>
          <a:ln w="6480">
            <a:solidFill>
              <a:srgbClr val="b9daca"/>
            </a:solidFill>
            <a:round/>
          </a:ln>
        </p:spPr>
      </p:sp>
      <p:sp>
        <p:nvSpPr>
          <p:cNvPr id="699" name=""/>
          <p:cNvSpPr/>
          <p:nvPr/>
        </p:nvSpPr>
        <p:spPr>
          <a:xfrm>
            <a:off x="324000" y="1440000"/>
            <a:ext cx="64800" cy="4212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700" name=""/>
          <p:cNvSpPr txBox="1"/>
          <p:nvPr/>
        </p:nvSpPr>
        <p:spPr>
          <a:xfrm>
            <a:off x="576000" y="1692000"/>
            <a:ext cx="4896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500" spc="-1" strike="noStrike">
                <a:solidFill>
                  <a:srgbClr val="16805f"/>
                </a:solidFill>
                <a:latin typeface="Arial"/>
              </a:rPr>
              <a:t>Ready in the repository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701" name=""/>
          <p:cNvSpPr/>
          <p:nvPr/>
        </p:nvSpPr>
        <p:spPr>
          <a:xfrm>
            <a:off x="576000" y="22968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702" name=""/>
          <p:cNvSpPr txBox="1"/>
          <p:nvPr/>
        </p:nvSpPr>
        <p:spPr>
          <a:xfrm>
            <a:off x="756000" y="2214000"/>
            <a:ext cx="4716000" cy="44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20" spc="-1" strike="noStrike">
                <a:solidFill>
                  <a:srgbClr val="172731"/>
                </a:solidFill>
                <a:latin typeface="Arial"/>
              </a:rPr>
              <a:t>deterministic multi-class traffic and fault simulation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703" name=""/>
          <p:cNvSpPr/>
          <p:nvPr/>
        </p:nvSpPr>
        <p:spPr>
          <a:xfrm>
            <a:off x="576000" y="27396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704" name=""/>
          <p:cNvSpPr txBox="1"/>
          <p:nvPr/>
        </p:nvSpPr>
        <p:spPr>
          <a:xfrm>
            <a:off x="756000" y="2656800"/>
            <a:ext cx="4716000" cy="44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20" spc="-1" strike="noStrike">
                <a:solidFill>
                  <a:srgbClr val="172731"/>
                </a:solidFill>
                <a:latin typeface="Arial"/>
              </a:rPr>
              <a:t>canonical artifacts and reproducible experiment evaluation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705" name=""/>
          <p:cNvSpPr/>
          <p:nvPr/>
        </p:nvSpPr>
        <p:spPr>
          <a:xfrm>
            <a:off x="576000" y="31824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706" name=""/>
          <p:cNvSpPr txBox="1"/>
          <p:nvPr/>
        </p:nvSpPr>
        <p:spPr>
          <a:xfrm>
            <a:off x="756000" y="3099600"/>
            <a:ext cx="4716000" cy="44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20" spc="-1" strike="noStrike">
                <a:solidFill>
                  <a:srgbClr val="172731"/>
                </a:solidFill>
                <a:latin typeface="Arial"/>
              </a:rPr>
              <a:t>forecast bundle with uncertainty and causal inference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707" name=""/>
          <p:cNvSpPr/>
          <p:nvPr/>
        </p:nvSpPr>
        <p:spPr>
          <a:xfrm>
            <a:off x="576000" y="36252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708" name=""/>
          <p:cNvSpPr txBox="1"/>
          <p:nvPr/>
        </p:nvSpPr>
        <p:spPr>
          <a:xfrm>
            <a:off x="756000" y="3542400"/>
            <a:ext cx="4716000" cy="44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20" spc="-1" strike="noStrike">
                <a:solidFill>
                  <a:srgbClr val="172731"/>
                </a:solidFill>
                <a:latin typeface="Arial"/>
              </a:rPr>
              <a:t>static-certified cohort MPC and safe fallback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709" name=""/>
          <p:cNvSpPr/>
          <p:nvPr/>
        </p:nvSpPr>
        <p:spPr>
          <a:xfrm>
            <a:off x="576000" y="40680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710" name=""/>
          <p:cNvSpPr txBox="1"/>
          <p:nvPr/>
        </p:nvSpPr>
        <p:spPr>
          <a:xfrm>
            <a:off x="756000" y="3985200"/>
            <a:ext cx="4716000" cy="44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20" spc="-1" strike="noStrike">
                <a:solidFill>
                  <a:srgbClr val="172731"/>
                </a:solidFill>
                <a:latin typeface="Arial"/>
              </a:rPr>
              <a:t>new-session-only simulated steering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711" name=""/>
          <p:cNvSpPr/>
          <p:nvPr/>
        </p:nvSpPr>
        <p:spPr>
          <a:xfrm>
            <a:off x="576000" y="45108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712" name=""/>
          <p:cNvSpPr txBox="1"/>
          <p:nvPr/>
        </p:nvSpPr>
        <p:spPr>
          <a:xfrm>
            <a:off x="756000" y="4428000"/>
            <a:ext cx="4716000" cy="44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20" spc="-1" strike="noStrike">
                <a:solidFill>
                  <a:srgbClr val="172731"/>
                </a:solidFill>
                <a:latin typeface="Arial"/>
              </a:rPr>
              <a:t>working evidence-oriented dashboard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713" name=""/>
          <p:cNvSpPr/>
          <p:nvPr/>
        </p:nvSpPr>
        <p:spPr>
          <a:xfrm>
            <a:off x="6084000" y="1440000"/>
            <a:ext cx="5652000" cy="4212000"/>
          </a:xfrm>
          <a:prstGeom prst="roundRect">
            <a:avLst/>
          </a:prstGeom>
          <a:solidFill>
            <a:srgbClr val="faf0de"/>
          </a:solidFill>
          <a:ln w="6480">
            <a:solidFill>
              <a:srgbClr val="e5c78d"/>
            </a:solidFill>
            <a:round/>
          </a:ln>
        </p:spPr>
      </p:sp>
      <p:sp>
        <p:nvSpPr>
          <p:cNvPr id="714" name=""/>
          <p:cNvSpPr/>
          <p:nvPr/>
        </p:nvSpPr>
        <p:spPr>
          <a:xfrm>
            <a:off x="6084000" y="1440000"/>
            <a:ext cx="64800" cy="4212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715" name=""/>
          <p:cNvSpPr txBox="1"/>
          <p:nvPr/>
        </p:nvSpPr>
        <p:spPr>
          <a:xfrm>
            <a:off x="6336000" y="1692000"/>
            <a:ext cx="5112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500" spc="-1" strike="noStrike">
                <a:solidFill>
                  <a:srgbClr val="c77b0b"/>
                </a:solidFill>
                <a:latin typeface="Arial"/>
              </a:rPr>
              <a:t>Needed from C-DOT / testbed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716" name=""/>
          <p:cNvSpPr/>
          <p:nvPr/>
        </p:nvSpPr>
        <p:spPr>
          <a:xfrm>
            <a:off x="6336000" y="2296800"/>
            <a:ext cx="79200" cy="79200"/>
          </a:xfrm>
          <a:prstGeom prst="ellipse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717" name=""/>
          <p:cNvSpPr txBox="1"/>
          <p:nvPr/>
        </p:nvSpPr>
        <p:spPr>
          <a:xfrm>
            <a:off x="6516000" y="2214000"/>
            <a:ext cx="4932000" cy="44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20" spc="-1" strike="noStrike">
                <a:solidFill>
                  <a:srgbClr val="172731"/>
                </a:solidFill>
                <a:latin typeface="Arial"/>
              </a:rPr>
              <a:t>live telemetry names, labels, quality and counter semantics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718" name=""/>
          <p:cNvSpPr/>
          <p:nvPr/>
        </p:nvSpPr>
        <p:spPr>
          <a:xfrm>
            <a:off x="6336000" y="2739600"/>
            <a:ext cx="79200" cy="79200"/>
          </a:xfrm>
          <a:prstGeom prst="ellipse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719" name=""/>
          <p:cNvSpPr txBox="1"/>
          <p:nvPr/>
        </p:nvSpPr>
        <p:spPr>
          <a:xfrm>
            <a:off x="6516000" y="2656800"/>
            <a:ext cx="4932000" cy="44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20" spc="-1" strike="noStrike">
                <a:solidFill>
                  <a:srgbClr val="172731"/>
                </a:solidFill>
                <a:latin typeface="Arial"/>
              </a:rPr>
              <a:t>measured directional and session capacity envelopes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720" name=""/>
          <p:cNvSpPr/>
          <p:nvPr/>
        </p:nvSpPr>
        <p:spPr>
          <a:xfrm>
            <a:off x="6336000" y="3182400"/>
            <a:ext cx="79200" cy="79200"/>
          </a:xfrm>
          <a:prstGeom prst="ellipse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721" name=""/>
          <p:cNvSpPr txBox="1"/>
          <p:nvPr/>
        </p:nvSpPr>
        <p:spPr>
          <a:xfrm>
            <a:off x="6516000" y="3099600"/>
            <a:ext cx="4932000" cy="44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20" spc="-1" strike="noStrike">
                <a:solidFill>
                  <a:srgbClr val="172731"/>
                </a:solidFill>
                <a:latin typeface="Arial"/>
              </a:rPr>
              <a:t>real topology, locality and UPF eligibility rules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722" name=""/>
          <p:cNvSpPr/>
          <p:nvPr/>
        </p:nvSpPr>
        <p:spPr>
          <a:xfrm>
            <a:off x="6336000" y="3625200"/>
            <a:ext cx="79200" cy="79200"/>
          </a:xfrm>
          <a:prstGeom prst="ellipse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723" name=""/>
          <p:cNvSpPr txBox="1"/>
          <p:nvPr/>
        </p:nvSpPr>
        <p:spPr>
          <a:xfrm>
            <a:off x="6516000" y="3542400"/>
            <a:ext cx="4932000" cy="44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20" spc="-1" strike="noStrike">
                <a:solidFill>
                  <a:srgbClr val="172731"/>
                </a:solidFill>
                <a:latin typeface="Arial"/>
              </a:rPr>
              <a:t>authenticated SMF/EMS policy publication interface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724" name=""/>
          <p:cNvSpPr/>
          <p:nvPr/>
        </p:nvSpPr>
        <p:spPr>
          <a:xfrm>
            <a:off x="6336000" y="4068000"/>
            <a:ext cx="79200" cy="79200"/>
          </a:xfrm>
          <a:prstGeom prst="ellipse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725" name=""/>
          <p:cNvSpPr txBox="1"/>
          <p:nvPr/>
        </p:nvSpPr>
        <p:spPr>
          <a:xfrm>
            <a:off x="6516000" y="3985200"/>
            <a:ext cx="4932000" cy="44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20" spc="-1" strike="noStrike">
                <a:solidFill>
                  <a:srgbClr val="172731"/>
                </a:solidFill>
                <a:latin typeface="Arial"/>
              </a:rPr>
              <a:t>decision on established-session migration capability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726" name=""/>
          <p:cNvSpPr/>
          <p:nvPr/>
        </p:nvSpPr>
        <p:spPr>
          <a:xfrm>
            <a:off x="6336000" y="4510800"/>
            <a:ext cx="79200" cy="79200"/>
          </a:xfrm>
          <a:prstGeom prst="ellipse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727" name=""/>
          <p:cNvSpPr txBox="1"/>
          <p:nvPr/>
        </p:nvSpPr>
        <p:spPr>
          <a:xfrm>
            <a:off x="6516000" y="4428000"/>
            <a:ext cx="4932000" cy="44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20" spc="-1" strike="noStrike">
                <a:solidFill>
                  <a:srgbClr val="172731"/>
                </a:solidFill>
                <a:latin typeface="Arial"/>
              </a:rPr>
              <a:t>shadow evaluation, untouched release seeds and tail gate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728" name=""/>
          <p:cNvSpPr/>
          <p:nvPr/>
        </p:nvSpPr>
        <p:spPr>
          <a:xfrm>
            <a:off x="324000" y="5940000"/>
            <a:ext cx="11412000" cy="360000"/>
          </a:xfrm>
          <a:prstGeom prst="roundRect">
            <a:avLst/>
          </a:prstGeom>
          <a:solidFill>
            <a:srgbClr val="193644"/>
          </a:solidFill>
          <a:ln w="0">
            <a:noFill/>
          </a:ln>
        </p:spPr>
      </p:sp>
      <p:sp>
        <p:nvSpPr>
          <p:cNvPr id="729" name=""/>
          <p:cNvSpPr/>
          <p:nvPr/>
        </p:nvSpPr>
        <p:spPr>
          <a:xfrm>
            <a:off x="324000" y="5940000"/>
            <a:ext cx="64800" cy="360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730" name=""/>
          <p:cNvSpPr txBox="1"/>
          <p:nvPr/>
        </p:nvSpPr>
        <p:spPr>
          <a:xfrm>
            <a:off x="576000" y="6030000"/>
            <a:ext cx="10908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860" spc="-1" strike="noStrike">
                <a:solidFill>
                  <a:srgbClr val="ffffff"/>
                </a:solidFill>
                <a:latin typeface="Arial"/>
              </a:rPr>
              <a:t>Recommended sequence: map telemetry → calibrate capacities → advisory replay → shadow recommendations → bounded new-session pilot.</a:t>
            </a:r>
            <a:endParaRPr b="0" lang="en-US" sz="860" spc="-1" strike="noStrike">
              <a:latin typeface="Arial"/>
            </a:endParaRPr>
          </a:p>
        </p:txBody>
      </p:sp>
      <p:sp>
        <p:nvSpPr>
          <p:cNvPr id="731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2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docs/extreme-data-spec-and-cdot-gap-analysis.md · docs/cdot-session-migration-decision.md · docs/end-to-end-runbook.md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733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13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10222e"/>
          </a:solidFill>
          <a:ln w="0">
            <a:noFill/>
          </a:ln>
        </p:spPr>
      </p:sp>
      <p:sp>
        <p:nvSpPr>
          <p:cNvPr id="735" name=""/>
          <p:cNvSpPr txBox="1"/>
          <p:nvPr/>
        </p:nvSpPr>
        <p:spPr>
          <a:xfrm>
            <a:off x="324000" y="158400"/>
            <a:ext cx="309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77c6d4"/>
                </a:solidFill>
                <a:latin typeface="Courier New"/>
              </a:rPr>
              <a:t>CONCLUSION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736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ffffff"/>
                </a:solidFill>
                <a:latin typeface="Arial"/>
              </a:rPr>
              <a:t>The evidence supports a credible working demo and a clear next pilot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737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213e4b"/>
          </a:solidFill>
          <a:ln w="6480">
            <a:solidFill>
              <a:srgbClr val="54717d"/>
            </a:solidFill>
            <a:round/>
          </a:ln>
        </p:spPr>
      </p:sp>
      <p:sp>
        <p:nvSpPr>
          <p:cNvPr id="738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f4c36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739" name=""/>
          <p:cNvSpPr txBox="1"/>
          <p:nvPr/>
        </p:nvSpPr>
        <p:spPr>
          <a:xfrm>
            <a:off x="360000" y="1692000"/>
            <a:ext cx="7092000" cy="118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800" spc="-1" strike="noStrike">
                <a:solidFill>
                  <a:srgbClr val="ffffff"/>
                </a:solidFill>
                <a:latin typeface="Arial"/>
              </a:rPr>
              <a:t>Model the traffic.</a:t>
            </a:r>
            <a:endParaRPr b="0" lang="en-US" sz="2800" spc="-1" strike="noStrike">
              <a:latin typeface="Arial"/>
            </a:endParaRPr>
          </a:p>
          <a:p>
            <a:r>
              <a:rPr b="1" lang="en-US" sz="2800" spc="-1" strike="noStrike">
                <a:solidFill>
                  <a:srgbClr val="ffffff"/>
                </a:solidFill>
                <a:latin typeface="Arial"/>
              </a:rPr>
              <a:t>Forecast the pressure.</a:t>
            </a:r>
            <a:endParaRPr b="0" lang="en-US" sz="2800" spc="-1" strike="noStrike">
              <a:latin typeface="Arial"/>
            </a:endParaRPr>
          </a:p>
          <a:p>
            <a:r>
              <a:rPr b="1" lang="en-US" sz="2800" spc="-1" strike="noStrike">
                <a:solidFill>
                  <a:srgbClr val="ffffff"/>
                </a:solidFill>
                <a:latin typeface="Arial"/>
              </a:rPr>
              <a:t>Certify before steering.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740" name=""/>
          <p:cNvSpPr txBox="1"/>
          <p:nvPr/>
        </p:nvSpPr>
        <p:spPr>
          <a:xfrm>
            <a:off x="360000" y="3276000"/>
            <a:ext cx="7092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80" spc="-1" strike="noStrike">
                <a:solidFill>
                  <a:srgbClr val="c2d3da"/>
                </a:solidFill>
                <a:latin typeface="Arial"/>
              </a:rPr>
              <a:t>The strongest result is not one headline number—it is an end-to-end loop whose assumptions, experiments, gains and limitations remain traceable.</a:t>
            </a:r>
            <a:endParaRPr b="0" lang="en-US" sz="1280" spc="-1" strike="noStrike">
              <a:latin typeface="Arial"/>
            </a:endParaRPr>
          </a:p>
        </p:txBody>
      </p:sp>
      <p:sp>
        <p:nvSpPr>
          <p:cNvPr id="741" name=""/>
          <p:cNvSpPr/>
          <p:nvPr/>
        </p:nvSpPr>
        <p:spPr>
          <a:xfrm>
            <a:off x="7956000" y="1620000"/>
            <a:ext cx="3780000" cy="3276000"/>
          </a:xfrm>
          <a:prstGeom prst="roundRect">
            <a:avLst/>
          </a:prstGeom>
          <a:solidFill>
            <a:srgbClr val="193541"/>
          </a:solidFill>
          <a:ln w="6480">
            <a:solidFill>
              <a:srgbClr val="395663"/>
            </a:solidFill>
            <a:round/>
          </a:ln>
        </p:spPr>
      </p:sp>
      <p:sp>
        <p:nvSpPr>
          <p:cNvPr id="742" name=""/>
          <p:cNvSpPr/>
          <p:nvPr/>
        </p:nvSpPr>
        <p:spPr>
          <a:xfrm>
            <a:off x="7956000" y="1620000"/>
            <a:ext cx="64800" cy="3276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743" name=""/>
          <p:cNvSpPr txBox="1"/>
          <p:nvPr/>
        </p:nvSpPr>
        <p:spPr>
          <a:xfrm>
            <a:off x="8244000" y="1908000"/>
            <a:ext cx="3204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0" spc="-1" strike="noStrike">
                <a:solidFill>
                  <a:srgbClr val="77c6d4"/>
                </a:solidFill>
                <a:latin typeface="Courier New"/>
              </a:rPr>
              <a:t>EVIDENCE SNAPSHOT</a:t>
            </a:r>
            <a:endParaRPr b="0" lang="en-US" sz="830" spc="-1" strike="noStrike">
              <a:latin typeface="Arial"/>
            </a:endParaRPr>
          </a:p>
        </p:txBody>
      </p:sp>
      <p:sp>
        <p:nvSpPr>
          <p:cNvPr id="744" name=""/>
          <p:cNvSpPr/>
          <p:nvPr/>
        </p:nvSpPr>
        <p:spPr>
          <a:xfrm>
            <a:off x="8244000" y="25128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745" name=""/>
          <p:cNvSpPr txBox="1"/>
          <p:nvPr/>
        </p:nvSpPr>
        <p:spPr>
          <a:xfrm>
            <a:off x="8424000" y="2430000"/>
            <a:ext cx="2988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ffffff"/>
                </a:solidFill>
                <a:latin typeface="Arial"/>
              </a:rPr>
              <a:t>112-day synthetic history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746" name=""/>
          <p:cNvSpPr/>
          <p:nvPr/>
        </p:nvSpPr>
        <p:spPr>
          <a:xfrm>
            <a:off x="8244000" y="28368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747" name=""/>
          <p:cNvSpPr txBox="1"/>
          <p:nvPr/>
        </p:nvSpPr>
        <p:spPr>
          <a:xfrm>
            <a:off x="8424000" y="2754000"/>
            <a:ext cx="2988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ffffff"/>
                </a:solidFill>
                <a:latin typeface="Arial"/>
              </a:rPr>
              <a:t>7.63% forecast WAPE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748" name=""/>
          <p:cNvSpPr/>
          <p:nvPr/>
        </p:nvSpPr>
        <p:spPr>
          <a:xfrm>
            <a:off x="8244000" y="31608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749" name=""/>
          <p:cNvSpPr txBox="1"/>
          <p:nvPr/>
        </p:nvSpPr>
        <p:spPr>
          <a:xfrm>
            <a:off x="8424000" y="3078000"/>
            <a:ext cx="2988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ffffff"/>
                </a:solidFill>
                <a:latin typeface="Arial"/>
              </a:rPr>
              <a:t>10.52% mean-pair UL gain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750" name=""/>
          <p:cNvSpPr/>
          <p:nvPr/>
        </p:nvSpPr>
        <p:spPr>
          <a:xfrm>
            <a:off x="8244000" y="34848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751" name=""/>
          <p:cNvSpPr txBox="1"/>
          <p:nvPr/>
        </p:nvSpPr>
        <p:spPr>
          <a:xfrm>
            <a:off x="8424000" y="3402000"/>
            <a:ext cx="2988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ffffff"/>
                </a:solidFill>
                <a:latin typeface="Arial"/>
              </a:rPr>
              <a:t>2.84% severity-weighted gain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752" name=""/>
          <p:cNvSpPr/>
          <p:nvPr/>
        </p:nvSpPr>
        <p:spPr>
          <a:xfrm>
            <a:off x="8244000" y="38088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753" name=""/>
          <p:cNvSpPr txBox="1"/>
          <p:nvPr/>
        </p:nvSpPr>
        <p:spPr>
          <a:xfrm>
            <a:off x="8424000" y="3726000"/>
            <a:ext cx="2988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ffffff"/>
                </a:solidFill>
                <a:latin typeface="Arial"/>
              </a:rPr>
              <a:t>all aggregate guardrails pass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754" name=""/>
          <p:cNvSpPr/>
          <p:nvPr/>
        </p:nvSpPr>
        <p:spPr>
          <a:xfrm>
            <a:off x="8244000" y="41328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755" name=""/>
          <p:cNvSpPr txBox="1"/>
          <p:nvPr/>
        </p:nvSpPr>
        <p:spPr>
          <a:xfrm>
            <a:off x="8424000" y="4050000"/>
            <a:ext cx="2988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ffffff"/>
                </a:solidFill>
                <a:latin typeface="Arial"/>
              </a:rPr>
              <a:t>fault-tail robustness still open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756" name=""/>
          <p:cNvSpPr/>
          <p:nvPr/>
        </p:nvSpPr>
        <p:spPr>
          <a:xfrm>
            <a:off x="8244000" y="4456800"/>
            <a:ext cx="79200" cy="792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757" name=""/>
          <p:cNvSpPr txBox="1"/>
          <p:nvPr/>
        </p:nvSpPr>
        <p:spPr>
          <a:xfrm>
            <a:off x="8424000" y="4374000"/>
            <a:ext cx="2988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ffffff"/>
                </a:solidFill>
                <a:latin typeface="Arial"/>
              </a:rPr>
              <a:t>new-session steering only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758" name=""/>
          <p:cNvSpPr txBox="1"/>
          <p:nvPr/>
        </p:nvSpPr>
        <p:spPr>
          <a:xfrm>
            <a:off x="360000" y="5220000"/>
            <a:ext cx="7128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77c6d4"/>
                </a:solidFill>
                <a:latin typeface="Courier New"/>
              </a:rPr>
              <a:t>Proposed discussion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759" name=""/>
          <p:cNvSpPr txBox="1"/>
          <p:nvPr/>
        </p:nvSpPr>
        <p:spPr>
          <a:xfrm>
            <a:off x="360000" y="5616000"/>
            <a:ext cx="7128000" cy="3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Which C-DOT telemetry and actuation interfaces can support a calibrated shadow pilot?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60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3951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1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9fb4be"/>
                </a:solidFill>
                <a:latin typeface="Courier New"/>
              </a:rPr>
              <a:t>C-DOT predictive UPF steering · concise technical review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762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9fb4be"/>
                </a:solidFill>
                <a:latin typeface="Courier New"/>
              </a:rPr>
              <a:t>14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2026-08-09T16:39:10Z</dcterms:created>
  <dc:creator/>
  <dc:description/>
  <dc:language>en-US</dc:language>
  <cp:lastModifiedBy/>
  <dcterms:modified xsi:type="dcterms:W3CDTF">2026-08-09T16:39:11Z</dcterms:modified>
  <cp:revision>1</cp:revision>
  <dc:subject/>
  <dc:title/>
</cp:coreProperties>
</file>